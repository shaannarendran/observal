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dd9b71-4aec-a8df-2f5b-53e1607946fc}">
          <p14:sldIdLst>
            <p14:sldId id="256"/>
            <p14:sldId id="257"/>
          </p14:sldIdLst>
        </p14:section>
        <p14:section name="Why discovery" id="{dc1525ba-7464-1034-5a98-208400429ca8}">
          <p14:sldIdLst>
            <p14:sldId id="258"/>
            <p14:sldId id="259"/>
          </p14:sldIdLst>
        </p14:section>
        <p14:section name="What ARD is" id="{e5f23546-d241-5ed0-e9b3-b5333f35f040}">
          <p14:sldIdLst>
            <p14:sldId id="260"/>
            <p14:sldId id="261"/>
            <p14:sldId id="262"/>
            <p14:sldId id="263"/>
            <p14:sldId id="264"/>
            <p14:sldId id="265"/>
            <p14:sldId id="266"/>
            <p14:sldId id="267"/>
          </p14:sldIdLst>
        </p14:section>
        <p14:section name="My implementation" id="{b659e430-e86b-d3ac-e695-ae5d65077708}">
          <p14:sldIdLst>
            <p14:sldId id="268"/>
            <p14:sldId id="269"/>
            <p14:sldId id="270"/>
            <p14:sldId id="271"/>
            <p14:sldId id="272"/>
          </p14:sldIdLst>
        </p14:section>
        <p14:section name="Use cases" id="{0fe2c0d3-3b17-037e-4eb1-67497ba57ee7}">
          <p14:sldIdLst>
            <p14:sldId id="273"/>
            <p14:sldId id="274"/>
            <p14:sldId id="275"/>
            <p14:sldId id="276"/>
          </p14:sldIdLst>
        </p14:section>
        <p14:section name="Wrap-up" id="{da18bd6c-f842-1a02-0dff-c64eced671a5}">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Title · 0:30
Hi everyone, I'm Shaan, and today I want to talk about Agentic Resource Discovery, or ARD.
[Point to the search card] This is the whole idea in one picture. You type what you need, "find me a flight booking agent", and you get back ranked resources: an A2A agent, an MCP server, a skill, each with a relevance score.
The interesting part is that the agent had none of these installed beforehand. It 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Agenda · 0:45
A quick intro: I'm an open-source contributor, and over the last couple of months I implemented ARD in Observal, an open-source registry and observability platform for AI coding agents. So this talk is half spec, half field notes.
Five parts: why agents need discovery at all, what ARD actually specifies, how I implemented it, what it unlocks, and how you can try it on your own project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Agents only use what someone wired up in advance · 1:00
Quick show of hands: how many of you have more than five MCP servers configured right now? More than twenty? [Pause]
Today an agent can only use what someone wired up in advance: the MCP servers in its config, the skills in its folder. [Point to the orange squares] That's these three.
But there are thousands of MCP servers, A2A agents and skills out there, including inside your own company. All these grey squares. The agent can't see them, so it either rebuilds something that already exists or tells you it can't help.
The capability was there. It just wasn't findable.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Loading every tool into the prompt doesn't scale · 1:00
The obvious fix is to connect everything. That breaks fast.
[Left box] This box is the model's context window. The orange row is your task: book a flight to Tokyo. Every purple row is a tool description: GitHub, Slack, Jira, Postgres, and thousands more. Most agents put every connected tool's description in here, on every turn. With five tools that's fine. With five thousand, the window is full before your task gets a look in: it burns tokens, slows things down, and the model chooses worse.
[Right side] ARD moves the choosing out of the model. Your task goes to a search service that indexes thousands of resources, and only the top three matches come back into the context: a travel agent, a flight-status server, a trip-planning skill. [Point to the dashed box] Everything else stays free for the actual work.
It's the same shift the web went through, from hand-curated directories to search engines. ARD is that search layer for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ARD is an open spec · 1:00
So what is ARD, concretely? It's an open specification, announced on 17 June this year. The current version is 0.91, still marked as a Proposal, and it's Apache-licensed.
The authors are Junjie Bu from Google, R.V. Guha, and Shaun Smith from Hugging Face. [Gesture to the chips] It's developed with a long list of companies: Cisco, Databricks, GitHub, Google, Microsoft, Nvidia, Salesforce and more.
It's not just a document. There are already two reference implementations: GitHub's agent finder, which lets Copilot discover tools at runtime, and Hugging Face's Discover Tool.
And it's open on GitHub. Spec changes start as issues, so anyone in this room can take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ARD runs before invocation · 1:00
Where does ARD fit? Before invocation.
[Top] The agent asks: what exists for this task? [Middle] ARD answers that: it describes, publishes, searches and federates. [Bottom] Then the agent calls the chosen resource through that resource's own protocol: MCP for an MCP server, A2A for an agent, and so on.
So ARD doesn't replace MCP, A2A or Skills. It's an envelope around them. [Right] The spec is explicit about what it leaves to others: authentication belongs to the resource's protocol, distribution to OCI or npm, invocation to MCP or A2A.
For this community, a simple way to put it: MCP is how agents talk to tools; ARD is how they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One small JSON-LD entry · 1:15
The basic unit is the entry: one small JSON-LD document per resource. This one comes straight from the spec, a weather MCP server.
[Coral keys] Four fields are required: an identifier, a display name, a type, which is a media type like mcp-server-card+json, and a url pointing at the artifact. Or you can put the artifact inline as data.
[Violet key] The one I want you to remember is representativeQueries: two to five plain-language requests this resource can handle. That's what search indexes. It's only a SHOULD, but leave it out and your entry is valid and nobody finds it.
[Grey keys] Everything else is optional. And because it's JSON-LD, you can add your own vocabulary through @context, and those terms become filters without anyone changing the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The identifier names the resource · 1:15
Every entry has an identifier that starts with urn:air.
[Walk the chips left to right] "urn" says this is a name, not an address. "air" is ARD's namespace. Early drafts used urn:ai, but URN rules need more than two characters, so it became air. Then comes the publisher, which must be a real domain, an optional namespace, and the resource name.
Why not just use the URL as the ID? Because a URL answers "where is it right now?", and an identifier needs to answer "what is it, and who stands behind it?" Three reasons.
[Card 1] Stable. Think of a person's name versus their home address. If Acme moves its weather server to a new host, a URL-based ID would break every registry and every saved config. With a URN, the name stays the same and only the url field changes.
[Card 2] Verifiable. Anyone can publish a JSON file claiming to be Google's official Gmail agent. ARD ties the name to a domain: an entry named urn:air:google.com-anything must carry proof issued by google.com in its trust manifest. Same idea as HTTPS: you only get a certificate for google.com if you control google.com. No proof, and a registry that checks rejects it.
[Card 3] Unique without a referee. When registries merge results, two publishers will both call something "weather". Instead of a central body handing out names, ARD reuses DNS: only one organisation owns acme.com, so everything under urn:air:acme.com is theirs. If you've written Java, it's the same trick as com.acme package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Registries and one REST search API · 1:00
So how does anyone find these entries? A publisher puts them in a small file at /.well-known/ard.json on their own domain, a bit like a sitemap for a website. Registries are the search engines that crawl those files.
[Top flow] Publishers put entries out. Registries ingest them: web crawling is required, and scanning git, npm or OCI is optional. They build an index, and clients query it.
[Endpoints] The key rule is that every registry exposes the same REST API, so a client written once works against any registry. POST /search is mandatory. Explore gives facet counts, List gives deterministic browsing, and a registry can also wrap search as an MCP tool or an A2A skill.
[Code] A request is simple: some text, optional filters (here, only A2A agents), a federation mode and a page size. Federation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Federation: three modes · 1:00
With many registries around, a natural question is: does my search only see one of them? Federation answers that. A registry is itself an ARD entry, so registries can find each other like any other resource. And because they all speak the same search API, one registry can simply ask another over HTTP.
The client chooses how far a search goes, with one field in the request. [Card 1] auto, the default: the registry asks other registries on your behalf and merges everything into one list. [Card 2] referrals: the registry gives you its own answers plus "you could also try these registries", and you decide. [Card 3] none: only this registry's own index; your query goes nowhere else.
[Bottom] If you know DNS: auto is like a resolver that does the whole lookup for you; referrals is a server saying "I don't know, but ask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Federation, step by step · 1:15
Here's the spec's own example. Read it top to bottom. [Top] The user asks: book me a flight to Tokyo and file the travel expense report.
[Step 1] The orchestrator, which is the user's agent, searches the company's internal registry in referrals mode.
[Step 2] The company registry answers: here's our internal expenses agent, a strong match at 97, and here are two other registries you could try for the rest.
[Step 3] The orchestrator picks the travel finder and asks it only about the flight. Notice what it doesn't send: anything about the expense report. That stays inside the company. That's the point of referrals: the agent decides where each part of its question goes.
[Step 4] The travel finder returns a flight booking agent.
[Step 5] Now the orchestrator has both agents and calls each one through its own protocol. ARD's job ended at step 4: it finds things; it doesn't run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Relevance and trust are kept apart · 1:00
One design choice I really like is that relevance and trust are kept apart.
[Left] The score, 0 to 100, means only how well an entry matches your request. The spec says in capital letters that it MUST NOT be read as a trust, compliance or safety rating.
[Right] Trust lives in the trust manifest. ARD requires one thing of it: the identity must match the publisher domain in the URN. On top of that it can carry attestations, such as SOC 2 audits, security scans or build provenance, under whatever framework you use: SPIFFE, DIDs, your company PKI. Registries verify it and can filter on it.
Why it matters: a top-ranked result should never look trustworthy just because it ranked first.
That's the spec. Now let me show you what it took to implement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Observal had a registry · 1:00
Observal is an open-source registry and observability platform for AI coding agents. An agent there bundles MCP servers, skills, hooks, prompts and sandboxes. The model was install-first: build an agent, get it approved, pull it into Claude Code or Cursor or Kiro, then start working.
[Orange icon] That has exactly the gap from earlier: mid-task, the assistant can't see approved resources it wasn't given.
ARD fit cleanly because it deliberately doesn't do installation, review or telemetry, and Observal already had all three. [Card] So the principle I wrote into the project's first ADR was: ARD says what exists; Observal says how to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A projection, not a rewrite · 1:00
The most important decision was that I didn't touch the existing tables.
[Left] Agents, MCP servers, skills and the rest stay the source of truth for install, review and ownership.
[Middle] One adapter per kind turns each approved version into a neutral entry and writes it to a new read model called discovery_entries. The adapters also derive representative queries from metadata, flagged as derived so they're never passed off as the publisher's own words.
[Right] Everything ARD-facing reads from that table: the manifest, search, versioned artifacts with digests, and Observal's CLI, web page and agent skill.
Keeping it fresh is one idempotent function, triggered after every change, by a safety-net job four times a day, and on first boot. No existing API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Six endpoints · 0:45
Every resource got one permanent URN. [Chips] Two details here. I used the internal UUID, not the readable name, because names change on rename or transfer and a URN mustn't. And the publisher domain is pinned once, so identifiers don't change if the deployment moves.
[Table] Four endpoints come from the spec: the manifest, which only lists public entries if an admin opts in, search, list, and explore, which honestly returns 501 until facets ship. Two are mine: fetching one full entry by URN, because the spec has no operation for that, and permanent artifact URLs that always return the exact same bytes for a version, with a digest.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How ranking works · 1:15
Search results come back ranked, and every score can be explained. Here's one real example from the project's test benchmark.
[Query] Someone asks: review a pull request for authentication vulnerabilities. Filler words like "a" and "for" are dropped, which leaves five words.
[Table] For each word, the ranker looks for its best match in four places, each with a weight: the name counts most, then the example queries the publisher wrote, then capabilities and tags, then the description. An exact match scores 1, a word that starts the same way scores 0.7, and one that only appears inside a longer word scores 0.4. "Review" matches the name exactly, so it gets a full point. The other four match the example queries exactly, so 0.85 each. The average, 0.88, is the relevance.
[Right] The score blends three things: 70% relevance; 20% coverage, meaning how many of your words matched at all, here all five; and 10% if your exact phrase appears, which it doesn't here. That gives 82. Next come a PR reviewer agent at 48 and a pull-request-description prompt at 36.
Two more details. Before any of this, Postgres narrows the candidates to at most five thousand, using the visibility rules and a fast text index, so the scoring stays cheap. And ties go to approved resources first. The words that matched come back with each result, so the agent can explain why it picked something. Because it matches words, not meaning, synonyms like "PRs" versus "pull requests" can miss; that's where semantic search would come in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Guardrails · 1:00
Discovery could easily become a back door around a registry's rules, so I built in four guardrails.
[Top left] Score means relevance only, as the spec says. Approval and harness support are separate fields, and policy filters run before ranking.
[Top right] Discovery is scoped to you. A signed-in user only discovers their own listings and the teamspaces they belong to, not everyone else's public listings, and drafts only reach their owners. My first version mirrored the registry's browse rules; I tightened it in a follow-up because search is a much stronger way to surface things than browsing. Anonymous search is off unless an admin turns it on.
[Bottom left] Search text stays home. People type sensitive things into search, such as incident details or unreleased product names, so federation only reaches upstreams an admin allowlists, and that list starts empty.
[Bottom right] Read freely, write with consent. Approved text loads straight away; anything that changes your setup asks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Agents search before they reinvent · 1:00
So what does this unlock? The first use case is the one that started all of this: agents search before they reinvent.
[Terminal] Observal ships an agent skill to every coding harness it supports. I rewrote it so that at the start of real work, such as a review, writing tests or querying a database, the assistant searches first. It gets ranked candidates with the matching words, can inspect the best one, then use it. For a skill, the exact approved version is loaded straight into the session, and the use is recorded.
[Note] The output here is simplified and the resource names are examples. An empty result is a valid answer: the agent retries once with different words, then gets on with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Text loads now; setup changes ask first · 0:45
What happens on "use" depends on what the resource touches. This is where Observal's governance does the work ARD leaves out.
[Orange] Skills and prompts are just text, so they load now. [Violet] MCP servers, agents and sandboxes change your configuration, so nothing is written automatically. You get the normal install command, which asks first and applies after a restart. [Lilac] Hooks are never activated implicitly.
[Bottom] And unapproved resources, or ones your harness doesn't support, are refused unless you explicitly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Every use is recorded · 1:00
Because every use goes through one place, we know what a session actually relied on.
[Walk left to right] Each use writes one local line: which resource, its exact version and digest, which harness, which folder, and when. When the session's telemetry is uploaded, those uses are attached to it. So the dashboard shows which approved resources a session used, with no new tracking.
[Command] Then the loop closes. If a combination worked, say a security skill, a checklist and the GitHub MCP server, this command turns it into a draft agent pinned to those exact versions. Ad-hoc discovery becomes a reviewed, reusable asset for the next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Findable everywhere · 1:00
Zooming out from Observal, here's what ARD enables for everyone.
[Card 1] If you build an MCP server, skill or agent, you publish one ard.json and any ARD registry can find you. No separate submission to every marketplace.
[Card 2] Companies can run an internal registry that answers with approved resources first and refers out to public ones for the rest. That's the federation example from earlier.
[Card 3] Coding agents can find tools at runtime instead of at config time. GitHub and Hugging Face already do it.
[Card 4] And governed catalogues like the one I built can add approval and telemetry on top while still speaking the open standard. Open ecosystems, not walled catalogues.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Try it this week · 1:00
If you take one thing home: you can publish an ARD entry for your own project this week. It's one small file.
[Code] Step one: put an ard.json under /.well-known on your domain. Here's a made-up Chennai weather MCP server. It has the four required fields, and please write good representative queries, because that's what search runs on.
[Top right] Step two: validate it with the official conformance tool from the ard-spec repo. Publisher mode fetches your file and checks it.
[Bottom right] Step three: join in. The spec is at version 0.91, so feedback now actually shapes it. Issues for spec changes; pull requests welcome for examples, tools and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Thank you · Q&amp;A
To wrap up: agents shouldn't be limited to what someone wired up in advance. ARD gives them a search layer: a small entry, a permanent domain-anchored name, one REST API, federation across registries, and trust kept separate from relevance. And I've shown you what it took to build that into a real open-source registry.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5760720" cy="32004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1600200"/>
            <a:ext cx="5852160" cy="19202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4" name="Text 0"/>
          <p:cNvSpPr/>
          <p:nvPr>
            <p:ph idx="102" type="body" hasCustomPrompt="1"/>
          </p:nvPr>
        </p:nvSpPr>
        <p:spPr>
          <a:xfrm>
            <a:off x="548640" y="3611880"/>
            <a:ext cx="5486400" cy="91440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
        <p:nvSpPr>
          <p:cNvPr id="5" name="Text 0"/>
          <p:cNvSpPr/>
          <p:nvPr>
            <p:ph idx="103" type="body" hasCustomPrompt="1"/>
          </p:nvPr>
        </p:nvSpPr>
        <p:spPr>
          <a:xfrm>
            <a:off x="548640" y="5074920"/>
            <a:ext cx="5486400" cy="411480"/>
          </a:xfrm>
          <a:prstGeom prst="rect">
            <a:avLst/>
          </a:prstGeom>
          <a:noFill/>
          <a:ln/>
        </p:spPr>
        <p:txBody>
          <a:bodyPr wrap="square" rtlCol="0"/>
          <a:lstStyle>
            <a:lvl1pPr indent="0" marL="0">
              <a:buNone/>
              <a:defRPr lang="en-US" sz="2200" b="1" dirty="0">
                <a:solidFill>
                  <a:schemeClr val="tx1"/>
                </a:solidFill>
              </a:defRPr>
            </a:lvl1pPr>
          </a:lstStyle>
          <a:p>
            <a:pPr indent="0" marL="0">
              <a:buNone/>
            </a:pPr>
            <a:endParaRPr lang="en-US" sz="2200" dirty="0"/>
          </a:p>
        </p:txBody>
      </p:sp>
      <p:sp>
        <p:nvSpPr>
          <p:cNvPr id="6" name="Text 0"/>
          <p:cNvSpPr/>
          <p:nvPr>
            <p:ph idx="104" type="body" hasCustomPrompt="1"/>
          </p:nvPr>
        </p:nvSpPr>
        <p:spPr>
          <a:xfrm>
            <a:off x="548640" y="5486400"/>
            <a:ext cx="5486400" cy="3657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Shaan Narendran  ·  AAIF Chennai Chapter</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607040" cy="210312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822960" y="4114800"/>
            <a:ext cx="9692640" cy="137160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Shaan Narendran  ·  AAIF Chennai Chapter</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ilac backdrop circle"/>
          <p:cNvSpPr/>
          <p:nvPr/>
        </p:nvSpPr>
        <p:spPr>
          <a:xfrm>
            <a:off x="6903720" y="-822960"/>
            <a:ext cx="6309360" cy="6309360"/>
          </a:xfrm>
          <a:prstGeom prst="ellipse">
            <a:avLst/>
          </a:prstGeom>
          <a:solidFill>
            <a:schemeClr val="accent3">
              <a:alpha val="45000"/>
            </a:schemeClr>
          </a:solidFill>
          <a:ln/>
        </p:spPr>
      </p:sp>
      <p:sp>
        <p:nvSpPr>
          <p:cNvPr id="3" name="Coral accent dot"/>
          <p:cNvSpPr/>
          <p:nvPr/>
        </p:nvSpPr>
        <p:spPr>
          <a:xfrm>
            <a:off x="10835640" y="5532120"/>
            <a:ext cx="777240" cy="777240"/>
          </a:xfrm>
          <a:prstGeom prst="ellipse">
            <a:avLst/>
          </a:prstGeom>
          <a:solidFill>
            <a:schemeClr val="accent1"/>
          </a:solidFill>
          <a:ln/>
        </p:spPr>
      </p:sp>
      <p:sp>
        <p:nvSpPr>
          <p:cNvPr id="4" name="Text 0"/>
          <p:cNvSpPr/>
          <p:nvPr>
            <p:ph idx="100" type="body" hasCustomPrompt="1"/>
          </p:nvPr>
        </p:nvSpPr>
        <p:spPr>
          <a:xfrm>
            <a:off x="548640" y="1188720"/>
            <a:ext cx="576072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AAIF CHENNAI CHAPTER  ·  24 OCTOBER 2026</a:t>
            </a:r>
            <a:endParaRPr lang="en-US" sz="1300" dirty="0"/>
          </a:p>
        </p:txBody>
      </p:sp>
      <p:sp>
        <p:nvSpPr>
          <p:cNvPr id="5" name="Text 0"/>
          <p:cNvSpPr/>
          <p:nvPr>
            <p:ph idx="101" type="title" hasCustomPrompt="1"/>
          </p:nvPr>
        </p:nvSpPr>
        <p:spPr>
          <a:xfrm>
            <a:off x="548640" y="1600200"/>
            <a:ext cx="5852160" cy="1920240"/>
          </a:xfrm>
          <a:prstGeom prst="rect">
            <a:avLst/>
          </a:prstGeom>
          <a:noFill/>
          <a:ln/>
        </p:spPr>
        <p:txBody>
          <a:bodyPr wrap="square" lIns="0" tIns="0" rIns="0" bIns="0" rtlCol="0" anchor="t"/>
          <a:lstStyle/>
          <a:p>
            <a:pPr algn="l" indent="0" marL="0">
              <a:buNone/>
            </a:pPr>
            <a:r>
              <a:rPr lang="en-US" sz="5400" b="1" dirty="0">
                <a:solidFill>
                  <a:schemeClr val="tx1"/>
                </a:solidFill>
              </a:rPr>
              <a:t>Agentic Resource Discovery</a:t>
            </a:r>
            <a:endParaRPr lang="en-US" sz="5400" dirty="0"/>
          </a:p>
        </p:txBody>
      </p:sp>
      <p:sp>
        <p:nvSpPr>
          <p:cNvPr id="6" name="Text 0"/>
          <p:cNvSpPr/>
          <p:nvPr>
            <p:ph idx="102" type="body" hasCustomPrompt="1"/>
          </p:nvPr>
        </p:nvSpPr>
        <p:spPr>
          <a:xfrm>
            <a:off x="548640" y="3611880"/>
            <a:ext cx="5486400" cy="914400"/>
          </a:xfrm>
          <a:prstGeom prst="rect">
            <a:avLst/>
          </a:prstGeom>
          <a:noFill/>
          <a:ln/>
        </p:spPr>
        <p:txBody>
          <a:bodyPr wrap="square" lIns="0" tIns="0" rIns="0" bIns="0" rtlCol="0" anchor="t"/>
          <a:lstStyle/>
          <a:p>
            <a:pPr indent="0" marL="0">
              <a:buNone/>
            </a:pPr>
            <a:r>
              <a:rPr lang="en-US" sz="2000" dirty="0">
                <a:solidFill>
                  <a:schemeClr val="tx2"/>
                </a:solidFill>
              </a:rPr>
              <a:t>How agents find the right tool, skill or agent at the moment they need it</a:t>
            </a:r>
            <a:endParaRPr lang="en-US" sz="2000" dirty="0"/>
          </a:p>
        </p:txBody>
      </p:sp>
      <p:sp>
        <p:nvSpPr>
          <p:cNvPr id="7" name="Text 0"/>
          <p:cNvSpPr/>
          <p:nvPr>
            <p:ph idx="103" type="body" hasCustomPrompt="1"/>
          </p:nvPr>
        </p:nvSpPr>
        <p:spPr>
          <a:xfrm>
            <a:off x="548640" y="5074920"/>
            <a:ext cx="5486400" cy="411480"/>
          </a:xfrm>
          <a:prstGeom prst="rect">
            <a:avLst/>
          </a:prstGeom>
          <a:noFill/>
          <a:ln/>
        </p:spPr>
        <p:txBody>
          <a:bodyPr wrap="square" lIns="0" tIns="0" rIns="0" bIns="0" rtlCol="0" anchor="t"/>
          <a:lstStyle/>
          <a:p>
            <a:pPr indent="0" marL="0">
              <a:buNone/>
            </a:pPr>
            <a:r>
              <a:rPr lang="en-US" sz="2200" b="1" dirty="0">
                <a:solidFill>
                  <a:schemeClr val="tx1"/>
                </a:solidFill>
              </a:rPr>
              <a:t>Shaan Narendran</a:t>
            </a:r>
            <a:endParaRPr lang="en-US" sz="2200" dirty="0"/>
          </a:p>
        </p:txBody>
      </p:sp>
      <p:sp>
        <p:nvSpPr>
          <p:cNvPr id="8" name="Text 0"/>
          <p:cNvSpPr/>
          <p:nvPr>
            <p:ph idx="104" type="body" hasCustomPrompt="1"/>
          </p:nvPr>
        </p:nvSpPr>
        <p:spPr>
          <a:xfrm>
            <a:off x="548640" y="5486400"/>
            <a:ext cx="5486400" cy="365760"/>
          </a:xfrm>
          <a:prstGeom prst="rect">
            <a:avLst/>
          </a:prstGeom>
          <a:noFill/>
          <a:ln/>
        </p:spPr>
        <p:txBody>
          <a:bodyPr wrap="square" lIns="0" tIns="0" rIns="0" bIns="0" rtlCol="0" anchor="t"/>
          <a:lstStyle/>
          <a:p>
            <a:pPr indent="0" marL="0">
              <a:buNone/>
            </a:pPr>
            <a:r>
              <a:rPr lang="en-US" sz="1600" dirty="0">
                <a:solidFill>
                  <a:schemeClr val="accent6"/>
                </a:solidFill>
              </a:rPr>
              <a:t>Open-source contributor</a:t>
            </a:r>
            <a:endParaRPr lang="en-US" sz="1600" dirty="0"/>
          </a:p>
        </p:txBody>
      </p:sp>
      <p:sp>
        <p:nvSpPr>
          <p:cNvPr id="9" name="Search card"/>
          <p:cNvSpPr/>
          <p:nvPr/>
        </p:nvSpPr>
        <p:spPr>
          <a:xfrm>
            <a:off x="6720840" y="1325880"/>
            <a:ext cx="4709160" cy="3977640"/>
          </a:xfrm>
          <a:prstGeom prst="roundRect">
            <a:avLst>
              <a:gd name="adj" fmla="val 3218"/>
            </a:avLst>
          </a:prstGeom>
          <a:solidFill>
            <a:schemeClr val="bg1"/>
          </a:solidFill>
          <a:ln/>
          <a:effectLst>
            <a:outerShdw sx="100000" sy="100000" kx="0" ky="0" algn="bl" rotWithShape="0" blurRad="127000" dist="38100" dir="5400000">
              <a:srgbClr val="474552">
                <a:alpha val="14000"/>
              </a:srgbClr>
            </a:outerShdw>
          </a:effectLst>
        </p:spPr>
      </p:sp>
      <p:sp>
        <p:nvSpPr>
          <p:cNvPr id="10" name="Search bar"/>
          <p:cNvSpPr/>
          <p:nvPr/>
        </p:nvSpPr>
        <p:spPr>
          <a:xfrm>
            <a:off x="6995160" y="1600200"/>
            <a:ext cx="4160520" cy="566928"/>
          </a:xfrm>
          <a:prstGeom prst="roundRect">
            <a:avLst>
              <a:gd name="adj" fmla="val 50000"/>
            </a:avLst>
          </a:prstGeom>
          <a:solidFill>
            <a:schemeClr val="bg2"/>
          </a:solidFill>
          <a:ln/>
        </p:spPr>
      </p:sp>
      <p:pic>
        <p:nvPicPr>
          <p:cNvPr id="11" name="Search icon" descr="preencoded.png">    </p:cNvPr>
          <p:cNvPicPr>
            <a:picLocks noChangeAspect="1"/>
          </p:cNvPicPr>
          <p:nvPr/>
        </p:nvPicPr>
        <p:blipFill>
          <a:blip r:embed="rId1"/>
          <a:stretch>
            <a:fillRect/>
          </a:stretch>
        </p:blipFill>
        <p:spPr>
          <a:xfrm>
            <a:off x="7196328" y="1737360"/>
            <a:ext cx="292608" cy="292608"/>
          </a:xfrm>
          <a:prstGeom prst="rect">
            <a:avLst/>
          </a:prstGeom>
        </p:spPr>
      </p:pic>
      <p:sp>
        <p:nvSpPr>
          <p:cNvPr id="12" name="Text 9"/>
          <p:cNvSpPr txBox="1"/>
          <p:nvPr/>
        </p:nvSpPr>
        <p:spPr>
          <a:xfrm>
            <a:off x="7635240" y="1600200"/>
            <a:ext cx="3429000" cy="566928"/>
          </a:xfrm>
          <a:prstGeom prst="rect">
            <a:avLst/>
          </a:prstGeom>
          <a:noFill/>
          <a:ln/>
        </p:spPr>
        <p:txBody>
          <a:bodyPr wrap="square" lIns="0" tIns="0" rIns="0" bIns="0" rtlCol="0" anchor="ctr"/>
          <a:lstStyle/>
          <a:p>
            <a:pPr indent="0" marL="0">
              <a:buNone/>
            </a:pPr>
            <a:r>
              <a:rPr lang="en-US" sz="1600" dirty="0">
                <a:solidFill>
                  <a:schemeClr val="tx1"/>
                </a:solidFill>
              </a:rPr>
              <a:t>find me a flight booking agent</a:t>
            </a:r>
            <a:endParaRPr lang="en-US" sz="1600" dirty="0"/>
          </a:p>
        </p:txBody>
      </p:sp>
      <p:sp>
        <p:nvSpPr>
          <p:cNvPr id="13" name="Result 1 circle"/>
          <p:cNvSpPr/>
          <p:nvPr/>
        </p:nvSpPr>
        <p:spPr>
          <a:xfrm>
            <a:off x="7040880" y="2532888"/>
            <a:ext cx="566928" cy="566928"/>
          </a:xfrm>
          <a:prstGeom prst="ellipse">
            <a:avLst/>
          </a:prstGeom>
          <a:solidFill>
            <a:schemeClr val="accent3"/>
          </a:solidFill>
          <a:ln/>
        </p:spPr>
      </p:sp>
      <p:pic>
        <p:nvPicPr>
          <p:cNvPr id="14" name="Result 1 icon" descr="preencoded.png">    </p:cNvPr>
          <p:cNvPicPr>
            <a:picLocks noChangeAspect="1"/>
          </p:cNvPicPr>
          <p:nvPr/>
        </p:nvPicPr>
        <p:blipFill>
          <a:blip r:embed="rId2"/>
          <a:stretch>
            <a:fillRect/>
          </a:stretch>
        </p:blipFill>
        <p:spPr>
          <a:xfrm>
            <a:off x="7182612" y="2674620"/>
            <a:ext cx="283464" cy="283464"/>
          </a:xfrm>
          <a:prstGeom prst="rect">
            <a:avLst/>
          </a:prstGeom>
        </p:spPr>
      </p:pic>
      <p:sp>
        <p:nvSpPr>
          <p:cNvPr id="15" name="Text 11"/>
          <p:cNvSpPr txBox="1"/>
          <p:nvPr/>
        </p:nvSpPr>
        <p:spPr>
          <a:xfrm>
            <a:off x="7818120" y="2514600"/>
            <a:ext cx="2377440" cy="347472"/>
          </a:xfrm>
          <a:prstGeom prst="rect">
            <a:avLst/>
          </a:prstGeom>
          <a:noFill/>
          <a:ln/>
        </p:spPr>
        <p:txBody>
          <a:bodyPr wrap="square" lIns="0" tIns="0" rIns="0" bIns="0" rtlCol="0" anchor="t"/>
          <a:lstStyle/>
          <a:p>
            <a:pPr indent="0" marL="0">
              <a:buNone/>
            </a:pPr>
            <a:r>
              <a:rPr lang="en-US" sz="1800" b="1" dirty="0">
                <a:solidFill>
                  <a:schemeClr val="tx1"/>
                </a:solidFill>
              </a:rPr>
              <a:t>Travel Booker</a:t>
            </a:r>
            <a:endParaRPr lang="en-US" sz="1800" dirty="0"/>
          </a:p>
        </p:txBody>
      </p:sp>
      <p:sp>
        <p:nvSpPr>
          <p:cNvPr id="16" name="Text 12"/>
          <p:cNvSpPr txBox="1"/>
          <p:nvPr/>
        </p:nvSpPr>
        <p:spPr>
          <a:xfrm>
            <a:off x="7818120" y="2862072"/>
            <a:ext cx="2377440" cy="274320"/>
          </a:xfrm>
          <a:prstGeom prst="rect">
            <a:avLst/>
          </a:prstGeom>
          <a:noFill/>
          <a:ln/>
        </p:spPr>
        <p:txBody>
          <a:bodyPr wrap="square" lIns="0" tIns="0" rIns="0" bIns="0" rtlCol="0" anchor="t"/>
          <a:lstStyle/>
          <a:p>
            <a:pPr indent="0" marL="0">
              <a:buNone/>
            </a:pPr>
            <a:r>
              <a:rPr lang="en-US" sz="1400" dirty="0">
                <a:solidFill>
                  <a:schemeClr val="accent6"/>
                </a:solidFill>
              </a:rPr>
              <a:t>A2A agent card</a:t>
            </a:r>
            <a:endParaRPr lang="en-US" sz="1400" dirty="0"/>
          </a:p>
        </p:txBody>
      </p:sp>
      <p:sp>
        <p:nvSpPr>
          <p:cNvPr id="17" name="Text 13"/>
          <p:cNvSpPr txBox="1"/>
          <p:nvPr/>
        </p:nvSpPr>
        <p:spPr>
          <a:xfrm>
            <a:off x="10287000" y="2496312"/>
            <a:ext cx="822960" cy="457200"/>
          </a:xfrm>
          <a:prstGeom prst="rect">
            <a:avLst/>
          </a:prstGeom>
          <a:noFill/>
          <a:ln/>
        </p:spPr>
        <p:txBody>
          <a:bodyPr wrap="square" lIns="0" tIns="0" rIns="0" bIns="0" rtlCol="0" anchor="t"/>
          <a:lstStyle/>
          <a:p>
            <a:pPr algn="r" indent="0" marL="0">
              <a:buNone/>
            </a:pPr>
            <a:r>
              <a:rPr lang="en-US" sz="2800" b="1" dirty="0">
                <a:solidFill>
                  <a:schemeClr val="accent2"/>
                </a:solidFill>
              </a:rPr>
              <a:t>95</a:t>
            </a:r>
            <a:endParaRPr lang="en-US" sz="2800" dirty="0"/>
          </a:p>
        </p:txBody>
      </p:sp>
      <p:sp>
        <p:nvSpPr>
          <p:cNvPr id="18" name="Text 14"/>
          <p:cNvSpPr txBox="1"/>
          <p:nvPr/>
        </p:nvSpPr>
        <p:spPr>
          <a:xfrm>
            <a:off x="10104120" y="2935224"/>
            <a:ext cx="1005840" cy="228600"/>
          </a:xfrm>
          <a:prstGeom prst="rect">
            <a:avLst/>
          </a:prstGeom>
          <a:noFill/>
          <a:ln/>
        </p:spPr>
        <p:txBody>
          <a:bodyPr wrap="square" lIns="0" tIns="0" rIns="0" bIns="0" rtlCol="0" anchor="t"/>
          <a:lstStyle/>
          <a:p>
            <a:pPr algn="r" indent="0" marL="0">
              <a:buNone/>
            </a:pPr>
            <a:r>
              <a:rPr lang="en-US" sz="1100" dirty="0">
                <a:solidFill>
                  <a:schemeClr val="accent6"/>
                </a:solidFill>
              </a:rPr>
              <a:t>relevance</a:t>
            </a:r>
            <a:endParaRPr lang="en-US" sz="1100" dirty="0"/>
          </a:p>
        </p:txBody>
      </p:sp>
      <p:sp>
        <p:nvSpPr>
          <p:cNvPr id="19" name="Result divider 1"/>
          <p:cNvSpPr/>
          <p:nvPr/>
        </p:nvSpPr>
        <p:spPr>
          <a:xfrm>
            <a:off x="6995160" y="3273552"/>
            <a:ext cx="4160520" cy="0"/>
          </a:xfrm>
          <a:prstGeom prst="line">
            <a:avLst/>
          </a:prstGeom>
          <a:noFill/>
          <a:ln w="12700">
            <a:solidFill>
              <a:srgbClr val="E4E1EE"/>
            </a:solidFill>
            <a:prstDash val="solid"/>
          </a:ln>
        </p:spPr>
      </p:sp>
      <p:sp>
        <p:nvSpPr>
          <p:cNvPr id="20" name="Result 2 circle"/>
          <p:cNvSpPr/>
          <p:nvPr/>
        </p:nvSpPr>
        <p:spPr>
          <a:xfrm>
            <a:off x="7040880" y="3447288"/>
            <a:ext cx="566928" cy="566928"/>
          </a:xfrm>
          <a:prstGeom prst="ellipse">
            <a:avLst/>
          </a:prstGeom>
          <a:solidFill>
            <a:schemeClr val="accent3"/>
          </a:solidFill>
          <a:ln/>
        </p:spPr>
      </p:sp>
      <p:pic>
        <p:nvPicPr>
          <p:cNvPr id="21" name="Result 2 icon" descr="preencoded.png">    </p:cNvPr>
          <p:cNvPicPr>
            <a:picLocks noChangeAspect="1"/>
          </p:cNvPicPr>
          <p:nvPr/>
        </p:nvPicPr>
        <p:blipFill>
          <a:blip r:embed="rId3"/>
          <a:stretch>
            <a:fillRect/>
          </a:stretch>
        </p:blipFill>
        <p:spPr>
          <a:xfrm>
            <a:off x="7182612" y="3589020"/>
            <a:ext cx="283464" cy="283464"/>
          </a:xfrm>
          <a:prstGeom prst="rect">
            <a:avLst/>
          </a:prstGeom>
        </p:spPr>
      </p:pic>
      <p:sp>
        <p:nvSpPr>
          <p:cNvPr id="22" name="Text 17"/>
          <p:cNvSpPr txBox="1"/>
          <p:nvPr/>
        </p:nvSpPr>
        <p:spPr>
          <a:xfrm>
            <a:off x="7818120" y="3429000"/>
            <a:ext cx="2377440" cy="347472"/>
          </a:xfrm>
          <a:prstGeom prst="rect">
            <a:avLst/>
          </a:prstGeom>
          <a:noFill/>
          <a:ln/>
        </p:spPr>
        <p:txBody>
          <a:bodyPr wrap="square" lIns="0" tIns="0" rIns="0" bIns="0" rtlCol="0" anchor="t"/>
          <a:lstStyle/>
          <a:p>
            <a:pPr indent="0" marL="0">
              <a:buNone/>
            </a:pPr>
            <a:r>
              <a:rPr lang="en-US" sz="1800" b="1" dirty="0">
                <a:solidFill>
                  <a:schemeClr val="tx1"/>
                </a:solidFill>
              </a:rPr>
              <a:t>Flight Status</a:t>
            </a:r>
            <a:endParaRPr lang="en-US" sz="1800" dirty="0"/>
          </a:p>
        </p:txBody>
      </p:sp>
      <p:sp>
        <p:nvSpPr>
          <p:cNvPr id="23" name="Text 18"/>
          <p:cNvSpPr txBox="1"/>
          <p:nvPr/>
        </p:nvSpPr>
        <p:spPr>
          <a:xfrm>
            <a:off x="7818120" y="3776472"/>
            <a:ext cx="2377440" cy="274320"/>
          </a:xfrm>
          <a:prstGeom prst="rect">
            <a:avLst/>
          </a:prstGeom>
          <a:noFill/>
          <a:ln/>
        </p:spPr>
        <p:txBody>
          <a:bodyPr wrap="square" lIns="0" tIns="0" rIns="0" bIns="0" rtlCol="0" anchor="t"/>
          <a:lstStyle/>
          <a:p>
            <a:pPr indent="0" marL="0">
              <a:buNone/>
            </a:pPr>
            <a:r>
              <a:rPr lang="en-US" sz="1400" dirty="0">
                <a:solidFill>
                  <a:schemeClr val="accent6"/>
                </a:solidFill>
              </a:rPr>
              <a:t>MCP server card</a:t>
            </a:r>
            <a:endParaRPr lang="en-US" sz="1400" dirty="0"/>
          </a:p>
        </p:txBody>
      </p:sp>
      <p:sp>
        <p:nvSpPr>
          <p:cNvPr id="24" name="Text 19"/>
          <p:cNvSpPr txBox="1"/>
          <p:nvPr/>
        </p:nvSpPr>
        <p:spPr>
          <a:xfrm>
            <a:off x="10287000" y="3410712"/>
            <a:ext cx="822960" cy="457200"/>
          </a:xfrm>
          <a:prstGeom prst="rect">
            <a:avLst/>
          </a:prstGeom>
          <a:noFill/>
          <a:ln/>
        </p:spPr>
        <p:txBody>
          <a:bodyPr wrap="square" lIns="0" tIns="0" rIns="0" bIns="0" rtlCol="0" anchor="t"/>
          <a:lstStyle/>
          <a:p>
            <a:pPr algn="r" indent="0" marL="0">
              <a:buNone/>
            </a:pPr>
            <a:r>
              <a:rPr lang="en-US" sz="2800" b="1" dirty="0">
                <a:solidFill>
                  <a:schemeClr val="accent2"/>
                </a:solidFill>
              </a:rPr>
              <a:t>88</a:t>
            </a:r>
            <a:endParaRPr lang="en-US" sz="2800" dirty="0"/>
          </a:p>
        </p:txBody>
      </p:sp>
      <p:sp>
        <p:nvSpPr>
          <p:cNvPr id="25" name="Text 20"/>
          <p:cNvSpPr txBox="1"/>
          <p:nvPr/>
        </p:nvSpPr>
        <p:spPr>
          <a:xfrm>
            <a:off x="10104120" y="3849624"/>
            <a:ext cx="1005840" cy="228600"/>
          </a:xfrm>
          <a:prstGeom prst="rect">
            <a:avLst/>
          </a:prstGeom>
          <a:noFill/>
          <a:ln/>
        </p:spPr>
        <p:txBody>
          <a:bodyPr wrap="square" lIns="0" tIns="0" rIns="0" bIns="0" rtlCol="0" anchor="t"/>
          <a:lstStyle/>
          <a:p>
            <a:pPr algn="r" indent="0" marL="0">
              <a:buNone/>
            </a:pPr>
            <a:r>
              <a:rPr lang="en-US" sz="1100" dirty="0">
                <a:solidFill>
                  <a:schemeClr val="accent6"/>
                </a:solidFill>
              </a:rPr>
              <a:t>relevance</a:t>
            </a:r>
            <a:endParaRPr lang="en-US" sz="1100" dirty="0"/>
          </a:p>
        </p:txBody>
      </p:sp>
      <p:sp>
        <p:nvSpPr>
          <p:cNvPr id="26" name="Result divider 2"/>
          <p:cNvSpPr/>
          <p:nvPr/>
        </p:nvSpPr>
        <p:spPr>
          <a:xfrm>
            <a:off x="6995160" y="4187952"/>
            <a:ext cx="4160520" cy="0"/>
          </a:xfrm>
          <a:prstGeom prst="line">
            <a:avLst/>
          </a:prstGeom>
          <a:noFill/>
          <a:ln w="12700">
            <a:solidFill>
              <a:srgbClr val="E4E1EE"/>
            </a:solidFill>
            <a:prstDash val="solid"/>
          </a:ln>
        </p:spPr>
      </p:sp>
      <p:sp>
        <p:nvSpPr>
          <p:cNvPr id="27" name="Result 3 circle"/>
          <p:cNvSpPr/>
          <p:nvPr/>
        </p:nvSpPr>
        <p:spPr>
          <a:xfrm>
            <a:off x="7040880" y="4361688"/>
            <a:ext cx="566928" cy="566928"/>
          </a:xfrm>
          <a:prstGeom prst="ellipse">
            <a:avLst/>
          </a:prstGeom>
          <a:solidFill>
            <a:schemeClr val="accent3"/>
          </a:solidFill>
          <a:ln/>
        </p:spPr>
      </p:sp>
      <p:pic>
        <p:nvPicPr>
          <p:cNvPr id="28" name="Result 3 icon" descr="preencoded.png">    </p:cNvPr>
          <p:cNvPicPr>
            <a:picLocks noChangeAspect="1"/>
          </p:cNvPicPr>
          <p:nvPr/>
        </p:nvPicPr>
        <p:blipFill>
          <a:blip r:embed="rId4"/>
          <a:stretch>
            <a:fillRect/>
          </a:stretch>
        </p:blipFill>
        <p:spPr>
          <a:xfrm>
            <a:off x="7182612" y="4503420"/>
            <a:ext cx="283464" cy="283464"/>
          </a:xfrm>
          <a:prstGeom prst="rect">
            <a:avLst/>
          </a:prstGeom>
        </p:spPr>
      </p:pic>
      <p:sp>
        <p:nvSpPr>
          <p:cNvPr id="29" name="Text 23"/>
          <p:cNvSpPr txBox="1"/>
          <p:nvPr/>
        </p:nvSpPr>
        <p:spPr>
          <a:xfrm>
            <a:off x="7818120" y="4343400"/>
            <a:ext cx="2377440" cy="347472"/>
          </a:xfrm>
          <a:prstGeom prst="rect">
            <a:avLst/>
          </a:prstGeom>
          <a:noFill/>
          <a:ln/>
        </p:spPr>
        <p:txBody>
          <a:bodyPr wrap="square" lIns="0" tIns="0" rIns="0" bIns="0" rtlCol="0" anchor="t"/>
          <a:lstStyle/>
          <a:p>
            <a:pPr indent="0" marL="0">
              <a:buNone/>
            </a:pPr>
            <a:r>
              <a:rPr lang="en-US" sz="1800" b="1" dirty="0">
                <a:solidFill>
                  <a:schemeClr val="tx1"/>
                </a:solidFill>
              </a:rPr>
              <a:t>trip-planner</a:t>
            </a:r>
            <a:endParaRPr lang="en-US" sz="1800" dirty="0"/>
          </a:p>
        </p:txBody>
      </p:sp>
      <p:sp>
        <p:nvSpPr>
          <p:cNvPr id="30" name="Text 24"/>
          <p:cNvSpPr txBox="1"/>
          <p:nvPr/>
        </p:nvSpPr>
        <p:spPr>
          <a:xfrm>
            <a:off x="7818120" y="4690872"/>
            <a:ext cx="2377440" cy="274320"/>
          </a:xfrm>
          <a:prstGeom prst="rect">
            <a:avLst/>
          </a:prstGeom>
          <a:noFill/>
          <a:ln/>
        </p:spPr>
        <p:txBody>
          <a:bodyPr wrap="square" lIns="0" tIns="0" rIns="0" bIns="0" rtlCol="0" anchor="t"/>
          <a:lstStyle/>
          <a:p>
            <a:pPr indent="0" marL="0">
              <a:buNone/>
            </a:pPr>
            <a:r>
              <a:rPr lang="en-US" sz="1400" dirty="0">
                <a:solidFill>
                  <a:schemeClr val="accent6"/>
                </a:solidFill>
              </a:rPr>
              <a:t>Agent skill</a:t>
            </a:r>
            <a:endParaRPr lang="en-US" sz="1400" dirty="0"/>
          </a:p>
        </p:txBody>
      </p:sp>
      <p:sp>
        <p:nvSpPr>
          <p:cNvPr id="31" name="Text 25"/>
          <p:cNvSpPr txBox="1"/>
          <p:nvPr/>
        </p:nvSpPr>
        <p:spPr>
          <a:xfrm>
            <a:off x="10287000" y="4325112"/>
            <a:ext cx="822960" cy="457200"/>
          </a:xfrm>
          <a:prstGeom prst="rect">
            <a:avLst/>
          </a:prstGeom>
          <a:noFill/>
          <a:ln/>
        </p:spPr>
        <p:txBody>
          <a:bodyPr wrap="square" lIns="0" tIns="0" rIns="0" bIns="0" rtlCol="0" anchor="t"/>
          <a:lstStyle/>
          <a:p>
            <a:pPr algn="r" indent="0" marL="0">
              <a:buNone/>
            </a:pPr>
            <a:r>
              <a:rPr lang="en-US" sz="2800" b="1" dirty="0">
                <a:solidFill>
                  <a:schemeClr val="accent2"/>
                </a:solidFill>
              </a:rPr>
              <a:t>74</a:t>
            </a:r>
            <a:endParaRPr lang="en-US" sz="2800" dirty="0"/>
          </a:p>
        </p:txBody>
      </p:sp>
      <p:sp>
        <p:nvSpPr>
          <p:cNvPr id="32" name="Text 26"/>
          <p:cNvSpPr txBox="1"/>
          <p:nvPr/>
        </p:nvSpPr>
        <p:spPr>
          <a:xfrm>
            <a:off x="10104120" y="4764024"/>
            <a:ext cx="1005840" cy="228600"/>
          </a:xfrm>
          <a:prstGeom prst="rect">
            <a:avLst/>
          </a:prstGeom>
          <a:noFill/>
          <a:ln/>
        </p:spPr>
        <p:txBody>
          <a:bodyPr wrap="square" lIns="0" tIns="0" rIns="0" bIns="0" rtlCol="0" anchor="t"/>
          <a:lstStyle/>
          <a:p>
            <a:pPr algn="r" indent="0" marL="0">
              <a:buNone/>
            </a:pPr>
            <a:r>
              <a:rPr lang="en-US" sz="1100" dirty="0">
                <a:solidFill>
                  <a:schemeClr val="accent6"/>
                </a:solidFill>
              </a:rPr>
              <a:t>relevance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AGENDA</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From “what exists?” to a working implementation</a:t>
            </a:r>
            <a:endParaRPr lang="en-US" sz="3200" dirty="0"/>
          </a:p>
        </p:txBody>
      </p:sp>
      <p:sp>
        <p:nvSpPr>
          <p:cNvPr id="4" name="Speaker card"/>
          <p:cNvSpPr/>
          <p:nvPr/>
        </p:nvSpPr>
        <p:spPr>
          <a:xfrm>
            <a:off x="548640" y="1965960"/>
            <a:ext cx="4160520" cy="4114800"/>
          </a:xfrm>
          <a:prstGeom prst="roundRect">
            <a:avLst>
              <a:gd name="adj" fmla="val 3111"/>
            </a:avLst>
          </a:prstGeom>
          <a:solidFill>
            <a:schemeClr val="bg2"/>
          </a:solidFill>
          <a:ln/>
        </p:spPr>
      </p:sp>
      <p:sp>
        <p:nvSpPr>
          <p:cNvPr id="5" name="Initials circle"/>
          <p:cNvSpPr/>
          <p:nvPr/>
        </p:nvSpPr>
        <p:spPr>
          <a:xfrm>
            <a:off x="868680" y="2286000"/>
            <a:ext cx="1005840" cy="1005840"/>
          </a:xfrm>
          <a:prstGeom prst="ellipse">
            <a:avLst/>
          </a:prstGeom>
          <a:solidFill>
            <a:schemeClr val="accent1"/>
          </a:solidFill>
          <a:ln/>
        </p:spPr>
      </p:sp>
      <p:sp>
        <p:nvSpPr>
          <p:cNvPr id="6" name="Text 4"/>
          <p:cNvSpPr txBox="1"/>
          <p:nvPr/>
        </p:nvSpPr>
        <p:spPr>
          <a:xfrm>
            <a:off x="868680" y="2286000"/>
            <a:ext cx="1005840" cy="1005840"/>
          </a:xfrm>
          <a:prstGeom prst="rect">
            <a:avLst/>
          </a:prstGeom>
          <a:noFill/>
          <a:ln/>
        </p:spPr>
        <p:txBody>
          <a:bodyPr wrap="square" lIns="0" tIns="0" rIns="0" bIns="0" rtlCol="0" anchor="ctr"/>
          <a:lstStyle/>
          <a:p>
            <a:pPr algn="ctr" indent="0" marL="0">
              <a:buNone/>
            </a:pPr>
            <a:r>
              <a:rPr lang="en-US" sz="3000" b="1" dirty="0">
                <a:solidFill>
                  <a:schemeClr val="tx1"/>
                </a:solidFill>
              </a:rPr>
              <a:t>SN</a:t>
            </a:r>
            <a:endParaRPr lang="en-US" sz="3000" dirty="0"/>
          </a:p>
        </p:txBody>
      </p:sp>
      <p:sp>
        <p:nvSpPr>
          <p:cNvPr id="7" name="Text 5"/>
          <p:cNvSpPr txBox="1"/>
          <p:nvPr/>
        </p:nvSpPr>
        <p:spPr>
          <a:xfrm>
            <a:off x="868680" y="3520440"/>
            <a:ext cx="3566160" cy="411480"/>
          </a:xfrm>
          <a:prstGeom prst="rect">
            <a:avLst/>
          </a:prstGeom>
          <a:noFill/>
          <a:ln/>
        </p:spPr>
        <p:txBody>
          <a:bodyPr wrap="square" lIns="0" tIns="0" rIns="0" bIns="0" rtlCol="0" anchor="t"/>
          <a:lstStyle/>
          <a:p>
            <a:pPr indent="0" marL="0">
              <a:buNone/>
            </a:pPr>
            <a:r>
              <a:rPr lang="en-US" sz="2200" b="1" dirty="0">
                <a:solidFill>
                  <a:schemeClr val="tx1"/>
                </a:solidFill>
              </a:rPr>
              <a:t>Shaan Narendran</a:t>
            </a:r>
            <a:endParaRPr lang="en-US" sz="2200" dirty="0"/>
          </a:p>
        </p:txBody>
      </p:sp>
      <p:sp>
        <p:nvSpPr>
          <p:cNvPr id="8" name="Text 6"/>
          <p:cNvSpPr txBox="1"/>
          <p:nvPr/>
        </p:nvSpPr>
        <p:spPr>
          <a:xfrm>
            <a:off x="868680" y="3931920"/>
            <a:ext cx="3566160" cy="347472"/>
          </a:xfrm>
          <a:prstGeom prst="rect">
            <a:avLst/>
          </a:prstGeom>
          <a:noFill/>
          <a:ln/>
        </p:spPr>
        <p:txBody>
          <a:bodyPr wrap="square" lIns="0" tIns="0" rIns="0" bIns="0" rtlCol="0" anchor="t"/>
          <a:lstStyle/>
          <a:p>
            <a:pPr indent="0" marL="0">
              <a:buNone/>
            </a:pPr>
            <a:r>
              <a:rPr lang="en-US" sz="1600" dirty="0">
                <a:solidFill>
                  <a:schemeClr val="accent6"/>
                </a:solidFill>
              </a:rPr>
              <a:t>Open-source contributor</a:t>
            </a:r>
            <a:endParaRPr lang="en-US" sz="1600" dirty="0"/>
          </a:p>
        </p:txBody>
      </p:sp>
      <p:sp>
        <p:nvSpPr>
          <p:cNvPr id="9" name="Text 7"/>
          <p:cNvSpPr txBox="1"/>
          <p:nvPr/>
        </p:nvSpPr>
        <p:spPr>
          <a:xfrm>
            <a:off x="868680" y="4434840"/>
            <a:ext cx="3566160" cy="1005840"/>
          </a:xfrm>
          <a:prstGeom prst="rect">
            <a:avLst/>
          </a:prstGeom>
          <a:noFill/>
          <a:ln/>
        </p:spPr>
        <p:txBody>
          <a:bodyPr wrap="square" lIns="0" tIns="0" rIns="0" bIns="0" rtlCol="0" anchor="t"/>
          <a:lstStyle/>
          <a:p>
            <a:pPr indent="0" marL="0">
              <a:buNone/>
            </a:pPr>
            <a:r>
              <a:rPr lang="en-US" sz="1500" dirty="0">
                <a:solidFill>
                  <a:schemeClr val="tx1"/>
                </a:solidFill>
              </a:rPr>
              <a:t>I built ARD support into Observal, an open-source registry and observability platform for AI coding agents.</a:t>
            </a:r>
            <a:endParaRPr lang="en-US" sz="1500" dirty="0"/>
          </a:p>
        </p:txBody>
      </p:sp>
      <p:sp>
        <p:nvSpPr>
          <p:cNvPr id="10" name="Text 8"/>
          <p:cNvSpPr txBox="1"/>
          <p:nvPr/>
        </p:nvSpPr>
        <p:spPr>
          <a:xfrm>
            <a:off x="868680" y="5532120"/>
            <a:ext cx="3566160" cy="320040"/>
          </a:xfrm>
          <a:prstGeom prst="rect">
            <a:avLst/>
          </a:prstGeom>
          <a:noFill/>
          <a:ln/>
        </p:spPr>
        <p:txBody>
          <a:bodyPr wrap="square" lIns="0" tIns="0" rIns="0" bIns="0" rtlCol="0" anchor="t"/>
          <a:lstStyle/>
          <a:p>
            <a:pPr indent="0" marL="0">
              <a:buNone/>
            </a:pPr>
            <a:r>
              <a:rPr lang="en-US" sz="1400" dirty="0">
                <a:solidFill>
                  <a:schemeClr val="accent2"/>
                </a:solidFill>
                <a:latin typeface="Consolas" pitchFamily="34" charset="0"/>
                <a:ea typeface="Consolas" pitchFamily="34" charset="-122"/>
                <a:cs typeface="Consolas" pitchFamily="34" charset="-120"/>
              </a:rPr>
              <a:t>github.com/ShaanNarendran</a:t>
            </a:r>
            <a:endParaRPr lang="en-US" sz="1400" dirty="0"/>
          </a:p>
        </p:txBody>
      </p:sp>
      <p:sp>
        <p:nvSpPr>
          <p:cNvPr id="11" name="Text 9"/>
          <p:cNvSpPr txBox="1"/>
          <p:nvPr/>
        </p:nvSpPr>
        <p:spPr>
          <a:xfrm>
            <a:off x="5120640" y="1965960"/>
            <a:ext cx="822960" cy="685800"/>
          </a:xfrm>
          <a:prstGeom prst="rect">
            <a:avLst/>
          </a:prstGeom>
          <a:noFill/>
          <a:ln/>
        </p:spPr>
        <p:txBody>
          <a:bodyPr wrap="square" lIns="0" tIns="0" rIns="0" bIns="0" rtlCol="0" anchor="t"/>
          <a:lstStyle/>
          <a:p>
            <a:pPr indent="0" marL="0">
              <a:buNone/>
            </a:pPr>
            <a:r>
              <a:rPr lang="en-US" sz="3000" b="1" dirty="0">
                <a:solidFill>
                  <a:schemeClr val="accent5"/>
                </a:solidFill>
              </a:rPr>
              <a:t>01</a:t>
            </a:r>
            <a:endParaRPr lang="en-US" sz="3000" dirty="0"/>
          </a:p>
        </p:txBody>
      </p:sp>
      <p:sp>
        <p:nvSpPr>
          <p:cNvPr id="12" name="Text 10"/>
          <p:cNvSpPr txBox="1"/>
          <p:nvPr/>
        </p:nvSpPr>
        <p:spPr>
          <a:xfrm>
            <a:off x="5989320" y="1984248"/>
            <a:ext cx="5577840" cy="365760"/>
          </a:xfrm>
          <a:prstGeom prst="rect">
            <a:avLst/>
          </a:prstGeom>
          <a:noFill/>
          <a:ln/>
        </p:spPr>
        <p:txBody>
          <a:bodyPr wrap="square" lIns="0" tIns="0" rIns="0" bIns="0" rtlCol="0" anchor="t"/>
          <a:lstStyle/>
          <a:p>
            <a:pPr indent="0" marL="0">
              <a:buNone/>
            </a:pPr>
            <a:r>
              <a:rPr lang="en-US" sz="2000" b="1" dirty="0">
                <a:solidFill>
                  <a:schemeClr val="tx1"/>
                </a:solidFill>
              </a:rPr>
              <a:t>Why agents need discovery</a:t>
            </a:r>
            <a:endParaRPr lang="en-US" sz="2000" dirty="0"/>
          </a:p>
        </p:txBody>
      </p:sp>
      <p:sp>
        <p:nvSpPr>
          <p:cNvPr id="13" name="Text 11"/>
          <p:cNvSpPr txBox="1"/>
          <p:nvPr/>
        </p:nvSpPr>
        <p:spPr>
          <a:xfrm>
            <a:off x="5989320" y="2350008"/>
            <a:ext cx="5577840" cy="320040"/>
          </a:xfrm>
          <a:prstGeom prst="rect">
            <a:avLst/>
          </a:prstGeom>
          <a:noFill/>
          <a:ln/>
        </p:spPr>
        <p:txBody>
          <a:bodyPr wrap="square" lIns="0" tIns="0" rIns="0" bIns="0" rtlCol="0" anchor="t"/>
          <a:lstStyle/>
          <a:p>
            <a:pPr indent="0" marL="0">
              <a:buNone/>
            </a:pPr>
            <a:r>
              <a:rPr lang="en-US" sz="1500" dirty="0">
                <a:solidFill>
                  <a:schemeClr val="accent6"/>
                </a:solidFill>
              </a:rPr>
              <a:t>Wiring tools up in advance doesn’t scale</a:t>
            </a:r>
            <a:endParaRPr lang="en-US" sz="1500" dirty="0"/>
          </a:p>
        </p:txBody>
      </p:sp>
      <p:sp>
        <p:nvSpPr>
          <p:cNvPr id="14" name="Text 12"/>
          <p:cNvSpPr txBox="1"/>
          <p:nvPr/>
        </p:nvSpPr>
        <p:spPr>
          <a:xfrm>
            <a:off x="5120640" y="2807208"/>
            <a:ext cx="822960" cy="685800"/>
          </a:xfrm>
          <a:prstGeom prst="rect">
            <a:avLst/>
          </a:prstGeom>
          <a:noFill/>
          <a:ln/>
        </p:spPr>
        <p:txBody>
          <a:bodyPr wrap="square" lIns="0" tIns="0" rIns="0" bIns="0" rtlCol="0" anchor="t"/>
          <a:lstStyle/>
          <a:p>
            <a:pPr indent="0" marL="0">
              <a:buNone/>
            </a:pPr>
            <a:r>
              <a:rPr lang="en-US" sz="3000" b="1" dirty="0">
                <a:solidFill>
                  <a:schemeClr val="accent5"/>
                </a:solidFill>
              </a:rPr>
              <a:t>02</a:t>
            </a:r>
            <a:endParaRPr lang="en-US" sz="3000" dirty="0"/>
          </a:p>
        </p:txBody>
      </p:sp>
      <p:sp>
        <p:nvSpPr>
          <p:cNvPr id="15" name="Text 13"/>
          <p:cNvSpPr txBox="1"/>
          <p:nvPr/>
        </p:nvSpPr>
        <p:spPr>
          <a:xfrm>
            <a:off x="5989320" y="2825496"/>
            <a:ext cx="5577840" cy="365760"/>
          </a:xfrm>
          <a:prstGeom prst="rect">
            <a:avLst/>
          </a:prstGeom>
          <a:noFill/>
          <a:ln/>
        </p:spPr>
        <p:txBody>
          <a:bodyPr wrap="square" lIns="0" tIns="0" rIns="0" bIns="0" rtlCol="0" anchor="t"/>
          <a:lstStyle/>
          <a:p>
            <a:pPr indent="0" marL="0">
              <a:buNone/>
            </a:pPr>
            <a:r>
              <a:rPr lang="en-US" sz="2000" b="1" dirty="0">
                <a:solidFill>
                  <a:schemeClr val="tx1"/>
                </a:solidFill>
              </a:rPr>
              <a:t>What ARD is</a:t>
            </a:r>
            <a:endParaRPr lang="en-US" sz="2000" dirty="0"/>
          </a:p>
        </p:txBody>
      </p:sp>
      <p:sp>
        <p:nvSpPr>
          <p:cNvPr id="16" name="Text 14"/>
          <p:cNvSpPr txBox="1"/>
          <p:nvPr/>
        </p:nvSpPr>
        <p:spPr>
          <a:xfrm>
            <a:off x="5989320" y="3191256"/>
            <a:ext cx="5577840" cy="320040"/>
          </a:xfrm>
          <a:prstGeom prst="rect">
            <a:avLst/>
          </a:prstGeom>
          <a:noFill/>
          <a:ln/>
        </p:spPr>
        <p:txBody>
          <a:bodyPr wrap="square" lIns="0" tIns="0" rIns="0" bIns="0" rtlCol="0" anchor="t"/>
          <a:lstStyle/>
          <a:p>
            <a:pPr indent="0" marL="0">
              <a:buNone/>
            </a:pPr>
            <a:r>
              <a:rPr lang="en-US" sz="1500" dirty="0">
                <a:solidFill>
                  <a:schemeClr val="accent6"/>
                </a:solidFill>
              </a:rPr>
              <a:t>Entries, identifiers, publishing, search, federation, trust</a:t>
            </a:r>
            <a:endParaRPr lang="en-US" sz="1500" dirty="0"/>
          </a:p>
        </p:txBody>
      </p:sp>
      <p:sp>
        <p:nvSpPr>
          <p:cNvPr id="17" name="Text 15"/>
          <p:cNvSpPr txBox="1"/>
          <p:nvPr/>
        </p:nvSpPr>
        <p:spPr>
          <a:xfrm>
            <a:off x="5120640" y="3648456"/>
            <a:ext cx="822960" cy="685800"/>
          </a:xfrm>
          <a:prstGeom prst="rect">
            <a:avLst/>
          </a:prstGeom>
          <a:noFill/>
          <a:ln/>
        </p:spPr>
        <p:txBody>
          <a:bodyPr wrap="square" lIns="0" tIns="0" rIns="0" bIns="0" rtlCol="0" anchor="t"/>
          <a:lstStyle/>
          <a:p>
            <a:pPr indent="0" marL="0">
              <a:buNone/>
            </a:pPr>
            <a:r>
              <a:rPr lang="en-US" sz="3000" b="1" dirty="0">
                <a:solidFill>
                  <a:schemeClr val="accent5"/>
                </a:solidFill>
              </a:rPr>
              <a:t>03</a:t>
            </a:r>
            <a:endParaRPr lang="en-US" sz="3000" dirty="0"/>
          </a:p>
        </p:txBody>
      </p:sp>
      <p:sp>
        <p:nvSpPr>
          <p:cNvPr id="18" name="Text 16"/>
          <p:cNvSpPr txBox="1"/>
          <p:nvPr/>
        </p:nvSpPr>
        <p:spPr>
          <a:xfrm>
            <a:off x="5989320" y="3666744"/>
            <a:ext cx="5577840" cy="365760"/>
          </a:xfrm>
          <a:prstGeom prst="rect">
            <a:avLst/>
          </a:prstGeom>
          <a:noFill/>
          <a:ln/>
        </p:spPr>
        <p:txBody>
          <a:bodyPr wrap="square" lIns="0" tIns="0" rIns="0" bIns="0" rtlCol="0" anchor="t"/>
          <a:lstStyle/>
          <a:p>
            <a:pPr indent="0" marL="0">
              <a:buNone/>
            </a:pPr>
            <a:r>
              <a:rPr lang="en-US" sz="2000" b="1" dirty="0">
                <a:solidFill>
                  <a:schemeClr val="tx1"/>
                </a:solidFill>
              </a:rPr>
              <a:t>How I implemented it</a:t>
            </a:r>
            <a:endParaRPr lang="en-US" sz="2000" dirty="0"/>
          </a:p>
        </p:txBody>
      </p:sp>
      <p:sp>
        <p:nvSpPr>
          <p:cNvPr id="19" name="Text 17"/>
          <p:cNvSpPr txBox="1"/>
          <p:nvPr/>
        </p:nvSpPr>
        <p:spPr>
          <a:xfrm>
            <a:off x="5989320" y="4032504"/>
            <a:ext cx="5577840" cy="320040"/>
          </a:xfrm>
          <a:prstGeom prst="rect">
            <a:avLst/>
          </a:prstGeom>
          <a:noFill/>
          <a:ln/>
        </p:spPr>
        <p:txBody>
          <a:bodyPr wrap="square" lIns="0" tIns="0" rIns="0" bIns="0" rtlCol="0" anchor="t"/>
          <a:lstStyle/>
          <a:p>
            <a:pPr indent="0" marL="0">
              <a:buNone/>
            </a:pPr>
            <a:r>
              <a:rPr lang="en-US" sz="1500" dirty="0">
                <a:solidFill>
                  <a:schemeClr val="accent6"/>
                </a:solidFill>
              </a:rPr>
              <a:t>Adding ARD to Observal as an open-source contributor</a:t>
            </a:r>
            <a:endParaRPr lang="en-US" sz="1500" dirty="0"/>
          </a:p>
        </p:txBody>
      </p:sp>
      <p:sp>
        <p:nvSpPr>
          <p:cNvPr id="20" name="Text 18"/>
          <p:cNvSpPr txBox="1"/>
          <p:nvPr/>
        </p:nvSpPr>
        <p:spPr>
          <a:xfrm>
            <a:off x="5120640" y="4489704"/>
            <a:ext cx="822960" cy="685800"/>
          </a:xfrm>
          <a:prstGeom prst="rect">
            <a:avLst/>
          </a:prstGeom>
          <a:noFill/>
          <a:ln/>
        </p:spPr>
        <p:txBody>
          <a:bodyPr wrap="square" lIns="0" tIns="0" rIns="0" bIns="0" rtlCol="0" anchor="t"/>
          <a:lstStyle/>
          <a:p>
            <a:pPr indent="0" marL="0">
              <a:buNone/>
            </a:pPr>
            <a:r>
              <a:rPr lang="en-US" sz="3000" b="1" dirty="0">
                <a:solidFill>
                  <a:schemeClr val="accent5"/>
                </a:solidFill>
              </a:rPr>
              <a:t>04</a:t>
            </a:r>
            <a:endParaRPr lang="en-US" sz="3000" dirty="0"/>
          </a:p>
        </p:txBody>
      </p:sp>
      <p:sp>
        <p:nvSpPr>
          <p:cNvPr id="21" name="Text 19"/>
          <p:cNvSpPr txBox="1"/>
          <p:nvPr/>
        </p:nvSpPr>
        <p:spPr>
          <a:xfrm>
            <a:off x="5989320" y="4507992"/>
            <a:ext cx="5577840" cy="365760"/>
          </a:xfrm>
          <a:prstGeom prst="rect">
            <a:avLst/>
          </a:prstGeom>
          <a:noFill/>
          <a:ln/>
        </p:spPr>
        <p:txBody>
          <a:bodyPr wrap="square" lIns="0" tIns="0" rIns="0" bIns="0" rtlCol="0" anchor="t"/>
          <a:lstStyle/>
          <a:p>
            <a:pPr indent="0" marL="0">
              <a:buNone/>
            </a:pPr>
            <a:r>
              <a:rPr lang="en-US" sz="2000" b="1" dirty="0">
                <a:solidFill>
                  <a:schemeClr val="tx1"/>
                </a:solidFill>
              </a:rPr>
              <a:t>What it unlocks</a:t>
            </a:r>
            <a:endParaRPr lang="en-US" sz="2000" dirty="0"/>
          </a:p>
        </p:txBody>
      </p:sp>
      <p:sp>
        <p:nvSpPr>
          <p:cNvPr id="22" name="Text 20"/>
          <p:cNvSpPr txBox="1"/>
          <p:nvPr/>
        </p:nvSpPr>
        <p:spPr>
          <a:xfrm>
            <a:off x="5989320" y="4873752"/>
            <a:ext cx="5577840" cy="320040"/>
          </a:xfrm>
          <a:prstGeom prst="rect">
            <a:avLst/>
          </a:prstGeom>
          <a:noFill/>
          <a:ln/>
        </p:spPr>
        <p:txBody>
          <a:bodyPr wrap="square" lIns="0" tIns="0" rIns="0" bIns="0" rtlCol="0" anchor="t"/>
          <a:lstStyle/>
          <a:p>
            <a:pPr indent="0" marL="0">
              <a:buNone/>
            </a:pPr>
            <a:r>
              <a:rPr lang="en-US" sz="1500" dirty="0">
                <a:solidFill>
                  <a:schemeClr val="accent6"/>
                </a:solidFill>
              </a:rPr>
              <a:t>Use cases, from one registry to the whole ecosystem</a:t>
            </a:r>
            <a:endParaRPr lang="en-US" sz="1500" dirty="0"/>
          </a:p>
        </p:txBody>
      </p:sp>
      <p:sp>
        <p:nvSpPr>
          <p:cNvPr id="23" name="Text 21"/>
          <p:cNvSpPr txBox="1"/>
          <p:nvPr/>
        </p:nvSpPr>
        <p:spPr>
          <a:xfrm>
            <a:off x="5120640" y="5330952"/>
            <a:ext cx="822960" cy="685800"/>
          </a:xfrm>
          <a:prstGeom prst="rect">
            <a:avLst/>
          </a:prstGeom>
          <a:noFill/>
          <a:ln/>
        </p:spPr>
        <p:txBody>
          <a:bodyPr wrap="square" lIns="0" tIns="0" rIns="0" bIns="0" rtlCol="0" anchor="t"/>
          <a:lstStyle/>
          <a:p>
            <a:pPr indent="0" marL="0">
              <a:buNone/>
            </a:pPr>
            <a:r>
              <a:rPr lang="en-US" sz="3000" b="1" dirty="0">
                <a:solidFill>
                  <a:schemeClr val="accent5"/>
                </a:solidFill>
              </a:rPr>
              <a:t>05</a:t>
            </a:r>
            <a:endParaRPr lang="en-US" sz="3000" dirty="0"/>
          </a:p>
        </p:txBody>
      </p:sp>
      <p:sp>
        <p:nvSpPr>
          <p:cNvPr id="24" name="Text 22"/>
          <p:cNvSpPr txBox="1"/>
          <p:nvPr/>
        </p:nvSpPr>
        <p:spPr>
          <a:xfrm>
            <a:off x="5989320" y="5349240"/>
            <a:ext cx="5577840" cy="365760"/>
          </a:xfrm>
          <a:prstGeom prst="rect">
            <a:avLst/>
          </a:prstGeom>
          <a:noFill/>
          <a:ln/>
        </p:spPr>
        <p:txBody>
          <a:bodyPr wrap="square" lIns="0" tIns="0" rIns="0" bIns="0" rtlCol="0" anchor="t"/>
          <a:lstStyle/>
          <a:p>
            <a:pPr indent="0" marL="0">
              <a:buNone/>
            </a:pPr>
            <a:r>
              <a:rPr lang="en-US" sz="2000" b="1" dirty="0">
                <a:solidFill>
                  <a:schemeClr val="tx1"/>
                </a:solidFill>
              </a:rPr>
              <a:t>Try it yourself</a:t>
            </a:r>
            <a:endParaRPr lang="en-US" sz="2000" dirty="0"/>
          </a:p>
        </p:txBody>
      </p:sp>
      <p:sp>
        <p:nvSpPr>
          <p:cNvPr id="25" name="Text 23"/>
          <p:cNvSpPr txBox="1"/>
          <p:nvPr/>
        </p:nvSpPr>
        <p:spPr>
          <a:xfrm>
            <a:off x="5989320" y="5715000"/>
            <a:ext cx="5577840" cy="320040"/>
          </a:xfrm>
          <a:prstGeom prst="rect">
            <a:avLst/>
          </a:prstGeom>
          <a:noFill/>
          <a:ln/>
        </p:spPr>
        <p:txBody>
          <a:bodyPr wrap="square" lIns="0" tIns="0" rIns="0" bIns="0" rtlCol="0" anchor="t"/>
          <a:lstStyle/>
          <a:p>
            <a:pPr indent="0" marL="0">
              <a:buNone/>
            </a:pPr>
            <a:r>
              <a:rPr lang="en-US" sz="1500" dirty="0">
                <a:solidFill>
                  <a:schemeClr val="accent6"/>
                </a:solidFill>
              </a:rPr>
              <a:t>Publish an entry for your own project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  WHY DISCOVERY</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Agents only use what someone wired up in advance</a:t>
            </a:r>
            <a:endParaRPr lang="en-US" sz="3200" dirty="0"/>
          </a:p>
        </p:txBody>
      </p:sp>
      <p:sp>
        <p:nvSpPr>
          <p:cNvPr id="4" name="Agent circle"/>
          <p:cNvSpPr/>
          <p:nvPr/>
        </p:nvSpPr>
        <p:spPr>
          <a:xfrm>
            <a:off x="822960" y="2971800"/>
            <a:ext cx="1371600" cy="1371600"/>
          </a:xfrm>
          <a:prstGeom prst="ellipse">
            <a:avLst/>
          </a:prstGeom>
          <a:solidFill>
            <a:schemeClr val="accent5"/>
          </a:solidFill>
          <a:ln/>
        </p:spPr>
      </p:sp>
      <p:pic>
        <p:nvPicPr>
          <p:cNvPr id="5" name="Agent icon" descr="preencoded.png">    </p:cNvPr>
          <p:cNvPicPr>
            <a:picLocks noChangeAspect="1"/>
          </p:cNvPicPr>
          <p:nvPr/>
        </p:nvPicPr>
        <p:blipFill>
          <a:blip r:embed="rId1"/>
          <a:stretch>
            <a:fillRect/>
          </a:stretch>
        </p:blipFill>
        <p:spPr>
          <a:xfrm>
            <a:off x="1165860" y="3314700"/>
            <a:ext cx="685800" cy="685800"/>
          </a:xfrm>
          <a:prstGeom prst="rect">
            <a:avLst/>
          </a:prstGeom>
        </p:spPr>
      </p:pic>
      <p:sp>
        <p:nvSpPr>
          <p:cNvPr id="6" name="Text 3"/>
          <p:cNvSpPr txBox="1"/>
          <p:nvPr/>
        </p:nvSpPr>
        <p:spPr>
          <a:xfrm>
            <a:off x="548640" y="4434840"/>
            <a:ext cx="1920240" cy="365760"/>
          </a:xfrm>
          <a:prstGeom prst="rect">
            <a:avLst/>
          </a:prstGeom>
          <a:noFill/>
          <a:ln/>
        </p:spPr>
        <p:txBody>
          <a:bodyPr wrap="square" lIns="0" tIns="0" rIns="0" bIns="0" rtlCol="0" anchor="t"/>
          <a:lstStyle/>
          <a:p>
            <a:pPr algn="ctr" indent="0" marL="0">
              <a:buNone/>
            </a:pPr>
            <a:r>
              <a:rPr lang="en-US" sz="1700" b="1" dirty="0">
                <a:solidFill>
                  <a:schemeClr val="tx1"/>
                </a:solidFill>
              </a:rPr>
              <a:t>Your agent</a:t>
            </a:r>
            <a:endParaRPr lang="en-US" sz="1700" dirty="0"/>
          </a:p>
        </p:txBody>
      </p:sp>
      <p:sp>
        <p:nvSpPr>
          <p:cNvPr id="7" name="Resource 0-0"/>
          <p:cNvSpPr/>
          <p:nvPr/>
        </p:nvSpPr>
        <p:spPr>
          <a:xfrm>
            <a:off x="3977640" y="2103120"/>
            <a:ext cx="402336" cy="402336"/>
          </a:xfrm>
          <a:prstGeom prst="roundRect">
            <a:avLst>
              <a:gd name="adj" fmla="val 18182"/>
            </a:avLst>
          </a:prstGeom>
          <a:solidFill>
            <a:schemeClr val="accent3">
              <a:alpha val="55000"/>
            </a:schemeClr>
          </a:solidFill>
          <a:ln/>
        </p:spPr>
      </p:sp>
      <p:sp>
        <p:nvSpPr>
          <p:cNvPr id="8" name="Resource 0-1"/>
          <p:cNvSpPr/>
          <p:nvPr/>
        </p:nvSpPr>
        <p:spPr>
          <a:xfrm>
            <a:off x="4727448" y="2103120"/>
            <a:ext cx="402336" cy="402336"/>
          </a:xfrm>
          <a:prstGeom prst="roundRect">
            <a:avLst>
              <a:gd name="adj" fmla="val 18182"/>
            </a:avLst>
          </a:prstGeom>
          <a:solidFill>
            <a:schemeClr val="accent1"/>
          </a:solidFill>
          <a:ln/>
        </p:spPr>
      </p:sp>
      <p:sp>
        <p:nvSpPr>
          <p:cNvPr id="9" name="Resource 0-2"/>
          <p:cNvSpPr/>
          <p:nvPr/>
        </p:nvSpPr>
        <p:spPr>
          <a:xfrm>
            <a:off x="5477256" y="2103120"/>
            <a:ext cx="402336" cy="402336"/>
          </a:xfrm>
          <a:prstGeom prst="roundRect">
            <a:avLst>
              <a:gd name="adj" fmla="val 18182"/>
            </a:avLst>
          </a:prstGeom>
          <a:solidFill>
            <a:schemeClr val="accent3">
              <a:alpha val="55000"/>
            </a:schemeClr>
          </a:solidFill>
          <a:ln/>
        </p:spPr>
      </p:sp>
      <p:sp>
        <p:nvSpPr>
          <p:cNvPr id="10" name="Resource 0-3"/>
          <p:cNvSpPr/>
          <p:nvPr/>
        </p:nvSpPr>
        <p:spPr>
          <a:xfrm>
            <a:off x="6227064" y="2103120"/>
            <a:ext cx="402336" cy="402336"/>
          </a:xfrm>
          <a:prstGeom prst="roundRect">
            <a:avLst>
              <a:gd name="adj" fmla="val 18182"/>
            </a:avLst>
          </a:prstGeom>
          <a:solidFill>
            <a:schemeClr val="accent3">
              <a:alpha val="55000"/>
            </a:schemeClr>
          </a:solidFill>
          <a:ln/>
        </p:spPr>
      </p:sp>
      <p:sp>
        <p:nvSpPr>
          <p:cNvPr id="11" name="Resource 0-4"/>
          <p:cNvSpPr/>
          <p:nvPr/>
        </p:nvSpPr>
        <p:spPr>
          <a:xfrm>
            <a:off x="6976872" y="2103120"/>
            <a:ext cx="402336" cy="402336"/>
          </a:xfrm>
          <a:prstGeom prst="roundRect">
            <a:avLst>
              <a:gd name="adj" fmla="val 18182"/>
            </a:avLst>
          </a:prstGeom>
          <a:solidFill>
            <a:schemeClr val="accent3">
              <a:alpha val="55000"/>
            </a:schemeClr>
          </a:solidFill>
          <a:ln/>
        </p:spPr>
      </p:sp>
      <p:sp>
        <p:nvSpPr>
          <p:cNvPr id="12" name="Resource 0-5"/>
          <p:cNvSpPr/>
          <p:nvPr/>
        </p:nvSpPr>
        <p:spPr>
          <a:xfrm>
            <a:off x="7726680" y="2103120"/>
            <a:ext cx="402336" cy="402336"/>
          </a:xfrm>
          <a:prstGeom prst="roundRect">
            <a:avLst>
              <a:gd name="adj" fmla="val 18182"/>
            </a:avLst>
          </a:prstGeom>
          <a:solidFill>
            <a:schemeClr val="accent3">
              <a:alpha val="55000"/>
            </a:schemeClr>
          </a:solidFill>
          <a:ln/>
        </p:spPr>
      </p:sp>
      <p:sp>
        <p:nvSpPr>
          <p:cNvPr id="13" name="Resource 0-6"/>
          <p:cNvSpPr/>
          <p:nvPr/>
        </p:nvSpPr>
        <p:spPr>
          <a:xfrm>
            <a:off x="8476488" y="2103120"/>
            <a:ext cx="402336" cy="402336"/>
          </a:xfrm>
          <a:prstGeom prst="roundRect">
            <a:avLst>
              <a:gd name="adj" fmla="val 18182"/>
            </a:avLst>
          </a:prstGeom>
          <a:solidFill>
            <a:schemeClr val="accent3">
              <a:alpha val="55000"/>
            </a:schemeClr>
          </a:solidFill>
          <a:ln/>
        </p:spPr>
      </p:sp>
      <p:sp>
        <p:nvSpPr>
          <p:cNvPr id="14" name="Resource 0-7"/>
          <p:cNvSpPr/>
          <p:nvPr/>
        </p:nvSpPr>
        <p:spPr>
          <a:xfrm>
            <a:off x="9226296" y="2103120"/>
            <a:ext cx="402336" cy="402336"/>
          </a:xfrm>
          <a:prstGeom prst="roundRect">
            <a:avLst>
              <a:gd name="adj" fmla="val 18182"/>
            </a:avLst>
          </a:prstGeom>
          <a:solidFill>
            <a:schemeClr val="accent3">
              <a:alpha val="55000"/>
            </a:schemeClr>
          </a:solidFill>
          <a:ln/>
        </p:spPr>
      </p:sp>
      <p:sp>
        <p:nvSpPr>
          <p:cNvPr id="15" name="Resource 0-8"/>
          <p:cNvSpPr/>
          <p:nvPr/>
        </p:nvSpPr>
        <p:spPr>
          <a:xfrm>
            <a:off x="9976104" y="2103120"/>
            <a:ext cx="402336" cy="402336"/>
          </a:xfrm>
          <a:prstGeom prst="roundRect">
            <a:avLst>
              <a:gd name="adj" fmla="val 18182"/>
            </a:avLst>
          </a:prstGeom>
          <a:solidFill>
            <a:schemeClr val="accent3">
              <a:alpha val="55000"/>
            </a:schemeClr>
          </a:solidFill>
          <a:ln/>
        </p:spPr>
      </p:sp>
      <p:sp>
        <p:nvSpPr>
          <p:cNvPr id="16" name="Resource 0-9"/>
          <p:cNvSpPr/>
          <p:nvPr/>
        </p:nvSpPr>
        <p:spPr>
          <a:xfrm>
            <a:off x="10725912" y="2103120"/>
            <a:ext cx="402336" cy="402336"/>
          </a:xfrm>
          <a:prstGeom prst="roundRect">
            <a:avLst>
              <a:gd name="adj" fmla="val 18182"/>
            </a:avLst>
          </a:prstGeom>
          <a:solidFill>
            <a:schemeClr val="accent3">
              <a:alpha val="55000"/>
            </a:schemeClr>
          </a:solidFill>
          <a:ln/>
        </p:spPr>
      </p:sp>
      <p:sp>
        <p:nvSpPr>
          <p:cNvPr id="17" name="Resource 1-0"/>
          <p:cNvSpPr/>
          <p:nvPr/>
        </p:nvSpPr>
        <p:spPr>
          <a:xfrm>
            <a:off x="3977640" y="2852928"/>
            <a:ext cx="402336" cy="402336"/>
          </a:xfrm>
          <a:prstGeom prst="roundRect">
            <a:avLst>
              <a:gd name="adj" fmla="val 18182"/>
            </a:avLst>
          </a:prstGeom>
          <a:solidFill>
            <a:schemeClr val="accent3">
              <a:alpha val="55000"/>
            </a:schemeClr>
          </a:solidFill>
          <a:ln/>
        </p:spPr>
      </p:sp>
      <p:sp>
        <p:nvSpPr>
          <p:cNvPr id="18" name="Resource 1-1"/>
          <p:cNvSpPr/>
          <p:nvPr/>
        </p:nvSpPr>
        <p:spPr>
          <a:xfrm>
            <a:off x="4727448" y="2852928"/>
            <a:ext cx="402336" cy="402336"/>
          </a:xfrm>
          <a:prstGeom prst="roundRect">
            <a:avLst>
              <a:gd name="adj" fmla="val 18182"/>
            </a:avLst>
          </a:prstGeom>
          <a:solidFill>
            <a:schemeClr val="accent3">
              <a:alpha val="55000"/>
            </a:schemeClr>
          </a:solidFill>
          <a:ln/>
        </p:spPr>
      </p:sp>
      <p:sp>
        <p:nvSpPr>
          <p:cNvPr id="19" name="Resource 1-2"/>
          <p:cNvSpPr/>
          <p:nvPr/>
        </p:nvSpPr>
        <p:spPr>
          <a:xfrm>
            <a:off x="5477256" y="2852928"/>
            <a:ext cx="402336" cy="402336"/>
          </a:xfrm>
          <a:prstGeom prst="roundRect">
            <a:avLst>
              <a:gd name="adj" fmla="val 18182"/>
            </a:avLst>
          </a:prstGeom>
          <a:solidFill>
            <a:schemeClr val="accent3">
              <a:alpha val="55000"/>
            </a:schemeClr>
          </a:solidFill>
          <a:ln/>
        </p:spPr>
      </p:sp>
      <p:sp>
        <p:nvSpPr>
          <p:cNvPr id="20" name="Resource 1-3"/>
          <p:cNvSpPr/>
          <p:nvPr/>
        </p:nvSpPr>
        <p:spPr>
          <a:xfrm>
            <a:off x="6227064" y="2852928"/>
            <a:ext cx="402336" cy="402336"/>
          </a:xfrm>
          <a:prstGeom prst="roundRect">
            <a:avLst>
              <a:gd name="adj" fmla="val 18182"/>
            </a:avLst>
          </a:prstGeom>
          <a:solidFill>
            <a:schemeClr val="accent1"/>
          </a:solidFill>
          <a:ln/>
        </p:spPr>
      </p:sp>
      <p:sp>
        <p:nvSpPr>
          <p:cNvPr id="21" name="Resource 1-4"/>
          <p:cNvSpPr/>
          <p:nvPr/>
        </p:nvSpPr>
        <p:spPr>
          <a:xfrm>
            <a:off x="6976872" y="2852928"/>
            <a:ext cx="402336" cy="402336"/>
          </a:xfrm>
          <a:prstGeom prst="roundRect">
            <a:avLst>
              <a:gd name="adj" fmla="val 18182"/>
            </a:avLst>
          </a:prstGeom>
          <a:solidFill>
            <a:schemeClr val="accent3">
              <a:alpha val="55000"/>
            </a:schemeClr>
          </a:solidFill>
          <a:ln/>
        </p:spPr>
      </p:sp>
      <p:sp>
        <p:nvSpPr>
          <p:cNvPr id="22" name="Resource 1-5"/>
          <p:cNvSpPr/>
          <p:nvPr/>
        </p:nvSpPr>
        <p:spPr>
          <a:xfrm>
            <a:off x="7726680" y="2852928"/>
            <a:ext cx="402336" cy="402336"/>
          </a:xfrm>
          <a:prstGeom prst="roundRect">
            <a:avLst>
              <a:gd name="adj" fmla="val 18182"/>
            </a:avLst>
          </a:prstGeom>
          <a:solidFill>
            <a:schemeClr val="accent3">
              <a:alpha val="55000"/>
            </a:schemeClr>
          </a:solidFill>
          <a:ln/>
        </p:spPr>
      </p:sp>
      <p:sp>
        <p:nvSpPr>
          <p:cNvPr id="23" name="Resource 1-6"/>
          <p:cNvSpPr/>
          <p:nvPr/>
        </p:nvSpPr>
        <p:spPr>
          <a:xfrm>
            <a:off x="8476488" y="2852928"/>
            <a:ext cx="402336" cy="402336"/>
          </a:xfrm>
          <a:prstGeom prst="roundRect">
            <a:avLst>
              <a:gd name="adj" fmla="val 18182"/>
            </a:avLst>
          </a:prstGeom>
          <a:solidFill>
            <a:schemeClr val="accent3">
              <a:alpha val="55000"/>
            </a:schemeClr>
          </a:solidFill>
          <a:ln/>
        </p:spPr>
      </p:sp>
      <p:sp>
        <p:nvSpPr>
          <p:cNvPr id="24" name="Resource 1-7"/>
          <p:cNvSpPr/>
          <p:nvPr/>
        </p:nvSpPr>
        <p:spPr>
          <a:xfrm>
            <a:off x="9226296" y="2852928"/>
            <a:ext cx="402336" cy="402336"/>
          </a:xfrm>
          <a:prstGeom prst="roundRect">
            <a:avLst>
              <a:gd name="adj" fmla="val 18182"/>
            </a:avLst>
          </a:prstGeom>
          <a:solidFill>
            <a:schemeClr val="accent3">
              <a:alpha val="55000"/>
            </a:schemeClr>
          </a:solidFill>
          <a:ln/>
        </p:spPr>
      </p:sp>
      <p:sp>
        <p:nvSpPr>
          <p:cNvPr id="25" name="Resource 1-8"/>
          <p:cNvSpPr/>
          <p:nvPr/>
        </p:nvSpPr>
        <p:spPr>
          <a:xfrm>
            <a:off x="9976104" y="2852928"/>
            <a:ext cx="402336" cy="402336"/>
          </a:xfrm>
          <a:prstGeom prst="roundRect">
            <a:avLst>
              <a:gd name="adj" fmla="val 18182"/>
            </a:avLst>
          </a:prstGeom>
          <a:solidFill>
            <a:schemeClr val="accent3">
              <a:alpha val="55000"/>
            </a:schemeClr>
          </a:solidFill>
          <a:ln/>
        </p:spPr>
      </p:sp>
      <p:sp>
        <p:nvSpPr>
          <p:cNvPr id="26" name="Resource 1-9"/>
          <p:cNvSpPr/>
          <p:nvPr/>
        </p:nvSpPr>
        <p:spPr>
          <a:xfrm>
            <a:off x="10725912" y="2852928"/>
            <a:ext cx="402336" cy="402336"/>
          </a:xfrm>
          <a:prstGeom prst="roundRect">
            <a:avLst>
              <a:gd name="adj" fmla="val 18182"/>
            </a:avLst>
          </a:prstGeom>
          <a:solidFill>
            <a:schemeClr val="accent3">
              <a:alpha val="55000"/>
            </a:schemeClr>
          </a:solidFill>
          <a:ln/>
        </p:spPr>
      </p:sp>
      <p:sp>
        <p:nvSpPr>
          <p:cNvPr id="27" name="Resource 2-0"/>
          <p:cNvSpPr/>
          <p:nvPr/>
        </p:nvSpPr>
        <p:spPr>
          <a:xfrm>
            <a:off x="3977640" y="3602736"/>
            <a:ext cx="402336" cy="402336"/>
          </a:xfrm>
          <a:prstGeom prst="roundRect">
            <a:avLst>
              <a:gd name="adj" fmla="val 18182"/>
            </a:avLst>
          </a:prstGeom>
          <a:solidFill>
            <a:schemeClr val="accent3">
              <a:alpha val="55000"/>
            </a:schemeClr>
          </a:solidFill>
          <a:ln/>
        </p:spPr>
      </p:sp>
      <p:sp>
        <p:nvSpPr>
          <p:cNvPr id="28" name="Resource 2-1"/>
          <p:cNvSpPr/>
          <p:nvPr/>
        </p:nvSpPr>
        <p:spPr>
          <a:xfrm>
            <a:off x="4727448" y="3602736"/>
            <a:ext cx="402336" cy="402336"/>
          </a:xfrm>
          <a:prstGeom prst="roundRect">
            <a:avLst>
              <a:gd name="adj" fmla="val 18182"/>
            </a:avLst>
          </a:prstGeom>
          <a:solidFill>
            <a:schemeClr val="accent3">
              <a:alpha val="55000"/>
            </a:schemeClr>
          </a:solidFill>
          <a:ln/>
        </p:spPr>
      </p:sp>
      <p:sp>
        <p:nvSpPr>
          <p:cNvPr id="29" name="Resource 2-2"/>
          <p:cNvSpPr/>
          <p:nvPr/>
        </p:nvSpPr>
        <p:spPr>
          <a:xfrm>
            <a:off x="5477256" y="3602736"/>
            <a:ext cx="402336" cy="402336"/>
          </a:xfrm>
          <a:prstGeom prst="roundRect">
            <a:avLst>
              <a:gd name="adj" fmla="val 18182"/>
            </a:avLst>
          </a:prstGeom>
          <a:solidFill>
            <a:schemeClr val="accent1"/>
          </a:solidFill>
          <a:ln/>
        </p:spPr>
      </p:sp>
      <p:sp>
        <p:nvSpPr>
          <p:cNvPr id="30" name="Resource 2-3"/>
          <p:cNvSpPr/>
          <p:nvPr/>
        </p:nvSpPr>
        <p:spPr>
          <a:xfrm>
            <a:off x="6227064" y="3602736"/>
            <a:ext cx="402336" cy="402336"/>
          </a:xfrm>
          <a:prstGeom prst="roundRect">
            <a:avLst>
              <a:gd name="adj" fmla="val 18182"/>
            </a:avLst>
          </a:prstGeom>
          <a:solidFill>
            <a:schemeClr val="accent3">
              <a:alpha val="55000"/>
            </a:schemeClr>
          </a:solidFill>
          <a:ln/>
        </p:spPr>
      </p:sp>
      <p:sp>
        <p:nvSpPr>
          <p:cNvPr id="31" name="Resource 2-4"/>
          <p:cNvSpPr/>
          <p:nvPr/>
        </p:nvSpPr>
        <p:spPr>
          <a:xfrm>
            <a:off x="6976872" y="3602736"/>
            <a:ext cx="402336" cy="402336"/>
          </a:xfrm>
          <a:prstGeom prst="roundRect">
            <a:avLst>
              <a:gd name="adj" fmla="val 18182"/>
            </a:avLst>
          </a:prstGeom>
          <a:solidFill>
            <a:schemeClr val="accent3">
              <a:alpha val="55000"/>
            </a:schemeClr>
          </a:solidFill>
          <a:ln/>
        </p:spPr>
      </p:sp>
      <p:sp>
        <p:nvSpPr>
          <p:cNvPr id="32" name="Resource 2-5"/>
          <p:cNvSpPr/>
          <p:nvPr/>
        </p:nvSpPr>
        <p:spPr>
          <a:xfrm>
            <a:off x="7726680" y="3602736"/>
            <a:ext cx="402336" cy="402336"/>
          </a:xfrm>
          <a:prstGeom prst="roundRect">
            <a:avLst>
              <a:gd name="adj" fmla="val 18182"/>
            </a:avLst>
          </a:prstGeom>
          <a:solidFill>
            <a:schemeClr val="accent3">
              <a:alpha val="55000"/>
            </a:schemeClr>
          </a:solidFill>
          <a:ln/>
        </p:spPr>
      </p:sp>
      <p:sp>
        <p:nvSpPr>
          <p:cNvPr id="33" name="Resource 2-6"/>
          <p:cNvSpPr/>
          <p:nvPr/>
        </p:nvSpPr>
        <p:spPr>
          <a:xfrm>
            <a:off x="8476488" y="3602736"/>
            <a:ext cx="402336" cy="402336"/>
          </a:xfrm>
          <a:prstGeom prst="roundRect">
            <a:avLst>
              <a:gd name="adj" fmla="val 18182"/>
            </a:avLst>
          </a:prstGeom>
          <a:solidFill>
            <a:schemeClr val="accent3">
              <a:alpha val="55000"/>
            </a:schemeClr>
          </a:solidFill>
          <a:ln/>
        </p:spPr>
      </p:sp>
      <p:sp>
        <p:nvSpPr>
          <p:cNvPr id="34" name="Resource 2-7"/>
          <p:cNvSpPr/>
          <p:nvPr/>
        </p:nvSpPr>
        <p:spPr>
          <a:xfrm>
            <a:off x="9226296" y="3602736"/>
            <a:ext cx="402336" cy="402336"/>
          </a:xfrm>
          <a:prstGeom prst="roundRect">
            <a:avLst>
              <a:gd name="adj" fmla="val 18182"/>
            </a:avLst>
          </a:prstGeom>
          <a:solidFill>
            <a:schemeClr val="accent3">
              <a:alpha val="55000"/>
            </a:schemeClr>
          </a:solidFill>
          <a:ln/>
        </p:spPr>
      </p:sp>
      <p:sp>
        <p:nvSpPr>
          <p:cNvPr id="35" name="Resource 2-8"/>
          <p:cNvSpPr/>
          <p:nvPr/>
        </p:nvSpPr>
        <p:spPr>
          <a:xfrm>
            <a:off x="9976104" y="3602736"/>
            <a:ext cx="402336" cy="402336"/>
          </a:xfrm>
          <a:prstGeom prst="roundRect">
            <a:avLst>
              <a:gd name="adj" fmla="val 18182"/>
            </a:avLst>
          </a:prstGeom>
          <a:solidFill>
            <a:schemeClr val="accent3">
              <a:alpha val="55000"/>
            </a:schemeClr>
          </a:solidFill>
          <a:ln/>
        </p:spPr>
      </p:sp>
      <p:sp>
        <p:nvSpPr>
          <p:cNvPr id="36" name="Resource 2-9"/>
          <p:cNvSpPr/>
          <p:nvPr/>
        </p:nvSpPr>
        <p:spPr>
          <a:xfrm>
            <a:off x="10725912" y="3602736"/>
            <a:ext cx="402336" cy="402336"/>
          </a:xfrm>
          <a:prstGeom prst="roundRect">
            <a:avLst>
              <a:gd name="adj" fmla="val 18182"/>
            </a:avLst>
          </a:prstGeom>
          <a:solidFill>
            <a:schemeClr val="accent3">
              <a:alpha val="55000"/>
            </a:schemeClr>
          </a:solidFill>
          <a:ln/>
        </p:spPr>
      </p:sp>
      <p:sp>
        <p:nvSpPr>
          <p:cNvPr id="37" name="Resource 3-0"/>
          <p:cNvSpPr/>
          <p:nvPr/>
        </p:nvSpPr>
        <p:spPr>
          <a:xfrm>
            <a:off x="3977640" y="4352544"/>
            <a:ext cx="402336" cy="402336"/>
          </a:xfrm>
          <a:prstGeom prst="roundRect">
            <a:avLst>
              <a:gd name="adj" fmla="val 18182"/>
            </a:avLst>
          </a:prstGeom>
          <a:solidFill>
            <a:schemeClr val="accent3">
              <a:alpha val="55000"/>
            </a:schemeClr>
          </a:solidFill>
          <a:ln/>
        </p:spPr>
      </p:sp>
      <p:sp>
        <p:nvSpPr>
          <p:cNvPr id="38" name="Resource 3-1"/>
          <p:cNvSpPr/>
          <p:nvPr/>
        </p:nvSpPr>
        <p:spPr>
          <a:xfrm>
            <a:off x="4727448" y="4352544"/>
            <a:ext cx="402336" cy="402336"/>
          </a:xfrm>
          <a:prstGeom prst="roundRect">
            <a:avLst>
              <a:gd name="adj" fmla="val 18182"/>
            </a:avLst>
          </a:prstGeom>
          <a:solidFill>
            <a:schemeClr val="accent3">
              <a:alpha val="55000"/>
            </a:schemeClr>
          </a:solidFill>
          <a:ln/>
        </p:spPr>
      </p:sp>
      <p:sp>
        <p:nvSpPr>
          <p:cNvPr id="39" name="Resource 3-2"/>
          <p:cNvSpPr/>
          <p:nvPr/>
        </p:nvSpPr>
        <p:spPr>
          <a:xfrm>
            <a:off x="5477256" y="4352544"/>
            <a:ext cx="402336" cy="402336"/>
          </a:xfrm>
          <a:prstGeom prst="roundRect">
            <a:avLst>
              <a:gd name="adj" fmla="val 18182"/>
            </a:avLst>
          </a:prstGeom>
          <a:solidFill>
            <a:schemeClr val="accent3">
              <a:alpha val="55000"/>
            </a:schemeClr>
          </a:solidFill>
          <a:ln/>
        </p:spPr>
      </p:sp>
      <p:sp>
        <p:nvSpPr>
          <p:cNvPr id="40" name="Resource 3-3"/>
          <p:cNvSpPr/>
          <p:nvPr/>
        </p:nvSpPr>
        <p:spPr>
          <a:xfrm>
            <a:off x="6227064" y="4352544"/>
            <a:ext cx="402336" cy="402336"/>
          </a:xfrm>
          <a:prstGeom prst="roundRect">
            <a:avLst>
              <a:gd name="adj" fmla="val 18182"/>
            </a:avLst>
          </a:prstGeom>
          <a:solidFill>
            <a:schemeClr val="accent3">
              <a:alpha val="55000"/>
            </a:schemeClr>
          </a:solidFill>
          <a:ln/>
        </p:spPr>
      </p:sp>
      <p:sp>
        <p:nvSpPr>
          <p:cNvPr id="41" name="Resource 3-4"/>
          <p:cNvSpPr/>
          <p:nvPr/>
        </p:nvSpPr>
        <p:spPr>
          <a:xfrm>
            <a:off x="6976872" y="4352544"/>
            <a:ext cx="402336" cy="402336"/>
          </a:xfrm>
          <a:prstGeom prst="roundRect">
            <a:avLst>
              <a:gd name="adj" fmla="val 18182"/>
            </a:avLst>
          </a:prstGeom>
          <a:solidFill>
            <a:schemeClr val="accent3">
              <a:alpha val="55000"/>
            </a:schemeClr>
          </a:solidFill>
          <a:ln/>
        </p:spPr>
      </p:sp>
      <p:sp>
        <p:nvSpPr>
          <p:cNvPr id="42" name="Resource 3-5"/>
          <p:cNvSpPr/>
          <p:nvPr/>
        </p:nvSpPr>
        <p:spPr>
          <a:xfrm>
            <a:off x="7726680" y="4352544"/>
            <a:ext cx="402336" cy="402336"/>
          </a:xfrm>
          <a:prstGeom prst="roundRect">
            <a:avLst>
              <a:gd name="adj" fmla="val 18182"/>
            </a:avLst>
          </a:prstGeom>
          <a:solidFill>
            <a:schemeClr val="accent3">
              <a:alpha val="55000"/>
            </a:schemeClr>
          </a:solidFill>
          <a:ln/>
        </p:spPr>
      </p:sp>
      <p:sp>
        <p:nvSpPr>
          <p:cNvPr id="43" name="Resource 3-6"/>
          <p:cNvSpPr/>
          <p:nvPr/>
        </p:nvSpPr>
        <p:spPr>
          <a:xfrm>
            <a:off x="8476488" y="4352544"/>
            <a:ext cx="402336" cy="402336"/>
          </a:xfrm>
          <a:prstGeom prst="roundRect">
            <a:avLst>
              <a:gd name="adj" fmla="val 18182"/>
            </a:avLst>
          </a:prstGeom>
          <a:solidFill>
            <a:schemeClr val="accent3">
              <a:alpha val="55000"/>
            </a:schemeClr>
          </a:solidFill>
          <a:ln/>
        </p:spPr>
      </p:sp>
      <p:sp>
        <p:nvSpPr>
          <p:cNvPr id="44" name="Resource 3-7"/>
          <p:cNvSpPr/>
          <p:nvPr/>
        </p:nvSpPr>
        <p:spPr>
          <a:xfrm>
            <a:off x="9226296" y="4352544"/>
            <a:ext cx="402336" cy="402336"/>
          </a:xfrm>
          <a:prstGeom prst="roundRect">
            <a:avLst>
              <a:gd name="adj" fmla="val 18182"/>
            </a:avLst>
          </a:prstGeom>
          <a:solidFill>
            <a:schemeClr val="accent3">
              <a:alpha val="55000"/>
            </a:schemeClr>
          </a:solidFill>
          <a:ln/>
        </p:spPr>
      </p:sp>
      <p:sp>
        <p:nvSpPr>
          <p:cNvPr id="45" name="Resource 3-8"/>
          <p:cNvSpPr/>
          <p:nvPr/>
        </p:nvSpPr>
        <p:spPr>
          <a:xfrm>
            <a:off x="9976104" y="4352544"/>
            <a:ext cx="402336" cy="402336"/>
          </a:xfrm>
          <a:prstGeom prst="roundRect">
            <a:avLst>
              <a:gd name="adj" fmla="val 18182"/>
            </a:avLst>
          </a:prstGeom>
          <a:solidFill>
            <a:schemeClr val="accent3">
              <a:alpha val="55000"/>
            </a:schemeClr>
          </a:solidFill>
          <a:ln/>
        </p:spPr>
      </p:sp>
      <p:sp>
        <p:nvSpPr>
          <p:cNvPr id="46" name="Resource 3-9"/>
          <p:cNvSpPr/>
          <p:nvPr/>
        </p:nvSpPr>
        <p:spPr>
          <a:xfrm>
            <a:off x="10725912" y="4352544"/>
            <a:ext cx="402336" cy="402336"/>
          </a:xfrm>
          <a:prstGeom prst="roundRect">
            <a:avLst>
              <a:gd name="adj" fmla="val 18182"/>
            </a:avLst>
          </a:prstGeom>
          <a:solidFill>
            <a:schemeClr val="accent3">
              <a:alpha val="55000"/>
            </a:schemeClr>
          </a:solidFill>
          <a:ln/>
        </p:spPr>
      </p:sp>
      <p:sp>
        <p:nvSpPr>
          <p:cNvPr id="47" name="Resource 4-0"/>
          <p:cNvSpPr/>
          <p:nvPr/>
        </p:nvSpPr>
        <p:spPr>
          <a:xfrm>
            <a:off x="3977640" y="5102352"/>
            <a:ext cx="402336" cy="402336"/>
          </a:xfrm>
          <a:prstGeom prst="roundRect">
            <a:avLst>
              <a:gd name="adj" fmla="val 18182"/>
            </a:avLst>
          </a:prstGeom>
          <a:solidFill>
            <a:schemeClr val="accent3">
              <a:alpha val="55000"/>
            </a:schemeClr>
          </a:solidFill>
          <a:ln/>
        </p:spPr>
      </p:sp>
      <p:sp>
        <p:nvSpPr>
          <p:cNvPr id="48" name="Resource 4-1"/>
          <p:cNvSpPr/>
          <p:nvPr/>
        </p:nvSpPr>
        <p:spPr>
          <a:xfrm>
            <a:off x="4727448" y="5102352"/>
            <a:ext cx="402336" cy="402336"/>
          </a:xfrm>
          <a:prstGeom prst="roundRect">
            <a:avLst>
              <a:gd name="adj" fmla="val 18182"/>
            </a:avLst>
          </a:prstGeom>
          <a:solidFill>
            <a:schemeClr val="accent3">
              <a:alpha val="55000"/>
            </a:schemeClr>
          </a:solidFill>
          <a:ln/>
        </p:spPr>
      </p:sp>
      <p:sp>
        <p:nvSpPr>
          <p:cNvPr id="49" name="Resource 4-2"/>
          <p:cNvSpPr/>
          <p:nvPr/>
        </p:nvSpPr>
        <p:spPr>
          <a:xfrm>
            <a:off x="5477256" y="5102352"/>
            <a:ext cx="402336" cy="402336"/>
          </a:xfrm>
          <a:prstGeom prst="roundRect">
            <a:avLst>
              <a:gd name="adj" fmla="val 18182"/>
            </a:avLst>
          </a:prstGeom>
          <a:solidFill>
            <a:schemeClr val="accent3">
              <a:alpha val="55000"/>
            </a:schemeClr>
          </a:solidFill>
          <a:ln/>
        </p:spPr>
      </p:sp>
      <p:sp>
        <p:nvSpPr>
          <p:cNvPr id="50" name="Resource 4-3"/>
          <p:cNvSpPr/>
          <p:nvPr/>
        </p:nvSpPr>
        <p:spPr>
          <a:xfrm>
            <a:off x="6227064" y="5102352"/>
            <a:ext cx="402336" cy="402336"/>
          </a:xfrm>
          <a:prstGeom prst="roundRect">
            <a:avLst>
              <a:gd name="adj" fmla="val 18182"/>
            </a:avLst>
          </a:prstGeom>
          <a:solidFill>
            <a:schemeClr val="accent3">
              <a:alpha val="55000"/>
            </a:schemeClr>
          </a:solidFill>
          <a:ln/>
        </p:spPr>
      </p:sp>
      <p:sp>
        <p:nvSpPr>
          <p:cNvPr id="51" name="Resource 4-4"/>
          <p:cNvSpPr/>
          <p:nvPr/>
        </p:nvSpPr>
        <p:spPr>
          <a:xfrm>
            <a:off x="6976872" y="5102352"/>
            <a:ext cx="402336" cy="402336"/>
          </a:xfrm>
          <a:prstGeom prst="roundRect">
            <a:avLst>
              <a:gd name="adj" fmla="val 18182"/>
            </a:avLst>
          </a:prstGeom>
          <a:solidFill>
            <a:schemeClr val="accent3">
              <a:alpha val="55000"/>
            </a:schemeClr>
          </a:solidFill>
          <a:ln/>
        </p:spPr>
      </p:sp>
      <p:sp>
        <p:nvSpPr>
          <p:cNvPr id="52" name="Resource 4-5"/>
          <p:cNvSpPr/>
          <p:nvPr/>
        </p:nvSpPr>
        <p:spPr>
          <a:xfrm>
            <a:off x="7726680" y="5102352"/>
            <a:ext cx="402336" cy="402336"/>
          </a:xfrm>
          <a:prstGeom prst="roundRect">
            <a:avLst>
              <a:gd name="adj" fmla="val 18182"/>
            </a:avLst>
          </a:prstGeom>
          <a:solidFill>
            <a:schemeClr val="accent3">
              <a:alpha val="55000"/>
            </a:schemeClr>
          </a:solidFill>
          <a:ln/>
        </p:spPr>
      </p:sp>
      <p:sp>
        <p:nvSpPr>
          <p:cNvPr id="53" name="Resource 4-6"/>
          <p:cNvSpPr/>
          <p:nvPr/>
        </p:nvSpPr>
        <p:spPr>
          <a:xfrm>
            <a:off x="8476488" y="5102352"/>
            <a:ext cx="402336" cy="402336"/>
          </a:xfrm>
          <a:prstGeom prst="roundRect">
            <a:avLst>
              <a:gd name="adj" fmla="val 18182"/>
            </a:avLst>
          </a:prstGeom>
          <a:solidFill>
            <a:schemeClr val="accent3">
              <a:alpha val="55000"/>
            </a:schemeClr>
          </a:solidFill>
          <a:ln/>
        </p:spPr>
      </p:sp>
      <p:sp>
        <p:nvSpPr>
          <p:cNvPr id="54" name="Resource 4-7"/>
          <p:cNvSpPr/>
          <p:nvPr/>
        </p:nvSpPr>
        <p:spPr>
          <a:xfrm>
            <a:off x="9226296" y="5102352"/>
            <a:ext cx="402336" cy="402336"/>
          </a:xfrm>
          <a:prstGeom prst="roundRect">
            <a:avLst>
              <a:gd name="adj" fmla="val 18182"/>
            </a:avLst>
          </a:prstGeom>
          <a:solidFill>
            <a:schemeClr val="accent3">
              <a:alpha val="55000"/>
            </a:schemeClr>
          </a:solidFill>
          <a:ln/>
        </p:spPr>
      </p:sp>
      <p:sp>
        <p:nvSpPr>
          <p:cNvPr id="55" name="Resource 4-8"/>
          <p:cNvSpPr/>
          <p:nvPr/>
        </p:nvSpPr>
        <p:spPr>
          <a:xfrm>
            <a:off x="9976104" y="5102352"/>
            <a:ext cx="402336" cy="402336"/>
          </a:xfrm>
          <a:prstGeom prst="roundRect">
            <a:avLst>
              <a:gd name="adj" fmla="val 18182"/>
            </a:avLst>
          </a:prstGeom>
          <a:solidFill>
            <a:schemeClr val="accent3">
              <a:alpha val="55000"/>
            </a:schemeClr>
          </a:solidFill>
          <a:ln/>
        </p:spPr>
      </p:sp>
      <p:sp>
        <p:nvSpPr>
          <p:cNvPr id="56" name="Resource 4-9"/>
          <p:cNvSpPr/>
          <p:nvPr/>
        </p:nvSpPr>
        <p:spPr>
          <a:xfrm>
            <a:off x="10725912" y="5102352"/>
            <a:ext cx="402336" cy="402336"/>
          </a:xfrm>
          <a:prstGeom prst="roundRect">
            <a:avLst>
              <a:gd name="adj" fmla="val 18182"/>
            </a:avLst>
          </a:prstGeom>
          <a:solidFill>
            <a:schemeClr val="accent3">
              <a:alpha val="55000"/>
            </a:schemeClr>
          </a:solidFill>
          <a:ln/>
        </p:spPr>
      </p:sp>
      <p:sp>
        <p:nvSpPr>
          <p:cNvPr id="57" name="Connection 1"/>
          <p:cNvSpPr/>
          <p:nvPr/>
        </p:nvSpPr>
        <p:spPr>
          <a:xfrm flipV="1">
            <a:off x="2240280" y="2304288"/>
            <a:ext cx="2487168" cy="1353312"/>
          </a:xfrm>
          <a:prstGeom prst="line">
            <a:avLst/>
          </a:prstGeom>
          <a:noFill/>
          <a:ln w="25400">
            <a:solidFill>
              <a:srgbClr val="E8601F"/>
            </a:solidFill>
            <a:prstDash val="solid"/>
          </a:ln>
        </p:spPr>
      </p:sp>
      <p:sp>
        <p:nvSpPr>
          <p:cNvPr id="58" name="Connection 2"/>
          <p:cNvSpPr/>
          <p:nvPr/>
        </p:nvSpPr>
        <p:spPr>
          <a:xfrm flipV="1">
            <a:off x="2240280" y="3054096"/>
            <a:ext cx="3986784" cy="603504"/>
          </a:xfrm>
          <a:prstGeom prst="line">
            <a:avLst/>
          </a:prstGeom>
          <a:noFill/>
          <a:ln w="25400">
            <a:solidFill>
              <a:srgbClr val="E8601F"/>
            </a:solidFill>
            <a:prstDash val="solid"/>
          </a:ln>
        </p:spPr>
      </p:sp>
      <p:sp>
        <p:nvSpPr>
          <p:cNvPr id="59" name="Connection 3"/>
          <p:cNvSpPr/>
          <p:nvPr/>
        </p:nvSpPr>
        <p:spPr>
          <a:xfrm>
            <a:off x="2240280" y="3657600"/>
            <a:ext cx="3236976" cy="146304"/>
          </a:xfrm>
          <a:prstGeom prst="line">
            <a:avLst/>
          </a:prstGeom>
          <a:noFill/>
          <a:ln w="25400">
            <a:solidFill>
              <a:srgbClr val="E8601F"/>
            </a:solidFill>
            <a:prstDash val="solid"/>
          </a:ln>
        </p:spPr>
      </p:sp>
      <p:sp>
        <p:nvSpPr>
          <p:cNvPr id="60" name="Legend connected"/>
          <p:cNvSpPr/>
          <p:nvPr/>
        </p:nvSpPr>
        <p:spPr>
          <a:xfrm>
            <a:off x="594360" y="5120640"/>
            <a:ext cx="256032" cy="256032"/>
          </a:xfrm>
          <a:prstGeom prst="roundRect">
            <a:avLst>
              <a:gd name="adj" fmla="val 17857"/>
            </a:avLst>
          </a:prstGeom>
          <a:solidFill>
            <a:schemeClr val="accent1"/>
          </a:solidFill>
          <a:ln/>
        </p:spPr>
      </p:sp>
      <p:sp>
        <p:nvSpPr>
          <p:cNvPr id="61" name="Text 58"/>
          <p:cNvSpPr txBox="1"/>
          <p:nvPr/>
        </p:nvSpPr>
        <p:spPr>
          <a:xfrm>
            <a:off x="960120" y="5074920"/>
            <a:ext cx="2286000" cy="347472"/>
          </a:xfrm>
          <a:prstGeom prst="rect">
            <a:avLst/>
          </a:prstGeom>
          <a:noFill/>
          <a:ln/>
        </p:spPr>
        <p:txBody>
          <a:bodyPr wrap="square" lIns="0" tIns="0" rIns="0" bIns="0" rtlCol="0" anchor="ctr"/>
          <a:lstStyle/>
          <a:p>
            <a:pPr indent="0" marL="0">
              <a:buNone/>
            </a:pPr>
            <a:r>
              <a:rPr lang="en-US" sz="1400" dirty="0">
                <a:solidFill>
                  <a:schemeClr val="tx1"/>
                </a:solidFill>
              </a:rPr>
              <a:t>Connected</a:t>
            </a:r>
            <a:endParaRPr lang="en-US" sz="1400" dirty="0"/>
          </a:p>
        </p:txBody>
      </p:sp>
      <p:sp>
        <p:nvSpPr>
          <p:cNvPr id="62" name="Legend invisible"/>
          <p:cNvSpPr/>
          <p:nvPr/>
        </p:nvSpPr>
        <p:spPr>
          <a:xfrm>
            <a:off x="594360" y="5532120"/>
            <a:ext cx="256032" cy="256032"/>
          </a:xfrm>
          <a:prstGeom prst="roundRect">
            <a:avLst>
              <a:gd name="adj" fmla="val 17857"/>
            </a:avLst>
          </a:prstGeom>
          <a:solidFill>
            <a:schemeClr val="accent3">
              <a:alpha val="55000"/>
            </a:schemeClr>
          </a:solidFill>
          <a:ln/>
        </p:spPr>
      </p:sp>
      <p:sp>
        <p:nvSpPr>
          <p:cNvPr id="63" name="Text 60"/>
          <p:cNvSpPr txBox="1"/>
          <p:nvPr/>
        </p:nvSpPr>
        <p:spPr>
          <a:xfrm>
            <a:off x="960120" y="5486400"/>
            <a:ext cx="2377440" cy="347472"/>
          </a:xfrm>
          <a:prstGeom prst="rect">
            <a:avLst/>
          </a:prstGeom>
          <a:noFill/>
          <a:ln/>
        </p:spPr>
        <p:txBody>
          <a:bodyPr wrap="square" lIns="0" tIns="0" rIns="0" bIns="0" rtlCol="0" anchor="ctr"/>
          <a:lstStyle/>
          <a:p>
            <a:pPr indent="0" marL="0">
              <a:buNone/>
            </a:pPr>
            <a:r>
              <a:rPr lang="en-US" sz="1400" dirty="0">
                <a:solidFill>
                  <a:schemeClr val="tx1"/>
                </a:solidFill>
              </a:rPr>
              <a:t>Exists, but invisible</a:t>
            </a:r>
            <a:endParaRPr lang="en-US" sz="1400" dirty="0"/>
          </a:p>
        </p:txBody>
      </p:sp>
      <p:sp>
        <p:nvSpPr>
          <p:cNvPr id="64" name="Text 61"/>
          <p:cNvSpPr txBox="1"/>
          <p:nvPr/>
        </p:nvSpPr>
        <p:spPr>
          <a:xfrm>
            <a:off x="3977640" y="5897880"/>
            <a:ext cx="7589520" cy="411480"/>
          </a:xfrm>
          <a:prstGeom prst="rect">
            <a:avLst/>
          </a:prstGeom>
          <a:noFill/>
          <a:ln/>
        </p:spPr>
        <p:txBody>
          <a:bodyPr wrap="square" lIns="0" tIns="0" rIns="0" bIns="0" rtlCol="0" anchor="t"/>
          <a:lstStyle/>
          <a:p>
            <a:pPr indent="0" marL="0">
              <a:buNone/>
            </a:pPr>
            <a:r>
              <a:rPr lang="en-US" sz="1500" dirty="0">
                <a:solidFill>
                  <a:schemeClr val="accent6"/>
                </a:solidFill>
              </a:rPr>
              <a:t>Thousands of MCP servers, A2A agents and skills exist. The agent sees only the few it was configured with.</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01  ·  WHY DISCOVERY</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Loading every tool into the prompt doesn’t scale</a:t>
            </a:r>
            <a:endParaRPr lang="en-US" sz="3200" dirty="0"/>
          </a:p>
        </p:txBody>
      </p:sp>
      <p:sp>
        <p:nvSpPr>
          <p:cNvPr id="4" name="Text 2"/>
          <p:cNvSpPr txBox="1"/>
          <p:nvPr/>
        </p:nvSpPr>
        <p:spPr>
          <a:xfrm>
            <a:off x="548640" y="1965960"/>
            <a:ext cx="5394960" cy="365760"/>
          </a:xfrm>
          <a:prstGeom prst="rect">
            <a:avLst/>
          </a:prstGeom>
          <a:noFill/>
          <a:ln/>
        </p:spPr>
        <p:txBody>
          <a:bodyPr wrap="square" lIns="0" tIns="0" rIns="0" bIns="0" rtlCol="0" anchor="t"/>
          <a:lstStyle/>
          <a:p>
            <a:pPr indent="0" marL="0">
              <a:buNone/>
            </a:pPr>
            <a:r>
              <a:rPr lang="en-US" sz="1800" b="1" dirty="0">
                <a:solidFill>
                  <a:schemeClr val="tx1"/>
                </a:solidFill>
              </a:rPr>
              <a:t>Today: every tool, every turn</a:t>
            </a:r>
            <a:endParaRPr lang="en-US" sz="1800" dirty="0"/>
          </a:p>
        </p:txBody>
      </p:sp>
      <p:sp>
        <p:nvSpPr>
          <p:cNvPr id="5" name="Context window today"/>
          <p:cNvSpPr/>
          <p:nvPr/>
        </p:nvSpPr>
        <p:spPr>
          <a:xfrm>
            <a:off x="548640" y="2468880"/>
            <a:ext cx="5394960" cy="3108960"/>
          </a:xfrm>
          <a:prstGeom prst="roundRect">
            <a:avLst>
              <a:gd name="adj" fmla="val 2353"/>
            </a:avLst>
          </a:prstGeom>
          <a:solidFill>
            <a:schemeClr val="bg1"/>
          </a:solidFill>
          <a:ln w="15875">
            <a:solidFill>
              <a:srgbClr val="474552"/>
            </a:solidFill>
            <a:prstDash val="solid"/>
          </a:ln>
        </p:spPr>
      </p:sp>
      <p:sp>
        <p:nvSpPr>
          <p:cNvPr id="6" name="Text 4"/>
          <p:cNvSpPr txBox="1"/>
          <p:nvPr/>
        </p:nvSpPr>
        <p:spPr>
          <a:xfrm>
            <a:off x="777240" y="2587752"/>
            <a:ext cx="2103120" cy="256032"/>
          </a:xfrm>
          <a:prstGeom prst="rect">
            <a:avLst/>
          </a:prstGeom>
          <a:noFill/>
          <a:ln/>
        </p:spPr>
        <p:txBody>
          <a:bodyPr wrap="square" lIns="0" tIns="0" rIns="0" bIns="0" rtlCol="0" anchor="ctr"/>
          <a:lstStyle/>
          <a:p>
            <a:pPr indent="0" marL="0">
              <a:buNone/>
            </a:pPr>
            <a:r>
              <a:rPr lang="en-US" sz="1100" b="1" spc="100" kern="0" dirty="0">
                <a:solidFill>
                  <a:schemeClr val="accent6"/>
                </a:solidFill>
              </a:rPr>
              <a:t>CONTEXT WINDOW</a:t>
            </a:r>
            <a:endParaRPr lang="en-US" sz="1100" dirty="0"/>
          </a:p>
        </p:txBody>
      </p:sp>
      <p:sp>
        <p:nvSpPr>
          <p:cNvPr id="7" name="Full chip"/>
          <p:cNvSpPr/>
          <p:nvPr/>
        </p:nvSpPr>
        <p:spPr>
          <a:xfrm>
            <a:off x="4937760" y="2578608"/>
            <a:ext cx="777240" cy="274320"/>
          </a:xfrm>
          <a:prstGeom prst="roundRect">
            <a:avLst>
              <a:gd name="adj" fmla="val 50000"/>
            </a:avLst>
          </a:prstGeom>
          <a:solidFill>
            <a:schemeClr val="accent2"/>
          </a:solidFill>
          <a:ln/>
        </p:spPr>
      </p:sp>
      <p:sp>
        <p:nvSpPr>
          <p:cNvPr id="8" name="Text 6"/>
          <p:cNvSpPr txBox="1"/>
          <p:nvPr/>
        </p:nvSpPr>
        <p:spPr>
          <a:xfrm>
            <a:off x="4937760" y="2578608"/>
            <a:ext cx="777240" cy="274320"/>
          </a:xfrm>
          <a:prstGeom prst="rect">
            <a:avLst/>
          </a:prstGeom>
          <a:noFill/>
          <a:ln/>
        </p:spPr>
        <p:txBody>
          <a:bodyPr wrap="square" lIns="0" tIns="0" rIns="0" bIns="0" rtlCol="0" anchor="ctr"/>
          <a:lstStyle/>
          <a:p>
            <a:pPr algn="ctr" indent="0" marL="0">
              <a:buNone/>
            </a:pPr>
            <a:r>
              <a:rPr lang="en-US" sz="1200" b="1" dirty="0">
                <a:solidFill>
                  <a:schemeClr val="bg1"/>
                </a:solidFill>
              </a:rPr>
              <a:t>Full</a:t>
            </a:r>
            <a:endParaRPr lang="en-US" sz="1200" dirty="0"/>
          </a:p>
        </p:txBody>
      </p:sp>
      <p:sp>
        <p:nvSpPr>
          <p:cNvPr id="9" name="Task bar left"/>
          <p:cNvSpPr/>
          <p:nvPr/>
        </p:nvSpPr>
        <p:spPr>
          <a:xfrm>
            <a:off x="777240" y="2971800"/>
            <a:ext cx="4937760" cy="274320"/>
          </a:xfrm>
          <a:prstGeom prst="roundRect">
            <a:avLst>
              <a:gd name="adj" fmla="val 16667"/>
            </a:avLst>
          </a:prstGeom>
          <a:solidFill>
            <a:schemeClr val="accent1"/>
          </a:solidFill>
          <a:ln/>
        </p:spPr>
      </p:sp>
      <p:sp>
        <p:nvSpPr>
          <p:cNvPr id="10" name="Text 8"/>
          <p:cNvSpPr txBox="1"/>
          <p:nvPr/>
        </p:nvSpPr>
        <p:spPr>
          <a:xfrm>
            <a:off x="905256" y="2971800"/>
            <a:ext cx="4754880" cy="274320"/>
          </a:xfrm>
          <a:prstGeom prst="rect">
            <a:avLst/>
          </a:prstGeom>
          <a:noFill/>
          <a:ln/>
        </p:spPr>
        <p:txBody>
          <a:bodyPr wrap="square" lIns="0" tIns="0" rIns="0" bIns="0" rtlCol="0" anchor="ctr"/>
          <a:lstStyle/>
          <a:p>
            <a:pPr indent="0" marL="0">
              <a:buNone/>
            </a:pPr>
            <a:r>
              <a:rPr lang="en-US" sz="1200" b="1" dirty="0">
                <a:solidFill>
                  <a:schemeClr val="tx1"/>
                </a:solidFill>
              </a:rPr>
              <a:t>Task: flight to Tokyo</a:t>
            </a:r>
            <a:endParaRPr lang="en-US" sz="1200" dirty="0"/>
          </a:p>
        </p:txBody>
      </p:sp>
      <p:sp>
        <p:nvSpPr>
          <p:cNvPr id="11" name="Tool description 1"/>
          <p:cNvSpPr/>
          <p:nvPr/>
        </p:nvSpPr>
        <p:spPr>
          <a:xfrm>
            <a:off x="777240" y="3383280"/>
            <a:ext cx="4937760" cy="274320"/>
          </a:xfrm>
          <a:prstGeom prst="roundRect">
            <a:avLst>
              <a:gd name="adj" fmla="val 16667"/>
            </a:avLst>
          </a:prstGeom>
          <a:solidFill>
            <a:schemeClr val="accent3"/>
          </a:solidFill>
          <a:ln/>
        </p:spPr>
      </p:sp>
      <p:sp>
        <p:nvSpPr>
          <p:cNvPr id="12" name="Text 10"/>
          <p:cNvSpPr txBox="1"/>
          <p:nvPr/>
        </p:nvSpPr>
        <p:spPr>
          <a:xfrm>
            <a:off x="905256" y="3383280"/>
            <a:ext cx="4754880" cy="274320"/>
          </a:xfrm>
          <a:prstGeom prst="rect">
            <a:avLst/>
          </a:prstGeom>
          <a:noFill/>
          <a:ln/>
        </p:spPr>
        <p:txBody>
          <a:bodyPr wrap="square" lIns="0" tIns="0" rIns="0" bIns="0" rtlCol="0" anchor="ctr"/>
          <a:lstStyle/>
          <a:p>
            <a:pPr indent="0" marL="0">
              <a:buNone/>
            </a:pPr>
            <a:r>
              <a:rPr lang="en-US" sz="1200" dirty="0">
                <a:solidFill>
                  <a:schemeClr val="tx1"/>
                </a:solidFill>
              </a:rPr>
              <a:t>github MCP server</a:t>
            </a:r>
            <a:endParaRPr lang="en-US" sz="1200" dirty="0"/>
          </a:p>
        </p:txBody>
      </p:sp>
      <p:sp>
        <p:nvSpPr>
          <p:cNvPr id="13" name="Tool description 2"/>
          <p:cNvSpPr/>
          <p:nvPr/>
        </p:nvSpPr>
        <p:spPr>
          <a:xfrm>
            <a:off x="777240" y="3694176"/>
            <a:ext cx="4206240" cy="274320"/>
          </a:xfrm>
          <a:prstGeom prst="roundRect">
            <a:avLst>
              <a:gd name="adj" fmla="val 16667"/>
            </a:avLst>
          </a:prstGeom>
          <a:solidFill>
            <a:schemeClr val="accent3"/>
          </a:solidFill>
          <a:ln/>
        </p:spPr>
      </p:sp>
      <p:sp>
        <p:nvSpPr>
          <p:cNvPr id="14" name="Text 12"/>
          <p:cNvSpPr txBox="1"/>
          <p:nvPr/>
        </p:nvSpPr>
        <p:spPr>
          <a:xfrm>
            <a:off x="905256" y="3694176"/>
            <a:ext cx="4023360" cy="274320"/>
          </a:xfrm>
          <a:prstGeom prst="rect">
            <a:avLst/>
          </a:prstGeom>
          <a:noFill/>
          <a:ln/>
        </p:spPr>
        <p:txBody>
          <a:bodyPr wrap="square" lIns="0" tIns="0" rIns="0" bIns="0" rtlCol="0" anchor="ctr"/>
          <a:lstStyle/>
          <a:p>
            <a:pPr indent="0" marL="0">
              <a:buNone/>
            </a:pPr>
            <a:r>
              <a:rPr lang="en-US" sz="1200" dirty="0">
                <a:solidFill>
                  <a:schemeClr val="tx1"/>
                </a:solidFill>
              </a:rPr>
              <a:t>slack MCP server</a:t>
            </a:r>
            <a:endParaRPr lang="en-US" sz="1200" dirty="0"/>
          </a:p>
        </p:txBody>
      </p:sp>
      <p:sp>
        <p:nvSpPr>
          <p:cNvPr id="15" name="Tool description 3"/>
          <p:cNvSpPr/>
          <p:nvPr/>
        </p:nvSpPr>
        <p:spPr>
          <a:xfrm>
            <a:off x="777240" y="4005072"/>
            <a:ext cx="4572000" cy="274320"/>
          </a:xfrm>
          <a:prstGeom prst="roundRect">
            <a:avLst>
              <a:gd name="adj" fmla="val 16667"/>
            </a:avLst>
          </a:prstGeom>
          <a:solidFill>
            <a:schemeClr val="accent3"/>
          </a:solidFill>
          <a:ln/>
        </p:spPr>
      </p:sp>
      <p:sp>
        <p:nvSpPr>
          <p:cNvPr id="16" name="Text 14"/>
          <p:cNvSpPr txBox="1"/>
          <p:nvPr/>
        </p:nvSpPr>
        <p:spPr>
          <a:xfrm>
            <a:off x="905256" y="4005072"/>
            <a:ext cx="4389120" cy="274320"/>
          </a:xfrm>
          <a:prstGeom prst="rect">
            <a:avLst/>
          </a:prstGeom>
          <a:noFill/>
          <a:ln/>
        </p:spPr>
        <p:txBody>
          <a:bodyPr wrap="square" lIns="0" tIns="0" rIns="0" bIns="0" rtlCol="0" anchor="ctr"/>
          <a:lstStyle/>
          <a:p>
            <a:pPr indent="0" marL="0">
              <a:buNone/>
            </a:pPr>
            <a:r>
              <a:rPr lang="en-US" sz="1200" dirty="0">
                <a:solidFill>
                  <a:schemeClr val="tx1"/>
                </a:solidFill>
              </a:rPr>
              <a:t>jira MCP server</a:t>
            </a:r>
            <a:endParaRPr lang="en-US" sz="1200" dirty="0"/>
          </a:p>
        </p:txBody>
      </p:sp>
      <p:sp>
        <p:nvSpPr>
          <p:cNvPr id="17" name="Tool description 4"/>
          <p:cNvSpPr/>
          <p:nvPr/>
        </p:nvSpPr>
        <p:spPr>
          <a:xfrm>
            <a:off x="777240" y="4315968"/>
            <a:ext cx="3840480" cy="274320"/>
          </a:xfrm>
          <a:prstGeom prst="roundRect">
            <a:avLst>
              <a:gd name="adj" fmla="val 16667"/>
            </a:avLst>
          </a:prstGeom>
          <a:solidFill>
            <a:schemeClr val="accent3"/>
          </a:solidFill>
          <a:ln/>
        </p:spPr>
      </p:sp>
      <p:sp>
        <p:nvSpPr>
          <p:cNvPr id="18" name="Text 16"/>
          <p:cNvSpPr txBox="1"/>
          <p:nvPr/>
        </p:nvSpPr>
        <p:spPr>
          <a:xfrm>
            <a:off x="905256" y="4315968"/>
            <a:ext cx="3657600" cy="274320"/>
          </a:xfrm>
          <a:prstGeom prst="rect">
            <a:avLst/>
          </a:prstGeom>
          <a:noFill/>
          <a:ln/>
        </p:spPr>
        <p:txBody>
          <a:bodyPr wrap="square" lIns="0" tIns="0" rIns="0" bIns="0" rtlCol="0" anchor="ctr"/>
          <a:lstStyle/>
          <a:p>
            <a:pPr indent="0" marL="0">
              <a:buNone/>
            </a:pPr>
            <a:r>
              <a:rPr lang="en-US" sz="1200" dirty="0">
                <a:solidFill>
                  <a:schemeClr val="tx1"/>
                </a:solidFill>
              </a:rPr>
              <a:t>postgres MCP server</a:t>
            </a:r>
            <a:endParaRPr lang="en-US" sz="1200" dirty="0"/>
          </a:p>
        </p:txBody>
      </p:sp>
      <p:sp>
        <p:nvSpPr>
          <p:cNvPr id="19" name="Tool description 5"/>
          <p:cNvSpPr/>
          <p:nvPr/>
        </p:nvSpPr>
        <p:spPr>
          <a:xfrm>
            <a:off x="777240" y="4626864"/>
            <a:ext cx="4389120" cy="274320"/>
          </a:xfrm>
          <a:prstGeom prst="roundRect">
            <a:avLst>
              <a:gd name="adj" fmla="val 16667"/>
            </a:avLst>
          </a:prstGeom>
          <a:solidFill>
            <a:schemeClr val="accent3"/>
          </a:solidFill>
          <a:ln/>
        </p:spPr>
      </p:sp>
      <p:sp>
        <p:nvSpPr>
          <p:cNvPr id="20" name="Text 18"/>
          <p:cNvSpPr txBox="1"/>
          <p:nvPr/>
        </p:nvSpPr>
        <p:spPr>
          <a:xfrm>
            <a:off x="905256" y="4626864"/>
            <a:ext cx="4206240" cy="274320"/>
          </a:xfrm>
          <a:prstGeom prst="rect">
            <a:avLst/>
          </a:prstGeom>
          <a:noFill/>
          <a:ln/>
        </p:spPr>
        <p:txBody>
          <a:bodyPr wrap="square" lIns="0" tIns="0" rIns="0" bIns="0" rtlCol="0" anchor="ctr"/>
          <a:lstStyle/>
          <a:p>
            <a:pPr indent="0" marL="0">
              <a:buNone/>
            </a:pPr>
            <a:r>
              <a:rPr lang="en-US" sz="1200" dirty="0">
                <a:solidFill>
                  <a:schemeClr val="tx1"/>
                </a:solidFill>
              </a:rPr>
              <a:t>figma MCP server</a:t>
            </a:r>
            <a:endParaRPr lang="en-US" sz="1200" dirty="0"/>
          </a:p>
        </p:txBody>
      </p:sp>
      <p:sp>
        <p:nvSpPr>
          <p:cNvPr id="21" name="Tool description 6"/>
          <p:cNvSpPr/>
          <p:nvPr/>
        </p:nvSpPr>
        <p:spPr>
          <a:xfrm>
            <a:off x="777240" y="4937760"/>
            <a:ext cx="4023360" cy="274320"/>
          </a:xfrm>
          <a:prstGeom prst="roundRect">
            <a:avLst>
              <a:gd name="adj" fmla="val 16667"/>
            </a:avLst>
          </a:prstGeom>
          <a:solidFill>
            <a:schemeClr val="accent3"/>
          </a:solidFill>
          <a:ln/>
        </p:spPr>
      </p:sp>
      <p:sp>
        <p:nvSpPr>
          <p:cNvPr id="22" name="Text 20"/>
          <p:cNvSpPr txBox="1"/>
          <p:nvPr/>
        </p:nvSpPr>
        <p:spPr>
          <a:xfrm>
            <a:off x="905256" y="4937760"/>
            <a:ext cx="3840480" cy="274320"/>
          </a:xfrm>
          <a:prstGeom prst="rect">
            <a:avLst/>
          </a:prstGeom>
          <a:noFill/>
          <a:ln/>
        </p:spPr>
        <p:txBody>
          <a:bodyPr wrap="square" lIns="0" tIns="0" rIns="0" bIns="0" rtlCol="0" anchor="ctr"/>
          <a:lstStyle/>
          <a:p>
            <a:pPr indent="0" marL="0">
              <a:buNone/>
            </a:pPr>
            <a:r>
              <a:rPr lang="en-US" sz="1200" dirty="0">
                <a:solidFill>
                  <a:schemeClr val="tx1"/>
                </a:solidFill>
              </a:rPr>
              <a:t>calendar MCP server</a:t>
            </a:r>
            <a:endParaRPr lang="en-US" sz="1200" dirty="0"/>
          </a:p>
        </p:txBody>
      </p:sp>
      <p:sp>
        <p:nvSpPr>
          <p:cNvPr id="23" name="Text 21"/>
          <p:cNvSpPr txBox="1"/>
          <p:nvPr/>
        </p:nvSpPr>
        <p:spPr>
          <a:xfrm>
            <a:off x="905256" y="5230368"/>
            <a:ext cx="4754880" cy="274320"/>
          </a:xfrm>
          <a:prstGeom prst="rect">
            <a:avLst/>
          </a:prstGeom>
          <a:noFill/>
          <a:ln/>
        </p:spPr>
        <p:txBody>
          <a:bodyPr wrap="square" lIns="0" tIns="0" rIns="0" bIns="0" rtlCol="0" anchor="ctr"/>
          <a:lstStyle/>
          <a:p>
            <a:pPr indent="0" marL="0">
              <a:buNone/>
            </a:pPr>
            <a:r>
              <a:rPr lang="en-US" sz="1200" i="1" dirty="0">
                <a:solidFill>
                  <a:schemeClr val="accent6"/>
                </a:solidFill>
              </a:rPr>
              <a:t>… and 4,990 more tool descriptions</a:t>
            </a:r>
            <a:endParaRPr lang="en-US" sz="1200" dirty="0"/>
          </a:p>
        </p:txBody>
      </p:sp>
      <p:sp>
        <p:nvSpPr>
          <p:cNvPr id="24" name="Text 22"/>
          <p:cNvSpPr txBox="1"/>
          <p:nvPr/>
        </p:nvSpPr>
        <p:spPr>
          <a:xfrm>
            <a:off x="548640" y="5715000"/>
            <a:ext cx="5394960" cy="548640"/>
          </a:xfrm>
          <a:prstGeom prst="rect">
            <a:avLst/>
          </a:prstGeom>
          <a:noFill/>
          <a:ln/>
        </p:spPr>
        <p:txBody>
          <a:bodyPr wrap="square" lIns="0" tIns="0" rIns="0" bIns="0" rtlCol="0" anchor="t"/>
          <a:lstStyle/>
          <a:p>
            <a:pPr indent="0" marL="0">
              <a:buNone/>
            </a:pPr>
            <a:r>
              <a:rPr lang="en-US" sz="1500" dirty="0">
                <a:solidFill>
                  <a:schemeClr val="tx2"/>
                </a:solidFill>
              </a:rPr>
              <a:t>Thousands of descriptions on every turn: costly, slow, and the task gets crowded out.</a:t>
            </a:r>
            <a:endParaRPr lang="en-US" sz="1500" dirty="0"/>
          </a:p>
        </p:txBody>
      </p:sp>
      <p:sp>
        <p:nvSpPr>
          <p:cNvPr id="25" name="Text 23"/>
          <p:cNvSpPr txBox="1"/>
          <p:nvPr/>
        </p:nvSpPr>
        <p:spPr>
          <a:xfrm>
            <a:off x="6245352" y="1965960"/>
            <a:ext cx="5394960" cy="365760"/>
          </a:xfrm>
          <a:prstGeom prst="rect">
            <a:avLst/>
          </a:prstGeom>
          <a:noFill/>
          <a:ln/>
        </p:spPr>
        <p:txBody>
          <a:bodyPr wrap="square" lIns="0" tIns="0" rIns="0" bIns="0" rtlCol="0" anchor="t"/>
          <a:lstStyle/>
          <a:p>
            <a:pPr indent="0" marL="0">
              <a:buNone/>
            </a:pPr>
            <a:r>
              <a:rPr lang="en-US" sz="1800" b="1" dirty="0">
                <a:solidFill>
                  <a:schemeClr val="tx1"/>
                </a:solidFill>
              </a:rPr>
              <a:t>With ARD: search first, load the best few</a:t>
            </a:r>
            <a:endParaRPr lang="en-US" sz="1800" dirty="0"/>
          </a:p>
        </p:txBody>
      </p:sp>
      <p:sp>
        <p:nvSpPr>
          <p:cNvPr id="26" name="Search service"/>
          <p:cNvSpPr/>
          <p:nvPr/>
        </p:nvSpPr>
        <p:spPr>
          <a:xfrm>
            <a:off x="6245352" y="2468880"/>
            <a:ext cx="2331720" cy="3108960"/>
          </a:xfrm>
          <a:prstGeom prst="roundRect">
            <a:avLst>
              <a:gd name="adj" fmla="val 5490"/>
            </a:avLst>
          </a:prstGeom>
          <a:solidFill>
            <a:schemeClr val="bg2"/>
          </a:solidFill>
          <a:ln/>
        </p:spPr>
      </p:sp>
      <p:sp>
        <p:nvSpPr>
          <p:cNvPr id="27" name="Search service circle"/>
          <p:cNvSpPr/>
          <p:nvPr/>
        </p:nvSpPr>
        <p:spPr>
          <a:xfrm>
            <a:off x="6999732" y="2788920"/>
            <a:ext cx="822960" cy="822960"/>
          </a:xfrm>
          <a:prstGeom prst="ellipse">
            <a:avLst/>
          </a:prstGeom>
          <a:solidFill>
            <a:schemeClr val="accent5"/>
          </a:solidFill>
          <a:ln/>
        </p:spPr>
      </p:sp>
      <p:pic>
        <p:nvPicPr>
          <p:cNvPr id="28" name="Search service icon" descr="preencoded.png">    </p:cNvPr>
          <p:cNvPicPr>
            <a:picLocks noChangeAspect="1"/>
          </p:cNvPicPr>
          <p:nvPr/>
        </p:nvPicPr>
        <p:blipFill>
          <a:blip r:embed="rId1"/>
          <a:stretch>
            <a:fillRect/>
          </a:stretch>
        </p:blipFill>
        <p:spPr>
          <a:xfrm>
            <a:off x="7205472" y="2994660"/>
            <a:ext cx="411480" cy="411480"/>
          </a:xfrm>
          <a:prstGeom prst="rect">
            <a:avLst/>
          </a:prstGeom>
        </p:spPr>
      </p:pic>
      <p:sp>
        <p:nvSpPr>
          <p:cNvPr id="29" name="Text 26"/>
          <p:cNvSpPr txBox="1"/>
          <p:nvPr/>
        </p:nvSpPr>
        <p:spPr>
          <a:xfrm>
            <a:off x="6336792" y="3749040"/>
            <a:ext cx="2148840" cy="365760"/>
          </a:xfrm>
          <a:prstGeom prst="rect">
            <a:avLst/>
          </a:prstGeom>
          <a:noFill/>
          <a:ln/>
        </p:spPr>
        <p:txBody>
          <a:bodyPr wrap="square" lIns="0" tIns="0" rIns="0" bIns="0" rtlCol="0" anchor="t"/>
          <a:lstStyle/>
          <a:p>
            <a:pPr algn="ctr" indent="0" marL="0">
              <a:buNone/>
            </a:pPr>
            <a:r>
              <a:rPr lang="en-US" sz="1600" b="1" dirty="0">
                <a:solidFill>
                  <a:schemeClr val="tx1"/>
                </a:solidFill>
              </a:rPr>
              <a:t>Search service</a:t>
            </a:r>
            <a:endParaRPr lang="en-US" sz="1600" dirty="0"/>
          </a:p>
        </p:txBody>
      </p:sp>
      <p:sp>
        <p:nvSpPr>
          <p:cNvPr id="30" name="Text 27"/>
          <p:cNvSpPr txBox="1"/>
          <p:nvPr/>
        </p:nvSpPr>
        <p:spPr>
          <a:xfrm>
            <a:off x="6400800" y="416052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1,000s of entries, outside the model</a:t>
            </a:r>
            <a:endParaRPr lang="en-US" sz="1300" dirty="0"/>
          </a:p>
        </p:txBody>
      </p:sp>
      <p:sp>
        <p:nvSpPr>
          <p:cNvPr id="31" name="Text 28"/>
          <p:cNvSpPr txBox="1"/>
          <p:nvPr/>
        </p:nvSpPr>
        <p:spPr>
          <a:xfrm>
            <a:off x="8577072" y="3639312"/>
            <a:ext cx="594360" cy="274320"/>
          </a:xfrm>
          <a:prstGeom prst="rect">
            <a:avLst/>
          </a:prstGeom>
          <a:noFill/>
          <a:ln/>
        </p:spPr>
        <p:txBody>
          <a:bodyPr wrap="square" lIns="0" tIns="0" rIns="0" bIns="0" rtlCol="0" anchor="t"/>
          <a:lstStyle/>
          <a:p>
            <a:pPr algn="ctr" indent="0" marL="0">
              <a:buNone/>
            </a:pPr>
            <a:r>
              <a:rPr lang="en-US" sz="1100" b="1" dirty="0">
                <a:solidFill>
                  <a:schemeClr val="accent6"/>
                </a:solidFill>
              </a:rPr>
              <a:t>top 3</a:t>
            </a:r>
            <a:endParaRPr lang="en-US" sz="1100" dirty="0"/>
          </a:p>
        </p:txBody>
      </p:sp>
      <p:sp>
        <p:nvSpPr>
          <p:cNvPr id="32" name="Search to context"/>
          <p:cNvSpPr/>
          <p:nvPr/>
        </p:nvSpPr>
        <p:spPr>
          <a:xfrm>
            <a:off x="8641080" y="4023360"/>
            <a:ext cx="457200" cy="0"/>
          </a:xfrm>
          <a:prstGeom prst="line">
            <a:avLst/>
          </a:prstGeom>
          <a:noFill/>
          <a:ln w="22225">
            <a:solidFill>
              <a:srgbClr val="474552"/>
            </a:solidFill>
            <a:prstDash val="solid"/>
            <a:tailEnd type="triangle"/>
          </a:ln>
        </p:spPr>
      </p:sp>
      <p:sp>
        <p:nvSpPr>
          <p:cNvPr id="33" name="Context window with ARD"/>
          <p:cNvSpPr/>
          <p:nvPr/>
        </p:nvSpPr>
        <p:spPr>
          <a:xfrm>
            <a:off x="9171432" y="2468880"/>
            <a:ext cx="2468880" cy="3108960"/>
          </a:xfrm>
          <a:prstGeom prst="roundRect">
            <a:avLst>
              <a:gd name="adj" fmla="val 2963"/>
            </a:avLst>
          </a:prstGeom>
          <a:solidFill>
            <a:schemeClr val="bg1"/>
          </a:solidFill>
          <a:ln w="15875">
            <a:solidFill>
              <a:srgbClr val="474552"/>
            </a:solidFill>
            <a:prstDash val="solid"/>
          </a:ln>
        </p:spPr>
      </p:sp>
      <p:sp>
        <p:nvSpPr>
          <p:cNvPr id="34" name="Text 31"/>
          <p:cNvSpPr txBox="1"/>
          <p:nvPr/>
        </p:nvSpPr>
        <p:spPr>
          <a:xfrm>
            <a:off x="9354312" y="2587752"/>
            <a:ext cx="2103120" cy="256032"/>
          </a:xfrm>
          <a:prstGeom prst="rect">
            <a:avLst/>
          </a:prstGeom>
          <a:noFill/>
          <a:ln/>
        </p:spPr>
        <p:txBody>
          <a:bodyPr wrap="square" lIns="0" tIns="0" rIns="0" bIns="0" rtlCol="0" anchor="ctr"/>
          <a:lstStyle/>
          <a:p>
            <a:pPr indent="0" marL="0">
              <a:buNone/>
            </a:pPr>
            <a:r>
              <a:rPr lang="en-US" sz="1100" b="1" spc="100" kern="0" dirty="0">
                <a:solidFill>
                  <a:schemeClr val="accent6"/>
                </a:solidFill>
              </a:rPr>
              <a:t>CONTEXT WINDOW</a:t>
            </a:r>
            <a:endParaRPr lang="en-US" sz="1100" dirty="0"/>
          </a:p>
        </p:txBody>
      </p:sp>
      <p:sp>
        <p:nvSpPr>
          <p:cNvPr id="35" name="Task bar right"/>
          <p:cNvSpPr/>
          <p:nvPr/>
        </p:nvSpPr>
        <p:spPr>
          <a:xfrm>
            <a:off x="9354312" y="2971800"/>
            <a:ext cx="2103120" cy="274320"/>
          </a:xfrm>
          <a:prstGeom prst="roundRect">
            <a:avLst>
              <a:gd name="adj" fmla="val 16667"/>
            </a:avLst>
          </a:prstGeom>
          <a:solidFill>
            <a:schemeClr val="accent1"/>
          </a:solidFill>
          <a:ln/>
        </p:spPr>
      </p:sp>
      <p:sp>
        <p:nvSpPr>
          <p:cNvPr id="36" name="Text 33"/>
          <p:cNvSpPr txBox="1"/>
          <p:nvPr/>
        </p:nvSpPr>
        <p:spPr>
          <a:xfrm>
            <a:off x="9482328" y="2971800"/>
            <a:ext cx="1920240" cy="274320"/>
          </a:xfrm>
          <a:prstGeom prst="rect">
            <a:avLst/>
          </a:prstGeom>
          <a:noFill/>
          <a:ln/>
        </p:spPr>
        <p:txBody>
          <a:bodyPr wrap="square" lIns="0" tIns="0" rIns="0" bIns="0" rtlCol="0" anchor="ctr"/>
          <a:lstStyle/>
          <a:p>
            <a:pPr indent="0" marL="0">
              <a:buNone/>
            </a:pPr>
            <a:r>
              <a:rPr lang="en-US" sz="1200" b="1" dirty="0">
                <a:solidFill>
                  <a:schemeClr val="tx1"/>
                </a:solidFill>
              </a:rPr>
              <a:t>Task: flight to Tokyo</a:t>
            </a:r>
            <a:endParaRPr lang="en-US" sz="1200" dirty="0"/>
          </a:p>
        </p:txBody>
      </p:sp>
      <p:sp>
        <p:nvSpPr>
          <p:cNvPr id="37" name="Top result 1"/>
          <p:cNvSpPr/>
          <p:nvPr/>
        </p:nvSpPr>
        <p:spPr>
          <a:xfrm>
            <a:off x="9354312" y="3383280"/>
            <a:ext cx="2103120" cy="274320"/>
          </a:xfrm>
          <a:prstGeom prst="roundRect">
            <a:avLst>
              <a:gd name="adj" fmla="val 16667"/>
            </a:avLst>
          </a:prstGeom>
          <a:solidFill>
            <a:schemeClr val="accent3"/>
          </a:solidFill>
          <a:ln/>
        </p:spPr>
      </p:sp>
      <p:sp>
        <p:nvSpPr>
          <p:cNvPr id="38" name="Text 35"/>
          <p:cNvSpPr txBox="1"/>
          <p:nvPr/>
        </p:nvSpPr>
        <p:spPr>
          <a:xfrm>
            <a:off x="9482328" y="3383280"/>
            <a:ext cx="1920240" cy="274320"/>
          </a:xfrm>
          <a:prstGeom prst="rect">
            <a:avLst/>
          </a:prstGeom>
          <a:noFill/>
          <a:ln/>
        </p:spPr>
        <p:txBody>
          <a:bodyPr wrap="square" lIns="0" tIns="0" rIns="0" bIns="0" rtlCol="0" anchor="ctr"/>
          <a:lstStyle/>
          <a:p>
            <a:pPr indent="0" marL="0">
              <a:buNone/>
            </a:pPr>
            <a:r>
              <a:rPr lang="en-US" sz="1200" dirty="0">
                <a:solidFill>
                  <a:schemeClr val="tx1"/>
                </a:solidFill>
              </a:rPr>
              <a:t>Travel Booker · A2A</a:t>
            </a:r>
            <a:endParaRPr lang="en-US" sz="1200" dirty="0"/>
          </a:p>
        </p:txBody>
      </p:sp>
      <p:sp>
        <p:nvSpPr>
          <p:cNvPr id="39" name="Top result 2"/>
          <p:cNvSpPr/>
          <p:nvPr/>
        </p:nvSpPr>
        <p:spPr>
          <a:xfrm>
            <a:off x="9354312" y="3694176"/>
            <a:ext cx="2103120" cy="274320"/>
          </a:xfrm>
          <a:prstGeom prst="roundRect">
            <a:avLst>
              <a:gd name="adj" fmla="val 16667"/>
            </a:avLst>
          </a:prstGeom>
          <a:solidFill>
            <a:schemeClr val="accent3"/>
          </a:solidFill>
          <a:ln/>
        </p:spPr>
      </p:sp>
      <p:sp>
        <p:nvSpPr>
          <p:cNvPr id="40" name="Text 37"/>
          <p:cNvSpPr txBox="1"/>
          <p:nvPr/>
        </p:nvSpPr>
        <p:spPr>
          <a:xfrm>
            <a:off x="9482328" y="3694176"/>
            <a:ext cx="1920240" cy="274320"/>
          </a:xfrm>
          <a:prstGeom prst="rect">
            <a:avLst/>
          </a:prstGeom>
          <a:noFill/>
          <a:ln/>
        </p:spPr>
        <p:txBody>
          <a:bodyPr wrap="square" lIns="0" tIns="0" rIns="0" bIns="0" rtlCol="0" anchor="ctr"/>
          <a:lstStyle/>
          <a:p>
            <a:pPr indent="0" marL="0">
              <a:buNone/>
            </a:pPr>
            <a:r>
              <a:rPr lang="en-US" sz="1200" dirty="0">
                <a:solidFill>
                  <a:schemeClr val="tx1"/>
                </a:solidFill>
              </a:rPr>
              <a:t>Flight Status · MCP</a:t>
            </a:r>
            <a:endParaRPr lang="en-US" sz="1200" dirty="0"/>
          </a:p>
        </p:txBody>
      </p:sp>
      <p:sp>
        <p:nvSpPr>
          <p:cNvPr id="41" name="Top result 3"/>
          <p:cNvSpPr/>
          <p:nvPr/>
        </p:nvSpPr>
        <p:spPr>
          <a:xfrm>
            <a:off x="9354312" y="4005072"/>
            <a:ext cx="2103120" cy="274320"/>
          </a:xfrm>
          <a:prstGeom prst="roundRect">
            <a:avLst>
              <a:gd name="adj" fmla="val 16667"/>
            </a:avLst>
          </a:prstGeom>
          <a:solidFill>
            <a:schemeClr val="accent3"/>
          </a:solidFill>
          <a:ln/>
        </p:spPr>
      </p:sp>
      <p:sp>
        <p:nvSpPr>
          <p:cNvPr id="42" name="Text 39"/>
          <p:cNvSpPr txBox="1"/>
          <p:nvPr/>
        </p:nvSpPr>
        <p:spPr>
          <a:xfrm>
            <a:off x="9482328" y="4005072"/>
            <a:ext cx="1920240" cy="274320"/>
          </a:xfrm>
          <a:prstGeom prst="rect">
            <a:avLst/>
          </a:prstGeom>
          <a:noFill/>
          <a:ln/>
        </p:spPr>
        <p:txBody>
          <a:bodyPr wrap="square" lIns="0" tIns="0" rIns="0" bIns="0" rtlCol="0" anchor="ctr"/>
          <a:lstStyle/>
          <a:p>
            <a:pPr indent="0" marL="0">
              <a:buNone/>
            </a:pPr>
            <a:r>
              <a:rPr lang="en-US" sz="1200" dirty="0">
                <a:solidFill>
                  <a:schemeClr val="tx1"/>
                </a:solidFill>
              </a:rPr>
              <a:t>trip-planner · skill</a:t>
            </a:r>
            <a:endParaRPr lang="en-US" sz="1200" dirty="0"/>
          </a:p>
        </p:txBody>
      </p:sp>
      <p:sp>
        <p:nvSpPr>
          <p:cNvPr id="43" name="Free space"/>
          <p:cNvSpPr/>
          <p:nvPr/>
        </p:nvSpPr>
        <p:spPr>
          <a:xfrm>
            <a:off x="9354312" y="4434840"/>
            <a:ext cx="2103120" cy="1005840"/>
          </a:xfrm>
          <a:prstGeom prst="roundRect">
            <a:avLst>
              <a:gd name="adj" fmla="val 7273"/>
            </a:avLst>
          </a:prstGeom>
          <a:solidFill>
            <a:schemeClr val="bg1"/>
          </a:solidFill>
          <a:ln w="15875">
            <a:solidFill>
              <a:srgbClr val="B6B0D0"/>
            </a:solidFill>
            <a:prstDash val="dash"/>
          </a:ln>
        </p:spPr>
      </p:sp>
      <p:sp>
        <p:nvSpPr>
          <p:cNvPr id="44" name="Text 41"/>
          <p:cNvSpPr txBox="1"/>
          <p:nvPr/>
        </p:nvSpPr>
        <p:spPr>
          <a:xfrm>
            <a:off x="9354312" y="4434840"/>
            <a:ext cx="2103120" cy="1005840"/>
          </a:xfrm>
          <a:prstGeom prst="rect">
            <a:avLst/>
          </a:prstGeom>
          <a:noFill/>
          <a:ln/>
        </p:spPr>
        <p:txBody>
          <a:bodyPr wrap="square" lIns="0" tIns="0" rIns="0" bIns="0" rtlCol="0" anchor="ctr"/>
          <a:lstStyle/>
          <a:p>
            <a:pPr algn="ctr" indent="0" marL="0">
              <a:buNone/>
            </a:pPr>
            <a:r>
              <a:rPr lang="en-US" sz="1200" dirty="0">
                <a:solidFill>
                  <a:schemeClr val="accent6"/>
                </a:solidFill>
              </a:rPr>
              <a:t>Free for the actual work</a:t>
            </a:r>
            <a:endParaRPr lang="en-US" sz="1200" dirty="0"/>
          </a:p>
        </p:txBody>
      </p:sp>
      <p:sp>
        <p:nvSpPr>
          <p:cNvPr id="45" name="Text 42"/>
          <p:cNvSpPr txBox="1"/>
          <p:nvPr/>
        </p:nvSpPr>
        <p:spPr>
          <a:xfrm>
            <a:off x="6245352" y="5715000"/>
            <a:ext cx="5394960" cy="548640"/>
          </a:xfrm>
          <a:prstGeom prst="rect">
            <a:avLst/>
          </a:prstGeom>
          <a:noFill/>
          <a:ln/>
        </p:spPr>
        <p:txBody>
          <a:bodyPr wrap="square" lIns="0" tIns="0" rIns="0" bIns="0" rtlCol="0" anchor="t"/>
          <a:lstStyle/>
          <a:p>
            <a:pPr indent="0" marL="0">
              <a:buNone/>
            </a:pPr>
            <a:r>
              <a:rPr lang="en-US" sz="1500" dirty="0">
                <a:solidFill>
                  <a:schemeClr val="tx2"/>
                </a:solidFill>
              </a:rPr>
              <a:t>Only the few that match this task, chosen outside the model.</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ARD is an open spec for describing, publishing and searching agentic resources</a:t>
            </a:r>
            <a:endParaRPr lang="en-US" sz="3200" dirty="0"/>
          </a:p>
        </p:txBody>
      </p:sp>
      <p:sp>
        <p:nvSpPr>
          <p:cNvPr id="4" name="Announced circle"/>
          <p:cNvSpPr/>
          <p:nvPr/>
        </p:nvSpPr>
        <p:spPr>
          <a:xfrm>
            <a:off x="548640" y="2011680"/>
            <a:ext cx="640080" cy="640080"/>
          </a:xfrm>
          <a:prstGeom prst="ellipse">
            <a:avLst/>
          </a:prstGeom>
          <a:solidFill>
            <a:schemeClr val="accent3"/>
          </a:solidFill>
          <a:ln/>
        </p:spPr>
      </p:sp>
      <p:pic>
        <p:nvPicPr>
          <p:cNvPr id="5" name="Announced icon" descr="preencoded.png">    </p:cNvPr>
          <p:cNvPicPr>
            <a:picLocks noChangeAspect="1"/>
          </p:cNvPicPr>
          <p:nvPr/>
        </p:nvPicPr>
        <p:blipFill>
          <a:blip r:embed="rId1"/>
          <a:stretch>
            <a:fillRect/>
          </a:stretch>
        </p:blipFill>
        <p:spPr>
          <a:xfrm>
            <a:off x="708660" y="2171700"/>
            <a:ext cx="320040" cy="320040"/>
          </a:xfrm>
          <a:prstGeom prst="rect">
            <a:avLst/>
          </a:prstGeom>
        </p:spPr>
      </p:pic>
      <p:sp>
        <p:nvSpPr>
          <p:cNvPr id="6" name="Text 3"/>
          <p:cNvSpPr txBox="1"/>
          <p:nvPr/>
        </p:nvSpPr>
        <p:spPr>
          <a:xfrm>
            <a:off x="1371600" y="1993392"/>
            <a:ext cx="42062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ANNOUNCED</a:t>
            </a:r>
            <a:endParaRPr lang="en-US" sz="1200" dirty="0"/>
          </a:p>
        </p:txBody>
      </p:sp>
      <p:sp>
        <p:nvSpPr>
          <p:cNvPr id="7" name="Text 4"/>
          <p:cNvSpPr txBox="1"/>
          <p:nvPr/>
        </p:nvSpPr>
        <p:spPr>
          <a:xfrm>
            <a:off x="1371600" y="2267712"/>
            <a:ext cx="4297680" cy="594360"/>
          </a:xfrm>
          <a:prstGeom prst="rect">
            <a:avLst/>
          </a:prstGeom>
          <a:noFill/>
          <a:ln/>
        </p:spPr>
        <p:txBody>
          <a:bodyPr wrap="square" lIns="0" tIns="0" rIns="0" bIns="0" rtlCol="0" anchor="t"/>
          <a:lstStyle/>
          <a:p>
            <a:pPr indent="0" marL="0">
              <a:buNone/>
            </a:pPr>
            <a:r>
              <a:rPr lang="en-US" sz="1700" b="1" dirty="0">
                <a:solidFill>
                  <a:schemeClr val="tx1"/>
                </a:solidFill>
              </a:rPr>
              <a:t>17 June 2026</a:t>
            </a:r>
            <a:endParaRPr lang="en-US" sz="1700" dirty="0"/>
          </a:p>
        </p:txBody>
      </p:sp>
      <p:sp>
        <p:nvSpPr>
          <p:cNvPr id="8" name="Status circle"/>
          <p:cNvSpPr/>
          <p:nvPr/>
        </p:nvSpPr>
        <p:spPr>
          <a:xfrm>
            <a:off x="548640" y="2999232"/>
            <a:ext cx="640080" cy="640080"/>
          </a:xfrm>
          <a:prstGeom prst="ellipse">
            <a:avLst/>
          </a:prstGeom>
          <a:solidFill>
            <a:schemeClr val="accent3"/>
          </a:solidFill>
          <a:ln/>
        </p:spPr>
      </p:sp>
      <p:pic>
        <p:nvPicPr>
          <p:cNvPr id="9" name="Status icon" descr="preencoded.png">    </p:cNvPr>
          <p:cNvPicPr>
            <a:picLocks noChangeAspect="1"/>
          </p:cNvPicPr>
          <p:nvPr/>
        </p:nvPicPr>
        <p:blipFill>
          <a:blip r:embed="rId2"/>
          <a:stretch>
            <a:fillRect/>
          </a:stretch>
        </p:blipFill>
        <p:spPr>
          <a:xfrm>
            <a:off x="708660" y="3159252"/>
            <a:ext cx="320040" cy="320040"/>
          </a:xfrm>
          <a:prstGeom prst="rect">
            <a:avLst/>
          </a:prstGeom>
        </p:spPr>
      </p:pic>
      <p:sp>
        <p:nvSpPr>
          <p:cNvPr id="10" name="Text 6"/>
          <p:cNvSpPr txBox="1"/>
          <p:nvPr/>
        </p:nvSpPr>
        <p:spPr>
          <a:xfrm>
            <a:off x="1371600" y="2980944"/>
            <a:ext cx="42062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STATUS</a:t>
            </a:r>
            <a:endParaRPr lang="en-US" sz="1200" dirty="0"/>
          </a:p>
        </p:txBody>
      </p:sp>
      <p:sp>
        <p:nvSpPr>
          <p:cNvPr id="11" name="Text 7"/>
          <p:cNvSpPr txBox="1"/>
          <p:nvPr/>
        </p:nvSpPr>
        <p:spPr>
          <a:xfrm>
            <a:off x="1371600" y="3255264"/>
            <a:ext cx="4297680" cy="594360"/>
          </a:xfrm>
          <a:prstGeom prst="rect">
            <a:avLst/>
          </a:prstGeom>
          <a:noFill/>
          <a:ln/>
        </p:spPr>
        <p:txBody>
          <a:bodyPr wrap="square" lIns="0" tIns="0" rIns="0" bIns="0" rtlCol="0" anchor="t"/>
          <a:lstStyle/>
          <a:p>
            <a:pPr indent="0" marL="0">
              <a:buNone/>
            </a:pPr>
            <a:r>
              <a:rPr lang="en-US" sz="1700" b="1" dirty="0">
                <a:solidFill>
                  <a:schemeClr val="tx1"/>
                </a:solidFill>
              </a:rPr>
              <a:t>v0.91 · Proposal · Apache-2.0</a:t>
            </a:r>
            <a:endParaRPr lang="en-US" sz="1700" dirty="0"/>
          </a:p>
        </p:txBody>
      </p:sp>
      <p:sp>
        <p:nvSpPr>
          <p:cNvPr id="12" name="Authors circle"/>
          <p:cNvSpPr/>
          <p:nvPr/>
        </p:nvSpPr>
        <p:spPr>
          <a:xfrm>
            <a:off x="548640" y="3986784"/>
            <a:ext cx="640080" cy="640080"/>
          </a:xfrm>
          <a:prstGeom prst="ellipse">
            <a:avLst/>
          </a:prstGeom>
          <a:solidFill>
            <a:schemeClr val="accent3"/>
          </a:solidFill>
          <a:ln/>
        </p:spPr>
      </p:sp>
      <p:pic>
        <p:nvPicPr>
          <p:cNvPr id="13" name="Authors icon" descr="preencoded.png">    </p:cNvPr>
          <p:cNvPicPr>
            <a:picLocks noChangeAspect="1"/>
          </p:cNvPicPr>
          <p:nvPr/>
        </p:nvPicPr>
        <p:blipFill>
          <a:blip r:embed="rId3"/>
          <a:stretch>
            <a:fillRect/>
          </a:stretch>
        </p:blipFill>
        <p:spPr>
          <a:xfrm>
            <a:off x="708660" y="4146804"/>
            <a:ext cx="320040" cy="320040"/>
          </a:xfrm>
          <a:prstGeom prst="rect">
            <a:avLst/>
          </a:prstGeom>
        </p:spPr>
      </p:pic>
      <p:sp>
        <p:nvSpPr>
          <p:cNvPr id="14" name="Text 9"/>
          <p:cNvSpPr txBox="1"/>
          <p:nvPr/>
        </p:nvSpPr>
        <p:spPr>
          <a:xfrm>
            <a:off x="1371600" y="3968496"/>
            <a:ext cx="42062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AUTHORS</a:t>
            </a:r>
            <a:endParaRPr lang="en-US" sz="1200" dirty="0"/>
          </a:p>
        </p:txBody>
      </p:sp>
      <p:sp>
        <p:nvSpPr>
          <p:cNvPr id="15" name="Text 10"/>
          <p:cNvSpPr txBox="1"/>
          <p:nvPr/>
        </p:nvSpPr>
        <p:spPr>
          <a:xfrm>
            <a:off x="1371600" y="4242816"/>
            <a:ext cx="4297680" cy="594360"/>
          </a:xfrm>
          <a:prstGeom prst="rect">
            <a:avLst/>
          </a:prstGeom>
          <a:noFill/>
          <a:ln/>
        </p:spPr>
        <p:txBody>
          <a:bodyPr wrap="square" lIns="0" tIns="0" rIns="0" bIns="0" rtlCol="0" anchor="t"/>
          <a:lstStyle/>
          <a:p>
            <a:pPr indent="0" marL="0">
              <a:buNone/>
            </a:pPr>
            <a:r>
              <a:rPr lang="en-US" sz="1700" b="1" dirty="0">
                <a:solidFill>
                  <a:schemeClr val="tx1"/>
                </a:solidFill>
              </a:rPr>
              <a:t>Junjie Bu (Google), R.V. Guha, Shaun Smith (Hugging Face)</a:t>
            </a:r>
            <a:endParaRPr lang="en-US" sz="1700" dirty="0"/>
          </a:p>
        </p:txBody>
      </p:sp>
      <p:sp>
        <p:nvSpPr>
          <p:cNvPr id="16" name="Home circle"/>
          <p:cNvSpPr/>
          <p:nvPr/>
        </p:nvSpPr>
        <p:spPr>
          <a:xfrm>
            <a:off x="548640" y="4974336"/>
            <a:ext cx="640080" cy="640080"/>
          </a:xfrm>
          <a:prstGeom prst="ellipse">
            <a:avLst/>
          </a:prstGeom>
          <a:solidFill>
            <a:schemeClr val="accent3"/>
          </a:solidFill>
          <a:ln/>
        </p:spPr>
      </p:sp>
      <p:pic>
        <p:nvPicPr>
          <p:cNvPr id="17" name="Home icon" descr="preencoded.png">    </p:cNvPr>
          <p:cNvPicPr>
            <a:picLocks noChangeAspect="1"/>
          </p:cNvPicPr>
          <p:nvPr/>
        </p:nvPicPr>
        <p:blipFill>
          <a:blip r:embed="rId4"/>
          <a:stretch>
            <a:fillRect/>
          </a:stretch>
        </p:blipFill>
        <p:spPr>
          <a:xfrm>
            <a:off x="708660" y="5134356"/>
            <a:ext cx="320040" cy="320040"/>
          </a:xfrm>
          <a:prstGeom prst="rect">
            <a:avLst/>
          </a:prstGeom>
        </p:spPr>
      </p:pic>
      <p:sp>
        <p:nvSpPr>
          <p:cNvPr id="18" name="Text 12"/>
          <p:cNvSpPr txBox="1"/>
          <p:nvPr/>
        </p:nvSpPr>
        <p:spPr>
          <a:xfrm>
            <a:off x="1371600" y="4956048"/>
            <a:ext cx="420624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HOME</a:t>
            </a:r>
            <a:endParaRPr lang="en-US" sz="1200" dirty="0"/>
          </a:p>
        </p:txBody>
      </p:sp>
      <p:sp>
        <p:nvSpPr>
          <p:cNvPr id="19" name="Text 13"/>
          <p:cNvSpPr txBox="1"/>
          <p:nvPr/>
        </p:nvSpPr>
        <p:spPr>
          <a:xfrm>
            <a:off x="1371600" y="5230368"/>
            <a:ext cx="4297680" cy="594360"/>
          </a:xfrm>
          <a:prstGeom prst="rect">
            <a:avLst/>
          </a:prstGeom>
          <a:noFill/>
          <a:ln/>
        </p:spPr>
        <p:txBody>
          <a:bodyPr wrap="square" lIns="0" tIns="0" rIns="0" bIns="0" rtlCol="0" anchor="t"/>
          <a:lstStyle/>
          <a:p>
            <a:pPr indent="0" marL="0">
              <a:buNone/>
            </a:pPr>
            <a:r>
              <a:rPr lang="en-US" sz="1700" b="1" dirty="0">
                <a:solidFill>
                  <a:schemeClr val="tx1"/>
                </a:solidFill>
              </a:rPr>
              <a:t>github.com/ards-project/ard-spec</a:t>
            </a:r>
            <a:endParaRPr lang="en-US" sz="1700" dirty="0"/>
          </a:p>
        </p:txBody>
      </p:sp>
      <p:sp>
        <p:nvSpPr>
          <p:cNvPr id="20" name="Text 14"/>
          <p:cNvSpPr txBox="1"/>
          <p:nvPr/>
        </p:nvSpPr>
        <p:spPr>
          <a:xfrm>
            <a:off x="6172200" y="1965960"/>
            <a:ext cx="5394960" cy="347472"/>
          </a:xfrm>
          <a:prstGeom prst="rect">
            <a:avLst/>
          </a:prstGeom>
          <a:noFill/>
          <a:ln/>
        </p:spPr>
        <p:txBody>
          <a:bodyPr wrap="square" lIns="0" tIns="0" rIns="0" bIns="0" rtlCol="0" anchor="t"/>
          <a:lstStyle/>
          <a:p>
            <a:pPr indent="0" marL="0">
              <a:buNone/>
            </a:pPr>
            <a:r>
              <a:rPr lang="en-US" sz="1600" b="1" dirty="0">
                <a:solidFill>
                  <a:schemeClr val="tx1"/>
                </a:solidFill>
              </a:rPr>
              <a:t>Developed with</a:t>
            </a:r>
            <a:endParaRPr lang="en-US" sz="1600" dirty="0"/>
          </a:p>
        </p:txBody>
      </p:sp>
      <p:sp>
        <p:nvSpPr>
          <p:cNvPr id="21" name="Partner Cisco"/>
          <p:cNvSpPr/>
          <p:nvPr/>
        </p:nvSpPr>
        <p:spPr>
          <a:xfrm>
            <a:off x="6172200" y="2423160"/>
            <a:ext cx="1280160" cy="384048"/>
          </a:xfrm>
          <a:prstGeom prst="roundRect">
            <a:avLst>
              <a:gd name="adj" fmla="val 50000"/>
            </a:avLst>
          </a:prstGeom>
          <a:solidFill>
            <a:schemeClr val="bg2"/>
          </a:solidFill>
          <a:ln/>
        </p:spPr>
      </p:sp>
      <p:sp>
        <p:nvSpPr>
          <p:cNvPr id="22" name="Text 16"/>
          <p:cNvSpPr txBox="1"/>
          <p:nvPr/>
        </p:nvSpPr>
        <p:spPr>
          <a:xfrm>
            <a:off x="6172200" y="242316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Cisco</a:t>
            </a:r>
            <a:endParaRPr lang="en-US" sz="1300" dirty="0"/>
          </a:p>
        </p:txBody>
      </p:sp>
      <p:sp>
        <p:nvSpPr>
          <p:cNvPr id="23" name="Partner Databricks"/>
          <p:cNvSpPr/>
          <p:nvPr/>
        </p:nvSpPr>
        <p:spPr>
          <a:xfrm>
            <a:off x="7543800" y="2423160"/>
            <a:ext cx="1280160" cy="384048"/>
          </a:xfrm>
          <a:prstGeom prst="roundRect">
            <a:avLst>
              <a:gd name="adj" fmla="val 50000"/>
            </a:avLst>
          </a:prstGeom>
          <a:solidFill>
            <a:schemeClr val="bg2"/>
          </a:solidFill>
          <a:ln/>
        </p:spPr>
      </p:sp>
      <p:sp>
        <p:nvSpPr>
          <p:cNvPr id="24" name="Text 18"/>
          <p:cNvSpPr txBox="1"/>
          <p:nvPr/>
        </p:nvSpPr>
        <p:spPr>
          <a:xfrm>
            <a:off x="7543800" y="242316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Databricks</a:t>
            </a:r>
            <a:endParaRPr lang="en-US" sz="1300" dirty="0"/>
          </a:p>
        </p:txBody>
      </p:sp>
      <p:sp>
        <p:nvSpPr>
          <p:cNvPr id="25" name="Partner GitHub"/>
          <p:cNvSpPr/>
          <p:nvPr/>
        </p:nvSpPr>
        <p:spPr>
          <a:xfrm>
            <a:off x="8915400" y="2423160"/>
            <a:ext cx="1280160" cy="384048"/>
          </a:xfrm>
          <a:prstGeom prst="roundRect">
            <a:avLst>
              <a:gd name="adj" fmla="val 50000"/>
            </a:avLst>
          </a:prstGeom>
          <a:solidFill>
            <a:schemeClr val="bg2"/>
          </a:solidFill>
          <a:ln/>
        </p:spPr>
      </p:sp>
      <p:sp>
        <p:nvSpPr>
          <p:cNvPr id="26" name="Text 20"/>
          <p:cNvSpPr txBox="1"/>
          <p:nvPr/>
        </p:nvSpPr>
        <p:spPr>
          <a:xfrm>
            <a:off x="8915400" y="242316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GitHub</a:t>
            </a:r>
            <a:endParaRPr lang="en-US" sz="1300" dirty="0"/>
          </a:p>
        </p:txBody>
      </p:sp>
      <p:sp>
        <p:nvSpPr>
          <p:cNvPr id="27" name="Partner GoDaddy"/>
          <p:cNvSpPr/>
          <p:nvPr/>
        </p:nvSpPr>
        <p:spPr>
          <a:xfrm>
            <a:off x="10287000" y="2423160"/>
            <a:ext cx="1280160" cy="384048"/>
          </a:xfrm>
          <a:prstGeom prst="roundRect">
            <a:avLst>
              <a:gd name="adj" fmla="val 50000"/>
            </a:avLst>
          </a:prstGeom>
          <a:solidFill>
            <a:schemeClr val="bg2"/>
          </a:solidFill>
          <a:ln/>
        </p:spPr>
      </p:sp>
      <p:sp>
        <p:nvSpPr>
          <p:cNvPr id="28" name="Text 22"/>
          <p:cNvSpPr txBox="1"/>
          <p:nvPr/>
        </p:nvSpPr>
        <p:spPr>
          <a:xfrm>
            <a:off x="10287000" y="242316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GoDaddy</a:t>
            </a:r>
            <a:endParaRPr lang="en-US" sz="1300" dirty="0"/>
          </a:p>
        </p:txBody>
      </p:sp>
      <p:sp>
        <p:nvSpPr>
          <p:cNvPr id="29" name="Partner Google"/>
          <p:cNvSpPr/>
          <p:nvPr/>
        </p:nvSpPr>
        <p:spPr>
          <a:xfrm>
            <a:off x="6172200" y="2926080"/>
            <a:ext cx="1280160" cy="384048"/>
          </a:xfrm>
          <a:prstGeom prst="roundRect">
            <a:avLst>
              <a:gd name="adj" fmla="val 50000"/>
            </a:avLst>
          </a:prstGeom>
          <a:solidFill>
            <a:schemeClr val="bg2"/>
          </a:solidFill>
          <a:ln/>
        </p:spPr>
      </p:sp>
      <p:sp>
        <p:nvSpPr>
          <p:cNvPr id="30" name="Text 24"/>
          <p:cNvSpPr txBox="1"/>
          <p:nvPr/>
        </p:nvSpPr>
        <p:spPr>
          <a:xfrm>
            <a:off x="6172200" y="292608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Google</a:t>
            </a:r>
            <a:endParaRPr lang="en-US" sz="1300" dirty="0"/>
          </a:p>
        </p:txBody>
      </p:sp>
      <p:sp>
        <p:nvSpPr>
          <p:cNvPr id="31" name="Partner Hugging Face"/>
          <p:cNvSpPr/>
          <p:nvPr/>
        </p:nvSpPr>
        <p:spPr>
          <a:xfrm>
            <a:off x="7543800" y="2926080"/>
            <a:ext cx="1280160" cy="384048"/>
          </a:xfrm>
          <a:prstGeom prst="roundRect">
            <a:avLst>
              <a:gd name="adj" fmla="val 50000"/>
            </a:avLst>
          </a:prstGeom>
          <a:solidFill>
            <a:schemeClr val="bg2"/>
          </a:solidFill>
          <a:ln/>
        </p:spPr>
      </p:sp>
      <p:sp>
        <p:nvSpPr>
          <p:cNvPr id="32" name="Text 26"/>
          <p:cNvSpPr txBox="1"/>
          <p:nvPr/>
        </p:nvSpPr>
        <p:spPr>
          <a:xfrm>
            <a:off x="7543800" y="292608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Hugging Face</a:t>
            </a:r>
            <a:endParaRPr lang="en-US" sz="1300" dirty="0"/>
          </a:p>
        </p:txBody>
      </p:sp>
      <p:sp>
        <p:nvSpPr>
          <p:cNvPr id="33" name="Partner Microsoft"/>
          <p:cNvSpPr/>
          <p:nvPr/>
        </p:nvSpPr>
        <p:spPr>
          <a:xfrm>
            <a:off x="8915400" y="2926080"/>
            <a:ext cx="1280160" cy="384048"/>
          </a:xfrm>
          <a:prstGeom prst="roundRect">
            <a:avLst>
              <a:gd name="adj" fmla="val 50000"/>
            </a:avLst>
          </a:prstGeom>
          <a:solidFill>
            <a:schemeClr val="bg2"/>
          </a:solidFill>
          <a:ln/>
        </p:spPr>
      </p:sp>
      <p:sp>
        <p:nvSpPr>
          <p:cNvPr id="34" name="Text 28"/>
          <p:cNvSpPr txBox="1"/>
          <p:nvPr/>
        </p:nvSpPr>
        <p:spPr>
          <a:xfrm>
            <a:off x="8915400" y="292608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Microsoft</a:t>
            </a:r>
            <a:endParaRPr lang="en-US" sz="1300" dirty="0"/>
          </a:p>
        </p:txBody>
      </p:sp>
      <p:sp>
        <p:nvSpPr>
          <p:cNvPr id="35" name="Partner Nvidia"/>
          <p:cNvSpPr/>
          <p:nvPr/>
        </p:nvSpPr>
        <p:spPr>
          <a:xfrm>
            <a:off x="10287000" y="2926080"/>
            <a:ext cx="1280160" cy="384048"/>
          </a:xfrm>
          <a:prstGeom prst="roundRect">
            <a:avLst>
              <a:gd name="adj" fmla="val 50000"/>
            </a:avLst>
          </a:prstGeom>
          <a:solidFill>
            <a:schemeClr val="bg2"/>
          </a:solidFill>
          <a:ln/>
        </p:spPr>
      </p:sp>
      <p:sp>
        <p:nvSpPr>
          <p:cNvPr id="36" name="Text 30"/>
          <p:cNvSpPr txBox="1"/>
          <p:nvPr/>
        </p:nvSpPr>
        <p:spPr>
          <a:xfrm>
            <a:off x="10287000" y="292608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Nvidia</a:t>
            </a:r>
            <a:endParaRPr lang="en-US" sz="1300" dirty="0"/>
          </a:p>
        </p:txBody>
      </p:sp>
      <p:sp>
        <p:nvSpPr>
          <p:cNvPr id="37" name="Partner Salesforce"/>
          <p:cNvSpPr/>
          <p:nvPr/>
        </p:nvSpPr>
        <p:spPr>
          <a:xfrm>
            <a:off x="6172200" y="3429000"/>
            <a:ext cx="1280160" cy="384048"/>
          </a:xfrm>
          <a:prstGeom prst="roundRect">
            <a:avLst>
              <a:gd name="adj" fmla="val 50000"/>
            </a:avLst>
          </a:prstGeom>
          <a:solidFill>
            <a:schemeClr val="bg2"/>
          </a:solidFill>
          <a:ln/>
        </p:spPr>
      </p:sp>
      <p:sp>
        <p:nvSpPr>
          <p:cNvPr id="38" name="Text 32"/>
          <p:cNvSpPr txBox="1"/>
          <p:nvPr/>
        </p:nvSpPr>
        <p:spPr>
          <a:xfrm>
            <a:off x="6172200" y="342900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Salesforce</a:t>
            </a:r>
            <a:endParaRPr lang="en-US" sz="1300" dirty="0"/>
          </a:p>
        </p:txBody>
      </p:sp>
      <p:sp>
        <p:nvSpPr>
          <p:cNvPr id="39" name="Partner ServiceNow"/>
          <p:cNvSpPr/>
          <p:nvPr/>
        </p:nvSpPr>
        <p:spPr>
          <a:xfrm>
            <a:off x="7543800" y="3429000"/>
            <a:ext cx="1280160" cy="384048"/>
          </a:xfrm>
          <a:prstGeom prst="roundRect">
            <a:avLst>
              <a:gd name="adj" fmla="val 50000"/>
            </a:avLst>
          </a:prstGeom>
          <a:solidFill>
            <a:schemeClr val="bg2"/>
          </a:solidFill>
          <a:ln/>
        </p:spPr>
      </p:sp>
      <p:sp>
        <p:nvSpPr>
          <p:cNvPr id="40" name="Text 34"/>
          <p:cNvSpPr txBox="1"/>
          <p:nvPr/>
        </p:nvSpPr>
        <p:spPr>
          <a:xfrm>
            <a:off x="7543800" y="342900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ServiceNow</a:t>
            </a:r>
            <a:endParaRPr lang="en-US" sz="1300" dirty="0"/>
          </a:p>
        </p:txBody>
      </p:sp>
      <p:sp>
        <p:nvSpPr>
          <p:cNvPr id="41" name="Partner Snowflake"/>
          <p:cNvSpPr/>
          <p:nvPr/>
        </p:nvSpPr>
        <p:spPr>
          <a:xfrm>
            <a:off x="8915400" y="3429000"/>
            <a:ext cx="1280160" cy="384048"/>
          </a:xfrm>
          <a:prstGeom prst="roundRect">
            <a:avLst>
              <a:gd name="adj" fmla="val 50000"/>
            </a:avLst>
          </a:prstGeom>
          <a:solidFill>
            <a:schemeClr val="bg2"/>
          </a:solidFill>
          <a:ln/>
        </p:spPr>
      </p:sp>
      <p:sp>
        <p:nvSpPr>
          <p:cNvPr id="42" name="Text 36"/>
          <p:cNvSpPr txBox="1"/>
          <p:nvPr/>
        </p:nvSpPr>
        <p:spPr>
          <a:xfrm>
            <a:off x="8915400" y="3429000"/>
            <a:ext cx="1280160" cy="384048"/>
          </a:xfrm>
          <a:prstGeom prst="rect">
            <a:avLst/>
          </a:prstGeom>
          <a:noFill/>
          <a:ln/>
        </p:spPr>
        <p:txBody>
          <a:bodyPr wrap="square" lIns="0" tIns="0" rIns="0" bIns="0" rtlCol="0" anchor="ctr"/>
          <a:lstStyle/>
          <a:p>
            <a:pPr algn="ctr" indent="0" marL="0">
              <a:buNone/>
            </a:pPr>
            <a:r>
              <a:rPr lang="en-US" sz="1300" b="1" dirty="0">
                <a:solidFill>
                  <a:schemeClr val="tx1"/>
                </a:solidFill>
              </a:rPr>
              <a:t>Snowflake</a:t>
            </a:r>
            <a:endParaRPr lang="en-US" sz="1300" dirty="0"/>
          </a:p>
        </p:txBody>
      </p:sp>
      <p:sp>
        <p:nvSpPr>
          <p:cNvPr id="43" name="Text 37"/>
          <p:cNvSpPr txBox="1"/>
          <p:nvPr/>
        </p:nvSpPr>
        <p:spPr>
          <a:xfrm>
            <a:off x="6172200" y="4069080"/>
            <a:ext cx="5394960" cy="347472"/>
          </a:xfrm>
          <a:prstGeom prst="rect">
            <a:avLst/>
          </a:prstGeom>
          <a:noFill/>
          <a:ln/>
        </p:spPr>
        <p:txBody>
          <a:bodyPr wrap="square" lIns="0" tIns="0" rIns="0" bIns="0" rtlCol="0" anchor="t"/>
          <a:lstStyle/>
          <a:p>
            <a:pPr indent="0" marL="0">
              <a:buNone/>
            </a:pPr>
            <a:r>
              <a:rPr lang="en-US" sz="1600" b="1" dirty="0">
                <a:solidFill>
                  <a:schemeClr val="tx1"/>
                </a:solidFill>
              </a:rPr>
              <a:t>Reference implementations</a:t>
            </a:r>
            <a:endParaRPr lang="en-US" sz="1600" dirty="0"/>
          </a:p>
        </p:txBody>
      </p:sp>
      <p:sp>
        <p:nvSpPr>
          <p:cNvPr id="44" name="Reference 1"/>
          <p:cNvSpPr/>
          <p:nvPr/>
        </p:nvSpPr>
        <p:spPr>
          <a:xfrm>
            <a:off x="6172200" y="4526280"/>
            <a:ext cx="5468112" cy="685800"/>
          </a:xfrm>
          <a:prstGeom prst="roundRect">
            <a:avLst>
              <a:gd name="adj" fmla="val 18667"/>
            </a:avLst>
          </a:prstGeom>
          <a:solidFill>
            <a:schemeClr val="bg2"/>
          </a:solidFill>
          <a:ln/>
        </p:spPr>
      </p:sp>
      <p:sp>
        <p:nvSpPr>
          <p:cNvPr id="45" name="Text 39"/>
          <p:cNvSpPr txBox="1"/>
          <p:nvPr/>
        </p:nvSpPr>
        <p:spPr>
          <a:xfrm>
            <a:off x="6400800" y="4599432"/>
            <a:ext cx="5029200" cy="292608"/>
          </a:xfrm>
          <a:prstGeom prst="rect">
            <a:avLst/>
          </a:prstGeom>
          <a:noFill/>
          <a:ln/>
        </p:spPr>
        <p:txBody>
          <a:bodyPr wrap="square" lIns="0" tIns="0" rIns="0" bIns="0" rtlCol="0" anchor="t"/>
          <a:lstStyle/>
          <a:p>
            <a:pPr indent="0" marL="0">
              <a:buNone/>
            </a:pPr>
            <a:r>
              <a:rPr lang="en-US" sz="1500" b="1" dirty="0">
                <a:solidFill>
                  <a:schemeClr val="tx1"/>
                </a:solidFill>
              </a:rPr>
              <a:t>GitHub agent finder</a:t>
            </a:r>
            <a:endParaRPr lang="en-US" sz="1500" dirty="0"/>
          </a:p>
        </p:txBody>
      </p:sp>
      <p:sp>
        <p:nvSpPr>
          <p:cNvPr id="46" name="Text 40"/>
          <p:cNvSpPr txBox="1"/>
          <p:nvPr/>
        </p:nvSpPr>
        <p:spPr>
          <a:xfrm>
            <a:off x="6400800" y="4892040"/>
            <a:ext cx="5120640" cy="274320"/>
          </a:xfrm>
          <a:prstGeom prst="rect">
            <a:avLst/>
          </a:prstGeom>
          <a:noFill/>
          <a:ln/>
        </p:spPr>
        <p:txBody>
          <a:bodyPr wrap="square" lIns="0" tIns="0" rIns="0" bIns="0" rtlCol="0" anchor="t"/>
          <a:lstStyle/>
          <a:p>
            <a:pPr indent="0" marL="0">
              <a:buNone/>
            </a:pPr>
            <a:r>
              <a:rPr lang="en-US" sz="1300" dirty="0">
                <a:solidFill>
                  <a:schemeClr val="accent6"/>
                </a:solidFill>
              </a:rPr>
              <a:t>Copilot discovers MCP servers, skills and agents at runtime</a:t>
            </a:r>
            <a:endParaRPr lang="en-US" sz="1300" dirty="0"/>
          </a:p>
        </p:txBody>
      </p:sp>
      <p:sp>
        <p:nvSpPr>
          <p:cNvPr id="47" name="Reference 2"/>
          <p:cNvSpPr/>
          <p:nvPr/>
        </p:nvSpPr>
        <p:spPr>
          <a:xfrm>
            <a:off x="6172200" y="5303520"/>
            <a:ext cx="5468112" cy="685800"/>
          </a:xfrm>
          <a:prstGeom prst="roundRect">
            <a:avLst>
              <a:gd name="adj" fmla="val 18667"/>
            </a:avLst>
          </a:prstGeom>
          <a:solidFill>
            <a:schemeClr val="bg2"/>
          </a:solidFill>
          <a:ln/>
        </p:spPr>
      </p:sp>
      <p:sp>
        <p:nvSpPr>
          <p:cNvPr id="48" name="Text 42"/>
          <p:cNvSpPr txBox="1"/>
          <p:nvPr/>
        </p:nvSpPr>
        <p:spPr>
          <a:xfrm>
            <a:off x="6400800" y="5376672"/>
            <a:ext cx="5029200" cy="292608"/>
          </a:xfrm>
          <a:prstGeom prst="rect">
            <a:avLst/>
          </a:prstGeom>
          <a:noFill/>
          <a:ln/>
        </p:spPr>
        <p:txBody>
          <a:bodyPr wrap="square" lIns="0" tIns="0" rIns="0" bIns="0" rtlCol="0" anchor="t"/>
          <a:lstStyle/>
          <a:p>
            <a:pPr indent="0" marL="0">
              <a:buNone/>
            </a:pPr>
            <a:r>
              <a:rPr lang="en-US" sz="1500" b="1" dirty="0">
                <a:solidFill>
                  <a:schemeClr val="tx1"/>
                </a:solidFill>
              </a:rPr>
              <a:t>Hugging Face Discover Tool</a:t>
            </a:r>
            <a:endParaRPr lang="en-US" sz="1500" dirty="0"/>
          </a:p>
        </p:txBody>
      </p:sp>
      <p:sp>
        <p:nvSpPr>
          <p:cNvPr id="49" name="Text 43"/>
          <p:cNvSpPr txBox="1"/>
          <p:nvPr/>
        </p:nvSpPr>
        <p:spPr>
          <a:xfrm>
            <a:off x="6400800" y="5669280"/>
            <a:ext cx="5120640" cy="274320"/>
          </a:xfrm>
          <a:prstGeom prst="rect">
            <a:avLst/>
          </a:prstGeom>
          <a:noFill/>
          <a:ln/>
        </p:spPr>
        <p:txBody>
          <a:bodyPr wrap="square" lIns="0" tIns="0" rIns="0" bIns="0" rtlCol="0" anchor="t"/>
          <a:lstStyle/>
          <a:p>
            <a:pPr indent="0" marL="0">
              <a:buNone/>
            </a:pPr>
            <a:r>
              <a:rPr lang="en-US" sz="1300" dirty="0">
                <a:solidFill>
                  <a:schemeClr val="accent6"/>
                </a:solidFill>
              </a:rPr>
              <a:t>Semantic search over thousands of skills, apps and MCP servers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ARD runs before invocation; MCP, A2A and Skills still do the work</a:t>
            </a:r>
            <a:endParaRPr lang="en-US" sz="3200" dirty="0"/>
          </a:p>
        </p:txBody>
      </p:sp>
      <p:sp>
        <p:nvSpPr>
          <p:cNvPr id="4" name="Orchestrator layer"/>
          <p:cNvSpPr/>
          <p:nvPr/>
        </p:nvSpPr>
        <p:spPr>
          <a:xfrm>
            <a:off x="548640" y="2011680"/>
            <a:ext cx="7680960" cy="777240"/>
          </a:xfrm>
          <a:prstGeom prst="roundRect">
            <a:avLst>
              <a:gd name="adj" fmla="val 16471"/>
            </a:avLst>
          </a:prstGeom>
          <a:solidFill>
            <a:schemeClr val="bg2"/>
          </a:solidFill>
          <a:ln/>
        </p:spPr>
      </p:sp>
      <p:pic>
        <p:nvPicPr>
          <p:cNvPr id="5" name="Orchestrator icon" descr="preencoded.png">    </p:cNvPr>
          <p:cNvPicPr>
            <a:picLocks noChangeAspect="1"/>
          </p:cNvPicPr>
          <p:nvPr/>
        </p:nvPicPr>
        <p:blipFill>
          <a:blip r:embed="rId1"/>
          <a:stretch>
            <a:fillRect/>
          </a:stretch>
        </p:blipFill>
        <p:spPr>
          <a:xfrm>
            <a:off x="822960" y="2212848"/>
            <a:ext cx="384048" cy="384048"/>
          </a:xfrm>
          <a:prstGeom prst="rect">
            <a:avLst/>
          </a:prstGeom>
        </p:spPr>
      </p:pic>
      <p:sp>
        <p:nvSpPr>
          <p:cNvPr id="6" name="Text 3"/>
          <p:cNvSpPr txBox="1"/>
          <p:nvPr/>
        </p:nvSpPr>
        <p:spPr>
          <a:xfrm>
            <a:off x="1371600" y="2011680"/>
            <a:ext cx="6675120" cy="777240"/>
          </a:xfrm>
          <a:prstGeom prst="rect">
            <a:avLst/>
          </a:prstGeom>
          <a:noFill/>
          <a:ln/>
        </p:spPr>
        <p:txBody>
          <a:bodyPr wrap="square" lIns="0" tIns="0" rIns="0" bIns="0" rtlCol="0" anchor="ctr"/>
          <a:lstStyle/>
          <a:p>
            <a:pPr indent="0" marL="0">
              <a:buNone/>
            </a:pPr>
            <a:r>
              <a:rPr lang="en-US" sz="1800" b="1" dirty="0">
                <a:solidFill>
                  <a:schemeClr val="tx1"/>
                </a:solidFill>
              </a:rPr>
              <a:t>Agent or orchestrator</a:t>
            </a:r>
            <a:endParaRPr lang="en-US" sz="1800" dirty="0"/>
          </a:p>
        </p:txBody>
      </p:sp>
      <p:sp>
        <p:nvSpPr>
          <p:cNvPr id="7" name="Ask ARD"/>
          <p:cNvSpPr/>
          <p:nvPr/>
        </p:nvSpPr>
        <p:spPr>
          <a:xfrm>
            <a:off x="2194560" y="2834640"/>
            <a:ext cx="0" cy="457200"/>
          </a:xfrm>
          <a:prstGeom prst="line">
            <a:avLst/>
          </a:prstGeom>
          <a:noFill/>
          <a:ln w="22225">
            <a:solidFill>
              <a:srgbClr val="474552"/>
            </a:solidFill>
            <a:prstDash val="solid"/>
            <a:tailEnd type="triangle"/>
          </a:ln>
        </p:spPr>
      </p:sp>
      <p:sp>
        <p:nvSpPr>
          <p:cNvPr id="8" name="Text 5"/>
          <p:cNvSpPr txBox="1"/>
          <p:nvPr/>
        </p:nvSpPr>
        <p:spPr>
          <a:xfrm>
            <a:off x="2377440" y="2852928"/>
            <a:ext cx="5029200" cy="411480"/>
          </a:xfrm>
          <a:prstGeom prst="rect">
            <a:avLst/>
          </a:prstGeom>
          <a:noFill/>
          <a:ln/>
        </p:spPr>
        <p:txBody>
          <a:bodyPr wrap="square" lIns="0" tIns="0" rIns="0" bIns="0" rtlCol="0" anchor="ctr"/>
          <a:lstStyle/>
          <a:p>
            <a:pPr indent="0" marL="0">
              <a:buNone/>
            </a:pPr>
            <a:r>
              <a:rPr lang="en-US" sz="1400" dirty="0">
                <a:solidFill>
                  <a:schemeClr val="accent6"/>
                </a:solidFill>
              </a:rPr>
              <a:t>1  What exists for this task?</a:t>
            </a:r>
            <a:endParaRPr lang="en-US" sz="1400" dirty="0"/>
          </a:p>
        </p:txBody>
      </p:sp>
      <p:sp>
        <p:nvSpPr>
          <p:cNvPr id="9" name="ARD layer"/>
          <p:cNvSpPr/>
          <p:nvPr/>
        </p:nvSpPr>
        <p:spPr>
          <a:xfrm>
            <a:off x="548640" y="3337560"/>
            <a:ext cx="7680960" cy="914400"/>
          </a:xfrm>
          <a:prstGeom prst="roundRect">
            <a:avLst>
              <a:gd name="adj" fmla="val 14000"/>
            </a:avLst>
          </a:prstGeom>
          <a:solidFill>
            <a:schemeClr val="accent1"/>
          </a:solidFill>
          <a:ln/>
        </p:spPr>
      </p:sp>
      <p:sp>
        <p:nvSpPr>
          <p:cNvPr id="10" name="Text 7"/>
          <p:cNvSpPr txBox="1"/>
          <p:nvPr/>
        </p:nvSpPr>
        <p:spPr>
          <a:xfrm>
            <a:off x="822960" y="3337560"/>
            <a:ext cx="7223760" cy="914400"/>
          </a:xfrm>
          <a:prstGeom prst="rect">
            <a:avLst/>
          </a:prstGeom>
          <a:noFill/>
          <a:ln/>
        </p:spPr>
        <p:txBody>
          <a:bodyPr wrap="square" lIns="0" tIns="0" rIns="0" bIns="0" rtlCol="0" anchor="ctr"/>
          <a:lstStyle/>
          <a:p>
            <a:pPr indent="0" marL="0">
              <a:buNone/>
            </a:pPr>
            <a:r>
              <a:rPr lang="en-US" sz="2400" b="1" dirty="0">
                <a:solidFill>
                  <a:schemeClr val="tx1"/>
                </a:solidFill>
              </a:rPr>
              <a:t>ARD</a:t>
            </a:r>
            <a:pPr indent="0" marL="0">
              <a:buNone/>
            </a:pPr>
            <a:r>
              <a:rPr lang="en-US" sz="1800" dirty="0">
                <a:solidFill>
                  <a:schemeClr val="tx1"/>
                </a:solidFill>
              </a:rPr>
              <a:t>     describe  ·  publish  ·  search  ·  federate</a:t>
            </a:r>
            <a:endParaRPr lang="en-US" sz="1600" dirty="0"/>
          </a:p>
        </p:txBody>
      </p:sp>
      <p:sp>
        <p:nvSpPr>
          <p:cNvPr id="11" name="Invoke"/>
          <p:cNvSpPr/>
          <p:nvPr/>
        </p:nvSpPr>
        <p:spPr>
          <a:xfrm>
            <a:off x="5943600" y="4297680"/>
            <a:ext cx="0" cy="457200"/>
          </a:xfrm>
          <a:prstGeom prst="line">
            <a:avLst/>
          </a:prstGeom>
          <a:noFill/>
          <a:ln w="22225">
            <a:solidFill>
              <a:srgbClr val="474552"/>
            </a:solidFill>
            <a:prstDash val="solid"/>
            <a:tailEnd type="triangle"/>
          </a:ln>
        </p:spPr>
      </p:sp>
      <p:sp>
        <p:nvSpPr>
          <p:cNvPr id="12" name="Text 9"/>
          <p:cNvSpPr txBox="1"/>
          <p:nvPr/>
        </p:nvSpPr>
        <p:spPr>
          <a:xfrm>
            <a:off x="2743200" y="4315968"/>
            <a:ext cx="3063240" cy="411480"/>
          </a:xfrm>
          <a:prstGeom prst="rect">
            <a:avLst/>
          </a:prstGeom>
          <a:noFill/>
          <a:ln/>
        </p:spPr>
        <p:txBody>
          <a:bodyPr wrap="square" lIns="0" tIns="0" rIns="0" bIns="0" rtlCol="0" anchor="ctr"/>
          <a:lstStyle/>
          <a:p>
            <a:pPr algn="r" indent="0" marL="0">
              <a:buNone/>
            </a:pPr>
            <a:r>
              <a:rPr lang="en-US" sz="1400" dirty="0">
                <a:solidFill>
                  <a:schemeClr val="accent6"/>
                </a:solidFill>
              </a:rPr>
              <a:t>2  Call it with its own protocol</a:t>
            </a:r>
            <a:endParaRPr lang="en-US" sz="1400" dirty="0"/>
          </a:p>
        </p:txBody>
      </p:sp>
      <p:sp>
        <p:nvSpPr>
          <p:cNvPr id="13" name="MCP servers box"/>
          <p:cNvSpPr/>
          <p:nvPr/>
        </p:nvSpPr>
        <p:spPr>
          <a:xfrm>
            <a:off x="548640" y="4800600"/>
            <a:ext cx="1837944" cy="1234440"/>
          </a:xfrm>
          <a:prstGeom prst="roundRect">
            <a:avLst>
              <a:gd name="adj" fmla="val 10370"/>
            </a:avLst>
          </a:prstGeom>
          <a:solidFill>
            <a:schemeClr val="bg2"/>
          </a:solidFill>
          <a:ln/>
        </p:spPr>
      </p:sp>
      <p:pic>
        <p:nvPicPr>
          <p:cNvPr id="14" name="MCP servers icon" descr="preencoded.png">    </p:cNvPr>
          <p:cNvPicPr>
            <a:picLocks noChangeAspect="1"/>
          </p:cNvPicPr>
          <p:nvPr/>
        </p:nvPicPr>
        <p:blipFill>
          <a:blip r:embed="rId2"/>
          <a:stretch>
            <a:fillRect/>
          </a:stretch>
        </p:blipFill>
        <p:spPr>
          <a:xfrm>
            <a:off x="1261872" y="4956048"/>
            <a:ext cx="411480" cy="411480"/>
          </a:xfrm>
          <a:prstGeom prst="rect">
            <a:avLst/>
          </a:prstGeom>
        </p:spPr>
      </p:pic>
      <p:sp>
        <p:nvSpPr>
          <p:cNvPr id="15" name="Text 11"/>
          <p:cNvSpPr txBox="1"/>
          <p:nvPr/>
        </p:nvSpPr>
        <p:spPr>
          <a:xfrm>
            <a:off x="640080" y="5440680"/>
            <a:ext cx="1655064" cy="457200"/>
          </a:xfrm>
          <a:prstGeom prst="rect">
            <a:avLst/>
          </a:prstGeom>
          <a:noFill/>
          <a:ln/>
        </p:spPr>
        <p:txBody>
          <a:bodyPr wrap="square" lIns="0" tIns="0" rIns="0" bIns="0" rtlCol="0" anchor="t"/>
          <a:lstStyle/>
          <a:p>
            <a:pPr algn="ctr" indent="0" marL="0">
              <a:buNone/>
            </a:pPr>
            <a:r>
              <a:rPr lang="en-US" sz="1500" b="1" dirty="0">
                <a:solidFill>
                  <a:schemeClr val="tx1"/>
                </a:solidFill>
              </a:rPr>
              <a:t>MCP servers</a:t>
            </a:r>
            <a:endParaRPr lang="en-US" sz="1500" dirty="0"/>
          </a:p>
        </p:txBody>
      </p:sp>
      <p:sp>
        <p:nvSpPr>
          <p:cNvPr id="16" name="A2A agents box"/>
          <p:cNvSpPr/>
          <p:nvPr/>
        </p:nvSpPr>
        <p:spPr>
          <a:xfrm>
            <a:off x="2496312" y="4800600"/>
            <a:ext cx="1837944" cy="1234440"/>
          </a:xfrm>
          <a:prstGeom prst="roundRect">
            <a:avLst>
              <a:gd name="adj" fmla="val 10370"/>
            </a:avLst>
          </a:prstGeom>
          <a:solidFill>
            <a:schemeClr val="bg2"/>
          </a:solidFill>
          <a:ln/>
        </p:spPr>
      </p:sp>
      <p:pic>
        <p:nvPicPr>
          <p:cNvPr id="17" name="A2A agents icon" descr="preencoded.png">    </p:cNvPr>
          <p:cNvPicPr>
            <a:picLocks noChangeAspect="1"/>
          </p:cNvPicPr>
          <p:nvPr/>
        </p:nvPicPr>
        <p:blipFill>
          <a:blip r:embed="rId3"/>
          <a:stretch>
            <a:fillRect/>
          </a:stretch>
        </p:blipFill>
        <p:spPr>
          <a:xfrm>
            <a:off x="3209544" y="4956048"/>
            <a:ext cx="411480" cy="411480"/>
          </a:xfrm>
          <a:prstGeom prst="rect">
            <a:avLst/>
          </a:prstGeom>
        </p:spPr>
      </p:pic>
      <p:sp>
        <p:nvSpPr>
          <p:cNvPr id="18" name="Text 13"/>
          <p:cNvSpPr txBox="1"/>
          <p:nvPr/>
        </p:nvSpPr>
        <p:spPr>
          <a:xfrm>
            <a:off x="2587752" y="5440680"/>
            <a:ext cx="1655064" cy="457200"/>
          </a:xfrm>
          <a:prstGeom prst="rect">
            <a:avLst/>
          </a:prstGeom>
          <a:noFill/>
          <a:ln/>
        </p:spPr>
        <p:txBody>
          <a:bodyPr wrap="square" lIns="0" tIns="0" rIns="0" bIns="0" rtlCol="0" anchor="t"/>
          <a:lstStyle/>
          <a:p>
            <a:pPr algn="ctr" indent="0" marL="0">
              <a:buNone/>
            </a:pPr>
            <a:r>
              <a:rPr lang="en-US" sz="1500" b="1" dirty="0">
                <a:solidFill>
                  <a:schemeClr val="tx1"/>
                </a:solidFill>
              </a:rPr>
              <a:t>A2A agents</a:t>
            </a:r>
            <a:endParaRPr lang="en-US" sz="1500" dirty="0"/>
          </a:p>
        </p:txBody>
      </p:sp>
      <p:sp>
        <p:nvSpPr>
          <p:cNvPr id="19" name="Agent Skills box"/>
          <p:cNvSpPr/>
          <p:nvPr/>
        </p:nvSpPr>
        <p:spPr>
          <a:xfrm>
            <a:off x="4443984" y="4800600"/>
            <a:ext cx="1837944" cy="1234440"/>
          </a:xfrm>
          <a:prstGeom prst="roundRect">
            <a:avLst>
              <a:gd name="adj" fmla="val 10370"/>
            </a:avLst>
          </a:prstGeom>
          <a:solidFill>
            <a:schemeClr val="bg2"/>
          </a:solidFill>
          <a:ln/>
        </p:spPr>
      </p:sp>
      <p:pic>
        <p:nvPicPr>
          <p:cNvPr id="20" name="Agent Skills icon" descr="preencoded.png">    </p:cNvPr>
          <p:cNvPicPr>
            <a:picLocks noChangeAspect="1"/>
          </p:cNvPicPr>
          <p:nvPr/>
        </p:nvPicPr>
        <p:blipFill>
          <a:blip r:embed="rId4"/>
          <a:stretch>
            <a:fillRect/>
          </a:stretch>
        </p:blipFill>
        <p:spPr>
          <a:xfrm>
            <a:off x="5157216" y="4956048"/>
            <a:ext cx="411480" cy="411480"/>
          </a:xfrm>
          <a:prstGeom prst="rect">
            <a:avLst/>
          </a:prstGeom>
        </p:spPr>
      </p:pic>
      <p:sp>
        <p:nvSpPr>
          <p:cNvPr id="21" name="Text 15"/>
          <p:cNvSpPr txBox="1"/>
          <p:nvPr/>
        </p:nvSpPr>
        <p:spPr>
          <a:xfrm>
            <a:off x="4535424" y="5440680"/>
            <a:ext cx="1655064" cy="457200"/>
          </a:xfrm>
          <a:prstGeom prst="rect">
            <a:avLst/>
          </a:prstGeom>
          <a:noFill/>
          <a:ln/>
        </p:spPr>
        <p:txBody>
          <a:bodyPr wrap="square" lIns="0" tIns="0" rIns="0" bIns="0" rtlCol="0" anchor="t"/>
          <a:lstStyle/>
          <a:p>
            <a:pPr algn="ctr" indent="0" marL="0">
              <a:buNone/>
            </a:pPr>
            <a:r>
              <a:rPr lang="en-US" sz="1500" b="1" dirty="0">
                <a:solidFill>
                  <a:schemeClr val="tx1"/>
                </a:solidFill>
              </a:rPr>
              <a:t>Agent Skills</a:t>
            </a:r>
            <a:endParaRPr lang="en-US" sz="1500" dirty="0"/>
          </a:p>
        </p:txBody>
      </p:sp>
      <p:sp>
        <p:nvSpPr>
          <p:cNvPr id="22" name="APIs &amp; services box"/>
          <p:cNvSpPr/>
          <p:nvPr/>
        </p:nvSpPr>
        <p:spPr>
          <a:xfrm>
            <a:off x="6391656" y="4800600"/>
            <a:ext cx="1837944" cy="1234440"/>
          </a:xfrm>
          <a:prstGeom prst="roundRect">
            <a:avLst>
              <a:gd name="adj" fmla="val 10370"/>
            </a:avLst>
          </a:prstGeom>
          <a:solidFill>
            <a:schemeClr val="bg2"/>
          </a:solidFill>
          <a:ln/>
        </p:spPr>
      </p:sp>
      <p:pic>
        <p:nvPicPr>
          <p:cNvPr id="23" name="APIs &amp; services icon" descr="preencoded.png">    </p:cNvPr>
          <p:cNvPicPr>
            <a:picLocks noChangeAspect="1"/>
          </p:cNvPicPr>
          <p:nvPr/>
        </p:nvPicPr>
        <p:blipFill>
          <a:blip r:embed="rId5"/>
          <a:stretch>
            <a:fillRect/>
          </a:stretch>
        </p:blipFill>
        <p:spPr>
          <a:xfrm>
            <a:off x="7104888" y="4956048"/>
            <a:ext cx="411480" cy="411480"/>
          </a:xfrm>
          <a:prstGeom prst="rect">
            <a:avLst/>
          </a:prstGeom>
        </p:spPr>
      </p:pic>
      <p:sp>
        <p:nvSpPr>
          <p:cNvPr id="24" name="Text 17"/>
          <p:cNvSpPr txBox="1"/>
          <p:nvPr/>
        </p:nvSpPr>
        <p:spPr>
          <a:xfrm>
            <a:off x="6483096" y="5440680"/>
            <a:ext cx="1655064" cy="457200"/>
          </a:xfrm>
          <a:prstGeom prst="rect">
            <a:avLst/>
          </a:prstGeom>
          <a:noFill/>
          <a:ln/>
        </p:spPr>
        <p:txBody>
          <a:bodyPr wrap="square" lIns="0" tIns="0" rIns="0" bIns="0" rtlCol="0" anchor="t"/>
          <a:lstStyle/>
          <a:p>
            <a:pPr algn="ctr" indent="0" marL="0">
              <a:buNone/>
            </a:pPr>
            <a:r>
              <a:rPr lang="en-US" sz="1500" b="1" dirty="0">
                <a:solidFill>
                  <a:schemeClr val="tx1"/>
                </a:solidFill>
              </a:rPr>
              <a:t>APIs &amp; services</a:t>
            </a:r>
            <a:endParaRPr lang="en-US" sz="1500" dirty="0"/>
          </a:p>
        </p:txBody>
      </p:sp>
      <p:sp>
        <p:nvSpPr>
          <p:cNvPr id="25" name="Out of scope card"/>
          <p:cNvSpPr/>
          <p:nvPr/>
        </p:nvSpPr>
        <p:spPr>
          <a:xfrm>
            <a:off x="8641080" y="2011680"/>
            <a:ext cx="2999232" cy="4023360"/>
          </a:xfrm>
          <a:prstGeom prst="roundRect">
            <a:avLst>
              <a:gd name="adj" fmla="val 4268"/>
            </a:avLst>
          </a:prstGeom>
          <a:solidFill>
            <a:schemeClr val="bg1"/>
          </a:solidFill>
          <a:ln w="15875">
            <a:solidFill>
              <a:srgbClr val="B6B0D0"/>
            </a:solidFill>
            <a:prstDash val="solid"/>
          </a:ln>
        </p:spPr>
      </p:sp>
      <p:sp>
        <p:nvSpPr>
          <p:cNvPr id="26" name="Text 19"/>
          <p:cNvSpPr txBox="1"/>
          <p:nvPr/>
        </p:nvSpPr>
        <p:spPr>
          <a:xfrm>
            <a:off x="8915400" y="2240280"/>
            <a:ext cx="2560320" cy="365760"/>
          </a:xfrm>
          <a:prstGeom prst="rect">
            <a:avLst/>
          </a:prstGeom>
          <a:noFill/>
          <a:ln/>
        </p:spPr>
        <p:txBody>
          <a:bodyPr wrap="square" lIns="0" tIns="0" rIns="0" bIns="0" rtlCol="0" anchor="t"/>
          <a:lstStyle/>
          <a:p>
            <a:pPr indent="0" marL="0">
              <a:buNone/>
            </a:pPr>
            <a:r>
              <a:rPr lang="en-US" sz="1800" b="1" dirty="0">
                <a:solidFill>
                  <a:schemeClr val="tx1"/>
                </a:solidFill>
              </a:rPr>
              <a:t>Left to others</a:t>
            </a:r>
            <a:endParaRPr lang="en-US" sz="1800" dirty="0"/>
          </a:p>
        </p:txBody>
      </p:sp>
      <p:sp>
        <p:nvSpPr>
          <p:cNvPr id="27" name="Text 20"/>
          <p:cNvSpPr txBox="1"/>
          <p:nvPr/>
        </p:nvSpPr>
        <p:spPr>
          <a:xfrm>
            <a:off x="8915400" y="2788920"/>
            <a:ext cx="2560320" cy="347472"/>
          </a:xfrm>
          <a:prstGeom prst="rect">
            <a:avLst/>
          </a:prstGeom>
          <a:noFill/>
          <a:ln/>
        </p:spPr>
        <p:txBody>
          <a:bodyPr wrap="square" lIns="0" tIns="0" rIns="0" bIns="0" rtlCol="0" anchor="t"/>
          <a:lstStyle/>
          <a:p>
            <a:pPr indent="0" marL="0">
              <a:buNone/>
            </a:pPr>
            <a:r>
              <a:rPr lang="en-US" sz="1600" b="1" dirty="0">
                <a:solidFill>
                  <a:schemeClr val="accent4"/>
                </a:solidFill>
              </a:rPr>
              <a:t>Authentication</a:t>
            </a:r>
            <a:endParaRPr lang="en-US" sz="1600" dirty="0"/>
          </a:p>
        </p:txBody>
      </p:sp>
      <p:sp>
        <p:nvSpPr>
          <p:cNvPr id="28" name="Text 21"/>
          <p:cNvSpPr txBox="1"/>
          <p:nvPr/>
        </p:nvSpPr>
        <p:spPr>
          <a:xfrm>
            <a:off x="8915400" y="3136392"/>
            <a:ext cx="2560320" cy="548640"/>
          </a:xfrm>
          <a:prstGeom prst="rect">
            <a:avLst/>
          </a:prstGeom>
          <a:noFill/>
          <a:ln/>
        </p:spPr>
        <p:txBody>
          <a:bodyPr wrap="square" lIns="0" tIns="0" rIns="0" bIns="0" rtlCol="0" anchor="t"/>
          <a:lstStyle/>
          <a:p>
            <a:pPr indent="0" marL="0">
              <a:buNone/>
            </a:pPr>
            <a:r>
              <a:rPr lang="en-US" sz="1500" dirty="0">
                <a:solidFill>
                  <a:schemeClr val="accent6"/>
                </a:solidFill>
              </a:rPr>
              <a:t>The resource’s own protocol</a:t>
            </a:r>
            <a:endParaRPr lang="en-US" sz="1500" dirty="0"/>
          </a:p>
        </p:txBody>
      </p:sp>
      <p:sp>
        <p:nvSpPr>
          <p:cNvPr id="29" name="Text 22"/>
          <p:cNvSpPr txBox="1"/>
          <p:nvPr/>
        </p:nvSpPr>
        <p:spPr>
          <a:xfrm>
            <a:off x="8915400" y="3813048"/>
            <a:ext cx="2560320" cy="347472"/>
          </a:xfrm>
          <a:prstGeom prst="rect">
            <a:avLst/>
          </a:prstGeom>
          <a:noFill/>
          <a:ln/>
        </p:spPr>
        <p:txBody>
          <a:bodyPr wrap="square" lIns="0" tIns="0" rIns="0" bIns="0" rtlCol="0" anchor="t"/>
          <a:lstStyle/>
          <a:p>
            <a:pPr indent="0" marL="0">
              <a:buNone/>
            </a:pPr>
            <a:r>
              <a:rPr lang="en-US" sz="1600" b="1" dirty="0">
                <a:solidFill>
                  <a:schemeClr val="accent4"/>
                </a:solidFill>
              </a:rPr>
              <a:t>Distribution</a:t>
            </a:r>
            <a:endParaRPr lang="en-US" sz="1600" dirty="0"/>
          </a:p>
        </p:txBody>
      </p:sp>
      <p:sp>
        <p:nvSpPr>
          <p:cNvPr id="30" name="Text 23"/>
          <p:cNvSpPr txBox="1"/>
          <p:nvPr/>
        </p:nvSpPr>
        <p:spPr>
          <a:xfrm>
            <a:off x="8915400" y="4160520"/>
            <a:ext cx="2560320" cy="548640"/>
          </a:xfrm>
          <a:prstGeom prst="rect">
            <a:avLst/>
          </a:prstGeom>
          <a:noFill/>
          <a:ln/>
        </p:spPr>
        <p:txBody>
          <a:bodyPr wrap="square" lIns="0" tIns="0" rIns="0" bIns="0" rtlCol="0" anchor="t"/>
          <a:lstStyle/>
          <a:p>
            <a:pPr indent="0" marL="0">
              <a:buNone/>
            </a:pPr>
            <a:r>
              <a:rPr lang="en-US" sz="1500" dirty="0">
                <a:solidFill>
                  <a:schemeClr val="accent6"/>
                </a:solidFill>
              </a:rPr>
              <a:t>OCI, npm, git…</a:t>
            </a:r>
            <a:endParaRPr lang="en-US" sz="1500" dirty="0"/>
          </a:p>
        </p:txBody>
      </p:sp>
      <p:sp>
        <p:nvSpPr>
          <p:cNvPr id="31" name="Text 24"/>
          <p:cNvSpPr txBox="1"/>
          <p:nvPr/>
        </p:nvSpPr>
        <p:spPr>
          <a:xfrm>
            <a:off x="8915400" y="4837176"/>
            <a:ext cx="2560320" cy="347472"/>
          </a:xfrm>
          <a:prstGeom prst="rect">
            <a:avLst/>
          </a:prstGeom>
          <a:noFill/>
          <a:ln/>
        </p:spPr>
        <p:txBody>
          <a:bodyPr wrap="square" lIns="0" tIns="0" rIns="0" bIns="0" rtlCol="0" anchor="t"/>
          <a:lstStyle/>
          <a:p>
            <a:pPr indent="0" marL="0">
              <a:buNone/>
            </a:pPr>
            <a:r>
              <a:rPr lang="en-US" sz="1600" b="1" dirty="0">
                <a:solidFill>
                  <a:schemeClr val="accent4"/>
                </a:solidFill>
              </a:rPr>
              <a:t>Invocation</a:t>
            </a:r>
            <a:endParaRPr lang="en-US" sz="1600" dirty="0"/>
          </a:p>
        </p:txBody>
      </p:sp>
      <p:sp>
        <p:nvSpPr>
          <p:cNvPr id="32" name="Text 25"/>
          <p:cNvSpPr txBox="1"/>
          <p:nvPr/>
        </p:nvSpPr>
        <p:spPr>
          <a:xfrm>
            <a:off x="8915400" y="5184648"/>
            <a:ext cx="2560320" cy="548640"/>
          </a:xfrm>
          <a:prstGeom prst="rect">
            <a:avLst/>
          </a:prstGeom>
          <a:noFill/>
          <a:ln/>
        </p:spPr>
        <p:txBody>
          <a:bodyPr wrap="square" lIns="0" tIns="0" rIns="0" bIns="0" rtlCol="0" anchor="t"/>
          <a:lstStyle/>
          <a:p>
            <a:pPr indent="0" marL="0">
              <a:buNone/>
            </a:pPr>
            <a:r>
              <a:rPr lang="en-US" sz="1500" dirty="0">
                <a:solidFill>
                  <a:schemeClr val="accent6"/>
                </a:solidFill>
              </a:rPr>
              <a:t>MCP, A2A, HTTP…</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Each resource is described by one small JSON-LD entry</a:t>
            </a:r>
            <a:endParaRPr lang="en-US" sz="3200" dirty="0"/>
          </a:p>
        </p:txBody>
      </p:sp>
      <p:sp>
        <p:nvSpPr>
          <p:cNvPr id="4" name="Entry JSON"/>
          <p:cNvSpPr/>
          <p:nvPr/>
        </p:nvSpPr>
        <p:spPr>
          <a:xfrm>
            <a:off x="548640" y="1965960"/>
            <a:ext cx="6400800" cy="4114800"/>
          </a:xfrm>
          <a:prstGeom prst="roundRect">
            <a:avLst>
              <a:gd name="adj" fmla="val 3111"/>
            </a:avLst>
          </a:prstGeom>
          <a:solidFill>
            <a:schemeClr val="bg2"/>
          </a:solidFill>
          <a:ln/>
        </p:spPr>
      </p:sp>
      <p:sp>
        <p:nvSpPr>
          <p:cNvPr id="5" name="Text 3"/>
          <p:cNvSpPr txBox="1"/>
          <p:nvPr/>
        </p:nvSpPr>
        <p:spPr>
          <a:xfrm>
            <a:off x="822960" y="2194560"/>
            <a:ext cx="5943600" cy="3749040"/>
          </a:xfrm>
          <a:prstGeom prst="rect">
            <a:avLst/>
          </a:prstGeom>
          <a:noFill/>
          <a:ln/>
        </p:spPr>
        <p:txBody>
          <a:bodyPr wrap="square" lIns="0" tIns="0" rIns="0" bIns="0" rtlCol="0" anchor="t"/>
          <a:lstStyle/>
          <a:p>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b="1" dirty="0">
                <a:solidFill>
                  <a:srgbClr val="C2410C"/>
                </a:solidFill>
                <a:latin typeface="Consolas" pitchFamily="34" charset="0"/>
                <a:ea typeface="Consolas" pitchFamily="34" charset="-122"/>
                <a:cs typeface="Consolas" pitchFamily="34" charset="-120"/>
              </a:rPr>
              <a:t>  "identifier"</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"urn:air:acme.com:server:weather"</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b="1" dirty="0">
                <a:solidFill>
                  <a:srgbClr val="C2410C"/>
                </a:solidFill>
                <a:latin typeface="Consolas" pitchFamily="34" charset="0"/>
                <a:ea typeface="Consolas" pitchFamily="34" charset="-122"/>
                <a:cs typeface="Consolas" pitchFamily="34" charset="-120"/>
              </a:rPr>
              <a:t>  "displayName"</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"Weather Data Node"</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b="1" dirty="0">
                <a:solidFill>
                  <a:srgbClr val="C2410C"/>
                </a:solidFill>
                <a:latin typeface="Consolas" pitchFamily="34" charset="0"/>
                <a:ea typeface="Consolas" pitchFamily="34" charset="-122"/>
                <a:cs typeface="Consolas" pitchFamily="34" charset="-120"/>
              </a:rPr>
              <a:t>  "type"</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"application/mcp-server-card+json"</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b="1" dirty="0">
                <a:solidFill>
                  <a:srgbClr val="C2410C"/>
                </a:solidFill>
                <a:latin typeface="Consolas" pitchFamily="34" charset="0"/>
                <a:ea typeface="Consolas" pitchFamily="34" charset="-122"/>
                <a:cs typeface="Consolas" pitchFamily="34" charset="-120"/>
              </a:rPr>
              <a:t>  "url"</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"https://api.acme.com/mcp/weather.json"</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b="1" dirty="0">
                <a:solidFill>
                  <a:srgbClr val="5A4FA0"/>
                </a:solidFill>
                <a:latin typeface="Consolas" pitchFamily="34" charset="0"/>
                <a:ea typeface="Consolas" pitchFamily="34" charset="-122"/>
                <a:cs typeface="Consolas" pitchFamily="34" charset="-120"/>
              </a:rPr>
              <a:t>  "representativeQueries"</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endParaRPr lang="en-US" sz="1300" dirty="0"/>
          </a:p>
          <a:p>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    "what is the current wind speed in Chicago"</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    "get the 5-day forecast for Seattle"</a:t>
            </a:r>
            <a:endParaRPr lang="en-US" sz="1300" dirty="0"/>
          </a:p>
          <a:p>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endParaRPr lang="en-US" sz="1300" dirty="0"/>
          </a:p>
          <a:p>
            <a:pPr indent="0" marL="0">
              <a:lnSpc>
                <a:spcPct val="125000"/>
              </a:lnSpc>
              <a:buNone/>
            </a:pPr>
            <a:r>
              <a:rPr lang="en-US" sz="1300" dirty="0">
                <a:solidFill>
                  <a:srgbClr val="6E6A7C"/>
                </a:solidFill>
                <a:latin typeface="Consolas" pitchFamily="34" charset="0"/>
                <a:ea typeface="Consolas" pitchFamily="34" charset="-122"/>
                <a:cs typeface="Consolas" pitchFamily="34" charset="-120"/>
              </a:rPr>
              <a:t>  "capabilities"</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["WeatherTool", "ForecastTool"]</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a:p>
            <a:pPr indent="0" marL="0">
              <a:lnSpc>
                <a:spcPct val="125000"/>
              </a:lnSpc>
              <a:buNone/>
            </a:pPr>
            <a:r>
              <a:rPr lang="en-US" sz="1300" dirty="0">
                <a:solidFill>
                  <a:srgbClr val="6E6A7C"/>
                </a:solidFill>
                <a:latin typeface="Consolas" pitchFamily="34" charset="0"/>
                <a:ea typeface="Consolas" pitchFamily="34" charset="-122"/>
                <a:cs typeface="Consolas" pitchFamily="34" charset="-120"/>
              </a:rPr>
              <a:t>  "description"</a:t>
            </a:r>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 </a:t>
            </a:r>
            <a:pPr indent="0" marL="0">
              <a:lnSpc>
                <a:spcPct val="125000"/>
              </a:lnSpc>
              <a:buNone/>
            </a:pPr>
            <a:r>
              <a:rPr lang="en-US" sz="1300" dirty="0">
                <a:solidFill>
                  <a:srgbClr val="2D6E3A"/>
                </a:solidFill>
                <a:latin typeface="Consolas" pitchFamily="34" charset="0"/>
                <a:ea typeface="Consolas" pitchFamily="34" charset="-122"/>
                <a:cs typeface="Consolas" pitchFamily="34" charset="-120"/>
              </a:rPr>
              <a:t>"Weather MCP server for live telemetry."</a:t>
            </a:r>
            <a:endParaRPr lang="en-US" sz="1300" dirty="0"/>
          </a:p>
          <a:p>
            <a:pPr indent="0" marL="0">
              <a:lnSpc>
                <a:spcPct val="125000"/>
              </a:lnSpc>
              <a:buNone/>
            </a:pPr>
            <a:r>
              <a:rPr lang="en-US" sz="1300" dirty="0">
                <a:solidFill>
                  <a:srgbClr val="383A42"/>
                </a:solidFill>
                <a:latin typeface="Consolas" pitchFamily="34" charset="0"/>
                <a:ea typeface="Consolas" pitchFamily="34" charset="-122"/>
                <a:cs typeface="Consolas" pitchFamily="34" charset="-120"/>
              </a:rPr>
              <a:t>}</a:t>
            </a:r>
            <a:endParaRPr lang="en-US" sz="1300" dirty="0"/>
          </a:p>
        </p:txBody>
      </p:sp>
      <p:sp>
        <p:nvSpPr>
          <p:cNvPr id="6" name="MUST chip"/>
          <p:cNvSpPr/>
          <p:nvPr/>
        </p:nvSpPr>
        <p:spPr>
          <a:xfrm>
            <a:off x="7269480" y="2002536"/>
            <a:ext cx="1051560" cy="365760"/>
          </a:xfrm>
          <a:prstGeom prst="roundRect">
            <a:avLst>
              <a:gd name="adj" fmla="val 50000"/>
            </a:avLst>
          </a:prstGeom>
          <a:solidFill>
            <a:schemeClr val="accent2"/>
          </a:solidFill>
          <a:ln/>
        </p:spPr>
      </p:sp>
      <p:sp>
        <p:nvSpPr>
          <p:cNvPr id="7" name="Text 5"/>
          <p:cNvSpPr txBox="1"/>
          <p:nvPr/>
        </p:nvSpPr>
        <p:spPr>
          <a:xfrm>
            <a:off x="7269480" y="2002536"/>
            <a:ext cx="1051560" cy="365760"/>
          </a:xfrm>
          <a:prstGeom prst="rect">
            <a:avLst/>
          </a:prstGeom>
          <a:noFill/>
          <a:ln/>
        </p:spPr>
        <p:txBody>
          <a:bodyPr wrap="square" lIns="0" tIns="0" rIns="0" bIns="0" rtlCol="0" anchor="ctr"/>
          <a:lstStyle/>
          <a:p>
            <a:pPr algn="ctr" indent="0" marL="0">
              <a:buNone/>
            </a:pPr>
            <a:r>
              <a:rPr lang="en-US" sz="1300" b="1" dirty="0">
                <a:solidFill>
                  <a:schemeClr val="bg1"/>
                </a:solidFill>
              </a:rPr>
              <a:t>MUST</a:t>
            </a:r>
            <a:endParaRPr lang="en-US" sz="1300" dirty="0"/>
          </a:p>
        </p:txBody>
      </p:sp>
      <p:sp>
        <p:nvSpPr>
          <p:cNvPr id="8" name="Text 6"/>
          <p:cNvSpPr txBox="1"/>
          <p:nvPr/>
        </p:nvSpPr>
        <p:spPr>
          <a:xfrm>
            <a:off x="8503920" y="1965960"/>
            <a:ext cx="3136392" cy="1005840"/>
          </a:xfrm>
          <a:prstGeom prst="rect">
            <a:avLst/>
          </a:prstGeom>
          <a:noFill/>
          <a:ln/>
        </p:spPr>
        <p:txBody>
          <a:bodyPr wrap="square" lIns="0" tIns="0" rIns="0" bIns="0" rtlCol="0" anchor="t"/>
          <a:lstStyle/>
          <a:p>
            <a:pPr indent="0" marL="0">
              <a:buNone/>
            </a:pPr>
            <a:r>
              <a:rPr lang="en-US" sz="1500" dirty="0">
                <a:solidFill>
                  <a:schemeClr val="tx1"/>
                </a:solidFill>
              </a:rPr>
              <a:t>identifier, displayName, type, and exactly one of url or data</a:t>
            </a:r>
            <a:endParaRPr lang="en-US" sz="1500" dirty="0"/>
          </a:p>
        </p:txBody>
      </p:sp>
      <p:sp>
        <p:nvSpPr>
          <p:cNvPr id="9" name="SHOULD chip"/>
          <p:cNvSpPr/>
          <p:nvPr/>
        </p:nvSpPr>
        <p:spPr>
          <a:xfrm>
            <a:off x="7269480" y="3099816"/>
            <a:ext cx="1051560" cy="365760"/>
          </a:xfrm>
          <a:prstGeom prst="roundRect">
            <a:avLst>
              <a:gd name="adj" fmla="val 50000"/>
            </a:avLst>
          </a:prstGeom>
          <a:solidFill>
            <a:schemeClr val="accent4"/>
          </a:solidFill>
          <a:ln/>
        </p:spPr>
      </p:sp>
      <p:sp>
        <p:nvSpPr>
          <p:cNvPr id="10" name="Text 8"/>
          <p:cNvSpPr txBox="1"/>
          <p:nvPr/>
        </p:nvSpPr>
        <p:spPr>
          <a:xfrm>
            <a:off x="7269480" y="3099816"/>
            <a:ext cx="1051560" cy="365760"/>
          </a:xfrm>
          <a:prstGeom prst="rect">
            <a:avLst/>
          </a:prstGeom>
          <a:noFill/>
          <a:ln/>
        </p:spPr>
        <p:txBody>
          <a:bodyPr wrap="square" lIns="0" tIns="0" rIns="0" bIns="0" rtlCol="0" anchor="ctr"/>
          <a:lstStyle/>
          <a:p>
            <a:pPr algn="ctr" indent="0" marL="0">
              <a:buNone/>
            </a:pPr>
            <a:r>
              <a:rPr lang="en-US" sz="1300" b="1" dirty="0">
                <a:solidFill>
                  <a:schemeClr val="bg1"/>
                </a:solidFill>
              </a:rPr>
              <a:t>SHOULD</a:t>
            </a:r>
            <a:endParaRPr lang="en-US" sz="1300" dirty="0"/>
          </a:p>
        </p:txBody>
      </p:sp>
      <p:sp>
        <p:nvSpPr>
          <p:cNvPr id="11" name="Text 9"/>
          <p:cNvSpPr txBox="1"/>
          <p:nvPr/>
        </p:nvSpPr>
        <p:spPr>
          <a:xfrm>
            <a:off x="8503920" y="3063240"/>
            <a:ext cx="3136392" cy="1005840"/>
          </a:xfrm>
          <a:prstGeom prst="rect">
            <a:avLst/>
          </a:prstGeom>
          <a:noFill/>
          <a:ln/>
        </p:spPr>
        <p:txBody>
          <a:bodyPr wrap="square" lIns="0" tIns="0" rIns="0" bIns="0" rtlCol="0" anchor="t"/>
          <a:lstStyle/>
          <a:p>
            <a:pPr indent="0" marL="0">
              <a:buNone/>
            </a:pPr>
            <a:r>
              <a:rPr lang="en-US" sz="1500" dirty="0">
                <a:solidFill>
                  <a:schemeClr val="tx1"/>
                </a:solidFill>
              </a:rPr>
              <a:t>representativeQueries: 2–5 requests it serves. This is what search indexes; leave it out and nobody finds you.</a:t>
            </a:r>
            <a:endParaRPr lang="en-US" sz="1500" dirty="0"/>
          </a:p>
        </p:txBody>
      </p:sp>
      <p:sp>
        <p:nvSpPr>
          <p:cNvPr id="12" name="MAY chip"/>
          <p:cNvSpPr/>
          <p:nvPr/>
        </p:nvSpPr>
        <p:spPr>
          <a:xfrm>
            <a:off x="7269480" y="4197096"/>
            <a:ext cx="1051560" cy="365760"/>
          </a:xfrm>
          <a:prstGeom prst="roundRect">
            <a:avLst>
              <a:gd name="adj" fmla="val 50000"/>
            </a:avLst>
          </a:prstGeom>
          <a:solidFill>
            <a:schemeClr val="accent6"/>
          </a:solidFill>
          <a:ln/>
        </p:spPr>
      </p:sp>
      <p:sp>
        <p:nvSpPr>
          <p:cNvPr id="13" name="Text 11"/>
          <p:cNvSpPr txBox="1"/>
          <p:nvPr/>
        </p:nvSpPr>
        <p:spPr>
          <a:xfrm>
            <a:off x="7269480" y="4197096"/>
            <a:ext cx="1051560" cy="365760"/>
          </a:xfrm>
          <a:prstGeom prst="rect">
            <a:avLst/>
          </a:prstGeom>
          <a:noFill/>
          <a:ln/>
        </p:spPr>
        <p:txBody>
          <a:bodyPr wrap="square" lIns="0" tIns="0" rIns="0" bIns="0" rtlCol="0" anchor="ctr"/>
          <a:lstStyle/>
          <a:p>
            <a:pPr algn="ctr" indent="0" marL="0">
              <a:buNone/>
            </a:pPr>
            <a:r>
              <a:rPr lang="en-US" sz="1300" b="1" dirty="0">
                <a:solidFill>
                  <a:schemeClr val="bg1"/>
                </a:solidFill>
              </a:rPr>
              <a:t>MAY</a:t>
            </a:r>
            <a:endParaRPr lang="en-US" sz="1300" dirty="0"/>
          </a:p>
        </p:txBody>
      </p:sp>
      <p:sp>
        <p:nvSpPr>
          <p:cNvPr id="14" name="Text 12"/>
          <p:cNvSpPr txBox="1"/>
          <p:nvPr/>
        </p:nvSpPr>
        <p:spPr>
          <a:xfrm>
            <a:off x="8503920" y="4160520"/>
            <a:ext cx="3136392" cy="1005840"/>
          </a:xfrm>
          <a:prstGeom prst="rect">
            <a:avLst/>
          </a:prstGeom>
          <a:noFill/>
          <a:ln/>
        </p:spPr>
        <p:txBody>
          <a:bodyPr wrap="square" lIns="0" tIns="0" rIns="0" bIns="0" rtlCol="0" anchor="t"/>
          <a:lstStyle/>
          <a:p>
            <a:pPr indent="0" marL="0">
              <a:buNone/>
            </a:pPr>
            <a:r>
              <a:rPr lang="en-US" sz="1500" dirty="0">
                <a:solidFill>
                  <a:schemeClr val="tx1"/>
                </a:solidFill>
              </a:rPr>
              <a:t>capabilities for fast filtering, plus description, tags, version and trustManifest</a:t>
            </a:r>
            <a:endParaRPr lang="en-US" sz="1500" dirty="0"/>
          </a:p>
        </p:txBody>
      </p:sp>
      <p:sp>
        <p:nvSpPr>
          <p:cNvPr id="15" name="Context note"/>
          <p:cNvSpPr/>
          <p:nvPr/>
        </p:nvSpPr>
        <p:spPr>
          <a:xfrm>
            <a:off x="7269480" y="5257800"/>
            <a:ext cx="4370832" cy="822960"/>
          </a:xfrm>
          <a:prstGeom prst="roundRect">
            <a:avLst>
              <a:gd name="adj" fmla="val 15556"/>
            </a:avLst>
          </a:prstGeom>
          <a:solidFill>
            <a:schemeClr val="bg2"/>
          </a:solidFill>
          <a:ln/>
        </p:spPr>
      </p:sp>
      <p:sp>
        <p:nvSpPr>
          <p:cNvPr id="16" name="Text 14"/>
          <p:cNvSpPr txBox="1"/>
          <p:nvPr/>
        </p:nvSpPr>
        <p:spPr>
          <a:xfrm>
            <a:off x="7498080" y="5257800"/>
            <a:ext cx="3977640" cy="822960"/>
          </a:xfrm>
          <a:prstGeom prst="rect">
            <a:avLst/>
          </a:prstGeom>
          <a:noFill/>
          <a:ln/>
        </p:spPr>
        <p:txBody>
          <a:bodyPr wrap="square" lIns="0" tIns="0" rIns="0" bIns="0" rtlCol="0" anchor="ctr"/>
          <a:lstStyle/>
          <a:p>
            <a:pPr indent="0" marL="0">
              <a:buNone/>
            </a:pPr>
            <a:r>
              <a:rPr lang="en-US" sz="1400" dirty="0">
                <a:solidFill>
                  <a:schemeClr val="tx1"/>
                </a:solidFill>
              </a:rPr>
              <a:t>Add your own vocabulary through @context; new terms become filters with no spec change.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The identifier names the resource; the URL only says where it lives</a:t>
            </a:r>
            <a:endParaRPr lang="en-US" sz="3200" dirty="0"/>
          </a:p>
        </p:txBody>
      </p:sp>
      <p:sp>
        <p:nvSpPr>
          <p:cNvPr id="4" name="URN segment 1"/>
          <p:cNvSpPr/>
          <p:nvPr/>
        </p:nvSpPr>
        <p:spPr>
          <a:xfrm>
            <a:off x="548640" y="2057400"/>
            <a:ext cx="1554480" cy="731520"/>
          </a:xfrm>
          <a:prstGeom prst="roundRect">
            <a:avLst>
              <a:gd name="adj" fmla="val 12500"/>
            </a:avLst>
          </a:prstGeom>
          <a:solidFill>
            <a:schemeClr val="tx2"/>
          </a:solidFill>
          <a:ln/>
        </p:spPr>
      </p:sp>
      <p:sp>
        <p:nvSpPr>
          <p:cNvPr id="5" name="Text 3"/>
          <p:cNvSpPr txBox="1"/>
          <p:nvPr/>
        </p:nvSpPr>
        <p:spPr>
          <a:xfrm>
            <a:off x="548640" y="2057400"/>
            <a:ext cx="155448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onsolas" pitchFamily="34" charset="0"/>
                <a:ea typeface="Consolas" pitchFamily="34" charset="-122"/>
                <a:cs typeface="Consolas" pitchFamily="34" charset="-120"/>
              </a:rPr>
              <a:t>urn:air</a:t>
            </a:r>
            <a:endParaRPr lang="en-US" sz="2400" dirty="0"/>
          </a:p>
        </p:txBody>
      </p:sp>
      <p:sp>
        <p:nvSpPr>
          <p:cNvPr id="6" name="Text 4"/>
          <p:cNvSpPr txBox="1"/>
          <p:nvPr/>
        </p:nvSpPr>
        <p:spPr>
          <a:xfrm>
            <a:off x="594360" y="2880360"/>
            <a:ext cx="1463040" cy="594360"/>
          </a:xfrm>
          <a:prstGeom prst="rect">
            <a:avLst/>
          </a:prstGeom>
          <a:noFill/>
          <a:ln/>
        </p:spPr>
        <p:txBody>
          <a:bodyPr wrap="square" lIns="0" tIns="0" rIns="0" bIns="0" rtlCol="0" anchor="t"/>
          <a:lstStyle/>
          <a:p>
            <a:pPr indent="0" marL="0">
              <a:buNone/>
            </a:pPr>
            <a:r>
              <a:rPr lang="en-US" sz="1300" dirty="0">
                <a:solidFill>
                  <a:schemeClr val="accent6"/>
                </a:solidFill>
              </a:rPr>
              <a:t>The ARD URN scheme</a:t>
            </a:r>
            <a:endParaRPr lang="en-US" sz="1300" dirty="0"/>
          </a:p>
        </p:txBody>
      </p:sp>
      <p:sp>
        <p:nvSpPr>
          <p:cNvPr id="7" name="Text 5"/>
          <p:cNvSpPr txBox="1"/>
          <p:nvPr/>
        </p:nvSpPr>
        <p:spPr>
          <a:xfrm>
            <a:off x="2103120" y="2057400"/>
            <a:ext cx="2743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onsolas" pitchFamily="34" charset="0"/>
                <a:ea typeface="Consolas" pitchFamily="34" charset="-122"/>
                <a:cs typeface="Consolas" pitchFamily="34" charset="-120"/>
              </a:rPr>
              <a:t>:</a:t>
            </a:r>
            <a:endParaRPr lang="en-US" sz="2600" dirty="0"/>
          </a:p>
        </p:txBody>
      </p:sp>
      <p:sp>
        <p:nvSpPr>
          <p:cNvPr id="8" name="URN segment 2"/>
          <p:cNvSpPr/>
          <p:nvPr/>
        </p:nvSpPr>
        <p:spPr>
          <a:xfrm>
            <a:off x="2377440" y="2057400"/>
            <a:ext cx="2194560" cy="731520"/>
          </a:xfrm>
          <a:prstGeom prst="roundRect">
            <a:avLst>
              <a:gd name="adj" fmla="val 12500"/>
            </a:avLst>
          </a:prstGeom>
          <a:solidFill>
            <a:schemeClr val="accent1"/>
          </a:solidFill>
          <a:ln/>
        </p:spPr>
      </p:sp>
      <p:sp>
        <p:nvSpPr>
          <p:cNvPr id="9" name="Text 7"/>
          <p:cNvSpPr txBox="1"/>
          <p:nvPr/>
        </p:nvSpPr>
        <p:spPr>
          <a:xfrm>
            <a:off x="2377440" y="2057400"/>
            <a:ext cx="219456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onsolas" pitchFamily="34" charset="0"/>
                <a:ea typeface="Consolas" pitchFamily="34" charset="-122"/>
                <a:cs typeface="Consolas" pitchFamily="34" charset="-120"/>
              </a:rPr>
              <a:t>acme.com</a:t>
            </a:r>
            <a:endParaRPr lang="en-US" sz="2400" dirty="0"/>
          </a:p>
        </p:txBody>
      </p:sp>
      <p:sp>
        <p:nvSpPr>
          <p:cNvPr id="10" name="Text 8"/>
          <p:cNvSpPr txBox="1"/>
          <p:nvPr/>
        </p:nvSpPr>
        <p:spPr>
          <a:xfrm>
            <a:off x="2423160" y="2880360"/>
            <a:ext cx="2103120" cy="594360"/>
          </a:xfrm>
          <a:prstGeom prst="rect">
            <a:avLst/>
          </a:prstGeom>
          <a:noFill/>
          <a:ln/>
        </p:spPr>
        <p:txBody>
          <a:bodyPr wrap="square" lIns="0" tIns="0" rIns="0" bIns="0" rtlCol="0" anchor="t"/>
          <a:lstStyle/>
          <a:p>
            <a:pPr indent="0" marL="0">
              <a:buNone/>
            </a:pPr>
            <a:r>
              <a:rPr lang="en-US" sz="1300" dirty="0">
                <a:solidFill>
                  <a:schemeClr val="accent6"/>
                </a:solidFill>
              </a:rPr>
              <a:t>Publisher: a real domain, the authority anchor</a:t>
            </a:r>
            <a:endParaRPr lang="en-US" sz="1300" dirty="0"/>
          </a:p>
        </p:txBody>
      </p:sp>
      <p:sp>
        <p:nvSpPr>
          <p:cNvPr id="11" name="Text 9"/>
          <p:cNvSpPr txBox="1"/>
          <p:nvPr/>
        </p:nvSpPr>
        <p:spPr>
          <a:xfrm>
            <a:off x="4572000" y="2057400"/>
            <a:ext cx="2743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onsolas" pitchFamily="34" charset="0"/>
                <a:ea typeface="Consolas" pitchFamily="34" charset="-122"/>
                <a:cs typeface="Consolas" pitchFamily="34" charset="-120"/>
              </a:rPr>
              <a:t>:</a:t>
            </a:r>
            <a:endParaRPr lang="en-US" sz="2600" dirty="0"/>
          </a:p>
        </p:txBody>
      </p:sp>
      <p:sp>
        <p:nvSpPr>
          <p:cNvPr id="12" name="URN segment 3"/>
          <p:cNvSpPr/>
          <p:nvPr/>
        </p:nvSpPr>
        <p:spPr>
          <a:xfrm>
            <a:off x="4846320" y="2057400"/>
            <a:ext cx="1737360" cy="731520"/>
          </a:xfrm>
          <a:prstGeom prst="roundRect">
            <a:avLst>
              <a:gd name="adj" fmla="val 12500"/>
            </a:avLst>
          </a:prstGeom>
          <a:solidFill>
            <a:schemeClr val="accent3"/>
          </a:solidFill>
          <a:ln/>
        </p:spPr>
      </p:sp>
      <p:sp>
        <p:nvSpPr>
          <p:cNvPr id="13" name="Text 11"/>
          <p:cNvSpPr txBox="1"/>
          <p:nvPr/>
        </p:nvSpPr>
        <p:spPr>
          <a:xfrm>
            <a:off x="4846320" y="2057400"/>
            <a:ext cx="173736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onsolas" pitchFamily="34" charset="0"/>
                <a:ea typeface="Consolas" pitchFamily="34" charset="-122"/>
                <a:cs typeface="Consolas" pitchFamily="34" charset="-120"/>
              </a:rPr>
              <a:t>server</a:t>
            </a:r>
            <a:endParaRPr lang="en-US" sz="2400" dirty="0"/>
          </a:p>
        </p:txBody>
      </p:sp>
      <p:sp>
        <p:nvSpPr>
          <p:cNvPr id="14" name="Text 12"/>
          <p:cNvSpPr txBox="1"/>
          <p:nvPr/>
        </p:nvSpPr>
        <p:spPr>
          <a:xfrm>
            <a:off x="4892040" y="2880360"/>
            <a:ext cx="1645920" cy="594360"/>
          </a:xfrm>
          <a:prstGeom prst="rect">
            <a:avLst/>
          </a:prstGeom>
          <a:noFill/>
          <a:ln/>
        </p:spPr>
        <p:txBody>
          <a:bodyPr wrap="square" lIns="0" tIns="0" rIns="0" bIns="0" rtlCol="0" anchor="t"/>
          <a:lstStyle/>
          <a:p>
            <a:pPr indent="0" marL="0">
              <a:buNone/>
            </a:pPr>
            <a:r>
              <a:rPr lang="en-US" sz="1300" dirty="0">
                <a:solidFill>
                  <a:schemeClr val="accent6"/>
                </a:solidFill>
              </a:rPr>
              <a:t>Optional namespace</a:t>
            </a:r>
            <a:endParaRPr lang="en-US" sz="1300" dirty="0"/>
          </a:p>
        </p:txBody>
      </p:sp>
      <p:sp>
        <p:nvSpPr>
          <p:cNvPr id="15" name="Text 13"/>
          <p:cNvSpPr txBox="1"/>
          <p:nvPr/>
        </p:nvSpPr>
        <p:spPr>
          <a:xfrm>
            <a:off x="6583680" y="2057400"/>
            <a:ext cx="274320" cy="731520"/>
          </a:xfrm>
          <a:prstGeom prst="rect">
            <a:avLst/>
          </a:prstGeom>
          <a:noFill/>
          <a:ln/>
        </p:spPr>
        <p:txBody>
          <a:bodyPr wrap="square" lIns="0" tIns="0" rIns="0" bIns="0" rtlCol="0" anchor="ctr"/>
          <a:lstStyle/>
          <a:p>
            <a:pPr algn="ctr" indent="0" marL="0">
              <a:buNone/>
            </a:pPr>
            <a:r>
              <a:rPr lang="en-US" sz="2600" b="1" dirty="0">
                <a:solidFill>
                  <a:schemeClr val="tx1"/>
                </a:solidFill>
                <a:latin typeface="Consolas" pitchFamily="34" charset="0"/>
                <a:ea typeface="Consolas" pitchFamily="34" charset="-122"/>
                <a:cs typeface="Consolas" pitchFamily="34" charset="-120"/>
              </a:rPr>
              <a:t>:</a:t>
            </a:r>
            <a:endParaRPr lang="en-US" sz="2600" dirty="0"/>
          </a:p>
        </p:txBody>
      </p:sp>
      <p:sp>
        <p:nvSpPr>
          <p:cNvPr id="16" name="URN segment 4"/>
          <p:cNvSpPr/>
          <p:nvPr/>
        </p:nvSpPr>
        <p:spPr>
          <a:xfrm>
            <a:off x="6858000" y="2057400"/>
            <a:ext cx="1920240" cy="731520"/>
          </a:xfrm>
          <a:prstGeom prst="roundRect">
            <a:avLst>
              <a:gd name="adj" fmla="val 12500"/>
            </a:avLst>
          </a:prstGeom>
          <a:solidFill>
            <a:schemeClr val="bg2"/>
          </a:solidFill>
          <a:ln/>
        </p:spPr>
      </p:sp>
      <p:sp>
        <p:nvSpPr>
          <p:cNvPr id="17" name="Text 15"/>
          <p:cNvSpPr txBox="1"/>
          <p:nvPr/>
        </p:nvSpPr>
        <p:spPr>
          <a:xfrm>
            <a:off x="6858000" y="2057400"/>
            <a:ext cx="192024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Consolas" pitchFamily="34" charset="0"/>
                <a:ea typeface="Consolas" pitchFamily="34" charset="-122"/>
                <a:cs typeface="Consolas" pitchFamily="34" charset="-120"/>
              </a:rPr>
              <a:t>weather</a:t>
            </a:r>
            <a:endParaRPr lang="en-US" sz="2400" dirty="0"/>
          </a:p>
        </p:txBody>
      </p:sp>
      <p:sp>
        <p:nvSpPr>
          <p:cNvPr id="18" name="Text 16"/>
          <p:cNvSpPr txBox="1"/>
          <p:nvPr/>
        </p:nvSpPr>
        <p:spPr>
          <a:xfrm>
            <a:off x="6903720" y="2880360"/>
            <a:ext cx="1828800" cy="594360"/>
          </a:xfrm>
          <a:prstGeom prst="rect">
            <a:avLst/>
          </a:prstGeom>
          <a:noFill/>
          <a:ln/>
        </p:spPr>
        <p:txBody>
          <a:bodyPr wrap="square" lIns="0" tIns="0" rIns="0" bIns="0" rtlCol="0" anchor="t"/>
          <a:lstStyle/>
          <a:p>
            <a:pPr indent="0" marL="0">
              <a:buNone/>
            </a:pPr>
            <a:r>
              <a:rPr lang="en-US" sz="1300" dirty="0">
                <a:solidFill>
                  <a:schemeClr val="accent6"/>
                </a:solidFill>
              </a:rPr>
              <a:t>Resource name</a:t>
            </a:r>
            <a:endParaRPr lang="en-US" sz="1300" dirty="0"/>
          </a:p>
        </p:txBody>
      </p:sp>
      <p:sp>
        <p:nvSpPr>
          <p:cNvPr id="19" name="Text 17"/>
          <p:cNvSpPr txBox="1"/>
          <p:nvPr/>
        </p:nvSpPr>
        <p:spPr>
          <a:xfrm>
            <a:off x="548640" y="3383280"/>
            <a:ext cx="11091672" cy="365760"/>
          </a:xfrm>
          <a:prstGeom prst="rect">
            <a:avLst/>
          </a:prstGeom>
          <a:noFill/>
          <a:ln/>
        </p:spPr>
        <p:txBody>
          <a:bodyPr wrap="square" lIns="0" tIns="0" rIns="0" bIns="0" rtlCol="0" anchor="t"/>
          <a:lstStyle/>
          <a:p>
            <a:pPr indent="0" marL="0">
              <a:buNone/>
            </a:pPr>
            <a:r>
              <a:rPr lang="en-US" sz="1500" dirty="0">
                <a:solidFill>
                  <a:schemeClr val="accent6"/>
                </a:solidFill>
              </a:rPr>
              <a:t>A solo developer’s skill:   </a:t>
            </a:r>
            <a:pPr indent="0" marL="0">
              <a:buNone/>
            </a:pPr>
            <a:r>
              <a:rPr lang="en-US" sz="1500" b="1" dirty="0">
                <a:solidFill>
                  <a:schemeClr val="tx1"/>
                </a:solidFill>
                <a:latin typeface="Consolas" pitchFamily="34" charset="0"/>
                <a:ea typeface="Consolas" pitchFamily="34" charset="-122"/>
                <a:cs typeface="Consolas" pitchFamily="34" charset="-120"/>
              </a:rPr>
              <a:t>urn:air:github.com:alice-dev:pptx-creator</a:t>
            </a:r>
            <a:endParaRPr lang="en-US" sz="1500" dirty="0"/>
          </a:p>
        </p:txBody>
      </p:sp>
      <p:sp>
        <p:nvSpPr>
          <p:cNvPr id="20" name="Stable card"/>
          <p:cNvSpPr/>
          <p:nvPr/>
        </p:nvSpPr>
        <p:spPr>
          <a:xfrm>
            <a:off x="548640" y="3977640"/>
            <a:ext cx="3575304" cy="2103120"/>
          </a:xfrm>
          <a:prstGeom prst="roundRect">
            <a:avLst>
              <a:gd name="adj" fmla="val 6087"/>
            </a:avLst>
          </a:prstGeom>
          <a:solidFill>
            <a:schemeClr val="bg2"/>
          </a:solidFill>
          <a:ln/>
        </p:spPr>
      </p:sp>
      <p:sp>
        <p:nvSpPr>
          <p:cNvPr id="21" name="Stable circle"/>
          <p:cNvSpPr/>
          <p:nvPr/>
        </p:nvSpPr>
        <p:spPr>
          <a:xfrm>
            <a:off x="822960" y="4160520"/>
            <a:ext cx="594360" cy="594360"/>
          </a:xfrm>
          <a:prstGeom prst="ellipse">
            <a:avLst/>
          </a:prstGeom>
          <a:solidFill>
            <a:schemeClr val="accent5"/>
          </a:solidFill>
          <a:ln/>
        </p:spPr>
      </p:sp>
      <p:pic>
        <p:nvPicPr>
          <p:cNvPr id="22" name="Stable icon" descr="preencoded.png">    </p:cNvPr>
          <p:cNvPicPr>
            <a:picLocks noChangeAspect="1"/>
          </p:cNvPicPr>
          <p:nvPr/>
        </p:nvPicPr>
        <p:blipFill>
          <a:blip r:embed="rId1"/>
          <a:stretch>
            <a:fillRect/>
          </a:stretch>
        </p:blipFill>
        <p:spPr>
          <a:xfrm>
            <a:off x="971550" y="4309110"/>
            <a:ext cx="297180" cy="297180"/>
          </a:xfrm>
          <a:prstGeom prst="rect">
            <a:avLst/>
          </a:prstGeom>
        </p:spPr>
      </p:pic>
      <p:sp>
        <p:nvSpPr>
          <p:cNvPr id="23" name="Text 20"/>
          <p:cNvSpPr txBox="1"/>
          <p:nvPr/>
        </p:nvSpPr>
        <p:spPr>
          <a:xfrm>
            <a:off x="1554480" y="4251960"/>
            <a:ext cx="2377440" cy="411480"/>
          </a:xfrm>
          <a:prstGeom prst="rect">
            <a:avLst/>
          </a:prstGeom>
          <a:noFill/>
          <a:ln/>
        </p:spPr>
        <p:txBody>
          <a:bodyPr wrap="square" lIns="0" tIns="0" rIns="0" bIns="0" rtlCol="0" anchor="ctr"/>
          <a:lstStyle/>
          <a:p>
            <a:pPr indent="0" marL="0">
              <a:buNone/>
            </a:pPr>
            <a:r>
              <a:rPr lang="en-US" sz="1900" b="1" dirty="0">
                <a:solidFill>
                  <a:schemeClr val="tx1"/>
                </a:solidFill>
              </a:rPr>
              <a:t>Stable</a:t>
            </a:r>
            <a:endParaRPr lang="en-US" sz="1900" dirty="0"/>
          </a:p>
        </p:txBody>
      </p:sp>
      <p:sp>
        <p:nvSpPr>
          <p:cNvPr id="24" name="Text 21"/>
          <p:cNvSpPr txBox="1"/>
          <p:nvPr/>
        </p:nvSpPr>
        <p:spPr>
          <a:xfrm>
            <a:off x="822960" y="4892040"/>
            <a:ext cx="3063240" cy="1097280"/>
          </a:xfrm>
          <a:prstGeom prst="rect">
            <a:avLst/>
          </a:prstGeom>
          <a:noFill/>
          <a:ln/>
        </p:spPr>
        <p:txBody>
          <a:bodyPr wrap="square" lIns="0" tIns="0" rIns="0" bIns="0" rtlCol="0" anchor="t"/>
          <a:lstStyle/>
          <a:p>
            <a:pPr indent="0" marL="0">
              <a:buNone/>
            </a:pPr>
            <a:r>
              <a:rPr lang="en-US" sz="1500" dirty="0">
                <a:solidFill>
                  <a:schemeClr val="tx1"/>
                </a:solidFill>
              </a:rPr>
              <a:t>Hosting can move; the name doesn’t. Location lives in url.</a:t>
            </a:r>
            <a:endParaRPr lang="en-US" sz="1500" dirty="0"/>
          </a:p>
        </p:txBody>
      </p:sp>
      <p:sp>
        <p:nvSpPr>
          <p:cNvPr id="25" name="Verifiable card"/>
          <p:cNvSpPr/>
          <p:nvPr/>
        </p:nvSpPr>
        <p:spPr>
          <a:xfrm>
            <a:off x="4306824" y="3977640"/>
            <a:ext cx="3575304" cy="2103120"/>
          </a:xfrm>
          <a:prstGeom prst="roundRect">
            <a:avLst>
              <a:gd name="adj" fmla="val 6087"/>
            </a:avLst>
          </a:prstGeom>
          <a:solidFill>
            <a:schemeClr val="bg2"/>
          </a:solidFill>
          <a:ln/>
        </p:spPr>
      </p:sp>
      <p:sp>
        <p:nvSpPr>
          <p:cNvPr id="26" name="Verifiable circle"/>
          <p:cNvSpPr/>
          <p:nvPr/>
        </p:nvSpPr>
        <p:spPr>
          <a:xfrm>
            <a:off x="4581144" y="4160520"/>
            <a:ext cx="594360" cy="594360"/>
          </a:xfrm>
          <a:prstGeom prst="ellipse">
            <a:avLst/>
          </a:prstGeom>
          <a:solidFill>
            <a:schemeClr val="accent5"/>
          </a:solidFill>
          <a:ln/>
        </p:spPr>
      </p:sp>
      <p:pic>
        <p:nvPicPr>
          <p:cNvPr id="27" name="Verifiable icon" descr="preencoded.png">    </p:cNvPr>
          <p:cNvPicPr>
            <a:picLocks noChangeAspect="1"/>
          </p:cNvPicPr>
          <p:nvPr/>
        </p:nvPicPr>
        <p:blipFill>
          <a:blip r:embed="rId2"/>
          <a:stretch>
            <a:fillRect/>
          </a:stretch>
        </p:blipFill>
        <p:spPr>
          <a:xfrm>
            <a:off x="4729734" y="4309110"/>
            <a:ext cx="297180" cy="297180"/>
          </a:xfrm>
          <a:prstGeom prst="rect">
            <a:avLst/>
          </a:prstGeom>
        </p:spPr>
      </p:pic>
      <p:sp>
        <p:nvSpPr>
          <p:cNvPr id="28" name="Text 24"/>
          <p:cNvSpPr txBox="1"/>
          <p:nvPr/>
        </p:nvSpPr>
        <p:spPr>
          <a:xfrm>
            <a:off x="5312664" y="4251960"/>
            <a:ext cx="2377440" cy="411480"/>
          </a:xfrm>
          <a:prstGeom prst="rect">
            <a:avLst/>
          </a:prstGeom>
          <a:noFill/>
          <a:ln/>
        </p:spPr>
        <p:txBody>
          <a:bodyPr wrap="square" lIns="0" tIns="0" rIns="0" bIns="0" rtlCol="0" anchor="ctr"/>
          <a:lstStyle/>
          <a:p>
            <a:pPr indent="0" marL="0">
              <a:buNone/>
            </a:pPr>
            <a:r>
              <a:rPr lang="en-US" sz="1900" b="1" dirty="0">
                <a:solidFill>
                  <a:schemeClr val="tx1"/>
                </a:solidFill>
              </a:rPr>
              <a:t>Verifiable</a:t>
            </a:r>
            <a:endParaRPr lang="en-US" sz="1900" dirty="0"/>
          </a:p>
        </p:txBody>
      </p:sp>
      <p:sp>
        <p:nvSpPr>
          <p:cNvPr id="29" name="Text 25"/>
          <p:cNvSpPr txBox="1"/>
          <p:nvPr/>
        </p:nvSpPr>
        <p:spPr>
          <a:xfrm>
            <a:off x="4581144" y="4892040"/>
            <a:ext cx="3063240" cy="1097280"/>
          </a:xfrm>
          <a:prstGeom prst="rect">
            <a:avLst/>
          </a:prstGeom>
          <a:noFill/>
          <a:ln/>
        </p:spPr>
        <p:txBody>
          <a:bodyPr wrap="square" lIns="0" tIns="0" rIns="0" bIns="0" rtlCol="0" anchor="t"/>
          <a:lstStyle/>
          <a:p>
            <a:pPr indent="0" marL="0">
              <a:buNone/>
            </a:pPr>
            <a:r>
              <a:rPr lang="en-US" sz="1500" dirty="0">
                <a:solidFill>
                  <a:schemeClr val="tx1"/>
                </a:solidFill>
              </a:rPr>
              <a:t>The publisher domain must match trustManifest.identity, so nobody can squat urn:air:google.com.</a:t>
            </a:r>
            <a:endParaRPr lang="en-US" sz="1500" dirty="0"/>
          </a:p>
        </p:txBody>
      </p:sp>
      <p:sp>
        <p:nvSpPr>
          <p:cNvPr id="30" name="Globally unique card"/>
          <p:cNvSpPr/>
          <p:nvPr/>
        </p:nvSpPr>
        <p:spPr>
          <a:xfrm>
            <a:off x="8065008" y="3977640"/>
            <a:ext cx="3575304" cy="2103120"/>
          </a:xfrm>
          <a:prstGeom prst="roundRect">
            <a:avLst>
              <a:gd name="adj" fmla="val 6087"/>
            </a:avLst>
          </a:prstGeom>
          <a:solidFill>
            <a:schemeClr val="bg2"/>
          </a:solidFill>
          <a:ln/>
        </p:spPr>
      </p:sp>
      <p:sp>
        <p:nvSpPr>
          <p:cNvPr id="31" name="Globally unique circle"/>
          <p:cNvSpPr/>
          <p:nvPr/>
        </p:nvSpPr>
        <p:spPr>
          <a:xfrm>
            <a:off x="8339328" y="4160520"/>
            <a:ext cx="594360" cy="594360"/>
          </a:xfrm>
          <a:prstGeom prst="ellipse">
            <a:avLst/>
          </a:prstGeom>
          <a:solidFill>
            <a:schemeClr val="accent5"/>
          </a:solidFill>
          <a:ln/>
        </p:spPr>
      </p:sp>
      <p:pic>
        <p:nvPicPr>
          <p:cNvPr id="32" name="Globally unique icon" descr="preencoded.png">    </p:cNvPr>
          <p:cNvPicPr>
            <a:picLocks noChangeAspect="1"/>
          </p:cNvPicPr>
          <p:nvPr/>
        </p:nvPicPr>
        <p:blipFill>
          <a:blip r:embed="rId3"/>
          <a:stretch>
            <a:fillRect/>
          </a:stretch>
        </p:blipFill>
        <p:spPr>
          <a:xfrm>
            <a:off x="8487918" y="4309110"/>
            <a:ext cx="297180" cy="297180"/>
          </a:xfrm>
          <a:prstGeom prst="rect">
            <a:avLst/>
          </a:prstGeom>
        </p:spPr>
      </p:pic>
      <p:sp>
        <p:nvSpPr>
          <p:cNvPr id="33" name="Text 28"/>
          <p:cNvSpPr txBox="1"/>
          <p:nvPr/>
        </p:nvSpPr>
        <p:spPr>
          <a:xfrm>
            <a:off x="9070848" y="4251960"/>
            <a:ext cx="2377440" cy="411480"/>
          </a:xfrm>
          <a:prstGeom prst="rect">
            <a:avLst/>
          </a:prstGeom>
          <a:noFill/>
          <a:ln/>
        </p:spPr>
        <p:txBody>
          <a:bodyPr wrap="square" lIns="0" tIns="0" rIns="0" bIns="0" rtlCol="0" anchor="ctr"/>
          <a:lstStyle/>
          <a:p>
            <a:pPr indent="0" marL="0">
              <a:buNone/>
            </a:pPr>
            <a:r>
              <a:rPr lang="en-US" sz="1900" b="1" dirty="0">
                <a:solidFill>
                  <a:schemeClr val="tx1"/>
                </a:solidFill>
              </a:rPr>
              <a:t>Globally unique</a:t>
            </a:r>
            <a:endParaRPr lang="en-US" sz="1900" dirty="0"/>
          </a:p>
        </p:txBody>
      </p:sp>
      <p:sp>
        <p:nvSpPr>
          <p:cNvPr id="34" name="Text 29"/>
          <p:cNvSpPr txBox="1"/>
          <p:nvPr/>
        </p:nvSpPr>
        <p:spPr>
          <a:xfrm>
            <a:off x="8339328" y="4892040"/>
            <a:ext cx="3063240" cy="1097280"/>
          </a:xfrm>
          <a:prstGeom prst="rect">
            <a:avLst/>
          </a:prstGeom>
          <a:noFill/>
          <a:ln/>
        </p:spPr>
        <p:txBody>
          <a:bodyPr wrap="square" lIns="0" tIns="0" rIns="0" bIns="0" rtlCol="0" anchor="t"/>
          <a:lstStyle/>
          <a:p>
            <a:pPr indent="0" marL="0">
              <a:buNone/>
            </a:pPr>
            <a:r>
              <a:rPr lang="en-US" sz="1500" dirty="0">
                <a:solidFill>
                  <a:schemeClr val="tx1"/>
                </a:solidFill>
              </a:rPr>
              <a:t>DNS already makes domains unique. Catalogues merge without collisions or a naming committee.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Registries crawl entries and all answer the same REST search API</a:t>
            </a:r>
            <a:endParaRPr lang="en-US" sz="3200" dirty="0"/>
          </a:p>
        </p:txBody>
      </p:sp>
      <p:sp>
        <p:nvSpPr>
          <p:cNvPr id="4" name="Publishers box"/>
          <p:cNvSpPr/>
          <p:nvPr/>
        </p:nvSpPr>
        <p:spPr>
          <a:xfrm>
            <a:off x="548640" y="1965960"/>
            <a:ext cx="2514600" cy="1051560"/>
          </a:xfrm>
          <a:prstGeom prst="roundRect">
            <a:avLst>
              <a:gd name="adj" fmla="val 12174"/>
            </a:avLst>
          </a:prstGeom>
          <a:solidFill>
            <a:schemeClr val="bg2"/>
          </a:solidFill>
          <a:ln/>
        </p:spPr>
      </p:sp>
      <p:sp>
        <p:nvSpPr>
          <p:cNvPr id="5" name="Text 3"/>
          <p:cNvSpPr txBox="1"/>
          <p:nvPr/>
        </p:nvSpPr>
        <p:spPr>
          <a:xfrm>
            <a:off x="731520"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Publishers</a:t>
            </a:r>
            <a:endParaRPr lang="en-US" sz="1700" dirty="0"/>
          </a:p>
        </p:txBody>
      </p:sp>
      <p:sp>
        <p:nvSpPr>
          <p:cNvPr id="6" name="Text 4"/>
          <p:cNvSpPr txBox="1"/>
          <p:nvPr/>
        </p:nvSpPr>
        <p:spPr>
          <a:xfrm>
            <a:off x="731520" y="242316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ard.json, markup, DNS</a:t>
            </a:r>
            <a:endParaRPr lang="en-US" sz="1300" dirty="0"/>
          </a:p>
        </p:txBody>
      </p:sp>
      <p:sp>
        <p:nvSpPr>
          <p:cNvPr id="7" name="Flow arrow 1"/>
          <p:cNvSpPr/>
          <p:nvPr/>
        </p:nvSpPr>
        <p:spPr>
          <a:xfrm>
            <a:off x="3108960" y="2487168"/>
            <a:ext cx="256032" cy="0"/>
          </a:xfrm>
          <a:prstGeom prst="line">
            <a:avLst/>
          </a:prstGeom>
          <a:noFill/>
          <a:ln w="22225">
            <a:solidFill>
              <a:srgbClr val="474552"/>
            </a:solidFill>
            <a:prstDash val="solid"/>
            <a:tailEnd type="triangle"/>
          </a:ln>
        </p:spPr>
      </p:sp>
      <p:sp>
        <p:nvSpPr>
          <p:cNvPr id="8" name="Ingestion box"/>
          <p:cNvSpPr/>
          <p:nvPr/>
        </p:nvSpPr>
        <p:spPr>
          <a:xfrm>
            <a:off x="3410712" y="1965960"/>
            <a:ext cx="2514600" cy="1051560"/>
          </a:xfrm>
          <a:prstGeom prst="roundRect">
            <a:avLst>
              <a:gd name="adj" fmla="val 12174"/>
            </a:avLst>
          </a:prstGeom>
          <a:solidFill>
            <a:schemeClr val="bg2"/>
          </a:solidFill>
          <a:ln/>
        </p:spPr>
      </p:sp>
      <p:sp>
        <p:nvSpPr>
          <p:cNvPr id="9" name="Text 7"/>
          <p:cNvSpPr txBox="1"/>
          <p:nvPr/>
        </p:nvSpPr>
        <p:spPr>
          <a:xfrm>
            <a:off x="3593592"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Ingestion</a:t>
            </a:r>
            <a:endParaRPr lang="en-US" sz="1700" dirty="0"/>
          </a:p>
        </p:txBody>
      </p:sp>
      <p:sp>
        <p:nvSpPr>
          <p:cNvPr id="10" name="Text 8"/>
          <p:cNvSpPr txBox="1"/>
          <p:nvPr/>
        </p:nvSpPr>
        <p:spPr>
          <a:xfrm>
            <a:off x="3593592" y="242316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Web crawl required; git, npm, OCI optional</a:t>
            </a:r>
            <a:endParaRPr lang="en-US" sz="1300" dirty="0"/>
          </a:p>
        </p:txBody>
      </p:sp>
      <p:sp>
        <p:nvSpPr>
          <p:cNvPr id="11" name="Flow arrow 2"/>
          <p:cNvSpPr/>
          <p:nvPr/>
        </p:nvSpPr>
        <p:spPr>
          <a:xfrm>
            <a:off x="5971032" y="2487168"/>
            <a:ext cx="256032" cy="0"/>
          </a:xfrm>
          <a:prstGeom prst="line">
            <a:avLst/>
          </a:prstGeom>
          <a:noFill/>
          <a:ln w="22225">
            <a:solidFill>
              <a:srgbClr val="474552"/>
            </a:solidFill>
            <a:prstDash val="solid"/>
            <a:tailEnd type="triangle"/>
          </a:ln>
        </p:spPr>
      </p:sp>
      <p:sp>
        <p:nvSpPr>
          <p:cNvPr id="12" name="Registry index box"/>
          <p:cNvSpPr/>
          <p:nvPr/>
        </p:nvSpPr>
        <p:spPr>
          <a:xfrm>
            <a:off x="6272784" y="1965960"/>
            <a:ext cx="2514600" cy="1051560"/>
          </a:xfrm>
          <a:prstGeom prst="roundRect">
            <a:avLst>
              <a:gd name="adj" fmla="val 12174"/>
            </a:avLst>
          </a:prstGeom>
          <a:solidFill>
            <a:schemeClr val="accent1"/>
          </a:solidFill>
          <a:ln/>
        </p:spPr>
      </p:sp>
      <p:sp>
        <p:nvSpPr>
          <p:cNvPr id="13" name="Text 11"/>
          <p:cNvSpPr txBox="1"/>
          <p:nvPr/>
        </p:nvSpPr>
        <p:spPr>
          <a:xfrm>
            <a:off x="6455664"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Registry index</a:t>
            </a:r>
            <a:endParaRPr lang="en-US" sz="1700" dirty="0"/>
          </a:p>
        </p:txBody>
      </p:sp>
      <p:sp>
        <p:nvSpPr>
          <p:cNvPr id="14" name="Text 12"/>
          <p:cNvSpPr txBox="1"/>
          <p:nvPr/>
        </p:nvSpPr>
        <p:spPr>
          <a:xfrm>
            <a:off x="6455664" y="2423160"/>
            <a:ext cx="2240280" cy="548640"/>
          </a:xfrm>
          <a:prstGeom prst="rect">
            <a:avLst/>
          </a:prstGeom>
          <a:noFill/>
          <a:ln/>
        </p:spPr>
        <p:txBody>
          <a:bodyPr wrap="square" lIns="0" tIns="0" rIns="0" bIns="0" rtlCol="0" anchor="t"/>
          <a:lstStyle/>
          <a:p>
            <a:pPr indent="0" marL="0">
              <a:buNone/>
            </a:pPr>
            <a:r>
              <a:rPr lang="en-US" sz="1300" dirty="0">
                <a:solidFill>
                  <a:schemeClr val="tx1"/>
                </a:solidFill>
              </a:rPr>
              <a:t>Entries plus richer signals</a:t>
            </a:r>
            <a:endParaRPr lang="en-US" sz="1300" dirty="0"/>
          </a:p>
        </p:txBody>
      </p:sp>
      <p:sp>
        <p:nvSpPr>
          <p:cNvPr id="15" name="Flow arrow 3"/>
          <p:cNvSpPr/>
          <p:nvPr/>
        </p:nvSpPr>
        <p:spPr>
          <a:xfrm>
            <a:off x="8833104" y="2487168"/>
            <a:ext cx="256032" cy="0"/>
          </a:xfrm>
          <a:prstGeom prst="line">
            <a:avLst/>
          </a:prstGeom>
          <a:noFill/>
          <a:ln w="22225">
            <a:solidFill>
              <a:srgbClr val="474552"/>
            </a:solidFill>
            <a:prstDash val="solid"/>
            <a:tailEnd type="triangle"/>
          </a:ln>
        </p:spPr>
      </p:sp>
      <p:sp>
        <p:nvSpPr>
          <p:cNvPr id="16" name="Clients box"/>
          <p:cNvSpPr/>
          <p:nvPr/>
        </p:nvSpPr>
        <p:spPr>
          <a:xfrm>
            <a:off x="9134856" y="1965960"/>
            <a:ext cx="2514600" cy="1051560"/>
          </a:xfrm>
          <a:prstGeom prst="roundRect">
            <a:avLst>
              <a:gd name="adj" fmla="val 12174"/>
            </a:avLst>
          </a:prstGeom>
          <a:solidFill>
            <a:schemeClr val="bg2"/>
          </a:solidFill>
          <a:ln/>
        </p:spPr>
      </p:sp>
      <p:sp>
        <p:nvSpPr>
          <p:cNvPr id="17" name="Text 15"/>
          <p:cNvSpPr txBox="1"/>
          <p:nvPr/>
        </p:nvSpPr>
        <p:spPr>
          <a:xfrm>
            <a:off x="9317736" y="20574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Clients</a:t>
            </a:r>
            <a:endParaRPr lang="en-US" sz="1700" dirty="0"/>
          </a:p>
        </p:txBody>
      </p:sp>
      <p:sp>
        <p:nvSpPr>
          <p:cNvPr id="18" name="Text 16"/>
          <p:cNvSpPr txBox="1"/>
          <p:nvPr/>
        </p:nvSpPr>
        <p:spPr>
          <a:xfrm>
            <a:off x="9317736" y="2423160"/>
            <a:ext cx="2240280" cy="548640"/>
          </a:xfrm>
          <a:prstGeom prst="rect">
            <a:avLst/>
          </a:prstGeom>
          <a:noFill/>
          <a:ln/>
        </p:spPr>
        <p:txBody>
          <a:bodyPr wrap="square" lIns="0" tIns="0" rIns="0" bIns="0" rtlCol="0" anchor="t"/>
          <a:lstStyle/>
          <a:p>
            <a:pPr indent="0" marL="0">
              <a:buNone/>
            </a:pPr>
            <a:r>
              <a:rPr lang="en-US" sz="1300" dirty="0">
                <a:solidFill>
                  <a:schemeClr val="accent6"/>
                </a:solidFill>
              </a:rPr>
              <a:t>Agents, IDEs, orchestrators</a:t>
            </a:r>
            <a:endParaRPr lang="en-US" sz="1300" dirty="0"/>
          </a:p>
        </p:txBody>
      </p:sp>
      <p:sp>
        <p:nvSpPr>
          <p:cNvPr id="19" name="Text 17"/>
          <p:cNvSpPr txBox="1"/>
          <p:nvPr/>
        </p:nvSpPr>
        <p:spPr>
          <a:xfrm>
            <a:off x="548640" y="3337560"/>
            <a:ext cx="2651760" cy="54864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POST /search</a:t>
            </a:r>
            <a:endParaRPr lang="en-US" sz="1500" dirty="0"/>
          </a:p>
        </p:txBody>
      </p:sp>
      <p:sp>
        <p:nvSpPr>
          <p:cNvPr id="20" name="POST /search level"/>
          <p:cNvSpPr/>
          <p:nvPr/>
        </p:nvSpPr>
        <p:spPr>
          <a:xfrm>
            <a:off x="3246120" y="3447288"/>
            <a:ext cx="777240" cy="329184"/>
          </a:xfrm>
          <a:prstGeom prst="roundRect">
            <a:avLst>
              <a:gd name="adj" fmla="val 50000"/>
            </a:avLst>
          </a:prstGeom>
          <a:solidFill>
            <a:schemeClr val="accent2"/>
          </a:solidFill>
          <a:ln/>
        </p:spPr>
      </p:sp>
      <p:sp>
        <p:nvSpPr>
          <p:cNvPr id="21" name="Text 19"/>
          <p:cNvSpPr txBox="1"/>
          <p:nvPr/>
        </p:nvSpPr>
        <p:spPr>
          <a:xfrm>
            <a:off x="3246120" y="3447288"/>
            <a:ext cx="777240" cy="329184"/>
          </a:xfrm>
          <a:prstGeom prst="rect">
            <a:avLst/>
          </a:prstGeom>
          <a:noFill/>
          <a:ln/>
        </p:spPr>
        <p:txBody>
          <a:bodyPr wrap="square" lIns="0" tIns="0" rIns="0" bIns="0" rtlCol="0" anchor="ctr"/>
          <a:lstStyle/>
          <a:p>
            <a:pPr algn="ctr" indent="0" marL="0">
              <a:buNone/>
            </a:pPr>
            <a:r>
              <a:rPr lang="en-US" sz="1200" b="1" dirty="0">
                <a:solidFill>
                  <a:schemeClr val="bg1"/>
                </a:solidFill>
              </a:rPr>
              <a:t>MUST</a:t>
            </a:r>
            <a:endParaRPr lang="en-US" sz="1200" dirty="0"/>
          </a:p>
        </p:txBody>
      </p:sp>
      <p:sp>
        <p:nvSpPr>
          <p:cNvPr id="22" name="Text 20"/>
          <p:cNvSpPr txBox="1"/>
          <p:nvPr/>
        </p:nvSpPr>
        <p:spPr>
          <a:xfrm>
            <a:off x="4160520" y="3337560"/>
            <a:ext cx="2606040" cy="548640"/>
          </a:xfrm>
          <a:prstGeom prst="rect">
            <a:avLst/>
          </a:prstGeom>
          <a:noFill/>
          <a:ln/>
        </p:spPr>
        <p:txBody>
          <a:bodyPr wrap="square" lIns="0" tIns="0" rIns="0" bIns="0" rtlCol="0" anchor="ctr"/>
          <a:lstStyle/>
          <a:p>
            <a:pPr indent="0" marL="0">
              <a:buNone/>
            </a:pPr>
            <a:r>
              <a:rPr lang="en-US" sz="1400" dirty="0">
                <a:solidFill>
                  <a:schemeClr val="accent6"/>
                </a:solidFill>
              </a:rPr>
              <a:t>Ranked results with relevance scores</a:t>
            </a:r>
            <a:endParaRPr lang="en-US" sz="1400" dirty="0"/>
          </a:p>
        </p:txBody>
      </p:sp>
      <p:sp>
        <p:nvSpPr>
          <p:cNvPr id="23" name="Text 21"/>
          <p:cNvSpPr txBox="1"/>
          <p:nvPr/>
        </p:nvSpPr>
        <p:spPr>
          <a:xfrm>
            <a:off x="548640" y="4023360"/>
            <a:ext cx="2651760" cy="54864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POST /explore</a:t>
            </a:r>
            <a:endParaRPr lang="en-US" sz="1500" dirty="0"/>
          </a:p>
        </p:txBody>
      </p:sp>
      <p:sp>
        <p:nvSpPr>
          <p:cNvPr id="24" name="POST /explore level"/>
          <p:cNvSpPr/>
          <p:nvPr/>
        </p:nvSpPr>
        <p:spPr>
          <a:xfrm>
            <a:off x="3246120" y="4133088"/>
            <a:ext cx="777240" cy="329184"/>
          </a:xfrm>
          <a:prstGeom prst="roundRect">
            <a:avLst>
              <a:gd name="adj" fmla="val 50000"/>
            </a:avLst>
          </a:prstGeom>
          <a:solidFill>
            <a:schemeClr val="accent3"/>
          </a:solidFill>
          <a:ln/>
        </p:spPr>
      </p:sp>
      <p:sp>
        <p:nvSpPr>
          <p:cNvPr id="25" name="Text 23"/>
          <p:cNvSpPr txBox="1"/>
          <p:nvPr/>
        </p:nvSpPr>
        <p:spPr>
          <a:xfrm>
            <a:off x="3246120" y="4133088"/>
            <a:ext cx="777240" cy="329184"/>
          </a:xfrm>
          <a:prstGeom prst="rect">
            <a:avLst/>
          </a:prstGeom>
          <a:noFill/>
          <a:ln/>
        </p:spPr>
        <p:txBody>
          <a:bodyPr wrap="square" lIns="0" tIns="0" rIns="0" bIns="0" rtlCol="0" anchor="ctr"/>
          <a:lstStyle/>
          <a:p>
            <a:pPr algn="ctr" indent="0" marL="0">
              <a:buNone/>
            </a:pPr>
            <a:r>
              <a:rPr lang="en-US" sz="1200" b="1" dirty="0">
                <a:solidFill>
                  <a:schemeClr val="tx1"/>
                </a:solidFill>
              </a:rPr>
              <a:t>MAY</a:t>
            </a:r>
            <a:endParaRPr lang="en-US" sz="1200" dirty="0"/>
          </a:p>
        </p:txBody>
      </p:sp>
      <p:sp>
        <p:nvSpPr>
          <p:cNvPr id="26" name="Text 24"/>
          <p:cNvSpPr txBox="1"/>
          <p:nvPr/>
        </p:nvSpPr>
        <p:spPr>
          <a:xfrm>
            <a:off x="4160520" y="4023360"/>
            <a:ext cx="2606040" cy="548640"/>
          </a:xfrm>
          <a:prstGeom prst="rect">
            <a:avLst/>
          </a:prstGeom>
          <a:noFill/>
          <a:ln/>
        </p:spPr>
        <p:txBody>
          <a:bodyPr wrap="square" lIns="0" tIns="0" rIns="0" bIns="0" rtlCol="0" anchor="ctr"/>
          <a:lstStyle/>
          <a:p>
            <a:pPr indent="0" marL="0">
              <a:buNone/>
            </a:pPr>
            <a:r>
              <a:rPr lang="en-US" sz="1400" dirty="0">
                <a:solidFill>
                  <a:schemeClr val="accent6"/>
                </a:solidFill>
              </a:rPr>
              <a:t>Facet counts: which types, which publishers</a:t>
            </a:r>
            <a:endParaRPr lang="en-US" sz="1400" dirty="0"/>
          </a:p>
        </p:txBody>
      </p:sp>
      <p:sp>
        <p:nvSpPr>
          <p:cNvPr id="27" name="Text 25"/>
          <p:cNvSpPr txBox="1"/>
          <p:nvPr/>
        </p:nvSpPr>
        <p:spPr>
          <a:xfrm>
            <a:off x="548640" y="4709160"/>
            <a:ext cx="2651760" cy="54864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GET /agents</a:t>
            </a:r>
            <a:endParaRPr lang="en-US" sz="1500" dirty="0"/>
          </a:p>
        </p:txBody>
      </p:sp>
      <p:sp>
        <p:nvSpPr>
          <p:cNvPr id="28" name="GET /agents level"/>
          <p:cNvSpPr/>
          <p:nvPr/>
        </p:nvSpPr>
        <p:spPr>
          <a:xfrm>
            <a:off x="3246120" y="4818888"/>
            <a:ext cx="777240" cy="329184"/>
          </a:xfrm>
          <a:prstGeom prst="roundRect">
            <a:avLst>
              <a:gd name="adj" fmla="val 50000"/>
            </a:avLst>
          </a:prstGeom>
          <a:solidFill>
            <a:schemeClr val="accent3"/>
          </a:solidFill>
          <a:ln/>
        </p:spPr>
      </p:sp>
      <p:sp>
        <p:nvSpPr>
          <p:cNvPr id="29" name="Text 27"/>
          <p:cNvSpPr txBox="1"/>
          <p:nvPr/>
        </p:nvSpPr>
        <p:spPr>
          <a:xfrm>
            <a:off x="3246120" y="4818888"/>
            <a:ext cx="777240" cy="329184"/>
          </a:xfrm>
          <a:prstGeom prst="rect">
            <a:avLst/>
          </a:prstGeom>
          <a:noFill/>
          <a:ln/>
        </p:spPr>
        <p:txBody>
          <a:bodyPr wrap="square" lIns="0" tIns="0" rIns="0" bIns="0" rtlCol="0" anchor="ctr"/>
          <a:lstStyle/>
          <a:p>
            <a:pPr algn="ctr" indent="0" marL="0">
              <a:buNone/>
            </a:pPr>
            <a:r>
              <a:rPr lang="en-US" sz="1200" b="1" dirty="0">
                <a:solidFill>
                  <a:schemeClr val="tx1"/>
                </a:solidFill>
              </a:rPr>
              <a:t>MAY</a:t>
            </a:r>
            <a:endParaRPr lang="en-US" sz="1200" dirty="0"/>
          </a:p>
        </p:txBody>
      </p:sp>
      <p:sp>
        <p:nvSpPr>
          <p:cNvPr id="30" name="Text 28"/>
          <p:cNvSpPr txBox="1"/>
          <p:nvPr/>
        </p:nvSpPr>
        <p:spPr>
          <a:xfrm>
            <a:off x="4160520" y="4709160"/>
            <a:ext cx="2606040" cy="548640"/>
          </a:xfrm>
          <a:prstGeom prst="rect">
            <a:avLst/>
          </a:prstGeom>
          <a:noFill/>
          <a:ln/>
        </p:spPr>
        <p:txBody>
          <a:bodyPr wrap="square" lIns="0" tIns="0" rIns="0" bIns="0" rtlCol="0" anchor="ctr"/>
          <a:lstStyle/>
          <a:p>
            <a:pPr indent="0" marL="0">
              <a:buNone/>
            </a:pPr>
            <a:r>
              <a:rPr lang="en-US" sz="1400" dirty="0">
                <a:solidFill>
                  <a:schemeClr val="accent6"/>
                </a:solidFill>
              </a:rPr>
              <a:t>Deterministic, cacheable browsing</a:t>
            </a:r>
            <a:endParaRPr lang="en-US" sz="1400" dirty="0"/>
          </a:p>
        </p:txBody>
      </p:sp>
      <p:sp>
        <p:nvSpPr>
          <p:cNvPr id="31" name="Text 29"/>
          <p:cNvSpPr txBox="1"/>
          <p:nvPr/>
        </p:nvSpPr>
        <p:spPr>
          <a:xfrm>
            <a:off x="548640" y="5394960"/>
            <a:ext cx="2651760" cy="548640"/>
          </a:xfrm>
          <a:prstGeom prst="rect">
            <a:avLst/>
          </a:prstGeom>
          <a:noFill/>
          <a:ln/>
        </p:spPr>
        <p:txBody>
          <a:bodyPr wrap="square" lIns="0" tIns="0" rIns="0" bIns="0" rtlCol="0" anchor="ctr"/>
          <a:lstStyle/>
          <a:p>
            <a:pPr indent="0" marL="0">
              <a:buNone/>
            </a:pPr>
            <a:r>
              <a:rPr lang="en-US" sz="1500" b="1" dirty="0">
                <a:solidFill>
                  <a:schemeClr val="tx1"/>
                </a:solidFill>
                <a:latin typeface="Consolas" pitchFamily="34" charset="0"/>
                <a:ea typeface="Consolas" pitchFamily="34" charset="-122"/>
                <a:cs typeface="Consolas" pitchFamily="34" charset="-120"/>
              </a:rPr>
              <a:t>MCP tool / A2A skill</a:t>
            </a:r>
            <a:endParaRPr lang="en-US" sz="1500" dirty="0"/>
          </a:p>
        </p:txBody>
      </p:sp>
      <p:sp>
        <p:nvSpPr>
          <p:cNvPr id="32" name="MCP tool / A2A skill level"/>
          <p:cNvSpPr/>
          <p:nvPr/>
        </p:nvSpPr>
        <p:spPr>
          <a:xfrm>
            <a:off x="3246120" y="5504688"/>
            <a:ext cx="777240" cy="329184"/>
          </a:xfrm>
          <a:prstGeom prst="roundRect">
            <a:avLst>
              <a:gd name="adj" fmla="val 50000"/>
            </a:avLst>
          </a:prstGeom>
          <a:solidFill>
            <a:schemeClr val="accent3"/>
          </a:solidFill>
          <a:ln/>
        </p:spPr>
      </p:sp>
      <p:sp>
        <p:nvSpPr>
          <p:cNvPr id="33" name="Text 31"/>
          <p:cNvSpPr txBox="1"/>
          <p:nvPr/>
        </p:nvSpPr>
        <p:spPr>
          <a:xfrm>
            <a:off x="3246120" y="5504688"/>
            <a:ext cx="777240" cy="329184"/>
          </a:xfrm>
          <a:prstGeom prst="rect">
            <a:avLst/>
          </a:prstGeom>
          <a:noFill/>
          <a:ln/>
        </p:spPr>
        <p:txBody>
          <a:bodyPr wrap="square" lIns="0" tIns="0" rIns="0" bIns="0" rtlCol="0" anchor="ctr"/>
          <a:lstStyle/>
          <a:p>
            <a:pPr algn="ctr" indent="0" marL="0">
              <a:buNone/>
            </a:pPr>
            <a:r>
              <a:rPr lang="en-US" sz="1200" b="1" dirty="0">
                <a:solidFill>
                  <a:schemeClr val="tx1"/>
                </a:solidFill>
              </a:rPr>
              <a:t>MAY</a:t>
            </a:r>
            <a:endParaRPr lang="en-US" sz="1200" dirty="0"/>
          </a:p>
        </p:txBody>
      </p:sp>
      <p:sp>
        <p:nvSpPr>
          <p:cNvPr id="34" name="Text 32"/>
          <p:cNvSpPr txBox="1"/>
          <p:nvPr/>
        </p:nvSpPr>
        <p:spPr>
          <a:xfrm>
            <a:off x="4160520" y="5394960"/>
            <a:ext cx="2606040" cy="548640"/>
          </a:xfrm>
          <a:prstGeom prst="rect">
            <a:avLst/>
          </a:prstGeom>
          <a:noFill/>
          <a:ln/>
        </p:spPr>
        <p:txBody>
          <a:bodyPr wrap="square" lIns="0" tIns="0" rIns="0" bIns="0" rtlCol="0" anchor="ctr"/>
          <a:lstStyle/>
          <a:p>
            <a:pPr indent="0" marL="0">
              <a:buNone/>
            </a:pPr>
            <a:r>
              <a:rPr lang="en-US" sz="1400" dirty="0">
                <a:solidFill>
                  <a:schemeClr val="accent6"/>
                </a:solidFill>
              </a:rPr>
              <a:t>The same search, native to the orchestrator</a:t>
            </a:r>
            <a:endParaRPr lang="en-US" sz="1400" dirty="0"/>
          </a:p>
        </p:txBody>
      </p:sp>
      <p:sp>
        <p:nvSpPr>
          <p:cNvPr id="35" name="Search request"/>
          <p:cNvSpPr/>
          <p:nvPr/>
        </p:nvSpPr>
        <p:spPr>
          <a:xfrm>
            <a:off x="6995160" y="3291840"/>
            <a:ext cx="4645152" cy="2788920"/>
          </a:xfrm>
          <a:prstGeom prst="roundRect">
            <a:avLst>
              <a:gd name="adj" fmla="val 4590"/>
            </a:avLst>
          </a:prstGeom>
          <a:solidFill>
            <a:schemeClr val="bg2"/>
          </a:solidFill>
          <a:ln/>
        </p:spPr>
      </p:sp>
      <p:sp>
        <p:nvSpPr>
          <p:cNvPr id="36" name="Text 34"/>
          <p:cNvSpPr txBox="1"/>
          <p:nvPr/>
        </p:nvSpPr>
        <p:spPr>
          <a:xfrm>
            <a:off x="7269480" y="3520440"/>
            <a:ext cx="4187952" cy="2423160"/>
          </a:xfrm>
          <a:prstGeom prst="rect">
            <a:avLst/>
          </a:prstGeom>
          <a:noFill/>
          <a:ln/>
        </p:spPr>
        <p:txBody>
          <a:bodyPr wrap="square" lIns="0" tIns="0" rIns="0" bIns="0" rtlCol="0" anchor="t"/>
          <a:lstStyle/>
          <a:p>
            <a:pPr indent="0" marL="0">
              <a:lnSpc>
                <a:spcPct val="130000"/>
              </a:lnSpc>
              <a:buNone/>
            </a:pPr>
            <a:r>
              <a:rPr lang="en-US" sz="1200" b="1" dirty="0">
                <a:solidFill>
                  <a:srgbClr val="C2410C"/>
                </a:solidFill>
                <a:latin typeface="Consolas" pitchFamily="34" charset="0"/>
                <a:ea typeface="Consolas" pitchFamily="34" charset="-122"/>
                <a:cs typeface="Consolas" pitchFamily="34" charset="-120"/>
              </a:rPr>
              <a:t>POST /search</a:t>
            </a:r>
            <a:endParaRPr lang="en-US" sz="1200" dirty="0"/>
          </a:p>
          <a:p>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"query"</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    "text"</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00" dirty="0">
                <a:solidFill>
                  <a:srgbClr val="2D6E3A"/>
                </a:solidFill>
                <a:latin typeface="Consolas" pitchFamily="34" charset="0"/>
                <a:ea typeface="Consolas" pitchFamily="34" charset="-122"/>
                <a:cs typeface="Consolas" pitchFamily="34" charset="-120"/>
              </a:rPr>
              <a:t>"find me a flight booking agent"</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a:t>
            </a:r>
            <a:endParaRPr lang="en-US" sz="1200" dirty="0"/>
          </a:p>
          <a:p>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    "filter"</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 </a:t>
            </a:r>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"type"</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dirty="0">
                <a:solidFill>
                  <a:srgbClr val="2D6E3A"/>
                </a:solidFill>
                <a:latin typeface="Consolas" pitchFamily="34" charset="0"/>
                <a:ea typeface="Consolas" pitchFamily="34" charset="-122"/>
                <a:cs typeface="Consolas" pitchFamily="34" charset="-120"/>
              </a:rPr>
              <a:t>      "application/a2a-agent-card+json"</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  "federation"</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00" dirty="0">
                <a:solidFill>
                  <a:srgbClr val="2D6E3A"/>
                </a:solidFill>
                <a:latin typeface="Consolas" pitchFamily="34" charset="0"/>
                <a:ea typeface="Consolas" pitchFamily="34" charset="-122"/>
                <a:cs typeface="Consolas" pitchFamily="34" charset="-120"/>
              </a:rPr>
              <a:t>"referrals"</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a:t>
            </a:r>
            <a:endParaRPr lang="en-US" sz="1200" dirty="0"/>
          </a:p>
          <a:p>
            <a:pPr indent="0" marL="0">
              <a:lnSpc>
                <a:spcPct val="130000"/>
              </a:lnSpc>
              <a:buNone/>
            </a:pPr>
            <a:r>
              <a:rPr lang="en-US" sz="1200" dirty="0">
                <a:solidFill>
                  <a:srgbClr val="5A4FA0"/>
                </a:solidFill>
                <a:latin typeface="Consolas" pitchFamily="34" charset="0"/>
                <a:ea typeface="Consolas" pitchFamily="34" charset="-122"/>
                <a:cs typeface="Consolas" pitchFamily="34" charset="-120"/>
              </a:rPr>
              <a:t>  "pageSize"</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00" dirty="0">
                <a:solidFill>
                  <a:srgbClr val="9A5B00"/>
                </a:solidFill>
                <a:latin typeface="Consolas" pitchFamily="34" charset="0"/>
                <a:ea typeface="Consolas" pitchFamily="34" charset="-122"/>
                <a:cs typeface="Consolas" pitchFamily="34" charset="-120"/>
              </a:rPr>
              <a:t>5</a:t>
            </a:r>
            <a:pPr indent="0" marL="0">
              <a:lnSpc>
                <a:spcPct val="130000"/>
              </a:lnSpc>
              <a:buNone/>
            </a:pPr>
            <a:r>
              <a:rPr lang="en-US" sz="1200" dirty="0">
                <a:solidFill>
                  <a:srgbClr val="383A42"/>
                </a:solidFill>
                <a:latin typeface="Consolas" pitchFamily="34" charset="0"/>
                <a:ea typeface="Consolas" pitchFamily="34" charset="-122"/>
                <a:cs typeface="Consolas" pitchFamily="34" charset="-120"/>
              </a:rPr>
              <a:t> }</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Federation lets one search reach many registries</a:t>
            </a:r>
            <a:endParaRPr lang="en-US" sz="3200" dirty="0"/>
          </a:p>
        </p:txBody>
      </p:sp>
      <p:sp>
        <p:nvSpPr>
          <p:cNvPr id="4" name="Mode auto card"/>
          <p:cNvSpPr/>
          <p:nvPr/>
        </p:nvSpPr>
        <p:spPr>
          <a:xfrm>
            <a:off x="548640" y="1965960"/>
            <a:ext cx="3575304" cy="3063240"/>
          </a:xfrm>
          <a:prstGeom prst="roundRect">
            <a:avLst>
              <a:gd name="adj" fmla="val 4179"/>
            </a:avLst>
          </a:prstGeom>
          <a:solidFill>
            <a:schemeClr val="bg2"/>
          </a:solidFill>
          <a:ln/>
        </p:spPr>
      </p:sp>
      <p:sp>
        <p:nvSpPr>
          <p:cNvPr id="5" name="Text 3"/>
          <p:cNvSpPr txBox="1"/>
          <p:nvPr/>
        </p:nvSpPr>
        <p:spPr>
          <a:xfrm>
            <a:off x="822960" y="2148840"/>
            <a:ext cx="21945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onsolas" pitchFamily="34" charset="0"/>
                <a:ea typeface="Consolas" pitchFamily="34" charset="-122"/>
                <a:cs typeface="Consolas" pitchFamily="34" charset="-120"/>
              </a:rPr>
              <a:t>auto</a:t>
            </a:r>
            <a:endParaRPr lang="en-US" sz="2400" dirty="0"/>
          </a:p>
        </p:txBody>
      </p:sp>
      <p:sp>
        <p:nvSpPr>
          <p:cNvPr id="6" name="Default chip"/>
          <p:cNvSpPr/>
          <p:nvPr/>
        </p:nvSpPr>
        <p:spPr>
          <a:xfrm>
            <a:off x="2926080" y="2240280"/>
            <a:ext cx="914400" cy="292608"/>
          </a:xfrm>
          <a:prstGeom prst="roundRect">
            <a:avLst>
              <a:gd name="adj" fmla="val 50000"/>
            </a:avLst>
          </a:prstGeom>
          <a:solidFill>
            <a:schemeClr val="accent3"/>
          </a:solidFill>
          <a:ln/>
        </p:spPr>
      </p:sp>
      <p:sp>
        <p:nvSpPr>
          <p:cNvPr id="7" name="Text 5"/>
          <p:cNvSpPr txBox="1"/>
          <p:nvPr/>
        </p:nvSpPr>
        <p:spPr>
          <a:xfrm>
            <a:off x="2926080" y="2240280"/>
            <a:ext cx="914400" cy="292608"/>
          </a:xfrm>
          <a:prstGeom prst="rect">
            <a:avLst/>
          </a:prstGeom>
          <a:noFill/>
          <a:ln/>
        </p:spPr>
        <p:txBody>
          <a:bodyPr wrap="square" lIns="0" tIns="0" rIns="0" bIns="0" rtlCol="0" anchor="ctr"/>
          <a:lstStyle/>
          <a:p>
            <a:pPr algn="ctr" indent="0" marL="0">
              <a:buNone/>
            </a:pPr>
            <a:r>
              <a:rPr lang="en-US" sz="1200" b="1" dirty="0">
                <a:solidFill>
                  <a:schemeClr val="tx1"/>
                </a:solidFill>
              </a:rPr>
              <a:t>default</a:t>
            </a:r>
            <a:endParaRPr lang="en-US" sz="1200" dirty="0"/>
          </a:p>
        </p:txBody>
      </p:sp>
      <p:sp>
        <p:nvSpPr>
          <p:cNvPr id="8" name="Text 6"/>
          <p:cNvSpPr txBox="1"/>
          <p:nvPr/>
        </p:nvSpPr>
        <p:spPr>
          <a:xfrm>
            <a:off x="822960" y="2743200"/>
            <a:ext cx="3063240" cy="1051560"/>
          </a:xfrm>
          <a:prstGeom prst="rect">
            <a:avLst/>
          </a:prstGeom>
          <a:noFill/>
          <a:ln/>
        </p:spPr>
        <p:txBody>
          <a:bodyPr wrap="square" lIns="0" tIns="0" rIns="0" bIns="0" rtlCol="0" anchor="t"/>
          <a:lstStyle/>
          <a:p>
            <a:pPr indent="0" marL="0">
              <a:buNone/>
            </a:pPr>
            <a:r>
              <a:rPr lang="en-US" sz="1600" dirty="0">
                <a:solidFill>
                  <a:schemeClr val="tx1"/>
                </a:solidFill>
              </a:rPr>
              <a:t>The registry asks other registries for you and merges everything into one list.</a:t>
            </a:r>
            <a:endParaRPr lang="en-US" sz="1600" dirty="0"/>
          </a:p>
        </p:txBody>
      </p:sp>
      <p:sp>
        <p:nvSpPr>
          <p:cNvPr id="9" name="Text 7"/>
          <p:cNvSpPr txBox="1"/>
          <p:nvPr/>
        </p:nvSpPr>
        <p:spPr>
          <a:xfrm>
            <a:off x="822960" y="3840480"/>
            <a:ext cx="3063240" cy="548640"/>
          </a:xfrm>
          <a:prstGeom prst="rect">
            <a:avLst/>
          </a:prstGeom>
          <a:noFill/>
          <a:ln/>
        </p:spPr>
        <p:txBody>
          <a:bodyPr wrap="square" lIns="0" tIns="0" rIns="0" bIns="0" rtlCol="0" anchor="t"/>
          <a:lstStyle/>
          <a:p>
            <a:pPr indent="0" marL="0">
              <a:buNone/>
            </a:pPr>
            <a:r>
              <a:rPr lang="en-US" sz="1300" b="1" dirty="0">
                <a:solidFill>
                  <a:schemeClr val="accent4"/>
                </a:solidFill>
              </a:rPr>
              <a:t>you → registry → other registries → one merged list</a:t>
            </a:r>
            <a:endParaRPr lang="en-US" sz="1300" dirty="0"/>
          </a:p>
        </p:txBody>
      </p:sp>
      <p:sp>
        <p:nvSpPr>
          <p:cNvPr id="10" name="Text 8"/>
          <p:cNvSpPr txBox="1"/>
          <p:nvPr/>
        </p:nvSpPr>
        <p:spPr>
          <a:xfrm>
            <a:off x="822960" y="4434840"/>
            <a:ext cx="3063240" cy="411480"/>
          </a:xfrm>
          <a:prstGeom prst="rect">
            <a:avLst/>
          </a:prstGeom>
          <a:noFill/>
          <a:ln/>
        </p:spPr>
        <p:txBody>
          <a:bodyPr wrap="square" lIns="0" tIns="0" rIns="0" bIns="0" rtlCol="0" anchor="t"/>
          <a:lstStyle/>
          <a:p>
            <a:pPr indent="0" marL="0">
              <a:buNone/>
            </a:pPr>
            <a:r>
              <a:rPr lang="en-US" sz="1300" dirty="0">
                <a:solidFill>
                  <a:schemeClr val="accent6"/>
                </a:solidFill>
              </a:rPr>
              <a:t>Good for: simple clients</a:t>
            </a:r>
            <a:endParaRPr lang="en-US" sz="1300" dirty="0"/>
          </a:p>
        </p:txBody>
      </p:sp>
      <p:sp>
        <p:nvSpPr>
          <p:cNvPr id="11" name="Mode referrals card"/>
          <p:cNvSpPr/>
          <p:nvPr/>
        </p:nvSpPr>
        <p:spPr>
          <a:xfrm>
            <a:off x="4306824" y="1965960"/>
            <a:ext cx="3575304" cy="3063240"/>
          </a:xfrm>
          <a:prstGeom prst="roundRect">
            <a:avLst>
              <a:gd name="adj" fmla="val 4179"/>
            </a:avLst>
          </a:prstGeom>
          <a:solidFill>
            <a:schemeClr val="bg2"/>
          </a:solidFill>
          <a:ln/>
        </p:spPr>
      </p:sp>
      <p:sp>
        <p:nvSpPr>
          <p:cNvPr id="12" name="Text 10"/>
          <p:cNvSpPr txBox="1"/>
          <p:nvPr/>
        </p:nvSpPr>
        <p:spPr>
          <a:xfrm>
            <a:off x="4581144" y="2148840"/>
            <a:ext cx="21945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onsolas" pitchFamily="34" charset="0"/>
                <a:ea typeface="Consolas" pitchFamily="34" charset="-122"/>
                <a:cs typeface="Consolas" pitchFamily="34" charset="-120"/>
              </a:rPr>
              <a:t>referrals</a:t>
            </a:r>
            <a:endParaRPr lang="en-US" sz="2400" dirty="0"/>
          </a:p>
        </p:txBody>
      </p:sp>
      <p:sp>
        <p:nvSpPr>
          <p:cNvPr id="13" name="Text 11"/>
          <p:cNvSpPr txBox="1"/>
          <p:nvPr/>
        </p:nvSpPr>
        <p:spPr>
          <a:xfrm>
            <a:off x="4581144" y="2743200"/>
            <a:ext cx="3063240" cy="1051560"/>
          </a:xfrm>
          <a:prstGeom prst="rect">
            <a:avLst/>
          </a:prstGeom>
          <a:noFill/>
          <a:ln/>
        </p:spPr>
        <p:txBody>
          <a:bodyPr wrap="square" lIns="0" tIns="0" rIns="0" bIns="0" rtlCol="0" anchor="t"/>
          <a:lstStyle/>
          <a:p>
            <a:pPr indent="0" marL="0">
              <a:buNone/>
            </a:pPr>
            <a:r>
              <a:rPr lang="en-US" sz="1600" dirty="0">
                <a:solidFill>
                  <a:schemeClr val="tx1"/>
                </a:solidFill>
              </a:rPr>
              <a:t>The registry answers, then suggests other registries to try. You decide whether to ask them.</a:t>
            </a:r>
            <a:endParaRPr lang="en-US" sz="1600" dirty="0"/>
          </a:p>
        </p:txBody>
      </p:sp>
      <p:sp>
        <p:nvSpPr>
          <p:cNvPr id="14" name="Text 12"/>
          <p:cNvSpPr txBox="1"/>
          <p:nvPr/>
        </p:nvSpPr>
        <p:spPr>
          <a:xfrm>
            <a:off x="4581144" y="3840480"/>
            <a:ext cx="3063240" cy="548640"/>
          </a:xfrm>
          <a:prstGeom prst="rect">
            <a:avLst/>
          </a:prstGeom>
          <a:noFill/>
          <a:ln/>
        </p:spPr>
        <p:txBody>
          <a:bodyPr wrap="square" lIns="0" tIns="0" rIns="0" bIns="0" rtlCol="0" anchor="t"/>
          <a:lstStyle/>
          <a:p>
            <a:pPr indent="0" marL="0">
              <a:buNone/>
            </a:pPr>
            <a:r>
              <a:rPr lang="en-US" sz="1300" b="1" dirty="0">
                <a:solidFill>
                  <a:schemeClr val="accent4"/>
                </a:solidFill>
              </a:rPr>
              <a:t>you → registry → answers + “try these” → you choose</a:t>
            </a:r>
            <a:endParaRPr lang="en-US" sz="1300" dirty="0"/>
          </a:p>
        </p:txBody>
      </p:sp>
      <p:sp>
        <p:nvSpPr>
          <p:cNvPr id="15" name="Text 13"/>
          <p:cNvSpPr txBox="1"/>
          <p:nvPr/>
        </p:nvSpPr>
        <p:spPr>
          <a:xfrm>
            <a:off x="4581144" y="4434840"/>
            <a:ext cx="3063240" cy="411480"/>
          </a:xfrm>
          <a:prstGeom prst="rect">
            <a:avLst/>
          </a:prstGeom>
          <a:noFill/>
          <a:ln/>
        </p:spPr>
        <p:txBody>
          <a:bodyPr wrap="square" lIns="0" tIns="0" rIns="0" bIns="0" rtlCol="0" anchor="t"/>
          <a:lstStyle/>
          <a:p>
            <a:pPr indent="0" marL="0">
              <a:buNone/>
            </a:pPr>
            <a:r>
              <a:rPr lang="en-US" sz="1300" dirty="0">
                <a:solidFill>
                  <a:schemeClr val="accent6"/>
                </a:solidFill>
              </a:rPr>
              <a:t>Good for: control over where your query goes</a:t>
            </a:r>
            <a:endParaRPr lang="en-US" sz="1300" dirty="0"/>
          </a:p>
        </p:txBody>
      </p:sp>
      <p:sp>
        <p:nvSpPr>
          <p:cNvPr id="16" name="Mode none card"/>
          <p:cNvSpPr/>
          <p:nvPr/>
        </p:nvSpPr>
        <p:spPr>
          <a:xfrm>
            <a:off x="8065008" y="1965960"/>
            <a:ext cx="3575304" cy="3063240"/>
          </a:xfrm>
          <a:prstGeom prst="roundRect">
            <a:avLst>
              <a:gd name="adj" fmla="val 4179"/>
            </a:avLst>
          </a:prstGeom>
          <a:solidFill>
            <a:schemeClr val="bg2"/>
          </a:solidFill>
          <a:ln/>
        </p:spPr>
      </p:sp>
      <p:sp>
        <p:nvSpPr>
          <p:cNvPr id="17" name="Text 15"/>
          <p:cNvSpPr txBox="1"/>
          <p:nvPr/>
        </p:nvSpPr>
        <p:spPr>
          <a:xfrm>
            <a:off x="8339328" y="2148840"/>
            <a:ext cx="2194560" cy="457200"/>
          </a:xfrm>
          <a:prstGeom prst="rect">
            <a:avLst/>
          </a:prstGeom>
          <a:noFill/>
          <a:ln/>
        </p:spPr>
        <p:txBody>
          <a:bodyPr wrap="square" lIns="0" tIns="0" rIns="0" bIns="0" rtlCol="0" anchor="ctr"/>
          <a:lstStyle/>
          <a:p>
            <a:pPr indent="0" marL="0">
              <a:buNone/>
            </a:pPr>
            <a:r>
              <a:rPr lang="en-US" sz="2400" b="1" dirty="0">
                <a:solidFill>
                  <a:schemeClr val="accent2"/>
                </a:solidFill>
                <a:latin typeface="Consolas" pitchFamily="34" charset="0"/>
                <a:ea typeface="Consolas" pitchFamily="34" charset="-122"/>
                <a:cs typeface="Consolas" pitchFamily="34" charset="-120"/>
              </a:rPr>
              <a:t>none</a:t>
            </a:r>
            <a:endParaRPr lang="en-US" sz="2400" dirty="0"/>
          </a:p>
        </p:txBody>
      </p:sp>
      <p:sp>
        <p:nvSpPr>
          <p:cNvPr id="18" name="Text 16"/>
          <p:cNvSpPr txBox="1"/>
          <p:nvPr/>
        </p:nvSpPr>
        <p:spPr>
          <a:xfrm>
            <a:off x="8339328" y="2743200"/>
            <a:ext cx="3063240" cy="1051560"/>
          </a:xfrm>
          <a:prstGeom prst="rect">
            <a:avLst/>
          </a:prstGeom>
          <a:noFill/>
          <a:ln/>
        </p:spPr>
        <p:txBody>
          <a:bodyPr wrap="square" lIns="0" tIns="0" rIns="0" bIns="0" rtlCol="0" anchor="t"/>
          <a:lstStyle/>
          <a:p>
            <a:pPr indent="0" marL="0">
              <a:buNone/>
            </a:pPr>
            <a:r>
              <a:rPr lang="en-US" sz="1600" dirty="0">
                <a:solidFill>
                  <a:schemeClr val="tx1"/>
                </a:solidFill>
              </a:rPr>
              <a:t>Only this registry’s own index. Your query goes nowhere else.</a:t>
            </a:r>
            <a:endParaRPr lang="en-US" sz="1600" dirty="0"/>
          </a:p>
        </p:txBody>
      </p:sp>
      <p:sp>
        <p:nvSpPr>
          <p:cNvPr id="19" name="Text 17"/>
          <p:cNvSpPr txBox="1"/>
          <p:nvPr/>
        </p:nvSpPr>
        <p:spPr>
          <a:xfrm>
            <a:off x="8339328" y="3840480"/>
            <a:ext cx="3063240" cy="548640"/>
          </a:xfrm>
          <a:prstGeom prst="rect">
            <a:avLst/>
          </a:prstGeom>
          <a:noFill/>
          <a:ln/>
        </p:spPr>
        <p:txBody>
          <a:bodyPr wrap="square" lIns="0" tIns="0" rIns="0" bIns="0" rtlCol="0" anchor="t"/>
          <a:lstStyle/>
          <a:p>
            <a:pPr indent="0" marL="0">
              <a:buNone/>
            </a:pPr>
            <a:r>
              <a:rPr lang="en-US" sz="1300" b="1" dirty="0">
                <a:solidFill>
                  <a:schemeClr val="accent4"/>
                </a:solidFill>
              </a:rPr>
              <a:t>you → registry → its own answers</a:t>
            </a:r>
            <a:endParaRPr lang="en-US" sz="1300" dirty="0"/>
          </a:p>
        </p:txBody>
      </p:sp>
      <p:sp>
        <p:nvSpPr>
          <p:cNvPr id="20" name="Text 18"/>
          <p:cNvSpPr txBox="1"/>
          <p:nvPr/>
        </p:nvSpPr>
        <p:spPr>
          <a:xfrm>
            <a:off x="8339328" y="4434840"/>
            <a:ext cx="3063240" cy="411480"/>
          </a:xfrm>
          <a:prstGeom prst="rect">
            <a:avLst/>
          </a:prstGeom>
          <a:noFill/>
          <a:ln/>
        </p:spPr>
        <p:txBody>
          <a:bodyPr wrap="square" lIns="0" tIns="0" rIns="0" bIns="0" rtlCol="0" anchor="t"/>
          <a:lstStyle/>
          <a:p>
            <a:pPr indent="0" marL="0">
              <a:buNone/>
            </a:pPr>
            <a:r>
              <a:rPr lang="en-US" sz="1300" dirty="0">
                <a:solidFill>
                  <a:schemeClr val="accent6"/>
                </a:solidFill>
              </a:rPr>
              <a:t>Good for: speed and privacy</a:t>
            </a:r>
            <a:endParaRPr lang="en-US" sz="1300" dirty="0"/>
          </a:p>
        </p:txBody>
      </p:sp>
      <p:sp>
        <p:nvSpPr>
          <p:cNvPr id="21" name="DNS analogy"/>
          <p:cNvSpPr/>
          <p:nvPr/>
        </p:nvSpPr>
        <p:spPr>
          <a:xfrm>
            <a:off x="548640" y="5257800"/>
            <a:ext cx="11091672" cy="822960"/>
          </a:xfrm>
          <a:prstGeom prst="roundRect">
            <a:avLst>
              <a:gd name="adj" fmla="val 15556"/>
            </a:avLst>
          </a:prstGeom>
          <a:solidFill>
            <a:schemeClr val="bg1"/>
          </a:solidFill>
          <a:ln w="15875">
            <a:solidFill>
              <a:srgbClr val="B6B0D0"/>
            </a:solidFill>
            <a:prstDash val="solid"/>
          </a:ln>
        </p:spPr>
      </p:sp>
      <p:sp>
        <p:nvSpPr>
          <p:cNvPr id="22" name="DNS analogy circle"/>
          <p:cNvSpPr/>
          <p:nvPr/>
        </p:nvSpPr>
        <p:spPr>
          <a:xfrm>
            <a:off x="731520" y="5413248"/>
            <a:ext cx="512064" cy="512064"/>
          </a:xfrm>
          <a:prstGeom prst="ellipse">
            <a:avLst/>
          </a:prstGeom>
          <a:solidFill>
            <a:schemeClr val="accent5"/>
          </a:solidFill>
          <a:ln/>
        </p:spPr>
      </p:sp>
      <p:pic>
        <p:nvPicPr>
          <p:cNvPr id="23" name="DNS analogy icon" descr="preencoded.png">    </p:cNvPr>
          <p:cNvPicPr>
            <a:picLocks noChangeAspect="1"/>
          </p:cNvPicPr>
          <p:nvPr/>
        </p:nvPicPr>
        <p:blipFill>
          <a:blip r:embed="rId1"/>
          <a:stretch>
            <a:fillRect/>
          </a:stretch>
        </p:blipFill>
        <p:spPr>
          <a:xfrm>
            <a:off x="859536" y="5541264"/>
            <a:ext cx="256032" cy="256032"/>
          </a:xfrm>
          <a:prstGeom prst="rect">
            <a:avLst/>
          </a:prstGeom>
        </p:spPr>
      </p:pic>
      <p:sp>
        <p:nvSpPr>
          <p:cNvPr id="24" name="Text 21"/>
          <p:cNvSpPr txBox="1"/>
          <p:nvPr/>
        </p:nvSpPr>
        <p:spPr>
          <a:xfrm>
            <a:off x="1463040" y="5257800"/>
            <a:ext cx="9966960" cy="822960"/>
          </a:xfrm>
          <a:prstGeom prst="rect">
            <a:avLst/>
          </a:prstGeom>
          <a:noFill/>
          <a:ln/>
        </p:spPr>
        <p:txBody>
          <a:bodyPr wrap="square" lIns="0" tIns="0" rIns="0" bIns="0" rtlCol="0" anchor="ctr"/>
          <a:lstStyle/>
          <a:p>
            <a:pPr indent="0" marL="0">
              <a:buNone/>
            </a:pPr>
            <a:r>
              <a:rPr lang="en-US" sz="1600" dirty="0">
                <a:solidFill>
                  <a:schemeClr val="tx1"/>
                </a:solidFill>
              </a:rPr>
              <a:t>Like DNS: auto is a resolver that looks it up for you; referrals is “I don’t know, but ask them.”</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With referrals, the agent decides where its query goes</a:t>
            </a:r>
            <a:endParaRPr lang="en-US" sz="3200" dirty="0"/>
          </a:p>
        </p:txBody>
      </p:sp>
      <p:sp>
        <p:nvSpPr>
          <p:cNvPr id="4" name="User request"/>
          <p:cNvSpPr/>
          <p:nvPr/>
        </p:nvSpPr>
        <p:spPr>
          <a:xfrm>
            <a:off x="548640" y="1920240"/>
            <a:ext cx="11091672" cy="548640"/>
          </a:xfrm>
          <a:prstGeom prst="roundRect">
            <a:avLst>
              <a:gd name="adj" fmla="val 23333"/>
            </a:avLst>
          </a:prstGeom>
          <a:solidFill>
            <a:schemeClr val="bg2"/>
          </a:solidFill>
          <a:ln/>
        </p:spPr>
      </p:sp>
      <p:sp>
        <p:nvSpPr>
          <p:cNvPr id="5" name="Text 3"/>
          <p:cNvSpPr txBox="1"/>
          <p:nvPr/>
        </p:nvSpPr>
        <p:spPr>
          <a:xfrm>
            <a:off x="777240" y="1920240"/>
            <a:ext cx="10698480" cy="548640"/>
          </a:xfrm>
          <a:prstGeom prst="rect">
            <a:avLst/>
          </a:prstGeom>
          <a:noFill/>
          <a:ln/>
        </p:spPr>
        <p:txBody>
          <a:bodyPr wrap="square" lIns="0" tIns="0" rIns="0" bIns="0" rtlCol="0" anchor="ctr"/>
          <a:lstStyle/>
          <a:p>
            <a:pPr indent="0" marL="0">
              <a:buNone/>
            </a:pPr>
            <a:r>
              <a:rPr lang="en-US" sz="1600" b="1" dirty="0">
                <a:solidFill>
                  <a:schemeClr val="tx1"/>
                </a:solidFill>
              </a:rPr>
              <a:t>User:  </a:t>
            </a:r>
            <a:pPr indent="0" marL="0">
              <a:buNone/>
            </a:pPr>
            <a:r>
              <a:rPr lang="en-US" sz="1600" i="1" dirty="0">
                <a:solidFill>
                  <a:schemeClr val="tx1"/>
                </a:solidFill>
              </a:rPr>
              <a:t>“Book me a flight to Tokyo and file the travel expense report.”</a:t>
            </a:r>
            <a:endParaRPr lang="en-US" sz="1600" dirty="0"/>
          </a:p>
        </p:txBody>
      </p:sp>
      <p:sp>
        <p:nvSpPr>
          <p:cNvPr id="6" name="Orchestrator header"/>
          <p:cNvSpPr/>
          <p:nvPr/>
        </p:nvSpPr>
        <p:spPr>
          <a:xfrm>
            <a:off x="640080" y="2651760"/>
            <a:ext cx="2834640" cy="640080"/>
          </a:xfrm>
          <a:prstGeom prst="roundRect">
            <a:avLst>
              <a:gd name="adj" fmla="val 20000"/>
            </a:avLst>
          </a:prstGeom>
          <a:solidFill>
            <a:schemeClr val="accent5"/>
          </a:solidFill>
          <a:ln/>
        </p:spPr>
      </p:sp>
      <p:sp>
        <p:nvSpPr>
          <p:cNvPr id="7" name="Text 5"/>
          <p:cNvSpPr txBox="1"/>
          <p:nvPr/>
        </p:nvSpPr>
        <p:spPr>
          <a:xfrm>
            <a:off x="640080" y="2651760"/>
            <a:ext cx="2834640" cy="640080"/>
          </a:xfrm>
          <a:prstGeom prst="rect">
            <a:avLst/>
          </a:prstGeom>
          <a:noFill/>
          <a:ln/>
        </p:spPr>
        <p:txBody>
          <a:bodyPr wrap="square" lIns="0" tIns="0" rIns="0" bIns="0" rtlCol="0" anchor="ctr"/>
          <a:lstStyle/>
          <a:p>
            <a:pPr algn="ctr" indent="0" marL="0">
              <a:buNone/>
            </a:pPr>
            <a:r>
              <a:rPr lang="en-US" sz="1600" b="1" dirty="0">
                <a:solidFill>
                  <a:schemeClr val="bg1"/>
                </a:solidFill>
              </a:rPr>
              <a:t>Orchestrator</a:t>
            </a:r>
            <a:endParaRPr lang="en-US" sz="1600" dirty="0"/>
          </a:p>
          <a:p>
            <a:pPr algn="ctr" indent="0" marL="0">
              <a:buNone/>
            </a:pPr>
            <a:r>
              <a:rPr lang="en-US" sz="1200" dirty="0">
                <a:solidFill>
                  <a:schemeClr val="bg1"/>
                </a:solidFill>
              </a:rPr>
              <a:t>the user’s agent</a:t>
            </a:r>
            <a:endParaRPr lang="en-US" sz="1600" dirty="0"/>
          </a:p>
        </p:txBody>
      </p:sp>
      <p:sp>
        <p:nvSpPr>
          <p:cNvPr id="8" name="Orchestrator lifeline"/>
          <p:cNvSpPr/>
          <p:nvPr/>
        </p:nvSpPr>
        <p:spPr>
          <a:xfrm>
            <a:off x="2057400" y="3291840"/>
            <a:ext cx="0" cy="2148840"/>
          </a:xfrm>
          <a:prstGeom prst="line">
            <a:avLst/>
          </a:prstGeom>
          <a:noFill/>
          <a:ln w="15875">
            <a:solidFill>
              <a:srgbClr val="B6B0D0"/>
            </a:solidFill>
            <a:prstDash val="dash"/>
          </a:ln>
        </p:spPr>
      </p:sp>
      <p:sp>
        <p:nvSpPr>
          <p:cNvPr id="9" name="Company registry header"/>
          <p:cNvSpPr/>
          <p:nvPr/>
        </p:nvSpPr>
        <p:spPr>
          <a:xfrm>
            <a:off x="4754880" y="2651760"/>
            <a:ext cx="2834640" cy="640080"/>
          </a:xfrm>
          <a:prstGeom prst="roundRect">
            <a:avLst>
              <a:gd name="adj" fmla="val 20000"/>
            </a:avLst>
          </a:prstGeom>
          <a:solidFill>
            <a:schemeClr val="accent3"/>
          </a:solidFill>
          <a:ln/>
        </p:spPr>
      </p:sp>
      <p:sp>
        <p:nvSpPr>
          <p:cNvPr id="10" name="Text 8"/>
          <p:cNvSpPr txBox="1"/>
          <p:nvPr/>
        </p:nvSpPr>
        <p:spPr>
          <a:xfrm>
            <a:off x="4754880" y="2651760"/>
            <a:ext cx="2834640" cy="640080"/>
          </a:xfrm>
          <a:prstGeom prst="rect">
            <a:avLst/>
          </a:prstGeom>
          <a:noFill/>
          <a:ln/>
        </p:spPr>
        <p:txBody>
          <a:bodyPr wrap="square" lIns="0" tIns="0" rIns="0" bIns="0" rtlCol="0" anchor="ctr"/>
          <a:lstStyle/>
          <a:p>
            <a:pPr algn="ctr" indent="0" marL="0">
              <a:buNone/>
            </a:pPr>
            <a:r>
              <a:rPr lang="en-US" sz="1600" b="1" dirty="0">
                <a:solidFill>
                  <a:schemeClr val="tx1"/>
                </a:solidFill>
              </a:rPr>
              <a:t>Company registry</a:t>
            </a:r>
            <a:endParaRPr lang="en-US" sz="1600" dirty="0"/>
          </a:p>
          <a:p>
            <a:pPr algn="ctr" indent="0" marL="0">
              <a:buNone/>
            </a:pPr>
            <a:r>
              <a:rPr lang="en-US" sz="1200" dirty="0">
                <a:solidFill>
                  <a:schemeClr val="accent6"/>
                </a:solidFill>
              </a:rPr>
              <a:t>internal resources</a:t>
            </a:r>
            <a:endParaRPr lang="en-US" sz="1600" dirty="0"/>
          </a:p>
        </p:txBody>
      </p:sp>
      <p:sp>
        <p:nvSpPr>
          <p:cNvPr id="11" name="Company registry lifeline"/>
          <p:cNvSpPr/>
          <p:nvPr/>
        </p:nvSpPr>
        <p:spPr>
          <a:xfrm>
            <a:off x="6172200" y="3291840"/>
            <a:ext cx="0" cy="2148840"/>
          </a:xfrm>
          <a:prstGeom prst="line">
            <a:avLst/>
          </a:prstGeom>
          <a:noFill/>
          <a:ln w="15875">
            <a:solidFill>
              <a:srgbClr val="B6B0D0"/>
            </a:solidFill>
            <a:prstDash val="dash"/>
          </a:ln>
        </p:spPr>
      </p:sp>
      <p:sp>
        <p:nvSpPr>
          <p:cNvPr id="12" name="Travel Agent Finder header"/>
          <p:cNvSpPr/>
          <p:nvPr/>
        </p:nvSpPr>
        <p:spPr>
          <a:xfrm>
            <a:off x="8641080" y="2651760"/>
            <a:ext cx="2834640" cy="640080"/>
          </a:xfrm>
          <a:prstGeom prst="roundRect">
            <a:avLst>
              <a:gd name="adj" fmla="val 20000"/>
            </a:avLst>
          </a:prstGeom>
          <a:solidFill>
            <a:schemeClr val="bg1"/>
          </a:solidFill>
          <a:ln w="19050">
            <a:solidFill>
              <a:srgbClr val="E8601F"/>
            </a:solidFill>
            <a:prstDash val="solid"/>
          </a:ln>
        </p:spPr>
      </p:sp>
      <p:sp>
        <p:nvSpPr>
          <p:cNvPr id="13" name="Text 11"/>
          <p:cNvSpPr txBox="1"/>
          <p:nvPr/>
        </p:nvSpPr>
        <p:spPr>
          <a:xfrm>
            <a:off x="8641080" y="2651760"/>
            <a:ext cx="2834640" cy="640080"/>
          </a:xfrm>
          <a:prstGeom prst="rect">
            <a:avLst/>
          </a:prstGeom>
          <a:noFill/>
          <a:ln/>
        </p:spPr>
        <p:txBody>
          <a:bodyPr wrap="square" lIns="0" tIns="0" rIns="0" bIns="0" rtlCol="0" anchor="ctr"/>
          <a:lstStyle/>
          <a:p>
            <a:pPr algn="ctr" indent="0" marL="0">
              <a:buNone/>
            </a:pPr>
            <a:r>
              <a:rPr lang="en-US" sz="1600" b="1" dirty="0">
                <a:solidFill>
                  <a:schemeClr val="tx1"/>
                </a:solidFill>
              </a:rPr>
              <a:t>Travel Agent Finder</a:t>
            </a:r>
            <a:endParaRPr lang="en-US" sz="1600" dirty="0"/>
          </a:p>
          <a:p>
            <a:pPr algn="ctr" indent="0" marL="0">
              <a:buNone/>
            </a:pPr>
            <a:r>
              <a:rPr lang="en-US" sz="1200" dirty="0">
                <a:solidFill>
                  <a:schemeClr val="accent6"/>
                </a:solidFill>
              </a:rPr>
              <a:t>a public registry</a:t>
            </a:r>
            <a:endParaRPr lang="en-US" sz="1600" dirty="0"/>
          </a:p>
        </p:txBody>
      </p:sp>
      <p:sp>
        <p:nvSpPr>
          <p:cNvPr id="14" name="Travel Agent Finder lifeline"/>
          <p:cNvSpPr/>
          <p:nvPr/>
        </p:nvSpPr>
        <p:spPr>
          <a:xfrm>
            <a:off x="10058400" y="3291840"/>
            <a:ext cx="0" cy="2148840"/>
          </a:xfrm>
          <a:prstGeom prst="line">
            <a:avLst/>
          </a:prstGeom>
          <a:noFill/>
          <a:ln w="15875">
            <a:solidFill>
              <a:srgbClr val="B6B0D0"/>
            </a:solidFill>
            <a:prstDash val="dash"/>
          </a:ln>
        </p:spPr>
      </p:sp>
      <p:sp>
        <p:nvSpPr>
          <p:cNvPr id="15" name="Step 1"/>
          <p:cNvSpPr/>
          <p:nvPr/>
        </p:nvSpPr>
        <p:spPr>
          <a:xfrm>
            <a:off x="548640" y="3493008"/>
            <a:ext cx="329184" cy="329184"/>
          </a:xfrm>
          <a:prstGeom prst="ellipse">
            <a:avLst/>
          </a:prstGeom>
          <a:solidFill>
            <a:schemeClr val="accent5"/>
          </a:solidFill>
          <a:ln/>
        </p:spPr>
      </p:sp>
      <p:sp>
        <p:nvSpPr>
          <p:cNvPr id="16" name="Text 14"/>
          <p:cNvSpPr txBox="1"/>
          <p:nvPr/>
        </p:nvSpPr>
        <p:spPr>
          <a:xfrm>
            <a:off x="548640" y="349300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7" name="Message 1"/>
          <p:cNvSpPr/>
          <p:nvPr/>
        </p:nvSpPr>
        <p:spPr>
          <a:xfrm>
            <a:off x="2103120" y="3657600"/>
            <a:ext cx="4023360" cy="0"/>
          </a:xfrm>
          <a:prstGeom prst="line">
            <a:avLst/>
          </a:prstGeom>
          <a:noFill/>
          <a:ln w="22225">
            <a:solidFill>
              <a:srgbClr val="E8601F"/>
            </a:solidFill>
            <a:prstDash val="solid"/>
            <a:tailEnd type="triangle"/>
          </a:ln>
        </p:spPr>
      </p:sp>
      <p:sp>
        <p:nvSpPr>
          <p:cNvPr id="18" name="Text 16"/>
          <p:cNvSpPr txBox="1"/>
          <p:nvPr/>
        </p:nvSpPr>
        <p:spPr>
          <a:xfrm>
            <a:off x="2240280" y="3346704"/>
            <a:ext cx="5486400" cy="274320"/>
          </a:xfrm>
          <a:prstGeom prst="rect">
            <a:avLst/>
          </a:prstGeom>
          <a:noFill/>
          <a:ln/>
        </p:spPr>
        <p:txBody>
          <a:bodyPr wrap="square" lIns="0" tIns="0" rIns="0" bIns="0" rtlCol="0" anchor="b"/>
          <a:lstStyle/>
          <a:p>
            <a:pPr indent="0" marL="0">
              <a:buNone/>
            </a:pPr>
            <a:r>
              <a:rPr lang="en-US" sz="1300" dirty="0">
                <a:solidFill>
                  <a:schemeClr val="tx1"/>
                </a:solidFill>
              </a:rPr>
              <a:t>Search for the whole request, in referrals mode</a:t>
            </a:r>
            <a:endParaRPr lang="en-US" sz="1300" dirty="0"/>
          </a:p>
        </p:txBody>
      </p:sp>
      <p:sp>
        <p:nvSpPr>
          <p:cNvPr id="19" name="Step 2"/>
          <p:cNvSpPr/>
          <p:nvPr/>
        </p:nvSpPr>
        <p:spPr>
          <a:xfrm>
            <a:off x="548640" y="3968496"/>
            <a:ext cx="329184" cy="329184"/>
          </a:xfrm>
          <a:prstGeom prst="ellipse">
            <a:avLst/>
          </a:prstGeom>
          <a:solidFill>
            <a:schemeClr val="accent5"/>
          </a:solidFill>
          <a:ln/>
        </p:spPr>
      </p:sp>
      <p:sp>
        <p:nvSpPr>
          <p:cNvPr id="20" name="Text 18"/>
          <p:cNvSpPr txBox="1"/>
          <p:nvPr/>
        </p:nvSpPr>
        <p:spPr>
          <a:xfrm>
            <a:off x="548640" y="3968496"/>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1" name="Message 2"/>
          <p:cNvSpPr/>
          <p:nvPr/>
        </p:nvSpPr>
        <p:spPr>
          <a:xfrm flipH="1">
            <a:off x="2103120" y="4133088"/>
            <a:ext cx="4023360" cy="0"/>
          </a:xfrm>
          <a:prstGeom prst="line">
            <a:avLst/>
          </a:prstGeom>
          <a:noFill/>
          <a:ln w="22225">
            <a:solidFill>
              <a:srgbClr val="474552"/>
            </a:solidFill>
            <a:prstDash val="dash"/>
            <a:tailEnd type="triangle"/>
          </a:ln>
        </p:spPr>
      </p:sp>
      <p:sp>
        <p:nvSpPr>
          <p:cNvPr id="22" name="Text 20"/>
          <p:cNvSpPr txBox="1"/>
          <p:nvPr/>
        </p:nvSpPr>
        <p:spPr>
          <a:xfrm>
            <a:off x="2240280" y="3822192"/>
            <a:ext cx="5486400" cy="274320"/>
          </a:xfrm>
          <a:prstGeom prst="rect">
            <a:avLst/>
          </a:prstGeom>
          <a:noFill/>
          <a:ln/>
        </p:spPr>
        <p:txBody>
          <a:bodyPr wrap="square" lIns="0" tIns="0" rIns="0" bIns="0" rtlCol="0" anchor="b"/>
          <a:lstStyle/>
          <a:p>
            <a:pPr indent="0" marL="0">
              <a:buNone/>
            </a:pPr>
            <a:r>
              <a:rPr lang="en-US" sz="1300" dirty="0">
                <a:solidFill>
                  <a:schemeClr val="tx1"/>
                </a:solidFill>
              </a:rPr>
              <a:t>Our expenses agent (97), plus 2 registries to try</a:t>
            </a:r>
            <a:endParaRPr lang="en-US" sz="1300" dirty="0"/>
          </a:p>
        </p:txBody>
      </p:sp>
      <p:sp>
        <p:nvSpPr>
          <p:cNvPr id="23" name="Step 3"/>
          <p:cNvSpPr/>
          <p:nvPr/>
        </p:nvSpPr>
        <p:spPr>
          <a:xfrm>
            <a:off x="548640" y="4443984"/>
            <a:ext cx="329184" cy="329184"/>
          </a:xfrm>
          <a:prstGeom prst="ellipse">
            <a:avLst/>
          </a:prstGeom>
          <a:solidFill>
            <a:schemeClr val="accent5"/>
          </a:solidFill>
          <a:ln/>
        </p:spPr>
      </p:sp>
      <p:sp>
        <p:nvSpPr>
          <p:cNvPr id="24" name="Text 22"/>
          <p:cNvSpPr txBox="1"/>
          <p:nvPr/>
        </p:nvSpPr>
        <p:spPr>
          <a:xfrm>
            <a:off x="548640" y="4443984"/>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5" name="Message 3"/>
          <p:cNvSpPr/>
          <p:nvPr/>
        </p:nvSpPr>
        <p:spPr>
          <a:xfrm>
            <a:off x="2103120" y="4608576"/>
            <a:ext cx="7909560" cy="0"/>
          </a:xfrm>
          <a:prstGeom prst="line">
            <a:avLst/>
          </a:prstGeom>
          <a:noFill/>
          <a:ln w="22225">
            <a:solidFill>
              <a:srgbClr val="E8601F"/>
            </a:solidFill>
            <a:prstDash val="solid"/>
            <a:tailEnd type="triangle"/>
          </a:ln>
        </p:spPr>
      </p:sp>
      <p:sp>
        <p:nvSpPr>
          <p:cNvPr id="26" name="Text 24"/>
          <p:cNvSpPr txBox="1"/>
          <p:nvPr/>
        </p:nvSpPr>
        <p:spPr>
          <a:xfrm>
            <a:off x="2240280" y="4297680"/>
            <a:ext cx="5486400" cy="274320"/>
          </a:xfrm>
          <a:prstGeom prst="rect">
            <a:avLst/>
          </a:prstGeom>
          <a:noFill/>
          <a:ln/>
        </p:spPr>
        <p:txBody>
          <a:bodyPr wrap="square" lIns="0" tIns="0" rIns="0" bIns="0" rtlCol="0" anchor="b"/>
          <a:lstStyle/>
          <a:p>
            <a:pPr indent="0" marL="0">
              <a:buNone/>
            </a:pPr>
            <a:r>
              <a:rPr lang="en-US" sz="1300" dirty="0">
                <a:solidFill>
                  <a:schemeClr val="tx1"/>
                </a:solidFill>
              </a:rPr>
              <a:t>Search only the flight: “flight booking agent”</a:t>
            </a:r>
            <a:endParaRPr lang="en-US" sz="1300" dirty="0"/>
          </a:p>
        </p:txBody>
      </p:sp>
      <p:sp>
        <p:nvSpPr>
          <p:cNvPr id="27" name="Step 4"/>
          <p:cNvSpPr/>
          <p:nvPr/>
        </p:nvSpPr>
        <p:spPr>
          <a:xfrm>
            <a:off x="548640" y="4919472"/>
            <a:ext cx="329184" cy="329184"/>
          </a:xfrm>
          <a:prstGeom prst="ellipse">
            <a:avLst/>
          </a:prstGeom>
          <a:solidFill>
            <a:schemeClr val="accent5"/>
          </a:solidFill>
          <a:ln/>
        </p:spPr>
      </p:sp>
      <p:sp>
        <p:nvSpPr>
          <p:cNvPr id="28" name="Text 26"/>
          <p:cNvSpPr txBox="1"/>
          <p:nvPr/>
        </p:nvSpPr>
        <p:spPr>
          <a:xfrm>
            <a:off x="548640" y="4919472"/>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9" name="Message 4"/>
          <p:cNvSpPr/>
          <p:nvPr/>
        </p:nvSpPr>
        <p:spPr>
          <a:xfrm flipH="1">
            <a:off x="2103120" y="5084064"/>
            <a:ext cx="7909560" cy="0"/>
          </a:xfrm>
          <a:prstGeom prst="line">
            <a:avLst/>
          </a:prstGeom>
          <a:noFill/>
          <a:ln w="22225">
            <a:solidFill>
              <a:srgbClr val="474552"/>
            </a:solidFill>
            <a:prstDash val="dash"/>
            <a:tailEnd type="triangle"/>
          </a:ln>
        </p:spPr>
      </p:sp>
      <p:sp>
        <p:nvSpPr>
          <p:cNvPr id="30" name="Text 28"/>
          <p:cNvSpPr txBox="1"/>
          <p:nvPr/>
        </p:nvSpPr>
        <p:spPr>
          <a:xfrm>
            <a:off x="2240280" y="4773168"/>
            <a:ext cx="5486400" cy="274320"/>
          </a:xfrm>
          <a:prstGeom prst="rect">
            <a:avLst/>
          </a:prstGeom>
          <a:noFill/>
          <a:ln/>
        </p:spPr>
        <p:txBody>
          <a:bodyPr wrap="square" lIns="0" tIns="0" rIns="0" bIns="0" rtlCol="0" anchor="b"/>
          <a:lstStyle/>
          <a:p>
            <a:pPr indent="0" marL="0">
              <a:buNone/>
            </a:pPr>
            <a:r>
              <a:rPr lang="en-US" sz="1300" dirty="0">
                <a:solidFill>
                  <a:schemeClr val="tx1"/>
                </a:solidFill>
              </a:rPr>
              <a:t>Here’s a flight booking agent</a:t>
            </a:r>
            <a:endParaRPr lang="en-US" sz="1300" dirty="0"/>
          </a:p>
        </p:txBody>
      </p:sp>
      <p:sp>
        <p:nvSpPr>
          <p:cNvPr id="31" name="Step 5"/>
          <p:cNvSpPr/>
          <p:nvPr/>
        </p:nvSpPr>
        <p:spPr>
          <a:xfrm>
            <a:off x="548640" y="5687568"/>
            <a:ext cx="329184" cy="329184"/>
          </a:xfrm>
          <a:prstGeom prst="ellipse">
            <a:avLst/>
          </a:prstGeom>
          <a:solidFill>
            <a:schemeClr val="accent5"/>
          </a:solidFill>
          <a:ln/>
        </p:spPr>
      </p:sp>
      <p:sp>
        <p:nvSpPr>
          <p:cNvPr id="32" name="Text 30"/>
          <p:cNvSpPr txBox="1"/>
          <p:nvPr/>
        </p:nvSpPr>
        <p:spPr>
          <a:xfrm>
            <a:off x="548640" y="5687568"/>
            <a:ext cx="329184" cy="329184"/>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3" name="Step 5 note"/>
          <p:cNvSpPr/>
          <p:nvPr/>
        </p:nvSpPr>
        <p:spPr>
          <a:xfrm>
            <a:off x="1051560" y="5559552"/>
            <a:ext cx="10588752" cy="585216"/>
          </a:xfrm>
          <a:prstGeom prst="roundRect">
            <a:avLst>
              <a:gd name="adj" fmla="val 21875"/>
            </a:avLst>
          </a:prstGeom>
          <a:solidFill>
            <a:schemeClr val="bg2"/>
          </a:solidFill>
          <a:ln/>
        </p:spPr>
      </p:sp>
      <p:sp>
        <p:nvSpPr>
          <p:cNvPr id="34" name="Text 32"/>
          <p:cNvSpPr txBox="1"/>
          <p:nvPr/>
        </p:nvSpPr>
        <p:spPr>
          <a:xfrm>
            <a:off x="1280160" y="5559552"/>
            <a:ext cx="10241280" cy="585216"/>
          </a:xfrm>
          <a:prstGeom prst="rect">
            <a:avLst/>
          </a:prstGeom>
          <a:noFill/>
          <a:ln/>
        </p:spPr>
        <p:txBody>
          <a:bodyPr wrap="square" lIns="0" tIns="0" rIns="0" bIns="0" rtlCol="0" anchor="ctr"/>
          <a:lstStyle/>
          <a:p>
            <a:pPr indent="0" marL="0">
              <a:buNone/>
            </a:pPr>
            <a:r>
              <a:rPr lang="en-US" sz="1500" dirty="0">
                <a:solidFill>
                  <a:schemeClr val="tx1"/>
                </a:solidFill>
              </a:rPr>
              <a:t>The orchestrator calls both agents through their own protocols. ARD’s job ended at step 4.</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02  ·  WHAT ARD IS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Relevance and trust are deliberately kept apart</a:t>
            </a:r>
            <a:endParaRPr lang="en-US" sz="3200" dirty="0"/>
          </a:p>
        </p:txBody>
      </p:sp>
      <p:sp>
        <p:nvSpPr>
          <p:cNvPr id="4" name="Score card"/>
          <p:cNvSpPr/>
          <p:nvPr/>
        </p:nvSpPr>
        <p:spPr>
          <a:xfrm>
            <a:off x="548640" y="1965960"/>
            <a:ext cx="4297680" cy="4114800"/>
          </a:xfrm>
          <a:prstGeom prst="roundRect">
            <a:avLst>
              <a:gd name="adj" fmla="val 3111"/>
            </a:avLst>
          </a:prstGeom>
          <a:solidFill>
            <a:schemeClr val="bg2"/>
          </a:solidFill>
          <a:ln/>
        </p:spPr>
      </p:sp>
      <p:sp>
        <p:nvSpPr>
          <p:cNvPr id="5" name="Text 3"/>
          <p:cNvSpPr txBox="1"/>
          <p:nvPr/>
        </p:nvSpPr>
        <p:spPr>
          <a:xfrm>
            <a:off x="822960" y="2194560"/>
            <a:ext cx="3749040" cy="365760"/>
          </a:xfrm>
          <a:prstGeom prst="rect">
            <a:avLst/>
          </a:prstGeom>
          <a:noFill/>
          <a:ln/>
        </p:spPr>
        <p:txBody>
          <a:bodyPr wrap="square" lIns="0" tIns="0" rIns="0" bIns="0" rtlCol="0" anchor="t"/>
          <a:lstStyle/>
          <a:p>
            <a:pPr indent="0" marL="0">
              <a:buNone/>
            </a:pPr>
            <a:r>
              <a:rPr lang="en-US" sz="1800" b="1" dirty="0">
                <a:solidFill>
                  <a:schemeClr val="accent6"/>
                </a:solidFill>
                <a:latin typeface="Consolas" pitchFamily="34" charset="0"/>
                <a:ea typeface="Consolas" pitchFamily="34" charset="-122"/>
                <a:cs typeface="Consolas" pitchFamily="34" charset="-120"/>
              </a:rPr>
              <a:t>score</a:t>
            </a:r>
            <a:endParaRPr lang="en-US" sz="1800" dirty="0"/>
          </a:p>
        </p:txBody>
      </p:sp>
      <p:sp>
        <p:nvSpPr>
          <p:cNvPr id="6" name="Text 4"/>
          <p:cNvSpPr txBox="1"/>
          <p:nvPr/>
        </p:nvSpPr>
        <p:spPr>
          <a:xfrm>
            <a:off x="822960" y="2560320"/>
            <a:ext cx="3749040" cy="1188720"/>
          </a:xfrm>
          <a:prstGeom prst="rect">
            <a:avLst/>
          </a:prstGeom>
          <a:noFill/>
          <a:ln/>
        </p:spPr>
        <p:txBody>
          <a:bodyPr wrap="square" lIns="0" tIns="0" rIns="0" bIns="0" rtlCol="0" anchor="t"/>
          <a:lstStyle/>
          <a:p>
            <a:pPr indent="0" marL="0">
              <a:buNone/>
            </a:pPr>
            <a:r>
              <a:rPr lang="en-US" sz="8000" b="1" dirty="0">
                <a:solidFill>
                  <a:schemeClr val="accent5"/>
                </a:solidFill>
              </a:rPr>
              <a:t>95</a:t>
            </a:r>
            <a:endParaRPr lang="en-US" sz="8000" dirty="0"/>
          </a:p>
        </p:txBody>
      </p:sp>
      <p:sp>
        <p:nvSpPr>
          <p:cNvPr id="7" name="Text 5"/>
          <p:cNvSpPr txBox="1"/>
          <p:nvPr/>
        </p:nvSpPr>
        <p:spPr>
          <a:xfrm>
            <a:off x="822960" y="3886200"/>
            <a:ext cx="3749040" cy="640080"/>
          </a:xfrm>
          <a:prstGeom prst="rect">
            <a:avLst/>
          </a:prstGeom>
          <a:noFill/>
          <a:ln/>
        </p:spPr>
        <p:txBody>
          <a:bodyPr wrap="square" lIns="0" tIns="0" rIns="0" bIns="0" rtlCol="0" anchor="t"/>
          <a:lstStyle/>
          <a:p>
            <a:pPr indent="0" marL="0">
              <a:buNone/>
            </a:pPr>
            <a:r>
              <a:rPr lang="en-US" sz="1600" b="1" dirty="0">
                <a:solidFill>
                  <a:schemeClr val="tx1"/>
                </a:solidFill>
              </a:rPr>
              <a:t>How well the entry matches the request, from 0 to 100.</a:t>
            </a:r>
            <a:endParaRPr lang="en-US" sz="1600" dirty="0"/>
          </a:p>
        </p:txBody>
      </p:sp>
      <p:sp>
        <p:nvSpPr>
          <p:cNvPr id="8" name="Text 6"/>
          <p:cNvSpPr txBox="1"/>
          <p:nvPr/>
        </p:nvSpPr>
        <p:spPr>
          <a:xfrm>
            <a:off x="822960" y="4617720"/>
            <a:ext cx="3749040" cy="914400"/>
          </a:xfrm>
          <a:prstGeom prst="rect">
            <a:avLst/>
          </a:prstGeom>
          <a:noFill/>
          <a:ln/>
        </p:spPr>
        <p:txBody>
          <a:bodyPr wrap="square" lIns="0" tIns="0" rIns="0" bIns="0" rtlCol="0" anchor="t"/>
          <a:lstStyle/>
          <a:p>
            <a:pPr indent="0" marL="0">
              <a:buNone/>
            </a:pPr>
            <a:r>
              <a:rPr lang="en-US" sz="1500" dirty="0">
                <a:solidFill>
                  <a:schemeClr val="accent6"/>
                </a:solidFill>
              </a:rPr>
              <a:t>The spec says it MUST NOT be read as a trust, compliance or safety rating.</a:t>
            </a:r>
            <a:endParaRPr lang="en-US" sz="1500" dirty="0"/>
          </a:p>
        </p:txBody>
      </p:sp>
      <p:sp>
        <p:nvSpPr>
          <p:cNvPr id="9" name="Text 7"/>
          <p:cNvSpPr txBox="1"/>
          <p:nvPr/>
        </p:nvSpPr>
        <p:spPr>
          <a:xfrm>
            <a:off x="5257800" y="1965960"/>
            <a:ext cx="6400800" cy="411480"/>
          </a:xfrm>
          <a:prstGeom prst="rect">
            <a:avLst/>
          </a:prstGeom>
          <a:noFill/>
          <a:ln/>
        </p:spPr>
        <p:txBody>
          <a:bodyPr wrap="square" lIns="0" tIns="0" rIns="0" bIns="0" rtlCol="0" anchor="t"/>
          <a:lstStyle/>
          <a:p>
            <a:pPr indent="0" marL="0">
              <a:buNone/>
            </a:pPr>
            <a:r>
              <a:rPr lang="en-US" sz="1900" b="1" dirty="0">
                <a:solidFill>
                  <a:schemeClr val="accent4"/>
                </a:solidFill>
                <a:latin typeface="Consolas" pitchFamily="34" charset="0"/>
                <a:ea typeface="Consolas" pitchFamily="34" charset="-122"/>
                <a:cs typeface="Consolas" pitchFamily="34" charset="-120"/>
              </a:rPr>
              <a:t>trustManifest</a:t>
            </a:r>
            <a:pPr indent="0" marL="0">
              <a:buNone/>
            </a:pPr>
            <a:r>
              <a:rPr lang="en-US" sz="1900" b="1" dirty="0">
                <a:solidFill>
                  <a:schemeClr val="tx1"/>
                </a:solidFill>
              </a:rPr>
              <a:t>  is where trust lives</a:t>
            </a:r>
            <a:endParaRPr lang="en-US" sz="1900" dirty="0"/>
          </a:p>
        </p:txBody>
      </p:sp>
      <p:sp>
        <p:nvSpPr>
          <p:cNvPr id="10" name="Trust identity"/>
          <p:cNvSpPr/>
          <p:nvPr/>
        </p:nvSpPr>
        <p:spPr>
          <a:xfrm>
            <a:off x="5257800" y="2560320"/>
            <a:ext cx="6382512" cy="1051560"/>
          </a:xfrm>
          <a:prstGeom prst="roundRect">
            <a:avLst>
              <a:gd name="adj" fmla="val 12174"/>
            </a:avLst>
          </a:prstGeom>
          <a:solidFill>
            <a:schemeClr val="bg1"/>
          </a:solidFill>
          <a:ln w="15875">
            <a:solidFill>
              <a:srgbClr val="B6B0D0"/>
            </a:solidFill>
            <a:prstDash val="solid"/>
          </a:ln>
        </p:spPr>
      </p:sp>
      <p:sp>
        <p:nvSpPr>
          <p:cNvPr id="11" name="Text 9"/>
          <p:cNvSpPr txBox="1"/>
          <p:nvPr/>
        </p:nvSpPr>
        <p:spPr>
          <a:xfrm>
            <a:off x="5486400" y="2670048"/>
            <a:ext cx="1828800" cy="365760"/>
          </a:xfrm>
          <a:prstGeom prst="rect">
            <a:avLst/>
          </a:prstGeom>
          <a:noFill/>
          <a:ln/>
        </p:spPr>
        <p:txBody>
          <a:bodyPr wrap="square" lIns="0" tIns="0" rIns="0" bIns="0" rtlCol="0" anchor="t"/>
          <a:lstStyle/>
          <a:p>
            <a:pPr indent="0" marL="0">
              <a:buNone/>
            </a:pPr>
            <a:r>
              <a:rPr lang="en-US" sz="1500" b="1" dirty="0">
                <a:solidFill>
                  <a:schemeClr val="accent4"/>
                </a:solidFill>
                <a:latin typeface="Consolas" pitchFamily="34" charset="0"/>
                <a:ea typeface="Consolas" pitchFamily="34" charset="-122"/>
                <a:cs typeface="Consolas" pitchFamily="34" charset="-120"/>
              </a:rPr>
              <a:t>identity</a:t>
            </a:r>
            <a:endParaRPr lang="en-US" sz="1500" dirty="0"/>
          </a:p>
        </p:txBody>
      </p:sp>
      <p:sp>
        <p:nvSpPr>
          <p:cNvPr id="12" name="Text 10"/>
          <p:cNvSpPr txBox="1"/>
          <p:nvPr/>
        </p:nvSpPr>
        <p:spPr>
          <a:xfrm>
            <a:off x="7406640" y="2651760"/>
            <a:ext cx="4069080" cy="868680"/>
          </a:xfrm>
          <a:prstGeom prst="rect">
            <a:avLst/>
          </a:prstGeom>
          <a:noFill/>
          <a:ln/>
        </p:spPr>
        <p:txBody>
          <a:bodyPr wrap="square" lIns="0" tIns="0" rIns="0" bIns="0" rtlCol="0" anchor="ctr"/>
          <a:lstStyle/>
          <a:p>
            <a:pPr indent="0" marL="0">
              <a:buNone/>
            </a:pPr>
            <a:r>
              <a:rPr lang="en-US" sz="1400" dirty="0">
                <a:solidFill>
                  <a:schemeClr val="tx1"/>
                </a:solidFill>
              </a:rPr>
              <a:t>Must match the URN’s publisher domain. A claim to urn:air:google.com needs an attestation from google.com.</a:t>
            </a:r>
            <a:endParaRPr lang="en-US" sz="1400" dirty="0"/>
          </a:p>
        </p:txBody>
      </p:sp>
      <p:sp>
        <p:nvSpPr>
          <p:cNvPr id="13" name="Trust attestations"/>
          <p:cNvSpPr/>
          <p:nvPr/>
        </p:nvSpPr>
        <p:spPr>
          <a:xfrm>
            <a:off x="5257800" y="3749040"/>
            <a:ext cx="6382512" cy="1051560"/>
          </a:xfrm>
          <a:prstGeom prst="roundRect">
            <a:avLst>
              <a:gd name="adj" fmla="val 12174"/>
            </a:avLst>
          </a:prstGeom>
          <a:solidFill>
            <a:schemeClr val="bg1"/>
          </a:solidFill>
          <a:ln w="15875">
            <a:solidFill>
              <a:srgbClr val="B6B0D0"/>
            </a:solidFill>
            <a:prstDash val="solid"/>
          </a:ln>
        </p:spPr>
      </p:sp>
      <p:sp>
        <p:nvSpPr>
          <p:cNvPr id="14" name="Text 12"/>
          <p:cNvSpPr txBox="1"/>
          <p:nvPr/>
        </p:nvSpPr>
        <p:spPr>
          <a:xfrm>
            <a:off x="5486400" y="3858768"/>
            <a:ext cx="1828800" cy="365760"/>
          </a:xfrm>
          <a:prstGeom prst="rect">
            <a:avLst/>
          </a:prstGeom>
          <a:noFill/>
          <a:ln/>
        </p:spPr>
        <p:txBody>
          <a:bodyPr wrap="square" lIns="0" tIns="0" rIns="0" bIns="0" rtlCol="0" anchor="t"/>
          <a:lstStyle/>
          <a:p>
            <a:pPr indent="0" marL="0">
              <a:buNone/>
            </a:pPr>
            <a:r>
              <a:rPr lang="en-US" sz="1500" b="1" dirty="0">
                <a:solidFill>
                  <a:schemeClr val="accent4"/>
                </a:solidFill>
                <a:latin typeface="Consolas" pitchFamily="34" charset="0"/>
                <a:ea typeface="Consolas" pitchFamily="34" charset="-122"/>
                <a:cs typeface="Consolas" pitchFamily="34" charset="-120"/>
              </a:rPr>
              <a:t>attestations</a:t>
            </a:r>
            <a:endParaRPr lang="en-US" sz="1500" dirty="0"/>
          </a:p>
        </p:txBody>
      </p:sp>
      <p:sp>
        <p:nvSpPr>
          <p:cNvPr id="15" name="Text 13"/>
          <p:cNvSpPr txBox="1"/>
          <p:nvPr/>
        </p:nvSpPr>
        <p:spPr>
          <a:xfrm>
            <a:off x="7406640" y="3840480"/>
            <a:ext cx="4069080" cy="868680"/>
          </a:xfrm>
          <a:prstGeom prst="rect">
            <a:avLst/>
          </a:prstGeom>
          <a:noFill/>
          <a:ln/>
        </p:spPr>
        <p:txBody>
          <a:bodyPr wrap="square" lIns="0" tIns="0" rIns="0" bIns="0" rtlCol="0" anchor="ctr"/>
          <a:lstStyle/>
          <a:p>
            <a:pPr indent="0" marL="0">
              <a:buNone/>
            </a:pPr>
            <a:r>
              <a:rPr lang="en-US" sz="1400" dirty="0">
                <a:solidFill>
                  <a:schemeClr val="tx1"/>
                </a:solidFill>
              </a:rPr>
              <a:t>SOC 2 or HIPAA audits, SARIF security scans, SLSA and in-toto provenance, SCITT receipts, runtime evaluations</a:t>
            </a:r>
            <a:endParaRPr lang="en-US" sz="1400" dirty="0"/>
          </a:p>
        </p:txBody>
      </p:sp>
      <p:sp>
        <p:nvSpPr>
          <p:cNvPr id="16" name="Trust trustSchema"/>
          <p:cNvSpPr/>
          <p:nvPr/>
        </p:nvSpPr>
        <p:spPr>
          <a:xfrm>
            <a:off x="5257800" y="4937760"/>
            <a:ext cx="6382512" cy="1051560"/>
          </a:xfrm>
          <a:prstGeom prst="roundRect">
            <a:avLst>
              <a:gd name="adj" fmla="val 12174"/>
            </a:avLst>
          </a:prstGeom>
          <a:solidFill>
            <a:schemeClr val="bg1"/>
          </a:solidFill>
          <a:ln w="15875">
            <a:solidFill>
              <a:srgbClr val="B6B0D0"/>
            </a:solidFill>
            <a:prstDash val="solid"/>
          </a:ln>
        </p:spPr>
      </p:sp>
      <p:sp>
        <p:nvSpPr>
          <p:cNvPr id="17" name="Text 15"/>
          <p:cNvSpPr txBox="1"/>
          <p:nvPr/>
        </p:nvSpPr>
        <p:spPr>
          <a:xfrm>
            <a:off x="5486400" y="5047488"/>
            <a:ext cx="1828800" cy="365760"/>
          </a:xfrm>
          <a:prstGeom prst="rect">
            <a:avLst/>
          </a:prstGeom>
          <a:noFill/>
          <a:ln/>
        </p:spPr>
        <p:txBody>
          <a:bodyPr wrap="square" lIns="0" tIns="0" rIns="0" bIns="0" rtlCol="0" anchor="t"/>
          <a:lstStyle/>
          <a:p>
            <a:pPr indent="0" marL="0">
              <a:buNone/>
            </a:pPr>
            <a:r>
              <a:rPr lang="en-US" sz="1500" b="1" dirty="0">
                <a:solidFill>
                  <a:schemeClr val="accent4"/>
                </a:solidFill>
                <a:latin typeface="Consolas" pitchFamily="34" charset="0"/>
                <a:ea typeface="Consolas" pitchFamily="34" charset="-122"/>
                <a:cs typeface="Consolas" pitchFamily="34" charset="-120"/>
              </a:rPr>
              <a:t>trustSchema</a:t>
            </a:r>
            <a:endParaRPr lang="en-US" sz="1500" dirty="0"/>
          </a:p>
        </p:txBody>
      </p:sp>
      <p:sp>
        <p:nvSpPr>
          <p:cNvPr id="18" name="Text 16"/>
          <p:cNvSpPr txBox="1"/>
          <p:nvPr/>
        </p:nvSpPr>
        <p:spPr>
          <a:xfrm>
            <a:off x="7406640" y="5029200"/>
            <a:ext cx="4069080" cy="868680"/>
          </a:xfrm>
          <a:prstGeom prst="rect">
            <a:avLst/>
          </a:prstGeom>
          <a:noFill/>
          <a:ln/>
        </p:spPr>
        <p:txBody>
          <a:bodyPr wrap="square" lIns="0" tIns="0" rIns="0" bIns="0" rtlCol="0" anchor="ctr"/>
          <a:lstStyle/>
          <a:p>
            <a:pPr indent="0" marL="0">
              <a:buNone/>
            </a:pPr>
            <a:r>
              <a:rPr lang="en-US" sz="1400" dirty="0">
                <a:solidFill>
                  <a:schemeClr val="tx1"/>
                </a:solidFill>
              </a:rPr>
              <a:t>Any framework (SPIFFE, DIDs, enterprise PKI). Registries verify per the framework the entry declares.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  HOW I IMPLEMENTED IT</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Observal had a registry; ARD gave it a standard front door</a:t>
            </a:r>
            <a:endParaRPr lang="en-US" sz="3200" dirty="0"/>
          </a:p>
        </p:txBody>
      </p:sp>
      <p:sp>
        <p:nvSpPr>
          <p:cNvPr id="4" name="Text 2"/>
          <p:cNvSpPr txBox="1"/>
          <p:nvPr/>
        </p:nvSpPr>
        <p:spPr>
          <a:xfrm>
            <a:off x="548640" y="1965960"/>
            <a:ext cx="6035040" cy="457200"/>
          </a:xfrm>
          <a:prstGeom prst="rect">
            <a:avLst/>
          </a:prstGeom>
          <a:noFill/>
          <a:ln/>
        </p:spPr>
        <p:txBody>
          <a:bodyPr wrap="square" lIns="0" tIns="0" rIns="0" bIns="0" rtlCol="0" anchor="t"/>
          <a:lstStyle/>
          <a:p>
            <a:pPr indent="0" marL="0">
              <a:buNone/>
            </a:pPr>
            <a:r>
              <a:rPr lang="en-US" sz="2400" b="1" dirty="0">
                <a:solidFill>
                  <a:schemeClr val="tx1"/>
                </a:solidFill>
              </a:rPr>
              <a:t>Observal</a:t>
            </a:r>
            <a:endParaRPr lang="en-US" sz="2400" dirty="0"/>
          </a:p>
        </p:txBody>
      </p:sp>
      <p:sp>
        <p:nvSpPr>
          <p:cNvPr id="5" name="Text 3"/>
          <p:cNvSpPr txBox="1"/>
          <p:nvPr/>
        </p:nvSpPr>
        <p:spPr>
          <a:xfrm>
            <a:off x="548640" y="2423160"/>
            <a:ext cx="6309360" cy="365760"/>
          </a:xfrm>
          <a:prstGeom prst="rect">
            <a:avLst/>
          </a:prstGeom>
          <a:noFill/>
          <a:ln/>
        </p:spPr>
        <p:txBody>
          <a:bodyPr wrap="square" lIns="0" tIns="0" rIns="0" bIns="0" rtlCol="0" anchor="t"/>
          <a:lstStyle/>
          <a:p>
            <a:pPr indent="0" marL="0">
              <a:buNone/>
            </a:pPr>
            <a:r>
              <a:rPr lang="en-US" sz="1600" dirty="0">
                <a:solidFill>
                  <a:schemeClr val="accent6"/>
                </a:solidFill>
              </a:rPr>
              <a:t>Open-source registry and observability for AI coding agents</a:t>
            </a:r>
            <a:endParaRPr lang="en-US" sz="1600" dirty="0"/>
          </a:p>
        </p:txBody>
      </p:sp>
      <p:sp>
        <p:nvSpPr>
          <p:cNvPr id="6" name="Context 1 circle"/>
          <p:cNvSpPr/>
          <p:nvPr/>
        </p:nvSpPr>
        <p:spPr>
          <a:xfrm>
            <a:off x="548640" y="2926080"/>
            <a:ext cx="548640" cy="548640"/>
          </a:xfrm>
          <a:prstGeom prst="ellipse">
            <a:avLst/>
          </a:prstGeom>
          <a:solidFill>
            <a:schemeClr val="accent3"/>
          </a:solidFill>
          <a:ln/>
        </p:spPr>
      </p:sp>
      <p:pic>
        <p:nvPicPr>
          <p:cNvPr id="7" name="Context 1 icon" descr="preencoded.png">    </p:cNvPr>
          <p:cNvPicPr>
            <a:picLocks noChangeAspect="1"/>
          </p:cNvPicPr>
          <p:nvPr/>
        </p:nvPicPr>
        <p:blipFill>
          <a:blip r:embed="rId1"/>
          <a:stretch>
            <a:fillRect/>
          </a:stretch>
        </p:blipFill>
        <p:spPr>
          <a:xfrm>
            <a:off x="685800" y="3063240"/>
            <a:ext cx="274320" cy="274320"/>
          </a:xfrm>
          <a:prstGeom prst="rect">
            <a:avLst/>
          </a:prstGeom>
        </p:spPr>
      </p:pic>
      <p:sp>
        <p:nvSpPr>
          <p:cNvPr id="8" name="Text 5"/>
          <p:cNvSpPr txBox="1"/>
          <p:nvPr/>
        </p:nvSpPr>
        <p:spPr>
          <a:xfrm>
            <a:off x="1325880" y="2926080"/>
            <a:ext cx="5303520" cy="548640"/>
          </a:xfrm>
          <a:prstGeom prst="rect">
            <a:avLst/>
          </a:prstGeom>
          <a:noFill/>
          <a:ln/>
        </p:spPr>
        <p:txBody>
          <a:bodyPr wrap="square" lIns="0" tIns="0" rIns="0" bIns="0" rtlCol="0" anchor="ctr"/>
          <a:lstStyle/>
          <a:p>
            <a:pPr indent="0" marL="0">
              <a:buNone/>
            </a:pPr>
            <a:r>
              <a:rPr lang="en-US" sz="1600" dirty="0">
                <a:solidFill>
                  <a:schemeClr val="tx1"/>
                </a:solidFill>
              </a:rPr>
              <a:t>Agents bundle MCP servers, skills, hooks, prompts and sandboxes</a:t>
            </a:r>
            <a:endParaRPr lang="en-US" sz="1600" dirty="0"/>
          </a:p>
        </p:txBody>
      </p:sp>
      <p:sp>
        <p:nvSpPr>
          <p:cNvPr id="9" name="Context 2 circle"/>
          <p:cNvSpPr/>
          <p:nvPr/>
        </p:nvSpPr>
        <p:spPr>
          <a:xfrm>
            <a:off x="548640" y="3639312"/>
            <a:ext cx="548640" cy="548640"/>
          </a:xfrm>
          <a:prstGeom prst="ellipse">
            <a:avLst/>
          </a:prstGeom>
          <a:solidFill>
            <a:schemeClr val="accent3"/>
          </a:solidFill>
          <a:ln/>
        </p:spPr>
      </p:sp>
      <p:pic>
        <p:nvPicPr>
          <p:cNvPr id="10" name="Context 2 icon" descr="preencoded.png">    </p:cNvPr>
          <p:cNvPicPr>
            <a:picLocks noChangeAspect="1"/>
          </p:cNvPicPr>
          <p:nvPr/>
        </p:nvPicPr>
        <p:blipFill>
          <a:blip r:embed="rId2"/>
          <a:stretch>
            <a:fillRect/>
          </a:stretch>
        </p:blipFill>
        <p:spPr>
          <a:xfrm>
            <a:off x="685800" y="3776472"/>
            <a:ext cx="274320" cy="274320"/>
          </a:xfrm>
          <a:prstGeom prst="rect">
            <a:avLst/>
          </a:prstGeom>
        </p:spPr>
      </p:pic>
      <p:sp>
        <p:nvSpPr>
          <p:cNvPr id="11" name="Text 7"/>
          <p:cNvSpPr txBox="1"/>
          <p:nvPr/>
        </p:nvSpPr>
        <p:spPr>
          <a:xfrm>
            <a:off x="1325880" y="3639312"/>
            <a:ext cx="5303520" cy="548640"/>
          </a:xfrm>
          <a:prstGeom prst="rect">
            <a:avLst/>
          </a:prstGeom>
          <a:noFill/>
          <a:ln/>
        </p:spPr>
        <p:txBody>
          <a:bodyPr wrap="square" lIns="0" tIns="0" rIns="0" bIns="0" rtlCol="0" anchor="ctr"/>
          <a:lstStyle/>
          <a:p>
            <a:pPr indent="0" marL="0">
              <a:buNone/>
            </a:pPr>
            <a:r>
              <a:rPr lang="en-US" sz="1600" dirty="0">
                <a:solidFill>
                  <a:schemeClr val="tx1"/>
                </a:solidFill>
              </a:rPr>
              <a:t>Install-first: build, get approved, pull into a harness, then start</a:t>
            </a:r>
            <a:endParaRPr lang="en-US" sz="1600" dirty="0"/>
          </a:p>
        </p:txBody>
      </p:sp>
      <p:sp>
        <p:nvSpPr>
          <p:cNvPr id="12" name="Context 3 circle"/>
          <p:cNvSpPr/>
          <p:nvPr/>
        </p:nvSpPr>
        <p:spPr>
          <a:xfrm>
            <a:off x="548640" y="4352544"/>
            <a:ext cx="548640" cy="548640"/>
          </a:xfrm>
          <a:prstGeom prst="ellipse">
            <a:avLst/>
          </a:prstGeom>
          <a:solidFill>
            <a:schemeClr val="accent5"/>
          </a:solidFill>
          <a:ln/>
        </p:spPr>
      </p:sp>
      <p:pic>
        <p:nvPicPr>
          <p:cNvPr id="13" name="Context 3 icon" descr="preencoded.png">    </p:cNvPr>
          <p:cNvPicPr>
            <a:picLocks noChangeAspect="1"/>
          </p:cNvPicPr>
          <p:nvPr/>
        </p:nvPicPr>
        <p:blipFill>
          <a:blip r:embed="rId3"/>
          <a:stretch>
            <a:fillRect/>
          </a:stretch>
        </p:blipFill>
        <p:spPr>
          <a:xfrm>
            <a:off x="685800" y="4489704"/>
            <a:ext cx="274320" cy="274320"/>
          </a:xfrm>
          <a:prstGeom prst="rect">
            <a:avLst/>
          </a:prstGeom>
        </p:spPr>
      </p:pic>
      <p:sp>
        <p:nvSpPr>
          <p:cNvPr id="14" name="Text 9"/>
          <p:cNvSpPr txBox="1"/>
          <p:nvPr/>
        </p:nvSpPr>
        <p:spPr>
          <a:xfrm>
            <a:off x="1325880" y="4352544"/>
            <a:ext cx="5303520" cy="548640"/>
          </a:xfrm>
          <a:prstGeom prst="rect">
            <a:avLst/>
          </a:prstGeom>
          <a:noFill/>
          <a:ln/>
        </p:spPr>
        <p:txBody>
          <a:bodyPr wrap="square" lIns="0" tIns="0" rIns="0" bIns="0" rtlCol="0" anchor="ctr"/>
          <a:lstStyle/>
          <a:p>
            <a:pPr indent="0" marL="0">
              <a:buNone/>
            </a:pPr>
            <a:r>
              <a:rPr lang="en-US" sz="1600" dirty="0">
                <a:solidFill>
                  <a:schemeClr val="tx1"/>
                </a:solidFill>
              </a:rPr>
              <a:t>The gap: mid-task, an agent can’t see approved resources it wasn’t given</a:t>
            </a:r>
            <a:endParaRPr lang="en-US" sz="1600" dirty="0"/>
          </a:p>
        </p:txBody>
      </p:sp>
      <p:sp>
        <p:nvSpPr>
          <p:cNvPr id="15" name="Principle card"/>
          <p:cNvSpPr/>
          <p:nvPr/>
        </p:nvSpPr>
        <p:spPr>
          <a:xfrm>
            <a:off x="7086600" y="1965960"/>
            <a:ext cx="4553712" cy="2788920"/>
          </a:xfrm>
          <a:prstGeom prst="roundRect">
            <a:avLst>
              <a:gd name="adj" fmla="val 4590"/>
            </a:avLst>
          </a:prstGeom>
          <a:solidFill>
            <a:schemeClr val="bg2"/>
          </a:solidFill>
          <a:ln/>
        </p:spPr>
      </p:sp>
      <p:sp>
        <p:nvSpPr>
          <p:cNvPr id="16" name="Text 11"/>
          <p:cNvSpPr txBox="1"/>
          <p:nvPr/>
        </p:nvSpPr>
        <p:spPr>
          <a:xfrm>
            <a:off x="7406640" y="2240280"/>
            <a:ext cx="4023360" cy="457200"/>
          </a:xfrm>
          <a:prstGeom prst="rect">
            <a:avLst/>
          </a:prstGeom>
          <a:noFill/>
          <a:ln/>
        </p:spPr>
        <p:txBody>
          <a:bodyPr wrap="square" lIns="0" tIns="0" rIns="0" bIns="0" rtlCol="0" anchor="t"/>
          <a:lstStyle/>
          <a:p>
            <a:pPr indent="0" marL="0">
              <a:buNone/>
            </a:pPr>
            <a:r>
              <a:rPr lang="en-US" sz="2400" b="1" dirty="0">
                <a:solidFill>
                  <a:schemeClr val="tx1"/>
                </a:solidFill>
              </a:rPr>
              <a:t>ARD says what exists.</a:t>
            </a:r>
            <a:endParaRPr lang="en-US" sz="2400" dirty="0"/>
          </a:p>
        </p:txBody>
      </p:sp>
      <p:sp>
        <p:nvSpPr>
          <p:cNvPr id="17" name="Text 12"/>
          <p:cNvSpPr txBox="1"/>
          <p:nvPr/>
        </p:nvSpPr>
        <p:spPr>
          <a:xfrm>
            <a:off x="7406640" y="2697480"/>
            <a:ext cx="4023360" cy="914400"/>
          </a:xfrm>
          <a:prstGeom prst="rect">
            <a:avLst/>
          </a:prstGeom>
          <a:noFill/>
          <a:ln/>
        </p:spPr>
        <p:txBody>
          <a:bodyPr wrap="square" lIns="0" tIns="0" rIns="0" bIns="0" rtlCol="0" anchor="t"/>
          <a:lstStyle/>
          <a:p>
            <a:pPr indent="0" marL="0">
              <a:buNone/>
            </a:pPr>
            <a:r>
              <a:rPr lang="en-US" sz="2400" b="1" dirty="0">
                <a:solidFill>
                  <a:schemeClr val="accent2"/>
                </a:solidFill>
              </a:rPr>
              <a:t>Observal says how to use it safely.</a:t>
            </a:r>
            <a:endParaRPr lang="en-US" sz="2400" dirty="0"/>
          </a:p>
        </p:txBody>
      </p:sp>
      <p:sp>
        <p:nvSpPr>
          <p:cNvPr id="18" name="Text 13"/>
          <p:cNvSpPr txBox="1"/>
          <p:nvPr/>
        </p:nvSpPr>
        <p:spPr>
          <a:xfrm>
            <a:off x="7406640" y="3886200"/>
            <a:ext cx="4023360" cy="640080"/>
          </a:xfrm>
          <a:prstGeom prst="rect">
            <a:avLst/>
          </a:prstGeom>
          <a:noFill/>
          <a:ln/>
        </p:spPr>
        <p:txBody>
          <a:bodyPr wrap="square" lIns="0" tIns="0" rIns="0" bIns="0" rtlCol="0" anchor="t"/>
          <a:lstStyle/>
          <a:p>
            <a:pPr indent="0" marL="0">
              <a:buNone/>
            </a:pPr>
            <a:r>
              <a:rPr lang="en-US" sz="1400" dirty="0">
                <a:solidFill>
                  <a:schemeClr val="accent6"/>
                </a:solidFill>
              </a:rPr>
              <a:t>The design principle I wrote into the project’s first ADR</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  HOW I IMPLEMENTED IT</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I added ARD as a projection, not a rewrite</a:t>
            </a:r>
            <a:endParaRPr lang="en-US" sz="3200" dirty="0"/>
          </a:p>
        </p:txBody>
      </p:sp>
      <p:sp>
        <p:nvSpPr>
          <p:cNvPr id="4" name="Native registry"/>
          <p:cNvSpPr/>
          <p:nvPr/>
        </p:nvSpPr>
        <p:spPr>
          <a:xfrm>
            <a:off x="548640" y="1965960"/>
            <a:ext cx="3154680" cy="4114800"/>
          </a:xfrm>
          <a:prstGeom prst="roundRect">
            <a:avLst>
              <a:gd name="adj" fmla="val 4058"/>
            </a:avLst>
          </a:prstGeom>
          <a:solidFill>
            <a:schemeClr val="bg2"/>
          </a:solidFill>
          <a:ln/>
        </p:spPr>
      </p:sp>
      <p:sp>
        <p:nvSpPr>
          <p:cNvPr id="5" name="Native registry circle"/>
          <p:cNvSpPr/>
          <p:nvPr/>
        </p:nvSpPr>
        <p:spPr>
          <a:xfrm>
            <a:off x="777240" y="2176272"/>
            <a:ext cx="502920" cy="502920"/>
          </a:xfrm>
          <a:prstGeom prst="ellipse">
            <a:avLst/>
          </a:prstGeom>
          <a:solidFill>
            <a:schemeClr val="accent3"/>
          </a:solidFill>
          <a:ln/>
        </p:spPr>
      </p:sp>
      <p:pic>
        <p:nvPicPr>
          <p:cNvPr id="6" name="Native registry icon" descr="preencoded.png">    </p:cNvPr>
          <p:cNvPicPr>
            <a:picLocks noChangeAspect="1"/>
          </p:cNvPicPr>
          <p:nvPr/>
        </p:nvPicPr>
        <p:blipFill>
          <a:blip r:embed="rId1"/>
          <a:stretch>
            <a:fillRect/>
          </a:stretch>
        </p:blipFill>
        <p:spPr>
          <a:xfrm>
            <a:off x="902970" y="2302002"/>
            <a:ext cx="251460" cy="251460"/>
          </a:xfrm>
          <a:prstGeom prst="rect">
            <a:avLst/>
          </a:prstGeom>
        </p:spPr>
      </p:pic>
      <p:sp>
        <p:nvSpPr>
          <p:cNvPr id="7" name="Text 4"/>
          <p:cNvSpPr txBox="1"/>
          <p:nvPr/>
        </p:nvSpPr>
        <p:spPr>
          <a:xfrm>
            <a:off x="1417320" y="2176272"/>
            <a:ext cx="2194560" cy="502920"/>
          </a:xfrm>
          <a:prstGeom prst="rect">
            <a:avLst/>
          </a:prstGeom>
          <a:noFill/>
          <a:ln/>
        </p:spPr>
        <p:txBody>
          <a:bodyPr wrap="square" lIns="0" tIns="0" rIns="0" bIns="0" rtlCol="0" anchor="ctr"/>
          <a:lstStyle/>
          <a:p>
            <a:pPr indent="0" marL="0">
              <a:buNone/>
            </a:pPr>
            <a:r>
              <a:rPr lang="en-US" sz="1700" b="1" dirty="0">
                <a:solidFill>
                  <a:schemeClr val="tx1"/>
                </a:solidFill>
              </a:rPr>
              <a:t>Existing registry</a:t>
            </a:r>
            <a:endParaRPr lang="en-US" sz="1700" dirty="0"/>
          </a:p>
        </p:txBody>
      </p:sp>
      <p:pic>
        <p:nvPicPr>
          <p:cNvPr id="8" name="Agents icon" descr="preencoded.png">    </p:cNvPr>
          <p:cNvPicPr>
            <a:picLocks noChangeAspect="1"/>
          </p:cNvPicPr>
          <p:nvPr/>
        </p:nvPicPr>
        <p:blipFill>
          <a:blip r:embed="rId2"/>
          <a:stretch>
            <a:fillRect/>
          </a:stretch>
        </p:blipFill>
        <p:spPr>
          <a:xfrm>
            <a:off x="822960" y="2926080"/>
            <a:ext cx="256032" cy="256032"/>
          </a:xfrm>
          <a:prstGeom prst="rect">
            <a:avLst/>
          </a:prstGeom>
        </p:spPr>
      </p:pic>
      <p:sp>
        <p:nvSpPr>
          <p:cNvPr id="9" name="Text 5"/>
          <p:cNvSpPr txBox="1"/>
          <p:nvPr/>
        </p:nvSpPr>
        <p:spPr>
          <a:xfrm>
            <a:off x="1234440" y="2880360"/>
            <a:ext cx="2194560" cy="347472"/>
          </a:xfrm>
          <a:prstGeom prst="rect">
            <a:avLst/>
          </a:prstGeom>
          <a:noFill/>
          <a:ln/>
        </p:spPr>
        <p:txBody>
          <a:bodyPr wrap="square" lIns="0" tIns="0" rIns="0" bIns="0" rtlCol="0" anchor="ctr"/>
          <a:lstStyle/>
          <a:p>
            <a:pPr indent="0" marL="0">
              <a:buNone/>
            </a:pPr>
            <a:r>
              <a:rPr lang="en-US" sz="1500" dirty="0">
                <a:solidFill>
                  <a:schemeClr val="tx1"/>
                </a:solidFill>
              </a:rPr>
              <a:t>Agents</a:t>
            </a:r>
            <a:endParaRPr lang="en-US" sz="1500" dirty="0"/>
          </a:p>
        </p:txBody>
      </p:sp>
      <p:pic>
        <p:nvPicPr>
          <p:cNvPr id="10" name="MCP servers icon" descr="preencoded.png">    </p:cNvPr>
          <p:cNvPicPr>
            <a:picLocks noChangeAspect="1"/>
          </p:cNvPicPr>
          <p:nvPr/>
        </p:nvPicPr>
        <p:blipFill>
          <a:blip r:embed="rId3"/>
          <a:stretch>
            <a:fillRect/>
          </a:stretch>
        </p:blipFill>
        <p:spPr>
          <a:xfrm>
            <a:off x="822960" y="3328416"/>
            <a:ext cx="256032" cy="256032"/>
          </a:xfrm>
          <a:prstGeom prst="rect">
            <a:avLst/>
          </a:prstGeom>
        </p:spPr>
      </p:pic>
      <p:sp>
        <p:nvSpPr>
          <p:cNvPr id="11" name="Text 6"/>
          <p:cNvSpPr txBox="1"/>
          <p:nvPr/>
        </p:nvSpPr>
        <p:spPr>
          <a:xfrm>
            <a:off x="1234440" y="3282696"/>
            <a:ext cx="2194560" cy="347472"/>
          </a:xfrm>
          <a:prstGeom prst="rect">
            <a:avLst/>
          </a:prstGeom>
          <a:noFill/>
          <a:ln/>
        </p:spPr>
        <p:txBody>
          <a:bodyPr wrap="square" lIns="0" tIns="0" rIns="0" bIns="0" rtlCol="0" anchor="ctr"/>
          <a:lstStyle/>
          <a:p>
            <a:pPr indent="0" marL="0">
              <a:buNone/>
            </a:pPr>
            <a:r>
              <a:rPr lang="en-US" sz="1500" dirty="0">
                <a:solidFill>
                  <a:schemeClr val="tx1"/>
                </a:solidFill>
              </a:rPr>
              <a:t>MCP servers</a:t>
            </a:r>
            <a:endParaRPr lang="en-US" sz="1500" dirty="0"/>
          </a:p>
        </p:txBody>
      </p:sp>
      <p:pic>
        <p:nvPicPr>
          <p:cNvPr id="12" name="Skills icon" descr="preencoded.png">    </p:cNvPr>
          <p:cNvPicPr>
            <a:picLocks noChangeAspect="1"/>
          </p:cNvPicPr>
          <p:nvPr/>
        </p:nvPicPr>
        <p:blipFill>
          <a:blip r:embed="rId4"/>
          <a:stretch>
            <a:fillRect/>
          </a:stretch>
        </p:blipFill>
        <p:spPr>
          <a:xfrm>
            <a:off x="822960" y="3730752"/>
            <a:ext cx="256032" cy="256032"/>
          </a:xfrm>
          <a:prstGeom prst="rect">
            <a:avLst/>
          </a:prstGeom>
        </p:spPr>
      </p:pic>
      <p:sp>
        <p:nvSpPr>
          <p:cNvPr id="13" name="Text 7"/>
          <p:cNvSpPr txBox="1"/>
          <p:nvPr/>
        </p:nvSpPr>
        <p:spPr>
          <a:xfrm>
            <a:off x="1234440" y="3685032"/>
            <a:ext cx="2194560" cy="347472"/>
          </a:xfrm>
          <a:prstGeom prst="rect">
            <a:avLst/>
          </a:prstGeom>
          <a:noFill/>
          <a:ln/>
        </p:spPr>
        <p:txBody>
          <a:bodyPr wrap="square" lIns="0" tIns="0" rIns="0" bIns="0" rtlCol="0" anchor="ctr"/>
          <a:lstStyle/>
          <a:p>
            <a:pPr indent="0" marL="0">
              <a:buNone/>
            </a:pPr>
            <a:r>
              <a:rPr lang="en-US" sz="1500" dirty="0">
                <a:solidFill>
                  <a:schemeClr val="tx1"/>
                </a:solidFill>
              </a:rPr>
              <a:t>Skills</a:t>
            </a:r>
            <a:endParaRPr lang="en-US" sz="1500" dirty="0"/>
          </a:p>
        </p:txBody>
      </p:sp>
      <p:pic>
        <p:nvPicPr>
          <p:cNvPr id="14" name="Hooks icon" descr="preencoded.png">    </p:cNvPr>
          <p:cNvPicPr>
            <a:picLocks noChangeAspect="1"/>
          </p:cNvPicPr>
          <p:nvPr/>
        </p:nvPicPr>
        <p:blipFill>
          <a:blip r:embed="rId5"/>
          <a:stretch>
            <a:fillRect/>
          </a:stretch>
        </p:blipFill>
        <p:spPr>
          <a:xfrm>
            <a:off x="822960" y="4133088"/>
            <a:ext cx="256032" cy="256032"/>
          </a:xfrm>
          <a:prstGeom prst="rect">
            <a:avLst/>
          </a:prstGeom>
        </p:spPr>
      </p:pic>
      <p:sp>
        <p:nvSpPr>
          <p:cNvPr id="15" name="Text 8"/>
          <p:cNvSpPr txBox="1"/>
          <p:nvPr/>
        </p:nvSpPr>
        <p:spPr>
          <a:xfrm>
            <a:off x="1234440" y="4087368"/>
            <a:ext cx="2194560" cy="347472"/>
          </a:xfrm>
          <a:prstGeom prst="rect">
            <a:avLst/>
          </a:prstGeom>
          <a:noFill/>
          <a:ln/>
        </p:spPr>
        <p:txBody>
          <a:bodyPr wrap="square" lIns="0" tIns="0" rIns="0" bIns="0" rtlCol="0" anchor="ctr"/>
          <a:lstStyle/>
          <a:p>
            <a:pPr indent="0" marL="0">
              <a:buNone/>
            </a:pPr>
            <a:r>
              <a:rPr lang="en-US" sz="1500" dirty="0">
                <a:solidFill>
                  <a:schemeClr val="tx1"/>
                </a:solidFill>
              </a:rPr>
              <a:t>Hooks</a:t>
            </a:r>
            <a:endParaRPr lang="en-US" sz="1500" dirty="0"/>
          </a:p>
        </p:txBody>
      </p:sp>
      <p:pic>
        <p:nvPicPr>
          <p:cNvPr id="16" name="Prompts icon" descr="preencoded.png">    </p:cNvPr>
          <p:cNvPicPr>
            <a:picLocks noChangeAspect="1"/>
          </p:cNvPicPr>
          <p:nvPr/>
        </p:nvPicPr>
        <p:blipFill>
          <a:blip r:embed="rId6"/>
          <a:stretch>
            <a:fillRect/>
          </a:stretch>
        </p:blipFill>
        <p:spPr>
          <a:xfrm>
            <a:off x="822960" y="4535424"/>
            <a:ext cx="256032" cy="256032"/>
          </a:xfrm>
          <a:prstGeom prst="rect">
            <a:avLst/>
          </a:prstGeom>
        </p:spPr>
      </p:pic>
      <p:sp>
        <p:nvSpPr>
          <p:cNvPr id="17" name="Text 9"/>
          <p:cNvSpPr txBox="1"/>
          <p:nvPr/>
        </p:nvSpPr>
        <p:spPr>
          <a:xfrm>
            <a:off x="1234440" y="4489704"/>
            <a:ext cx="2194560" cy="347472"/>
          </a:xfrm>
          <a:prstGeom prst="rect">
            <a:avLst/>
          </a:prstGeom>
          <a:noFill/>
          <a:ln/>
        </p:spPr>
        <p:txBody>
          <a:bodyPr wrap="square" lIns="0" tIns="0" rIns="0" bIns="0" rtlCol="0" anchor="ctr"/>
          <a:lstStyle/>
          <a:p>
            <a:pPr indent="0" marL="0">
              <a:buNone/>
            </a:pPr>
            <a:r>
              <a:rPr lang="en-US" sz="1500" dirty="0">
                <a:solidFill>
                  <a:schemeClr val="tx1"/>
                </a:solidFill>
              </a:rPr>
              <a:t>Prompts</a:t>
            </a:r>
            <a:endParaRPr lang="en-US" sz="1500" dirty="0"/>
          </a:p>
        </p:txBody>
      </p:sp>
      <p:pic>
        <p:nvPicPr>
          <p:cNvPr id="18" name="Sandboxes icon" descr="preencoded.png">    </p:cNvPr>
          <p:cNvPicPr>
            <a:picLocks noChangeAspect="1"/>
          </p:cNvPicPr>
          <p:nvPr/>
        </p:nvPicPr>
        <p:blipFill>
          <a:blip r:embed="rId7"/>
          <a:stretch>
            <a:fillRect/>
          </a:stretch>
        </p:blipFill>
        <p:spPr>
          <a:xfrm>
            <a:off x="822960" y="4937760"/>
            <a:ext cx="256032" cy="256032"/>
          </a:xfrm>
          <a:prstGeom prst="rect">
            <a:avLst/>
          </a:prstGeom>
        </p:spPr>
      </p:pic>
      <p:sp>
        <p:nvSpPr>
          <p:cNvPr id="19" name="Text 10"/>
          <p:cNvSpPr txBox="1"/>
          <p:nvPr/>
        </p:nvSpPr>
        <p:spPr>
          <a:xfrm>
            <a:off x="1234440" y="4892040"/>
            <a:ext cx="2194560" cy="347472"/>
          </a:xfrm>
          <a:prstGeom prst="rect">
            <a:avLst/>
          </a:prstGeom>
          <a:noFill/>
          <a:ln/>
        </p:spPr>
        <p:txBody>
          <a:bodyPr wrap="square" lIns="0" tIns="0" rIns="0" bIns="0" rtlCol="0" anchor="ctr"/>
          <a:lstStyle/>
          <a:p>
            <a:pPr indent="0" marL="0">
              <a:buNone/>
            </a:pPr>
            <a:r>
              <a:rPr lang="en-US" sz="1500" dirty="0">
                <a:solidFill>
                  <a:schemeClr val="tx1"/>
                </a:solidFill>
              </a:rPr>
              <a:t>Sandboxes</a:t>
            </a:r>
            <a:endParaRPr lang="en-US" sz="1500" dirty="0"/>
          </a:p>
        </p:txBody>
      </p:sp>
      <p:sp>
        <p:nvSpPr>
          <p:cNvPr id="20" name="Text 11"/>
          <p:cNvSpPr txBox="1"/>
          <p:nvPr/>
        </p:nvSpPr>
        <p:spPr>
          <a:xfrm>
            <a:off x="777240" y="5349240"/>
            <a:ext cx="2743200" cy="640080"/>
          </a:xfrm>
          <a:prstGeom prst="rect">
            <a:avLst/>
          </a:prstGeom>
          <a:noFill/>
          <a:ln/>
        </p:spPr>
        <p:txBody>
          <a:bodyPr wrap="square" lIns="0" tIns="0" rIns="0" bIns="0" rtlCol="0" anchor="t"/>
          <a:lstStyle/>
          <a:p>
            <a:pPr indent="0" marL="0">
              <a:buNone/>
            </a:pPr>
            <a:r>
              <a:rPr lang="en-US" sz="1300" dirty="0">
                <a:solidFill>
                  <a:schemeClr val="accent6"/>
                </a:solidFill>
              </a:rPr>
              <a:t>Still the source of truth for install, review and ownership</a:t>
            </a:r>
            <a:endParaRPr lang="en-US" sz="1300" dirty="0"/>
          </a:p>
        </p:txBody>
      </p:sp>
      <p:sp>
        <p:nvSpPr>
          <p:cNvPr id="21" name="Registry to adapters"/>
          <p:cNvSpPr/>
          <p:nvPr/>
        </p:nvSpPr>
        <p:spPr>
          <a:xfrm>
            <a:off x="3794760" y="4023360"/>
            <a:ext cx="411480" cy="0"/>
          </a:xfrm>
          <a:prstGeom prst="line">
            <a:avLst/>
          </a:prstGeom>
          <a:noFill/>
          <a:ln w="22225">
            <a:solidFill>
              <a:srgbClr val="474552"/>
            </a:solidFill>
            <a:prstDash val="solid"/>
            <a:tailEnd type="triangle"/>
          </a:ln>
        </p:spPr>
      </p:sp>
      <p:sp>
        <p:nvSpPr>
          <p:cNvPr id="22" name="Adapters"/>
          <p:cNvSpPr/>
          <p:nvPr/>
        </p:nvSpPr>
        <p:spPr>
          <a:xfrm>
            <a:off x="4297680" y="1965960"/>
            <a:ext cx="3429000" cy="1783080"/>
          </a:xfrm>
          <a:prstGeom prst="roundRect">
            <a:avLst>
              <a:gd name="adj" fmla="val 7179"/>
            </a:avLst>
          </a:prstGeom>
          <a:solidFill>
            <a:schemeClr val="bg2"/>
          </a:solidFill>
          <a:ln/>
        </p:spPr>
      </p:sp>
      <p:sp>
        <p:nvSpPr>
          <p:cNvPr id="23" name="Text 14"/>
          <p:cNvSpPr txBox="1"/>
          <p:nvPr/>
        </p:nvSpPr>
        <p:spPr>
          <a:xfrm>
            <a:off x="4526280" y="2148840"/>
            <a:ext cx="3017520" cy="365760"/>
          </a:xfrm>
          <a:prstGeom prst="rect">
            <a:avLst/>
          </a:prstGeom>
          <a:noFill/>
          <a:ln/>
        </p:spPr>
        <p:txBody>
          <a:bodyPr wrap="square" lIns="0" tIns="0" rIns="0" bIns="0" rtlCol="0" anchor="t"/>
          <a:lstStyle/>
          <a:p>
            <a:pPr indent="0" marL="0">
              <a:buNone/>
            </a:pPr>
            <a:r>
              <a:rPr lang="en-US" sz="1700" b="1" dirty="0">
                <a:solidFill>
                  <a:schemeClr val="tx1"/>
                </a:solidFill>
              </a:rPr>
              <a:t>One adapter per kind</a:t>
            </a:r>
            <a:endParaRPr lang="en-US" sz="1700" dirty="0"/>
          </a:p>
        </p:txBody>
      </p:sp>
      <p:sp>
        <p:nvSpPr>
          <p:cNvPr id="24" name="Text 15"/>
          <p:cNvSpPr txBox="1"/>
          <p:nvPr/>
        </p:nvSpPr>
        <p:spPr>
          <a:xfrm>
            <a:off x="4526280" y="2560320"/>
            <a:ext cx="3017520" cy="1097280"/>
          </a:xfrm>
          <a:prstGeom prst="rect">
            <a:avLst/>
          </a:prstGeom>
          <a:noFill/>
          <a:ln/>
        </p:spPr>
        <p:txBody>
          <a:bodyPr wrap="square" lIns="0" tIns="0" rIns="0" bIns="0" rtlCol="0" anchor="t"/>
          <a:lstStyle/>
          <a:p>
            <a:pPr indent="0" marL="0">
              <a:buNone/>
            </a:pPr>
            <a:r>
              <a:rPr lang="en-US" sz="1400" dirty="0">
                <a:solidFill>
                  <a:schemeClr val="accent6"/>
                </a:solidFill>
              </a:rPr>
              <a:t>Turns each approved version into a neutral entry and derives representative queries</a:t>
            </a:r>
            <a:endParaRPr lang="en-US" sz="1400" dirty="0"/>
          </a:p>
        </p:txBody>
      </p:sp>
      <p:sp>
        <p:nvSpPr>
          <p:cNvPr id="25" name="Adapters to read model"/>
          <p:cNvSpPr/>
          <p:nvPr/>
        </p:nvSpPr>
        <p:spPr>
          <a:xfrm>
            <a:off x="6012180" y="3794760"/>
            <a:ext cx="0" cy="411480"/>
          </a:xfrm>
          <a:prstGeom prst="line">
            <a:avLst/>
          </a:prstGeom>
          <a:noFill/>
          <a:ln w="22225">
            <a:solidFill>
              <a:srgbClr val="474552"/>
            </a:solidFill>
            <a:prstDash val="solid"/>
            <a:tailEnd type="triangle"/>
          </a:ln>
        </p:spPr>
      </p:sp>
      <p:sp>
        <p:nvSpPr>
          <p:cNvPr id="26" name="discovery_entries"/>
          <p:cNvSpPr/>
          <p:nvPr/>
        </p:nvSpPr>
        <p:spPr>
          <a:xfrm>
            <a:off x="4297680" y="4297680"/>
            <a:ext cx="3429000" cy="1783080"/>
          </a:xfrm>
          <a:prstGeom prst="roundRect">
            <a:avLst>
              <a:gd name="adj" fmla="val 7179"/>
            </a:avLst>
          </a:prstGeom>
          <a:solidFill>
            <a:schemeClr val="accent1"/>
          </a:solidFill>
          <a:ln/>
        </p:spPr>
      </p:sp>
      <p:sp>
        <p:nvSpPr>
          <p:cNvPr id="27" name="Text 18"/>
          <p:cNvSpPr txBox="1"/>
          <p:nvPr/>
        </p:nvSpPr>
        <p:spPr>
          <a:xfrm>
            <a:off x="4526280" y="4480560"/>
            <a:ext cx="3017520" cy="365760"/>
          </a:xfrm>
          <a:prstGeom prst="rect">
            <a:avLst/>
          </a:prstGeom>
          <a:noFill/>
          <a:ln/>
        </p:spPr>
        <p:txBody>
          <a:bodyPr wrap="square" lIns="0" tIns="0" rIns="0" bIns="0" rtlCol="0" anchor="t"/>
          <a:lstStyle/>
          <a:p>
            <a:pPr indent="0" marL="0">
              <a:buNone/>
            </a:pPr>
            <a:r>
              <a:rPr lang="en-US" sz="1700" b="1" dirty="0">
                <a:solidFill>
                  <a:schemeClr val="tx1"/>
                </a:solidFill>
                <a:latin typeface="Consolas" pitchFamily="34" charset="0"/>
                <a:ea typeface="Consolas" pitchFamily="34" charset="-122"/>
                <a:cs typeface="Consolas" pitchFamily="34" charset="-120"/>
              </a:rPr>
              <a:t>discovery_entries</a:t>
            </a:r>
            <a:endParaRPr lang="en-US" sz="1700" dirty="0"/>
          </a:p>
        </p:txBody>
      </p:sp>
      <p:sp>
        <p:nvSpPr>
          <p:cNvPr id="28" name="Text 19"/>
          <p:cNvSpPr txBox="1"/>
          <p:nvPr/>
        </p:nvSpPr>
        <p:spPr>
          <a:xfrm>
            <a:off x="4526280" y="4892040"/>
            <a:ext cx="3017520" cy="1097280"/>
          </a:xfrm>
          <a:prstGeom prst="rect">
            <a:avLst/>
          </a:prstGeom>
          <a:noFill/>
          <a:ln/>
        </p:spPr>
        <p:txBody>
          <a:bodyPr wrap="square" lIns="0" tIns="0" rIns="0" bIns="0" rtlCol="0" anchor="t"/>
          <a:lstStyle/>
          <a:p>
            <a:pPr indent="0" marL="0">
              <a:buNone/>
            </a:pPr>
            <a:r>
              <a:rPr lang="en-US" sz="1400" dirty="0">
                <a:solidFill>
                  <a:schemeClr val="tx1"/>
                </a:solidFill>
              </a:rPr>
              <a:t>A read model: URN, media type, lifecycle, visibility, search text, content hash</a:t>
            </a:r>
            <a:endParaRPr lang="en-US" sz="1400" dirty="0"/>
          </a:p>
        </p:txBody>
      </p:sp>
      <p:sp>
        <p:nvSpPr>
          <p:cNvPr id="29" name="Read model to consumers"/>
          <p:cNvSpPr/>
          <p:nvPr/>
        </p:nvSpPr>
        <p:spPr>
          <a:xfrm>
            <a:off x="7818120" y="4023360"/>
            <a:ext cx="411480" cy="0"/>
          </a:xfrm>
          <a:prstGeom prst="line">
            <a:avLst/>
          </a:prstGeom>
          <a:noFill/>
          <a:ln w="22225">
            <a:solidFill>
              <a:srgbClr val="474552"/>
            </a:solidFill>
            <a:prstDash val="solid"/>
            <a:tailEnd type="triangle"/>
          </a:ln>
        </p:spPr>
      </p:sp>
      <p:sp>
        <p:nvSpPr>
          <p:cNvPr id="30" name="Consumer 1"/>
          <p:cNvSpPr/>
          <p:nvPr/>
        </p:nvSpPr>
        <p:spPr>
          <a:xfrm>
            <a:off x="8321040" y="1965960"/>
            <a:ext cx="3319272" cy="914400"/>
          </a:xfrm>
          <a:prstGeom prst="roundRect">
            <a:avLst>
              <a:gd name="adj" fmla="val 14000"/>
            </a:avLst>
          </a:prstGeom>
          <a:solidFill>
            <a:schemeClr val="bg1"/>
          </a:solidFill>
          <a:ln w="15875">
            <a:solidFill>
              <a:srgbClr val="B6B0D0"/>
            </a:solidFill>
            <a:prstDash val="solid"/>
          </a:ln>
        </p:spPr>
      </p:sp>
      <p:sp>
        <p:nvSpPr>
          <p:cNvPr id="31" name="Consumer 1 circle"/>
          <p:cNvSpPr/>
          <p:nvPr/>
        </p:nvSpPr>
        <p:spPr>
          <a:xfrm>
            <a:off x="8503920" y="2167128"/>
            <a:ext cx="512064" cy="512064"/>
          </a:xfrm>
          <a:prstGeom prst="ellipse">
            <a:avLst/>
          </a:prstGeom>
          <a:solidFill>
            <a:schemeClr val="accent3"/>
          </a:solidFill>
          <a:ln/>
        </p:spPr>
      </p:sp>
      <p:pic>
        <p:nvPicPr>
          <p:cNvPr id="32" name="Consumer 1 icon" descr="preencoded.png">    </p:cNvPr>
          <p:cNvPicPr>
            <a:picLocks noChangeAspect="1"/>
          </p:cNvPicPr>
          <p:nvPr/>
        </p:nvPicPr>
        <p:blipFill>
          <a:blip r:embed="rId8"/>
          <a:stretch>
            <a:fillRect/>
          </a:stretch>
        </p:blipFill>
        <p:spPr>
          <a:xfrm>
            <a:off x="8631936" y="2295144"/>
            <a:ext cx="256032" cy="256032"/>
          </a:xfrm>
          <a:prstGeom prst="rect">
            <a:avLst/>
          </a:prstGeom>
        </p:spPr>
      </p:pic>
      <p:sp>
        <p:nvSpPr>
          <p:cNvPr id="33" name="Text 23"/>
          <p:cNvSpPr txBox="1"/>
          <p:nvPr/>
        </p:nvSpPr>
        <p:spPr>
          <a:xfrm>
            <a:off x="9144000" y="1965960"/>
            <a:ext cx="2377440" cy="914400"/>
          </a:xfrm>
          <a:prstGeom prst="rect">
            <a:avLst/>
          </a:prstGeom>
          <a:noFill/>
          <a:ln/>
        </p:spPr>
        <p:txBody>
          <a:bodyPr wrap="square" lIns="0" tIns="0" rIns="0" bIns="0" rtlCol="0" anchor="ctr"/>
          <a:lstStyle/>
          <a:p>
            <a:pPr indent="0" marL="0">
              <a:buNone/>
            </a:pPr>
            <a:r>
              <a:rPr lang="en-US" sz="1500" b="1" dirty="0">
                <a:solidFill>
                  <a:schemeClr val="tx1"/>
                </a:solidFill>
              </a:rPr>
              <a:t>The ard.json manifest</a:t>
            </a:r>
            <a:endParaRPr lang="en-US" sz="1500" dirty="0"/>
          </a:p>
        </p:txBody>
      </p:sp>
      <p:sp>
        <p:nvSpPr>
          <p:cNvPr id="34" name="Consumer 2"/>
          <p:cNvSpPr/>
          <p:nvPr/>
        </p:nvSpPr>
        <p:spPr>
          <a:xfrm>
            <a:off x="8321040" y="3017520"/>
            <a:ext cx="3319272" cy="914400"/>
          </a:xfrm>
          <a:prstGeom prst="roundRect">
            <a:avLst>
              <a:gd name="adj" fmla="val 14000"/>
            </a:avLst>
          </a:prstGeom>
          <a:solidFill>
            <a:schemeClr val="bg1"/>
          </a:solidFill>
          <a:ln w="15875">
            <a:solidFill>
              <a:srgbClr val="B6B0D0"/>
            </a:solidFill>
            <a:prstDash val="solid"/>
          </a:ln>
        </p:spPr>
      </p:sp>
      <p:sp>
        <p:nvSpPr>
          <p:cNvPr id="35" name="Consumer 2 circle"/>
          <p:cNvSpPr/>
          <p:nvPr/>
        </p:nvSpPr>
        <p:spPr>
          <a:xfrm>
            <a:off x="8503920" y="3218688"/>
            <a:ext cx="512064" cy="512064"/>
          </a:xfrm>
          <a:prstGeom prst="ellipse">
            <a:avLst/>
          </a:prstGeom>
          <a:solidFill>
            <a:schemeClr val="accent3"/>
          </a:solidFill>
          <a:ln/>
        </p:spPr>
      </p:sp>
      <p:pic>
        <p:nvPicPr>
          <p:cNvPr id="36" name="Consumer 2 icon" descr="preencoded.png">    </p:cNvPr>
          <p:cNvPicPr>
            <a:picLocks noChangeAspect="1"/>
          </p:cNvPicPr>
          <p:nvPr/>
        </p:nvPicPr>
        <p:blipFill>
          <a:blip r:embed="rId9"/>
          <a:stretch>
            <a:fillRect/>
          </a:stretch>
        </p:blipFill>
        <p:spPr>
          <a:xfrm>
            <a:off x="8631936" y="3346704"/>
            <a:ext cx="256032" cy="256032"/>
          </a:xfrm>
          <a:prstGeom prst="rect">
            <a:avLst/>
          </a:prstGeom>
        </p:spPr>
      </p:pic>
      <p:sp>
        <p:nvSpPr>
          <p:cNvPr id="37" name="Text 26"/>
          <p:cNvSpPr txBox="1"/>
          <p:nvPr/>
        </p:nvSpPr>
        <p:spPr>
          <a:xfrm>
            <a:off x="9144000" y="3017520"/>
            <a:ext cx="2377440" cy="914400"/>
          </a:xfrm>
          <a:prstGeom prst="rect">
            <a:avLst/>
          </a:prstGeom>
          <a:noFill/>
          <a:ln/>
        </p:spPr>
        <p:txBody>
          <a:bodyPr wrap="square" lIns="0" tIns="0" rIns="0" bIns="0" rtlCol="0" anchor="ctr"/>
          <a:lstStyle/>
          <a:p>
            <a:pPr indent="0" marL="0">
              <a:buNone/>
            </a:pPr>
            <a:r>
              <a:rPr lang="en-US" sz="1500" b="1" dirty="0">
                <a:solidFill>
                  <a:schemeClr val="tx1"/>
                </a:solidFill>
              </a:rPr>
              <a:t>ARD Search and List</a:t>
            </a:r>
            <a:endParaRPr lang="en-US" sz="1500" dirty="0"/>
          </a:p>
        </p:txBody>
      </p:sp>
      <p:sp>
        <p:nvSpPr>
          <p:cNvPr id="38" name="Consumer 3"/>
          <p:cNvSpPr/>
          <p:nvPr/>
        </p:nvSpPr>
        <p:spPr>
          <a:xfrm>
            <a:off x="8321040" y="4069080"/>
            <a:ext cx="3319272" cy="914400"/>
          </a:xfrm>
          <a:prstGeom prst="roundRect">
            <a:avLst>
              <a:gd name="adj" fmla="val 14000"/>
            </a:avLst>
          </a:prstGeom>
          <a:solidFill>
            <a:schemeClr val="bg1"/>
          </a:solidFill>
          <a:ln w="15875">
            <a:solidFill>
              <a:srgbClr val="B6B0D0"/>
            </a:solidFill>
            <a:prstDash val="solid"/>
          </a:ln>
        </p:spPr>
      </p:sp>
      <p:sp>
        <p:nvSpPr>
          <p:cNvPr id="39" name="Consumer 3 circle"/>
          <p:cNvSpPr/>
          <p:nvPr/>
        </p:nvSpPr>
        <p:spPr>
          <a:xfrm>
            <a:off x="8503920" y="4270248"/>
            <a:ext cx="512064" cy="512064"/>
          </a:xfrm>
          <a:prstGeom prst="ellipse">
            <a:avLst/>
          </a:prstGeom>
          <a:solidFill>
            <a:schemeClr val="accent3"/>
          </a:solidFill>
          <a:ln/>
        </p:spPr>
      </p:sp>
      <p:pic>
        <p:nvPicPr>
          <p:cNvPr id="40" name="Consumer 3 icon" descr="preencoded.png">    </p:cNvPr>
          <p:cNvPicPr>
            <a:picLocks noChangeAspect="1"/>
          </p:cNvPicPr>
          <p:nvPr/>
        </p:nvPicPr>
        <p:blipFill>
          <a:blip r:embed="rId10"/>
          <a:stretch>
            <a:fillRect/>
          </a:stretch>
        </p:blipFill>
        <p:spPr>
          <a:xfrm>
            <a:off x="8631936" y="4398264"/>
            <a:ext cx="256032" cy="256032"/>
          </a:xfrm>
          <a:prstGeom prst="rect">
            <a:avLst/>
          </a:prstGeom>
        </p:spPr>
      </p:pic>
      <p:sp>
        <p:nvSpPr>
          <p:cNvPr id="41" name="Text 29"/>
          <p:cNvSpPr txBox="1"/>
          <p:nvPr/>
        </p:nvSpPr>
        <p:spPr>
          <a:xfrm>
            <a:off x="9144000" y="4069080"/>
            <a:ext cx="2377440" cy="914400"/>
          </a:xfrm>
          <a:prstGeom prst="rect">
            <a:avLst/>
          </a:prstGeom>
          <a:noFill/>
          <a:ln/>
        </p:spPr>
        <p:txBody>
          <a:bodyPr wrap="square" lIns="0" tIns="0" rIns="0" bIns="0" rtlCol="0" anchor="ctr"/>
          <a:lstStyle/>
          <a:p>
            <a:pPr indent="0" marL="0">
              <a:buNone/>
            </a:pPr>
            <a:r>
              <a:rPr lang="en-US" sz="1500" b="1" dirty="0">
                <a:solidFill>
                  <a:schemeClr val="tx1"/>
                </a:solidFill>
              </a:rPr>
              <a:t>Versioned artifacts with digests</a:t>
            </a:r>
            <a:endParaRPr lang="en-US" sz="1500" dirty="0"/>
          </a:p>
        </p:txBody>
      </p:sp>
      <p:sp>
        <p:nvSpPr>
          <p:cNvPr id="42" name="Consumer 4"/>
          <p:cNvSpPr/>
          <p:nvPr/>
        </p:nvSpPr>
        <p:spPr>
          <a:xfrm>
            <a:off x="8321040" y="5120640"/>
            <a:ext cx="3319272" cy="914400"/>
          </a:xfrm>
          <a:prstGeom prst="roundRect">
            <a:avLst>
              <a:gd name="adj" fmla="val 14000"/>
            </a:avLst>
          </a:prstGeom>
          <a:solidFill>
            <a:schemeClr val="bg1"/>
          </a:solidFill>
          <a:ln w="15875">
            <a:solidFill>
              <a:srgbClr val="B6B0D0"/>
            </a:solidFill>
            <a:prstDash val="solid"/>
          </a:ln>
        </p:spPr>
      </p:sp>
      <p:sp>
        <p:nvSpPr>
          <p:cNvPr id="43" name="Consumer 4 circle"/>
          <p:cNvSpPr/>
          <p:nvPr/>
        </p:nvSpPr>
        <p:spPr>
          <a:xfrm>
            <a:off x="8503920" y="5321808"/>
            <a:ext cx="512064" cy="512064"/>
          </a:xfrm>
          <a:prstGeom prst="ellipse">
            <a:avLst/>
          </a:prstGeom>
          <a:solidFill>
            <a:schemeClr val="accent3"/>
          </a:solidFill>
          <a:ln/>
        </p:spPr>
      </p:sp>
      <p:pic>
        <p:nvPicPr>
          <p:cNvPr id="44" name="Consumer 4 icon" descr="preencoded.png">    </p:cNvPr>
          <p:cNvPicPr>
            <a:picLocks noChangeAspect="1"/>
          </p:cNvPicPr>
          <p:nvPr/>
        </p:nvPicPr>
        <p:blipFill>
          <a:blip r:embed="rId11"/>
          <a:stretch>
            <a:fillRect/>
          </a:stretch>
        </p:blipFill>
        <p:spPr>
          <a:xfrm>
            <a:off x="8631936" y="5449824"/>
            <a:ext cx="256032" cy="256032"/>
          </a:xfrm>
          <a:prstGeom prst="rect">
            <a:avLst/>
          </a:prstGeom>
        </p:spPr>
      </p:pic>
      <p:sp>
        <p:nvSpPr>
          <p:cNvPr id="45" name="Text 32"/>
          <p:cNvSpPr txBox="1"/>
          <p:nvPr/>
        </p:nvSpPr>
        <p:spPr>
          <a:xfrm>
            <a:off x="9144000" y="5120640"/>
            <a:ext cx="2377440" cy="914400"/>
          </a:xfrm>
          <a:prstGeom prst="rect">
            <a:avLst/>
          </a:prstGeom>
          <a:noFill/>
          <a:ln/>
        </p:spPr>
        <p:txBody>
          <a:bodyPr wrap="square" lIns="0" tIns="0" rIns="0" bIns="0" rtlCol="0" anchor="ctr"/>
          <a:lstStyle/>
          <a:p>
            <a:pPr indent="0" marL="0">
              <a:buNone/>
            </a:pPr>
            <a:r>
              <a:rPr lang="en-US" sz="1500" b="1" dirty="0">
                <a:solidFill>
                  <a:schemeClr val="tx1"/>
                </a:solidFill>
              </a:rPr>
              <a:t>CLI, web page, agent skill</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  HOW I IMPLEMENTED IT</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Six endpoints make Observal an ARD publisher and search endpoint</a:t>
            </a:r>
            <a:endParaRPr lang="en-US" sz="3200" dirty="0"/>
          </a:p>
        </p:txBody>
      </p:sp>
      <p:sp>
        <p:nvSpPr>
          <p:cNvPr id="4" name="Observal URN 1"/>
          <p:cNvSpPr/>
          <p:nvPr/>
        </p:nvSpPr>
        <p:spPr>
          <a:xfrm>
            <a:off x="548640" y="1965960"/>
            <a:ext cx="1325880" cy="566928"/>
          </a:xfrm>
          <a:prstGeom prst="roundRect">
            <a:avLst>
              <a:gd name="adj" fmla="val 12903"/>
            </a:avLst>
          </a:prstGeom>
          <a:solidFill>
            <a:schemeClr val="bg2"/>
          </a:solidFill>
          <a:ln/>
        </p:spPr>
      </p:sp>
      <p:sp>
        <p:nvSpPr>
          <p:cNvPr id="5" name="Text 3"/>
          <p:cNvSpPr txBox="1"/>
          <p:nvPr/>
        </p:nvSpPr>
        <p:spPr>
          <a:xfrm>
            <a:off x="548640" y="1965960"/>
            <a:ext cx="13258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urn:air</a:t>
            </a:r>
            <a:endParaRPr lang="en-US" sz="1800" dirty="0"/>
          </a:p>
        </p:txBody>
      </p:sp>
      <p:sp>
        <p:nvSpPr>
          <p:cNvPr id="6" name="Text 4"/>
          <p:cNvSpPr txBox="1"/>
          <p:nvPr/>
        </p:nvSpPr>
        <p:spPr>
          <a:xfrm>
            <a:off x="1874520" y="1965960"/>
            <a:ext cx="228600" cy="566928"/>
          </a:xfrm>
          <a:prstGeom prst="rect">
            <a:avLst/>
          </a:prstGeom>
          <a:noFill/>
          <a:ln/>
        </p:spPr>
        <p:txBody>
          <a:bodyPr wrap="square" lIns="0" tIns="0" rIns="0" bIns="0" rtlCol="0" anchor="ctr"/>
          <a:lstStyle/>
          <a:p>
            <a:pPr algn="ctr" indent="0" marL="0">
              <a:buNone/>
            </a:pPr>
            <a:r>
              <a:rPr lang="en-US" sz="2000" b="1" dirty="0">
                <a:solidFill>
                  <a:schemeClr val="tx1"/>
                </a:solidFill>
                <a:latin typeface="Consolas" pitchFamily="34" charset="0"/>
                <a:ea typeface="Consolas" pitchFamily="34" charset="-122"/>
                <a:cs typeface="Consolas" pitchFamily="34" charset="-120"/>
              </a:rPr>
              <a:t>:</a:t>
            </a:r>
            <a:endParaRPr lang="en-US" sz="2000" dirty="0"/>
          </a:p>
        </p:txBody>
      </p:sp>
      <p:sp>
        <p:nvSpPr>
          <p:cNvPr id="7" name="Observal URN 2"/>
          <p:cNvSpPr/>
          <p:nvPr/>
        </p:nvSpPr>
        <p:spPr>
          <a:xfrm>
            <a:off x="2103120" y="1965960"/>
            <a:ext cx="3017520" cy="566928"/>
          </a:xfrm>
          <a:prstGeom prst="roundRect">
            <a:avLst>
              <a:gd name="adj" fmla="val 12903"/>
            </a:avLst>
          </a:prstGeom>
          <a:solidFill>
            <a:schemeClr val="accent1"/>
          </a:solidFill>
          <a:ln/>
        </p:spPr>
      </p:sp>
      <p:sp>
        <p:nvSpPr>
          <p:cNvPr id="8" name="Text 6"/>
          <p:cNvSpPr txBox="1"/>
          <p:nvPr/>
        </p:nvSpPr>
        <p:spPr>
          <a:xfrm>
            <a:off x="2103120" y="1965960"/>
            <a:ext cx="301752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observal.acme.com</a:t>
            </a:r>
            <a:endParaRPr lang="en-US" sz="1800" dirty="0"/>
          </a:p>
        </p:txBody>
      </p:sp>
      <p:sp>
        <p:nvSpPr>
          <p:cNvPr id="9" name="Text 7"/>
          <p:cNvSpPr txBox="1"/>
          <p:nvPr/>
        </p:nvSpPr>
        <p:spPr>
          <a:xfrm>
            <a:off x="2148840" y="2578608"/>
            <a:ext cx="2971800" cy="320040"/>
          </a:xfrm>
          <a:prstGeom prst="rect">
            <a:avLst/>
          </a:prstGeom>
          <a:noFill/>
          <a:ln/>
        </p:spPr>
        <p:txBody>
          <a:bodyPr wrap="square" lIns="0" tIns="0" rIns="0" bIns="0" rtlCol="0" anchor="t"/>
          <a:lstStyle/>
          <a:p>
            <a:pPr indent="0" marL="0">
              <a:buNone/>
            </a:pPr>
            <a:r>
              <a:rPr lang="en-US" sz="1200" dirty="0">
                <a:solidFill>
                  <a:schemeClr val="accent6"/>
                </a:solidFill>
              </a:rPr>
              <a:t>Publisher domain, pinned once</a:t>
            </a:r>
            <a:endParaRPr lang="en-US" sz="1200" dirty="0"/>
          </a:p>
        </p:txBody>
      </p:sp>
      <p:sp>
        <p:nvSpPr>
          <p:cNvPr id="10" name="Text 8"/>
          <p:cNvSpPr txBox="1"/>
          <p:nvPr/>
        </p:nvSpPr>
        <p:spPr>
          <a:xfrm>
            <a:off x="5120640" y="1965960"/>
            <a:ext cx="228600" cy="566928"/>
          </a:xfrm>
          <a:prstGeom prst="rect">
            <a:avLst/>
          </a:prstGeom>
          <a:noFill/>
          <a:ln/>
        </p:spPr>
        <p:txBody>
          <a:bodyPr wrap="square" lIns="0" tIns="0" rIns="0" bIns="0" rtlCol="0" anchor="ctr"/>
          <a:lstStyle/>
          <a:p>
            <a:pPr algn="ctr" indent="0" marL="0">
              <a:buNone/>
            </a:pPr>
            <a:r>
              <a:rPr lang="en-US" sz="2000" b="1" dirty="0">
                <a:solidFill>
                  <a:schemeClr val="tx1"/>
                </a:solidFill>
                <a:latin typeface="Consolas" pitchFamily="34" charset="0"/>
                <a:ea typeface="Consolas" pitchFamily="34" charset="-122"/>
                <a:cs typeface="Consolas" pitchFamily="34" charset="-120"/>
              </a:rPr>
              <a:t>:</a:t>
            </a:r>
            <a:endParaRPr lang="en-US" sz="2000" dirty="0"/>
          </a:p>
        </p:txBody>
      </p:sp>
      <p:sp>
        <p:nvSpPr>
          <p:cNvPr id="11" name="Observal URN 3"/>
          <p:cNvSpPr/>
          <p:nvPr/>
        </p:nvSpPr>
        <p:spPr>
          <a:xfrm>
            <a:off x="5349240" y="1965960"/>
            <a:ext cx="1097280" cy="566928"/>
          </a:xfrm>
          <a:prstGeom prst="roundRect">
            <a:avLst>
              <a:gd name="adj" fmla="val 12903"/>
            </a:avLst>
          </a:prstGeom>
          <a:solidFill>
            <a:schemeClr val="bg2"/>
          </a:solidFill>
          <a:ln/>
        </p:spPr>
      </p:sp>
      <p:sp>
        <p:nvSpPr>
          <p:cNvPr id="12" name="Text 10"/>
          <p:cNvSpPr txBox="1"/>
          <p:nvPr/>
        </p:nvSpPr>
        <p:spPr>
          <a:xfrm>
            <a:off x="5349240" y="1965960"/>
            <a:ext cx="109728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skill</a:t>
            </a:r>
            <a:endParaRPr lang="en-US" sz="1800" dirty="0"/>
          </a:p>
        </p:txBody>
      </p:sp>
      <p:sp>
        <p:nvSpPr>
          <p:cNvPr id="13" name="Text 11"/>
          <p:cNvSpPr txBox="1"/>
          <p:nvPr/>
        </p:nvSpPr>
        <p:spPr>
          <a:xfrm>
            <a:off x="5394960" y="2578608"/>
            <a:ext cx="1051560" cy="320040"/>
          </a:xfrm>
          <a:prstGeom prst="rect">
            <a:avLst/>
          </a:prstGeom>
          <a:noFill/>
          <a:ln/>
        </p:spPr>
        <p:txBody>
          <a:bodyPr wrap="square" lIns="0" tIns="0" rIns="0" bIns="0" rtlCol="0" anchor="t"/>
          <a:lstStyle/>
          <a:p>
            <a:pPr indent="0" marL="0">
              <a:buNone/>
            </a:pPr>
            <a:r>
              <a:rPr lang="en-US" sz="1200" dirty="0">
                <a:solidFill>
                  <a:schemeClr val="accent6"/>
                </a:solidFill>
              </a:rPr>
              <a:t>Kind</a:t>
            </a:r>
            <a:endParaRPr lang="en-US" sz="1200" dirty="0"/>
          </a:p>
        </p:txBody>
      </p:sp>
      <p:sp>
        <p:nvSpPr>
          <p:cNvPr id="14" name="Text 12"/>
          <p:cNvSpPr txBox="1"/>
          <p:nvPr/>
        </p:nvSpPr>
        <p:spPr>
          <a:xfrm>
            <a:off x="6446520" y="1965960"/>
            <a:ext cx="228600" cy="566928"/>
          </a:xfrm>
          <a:prstGeom prst="rect">
            <a:avLst/>
          </a:prstGeom>
          <a:noFill/>
          <a:ln/>
        </p:spPr>
        <p:txBody>
          <a:bodyPr wrap="square" lIns="0" tIns="0" rIns="0" bIns="0" rtlCol="0" anchor="ctr"/>
          <a:lstStyle/>
          <a:p>
            <a:pPr algn="ctr" indent="0" marL="0">
              <a:buNone/>
            </a:pPr>
            <a:r>
              <a:rPr lang="en-US" sz="2000" b="1" dirty="0">
                <a:solidFill>
                  <a:schemeClr val="tx1"/>
                </a:solidFill>
                <a:latin typeface="Consolas" pitchFamily="34" charset="0"/>
                <a:ea typeface="Consolas" pitchFamily="34" charset="-122"/>
                <a:cs typeface="Consolas" pitchFamily="34" charset="-120"/>
              </a:rPr>
              <a:t>:</a:t>
            </a:r>
            <a:endParaRPr lang="en-US" sz="2000" dirty="0"/>
          </a:p>
        </p:txBody>
      </p:sp>
      <p:sp>
        <p:nvSpPr>
          <p:cNvPr id="15" name="Observal URN 4"/>
          <p:cNvSpPr/>
          <p:nvPr/>
        </p:nvSpPr>
        <p:spPr>
          <a:xfrm>
            <a:off x="6675120" y="1965960"/>
            <a:ext cx="2057400" cy="566928"/>
          </a:xfrm>
          <a:prstGeom prst="roundRect">
            <a:avLst>
              <a:gd name="adj" fmla="val 12903"/>
            </a:avLst>
          </a:prstGeom>
          <a:solidFill>
            <a:schemeClr val="bg2"/>
          </a:solidFill>
          <a:ln/>
        </p:spPr>
      </p:sp>
      <p:sp>
        <p:nvSpPr>
          <p:cNvPr id="16" name="Text 14"/>
          <p:cNvSpPr txBox="1"/>
          <p:nvPr/>
        </p:nvSpPr>
        <p:spPr>
          <a:xfrm>
            <a:off x="6675120" y="1965960"/>
            <a:ext cx="2057400" cy="566928"/>
          </a:xfrm>
          <a:prstGeom prst="rect">
            <a:avLst/>
          </a:prstGeom>
          <a:noFill/>
          <a:ln/>
        </p:spPr>
        <p:txBody>
          <a:bodyPr wrap="square" lIns="0" tIns="0" rIns="0" bIns="0" rtlCol="0" anchor="ctr"/>
          <a:lstStyle/>
          <a:p>
            <a:pPr algn="ctr" indent="0" marL="0">
              <a:buNone/>
            </a:pPr>
            <a:r>
              <a:rPr lang="en-US" sz="1800" b="1" dirty="0">
                <a:solidFill>
                  <a:schemeClr val="tx1"/>
                </a:solidFill>
                <a:latin typeface="Consolas" pitchFamily="34" charset="0"/>
                <a:ea typeface="Consolas" pitchFamily="34" charset="-122"/>
                <a:cs typeface="Consolas" pitchFamily="34" charset="-120"/>
              </a:rPr>
              <a:t>5f2c1a9e-…</a:t>
            </a:r>
            <a:endParaRPr lang="en-US" sz="1800" dirty="0"/>
          </a:p>
        </p:txBody>
      </p:sp>
      <p:sp>
        <p:nvSpPr>
          <p:cNvPr id="17" name="Text 15"/>
          <p:cNvSpPr txBox="1"/>
          <p:nvPr/>
        </p:nvSpPr>
        <p:spPr>
          <a:xfrm>
            <a:off x="6720840" y="2578608"/>
            <a:ext cx="2011680" cy="320040"/>
          </a:xfrm>
          <a:prstGeom prst="rect">
            <a:avLst/>
          </a:prstGeom>
          <a:noFill/>
          <a:ln/>
        </p:spPr>
        <p:txBody>
          <a:bodyPr wrap="square" lIns="0" tIns="0" rIns="0" bIns="0" rtlCol="0" anchor="t"/>
          <a:lstStyle/>
          <a:p>
            <a:pPr indent="0" marL="0">
              <a:buNone/>
            </a:pPr>
            <a:r>
              <a:rPr lang="en-US" sz="1200" dirty="0">
                <a:solidFill>
                  <a:schemeClr val="accent6"/>
                </a:solidFill>
              </a:rPr>
              <a:t>UUID: survives renames</a:t>
            </a:r>
            <a:endParaRPr lang="en-US" sz="1200" dirty="0"/>
          </a:p>
        </p:txBody>
      </p:sp>
      <p:graphicFrame>
        <p:nvGraphicFramePr>
          <p:cNvPr id="16" name="Endpoint table"/>
          <p:cNvGraphicFramePr>
            <a:graphicFrameLocks noGrp="1"/>
          </p:cNvGraphicFramePr>
          <p:nvPr>
            <p:extLst>
              <p:ext uri="{D42A27DB-BD31-4B8C-83A1-F6EECF244321}">
                <p14:modId xmlns:p14="http://schemas.microsoft.com/office/powerpoint/2010/main" val="1579011935"/>
              </p:ext>
            </p:extLst>
          </p:nvPr>
        </p:nvGraphicFramePr>
        <p:xfrm>
          <a:off x="548640" y="3108960"/>
          <a:ext cx="11091672" cy="914400"/>
        </p:xfrm>
        <a:graphic>
          <a:graphicData uri="http://schemas.openxmlformats.org/drawingml/2006/table">
            <a:tbl>
              <a:tblPr/>
              <a:tblGrid>
                <a:gridCol w="4846320"/>
                <a:gridCol w="4937760"/>
                <a:gridCol w="1307592"/>
              </a:tblGrid>
              <a:tr h="420624">
                <a:tc>
                  <a:txBody>
                    <a:bodyPr/>
                    <a:lstStyle/>
                    <a:p>
                      <a:pPr indent="0" marL="0">
                        <a:buNone/>
                      </a:pPr>
                      <a:r>
                        <a:rPr lang="en-US" sz="1400" b="1" dirty="0">
                          <a:solidFill>
                            <a:schemeClr val="tx1"/>
                          </a:solidFill>
                        </a:rPr>
                        <a:t>Endpoint</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What it returns</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From</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/.well-known/ard.json</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 approved entries, only if an admin opts in</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Spec</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POST /api/v1/ard/search</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Ranked search, with the words that matched</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Spec</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/api/v1/ard/agents</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Deterministic, paginated browse</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Spec</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POST /api/v1/ard/explore</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Answers 501 until facets ship</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Spec</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/api/v1/ard/entries/{urn}</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complete entry by identifier</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Observal</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420624">
                <a:tc>
                  <a:txBody>
                    <a:bodyPr/>
                    <a:lstStyle/>
                    <a:p>
                      <a:pPr indent="0" marL="0">
                        <a:buNone/>
                      </a:pPr>
                      <a:r>
                        <a:rPr lang="en-US" sz="1300" dirty="0">
                          <a:solidFill>
                            <a:schemeClr val="tx1"/>
                          </a:solidFill>
                          <a:latin typeface="Consolas" pitchFamily="34" charset="0"/>
                          <a:ea typeface="Consolas" pitchFamily="34" charset="-122"/>
                          <a:cs typeface="Consolas" pitchFamily="34" charset="-120"/>
                        </a:rPr>
                        <a:t>GET  /api/v1/artifacts/{kind}/{uuid}/{ver}</a:t>
                      </a:r>
                      <a:endParaRPr lang="en-US" sz="13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Exact bytes + digest, cached as immutable</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2"/>
                          </a:solidFill>
                        </a:rPr>
                        <a:t>Observal</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  HOW I IMPLEMENTED IT</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Ranking is a formula you can explain word by word</a:t>
            </a:r>
            <a:endParaRPr lang="en-US" sz="3200" dirty="0"/>
          </a:p>
        </p:txBody>
      </p:sp>
      <p:sp>
        <p:nvSpPr>
          <p:cNvPr id="4" name="Query"/>
          <p:cNvSpPr/>
          <p:nvPr/>
        </p:nvSpPr>
        <p:spPr>
          <a:xfrm>
            <a:off x="548640" y="1920240"/>
            <a:ext cx="11091672" cy="548640"/>
          </a:xfrm>
          <a:prstGeom prst="roundRect">
            <a:avLst>
              <a:gd name="adj" fmla="val 23333"/>
            </a:avLst>
          </a:prstGeom>
          <a:solidFill>
            <a:schemeClr val="bg2"/>
          </a:solidFill>
          <a:ln/>
        </p:spPr>
      </p:sp>
      <p:sp>
        <p:nvSpPr>
          <p:cNvPr id="5" name="Text 3"/>
          <p:cNvSpPr txBox="1"/>
          <p:nvPr/>
        </p:nvSpPr>
        <p:spPr>
          <a:xfrm>
            <a:off x="777240" y="1920240"/>
            <a:ext cx="7680960" cy="548640"/>
          </a:xfrm>
          <a:prstGeom prst="rect">
            <a:avLst/>
          </a:prstGeom>
          <a:noFill/>
          <a:ln/>
        </p:spPr>
        <p:txBody>
          <a:bodyPr wrap="square" lIns="0" tIns="0" rIns="0" bIns="0" rtlCol="0" anchor="ctr"/>
          <a:lstStyle/>
          <a:p>
            <a:pPr indent="0" marL="0">
              <a:buNone/>
            </a:pPr>
            <a:r>
              <a:rPr lang="en-US" sz="1500" b="1" dirty="0">
                <a:solidFill>
                  <a:schemeClr val="tx1"/>
                </a:solidFill>
              </a:rPr>
              <a:t>Query:  </a:t>
            </a:r>
            <a:pPr indent="0" marL="0">
              <a:buNone/>
            </a:pPr>
            <a:r>
              <a:rPr lang="en-US" sz="1500" dirty="0">
                <a:solidFill>
                  <a:schemeClr val="tx1"/>
                </a:solidFill>
                <a:latin typeface="Consolas" pitchFamily="34" charset="0"/>
                <a:ea typeface="Consolas" pitchFamily="34" charset="-122"/>
                <a:cs typeface="Consolas" pitchFamily="34" charset="-120"/>
              </a:rPr>
              <a:t>review </a:t>
            </a:r>
            <a:pPr indent="0" marL="0">
              <a:buNone/>
            </a:pPr>
            <a:r>
              <a:rPr lang="en-US" sz="1500" strike="sngStrike" dirty="0">
                <a:solidFill>
                  <a:schemeClr val="accent6"/>
                </a:solidFill>
                <a:latin typeface="Consolas" pitchFamily="34" charset="0"/>
                <a:ea typeface="Consolas" pitchFamily="34" charset="-122"/>
                <a:cs typeface="Consolas" pitchFamily="34" charset="-120"/>
              </a:rPr>
              <a:t>a</a:t>
            </a:r>
            <a:pPr indent="0" marL="0">
              <a:buNone/>
            </a:pPr>
            <a:r>
              <a:rPr lang="en-US" sz="1500" dirty="0">
                <a:solidFill>
                  <a:schemeClr val="tx1"/>
                </a:solidFill>
                <a:latin typeface="Consolas" pitchFamily="34" charset="0"/>
                <a:ea typeface="Consolas" pitchFamily="34" charset="-122"/>
                <a:cs typeface="Consolas" pitchFamily="34" charset="-120"/>
              </a:rPr>
              <a:t> pull request </a:t>
            </a:r>
            <a:pPr indent="0" marL="0">
              <a:buNone/>
            </a:pPr>
            <a:r>
              <a:rPr lang="en-US" sz="1500" strike="sngStrike" dirty="0">
                <a:solidFill>
                  <a:schemeClr val="accent6"/>
                </a:solidFill>
                <a:latin typeface="Consolas" pitchFamily="34" charset="0"/>
                <a:ea typeface="Consolas" pitchFamily="34" charset="-122"/>
                <a:cs typeface="Consolas" pitchFamily="34" charset="-120"/>
              </a:rPr>
              <a:t>for</a:t>
            </a:r>
            <a:pPr indent="0" marL="0">
              <a:buNone/>
            </a:pPr>
            <a:r>
              <a:rPr lang="en-US" sz="1500" dirty="0">
                <a:solidFill>
                  <a:schemeClr val="tx1"/>
                </a:solidFill>
                <a:latin typeface="Consolas" pitchFamily="34" charset="0"/>
                <a:ea typeface="Consolas" pitchFamily="34" charset="-122"/>
                <a:cs typeface="Consolas" pitchFamily="34" charset="-120"/>
              </a:rPr>
              <a:t> authentication vulnerabilities</a:t>
            </a:r>
            <a:endParaRPr lang="en-US" sz="1500" dirty="0"/>
          </a:p>
        </p:txBody>
      </p:sp>
      <p:sp>
        <p:nvSpPr>
          <p:cNvPr id="6" name="Text 4"/>
          <p:cNvSpPr txBox="1"/>
          <p:nvPr/>
        </p:nvSpPr>
        <p:spPr>
          <a:xfrm>
            <a:off x="8229600" y="1920240"/>
            <a:ext cx="3246120" cy="548640"/>
          </a:xfrm>
          <a:prstGeom prst="rect">
            <a:avLst/>
          </a:prstGeom>
          <a:noFill/>
          <a:ln/>
        </p:spPr>
        <p:txBody>
          <a:bodyPr wrap="square" lIns="0" tIns="0" rIns="0" bIns="0" rtlCol="0" anchor="ctr"/>
          <a:lstStyle/>
          <a:p>
            <a:pPr algn="r" indent="0" marL="0">
              <a:buNone/>
            </a:pPr>
            <a:r>
              <a:rPr lang="en-US" sz="1500" b="1" dirty="0">
                <a:solidFill>
                  <a:schemeClr val="tx1"/>
                </a:solidFill>
              </a:rPr>
              <a:t>Scoring:  </a:t>
            </a:r>
            <a:pPr algn="r" indent="0" marL="0">
              <a:buNone/>
            </a:pPr>
            <a:r>
              <a:rPr lang="en-US" sz="1500" dirty="0">
                <a:solidFill>
                  <a:schemeClr val="tx1"/>
                </a:solidFill>
              </a:rPr>
              <a:t>Security Review (skill)</a:t>
            </a:r>
            <a:endParaRPr lang="en-US" sz="1500" dirty="0"/>
          </a:p>
        </p:txBody>
      </p:sp>
      <p:graphicFrame>
        <p:nvGraphicFramePr>
          <p:cNvPr id="17" name="Word scoring table"/>
          <p:cNvGraphicFramePr>
            <a:graphicFrameLocks noGrp="1"/>
          </p:cNvGraphicFramePr>
          <p:nvPr>
            <p:extLst>
              <p:ext uri="{D42A27DB-BD31-4B8C-83A1-F6EECF244321}">
                <p14:modId xmlns:p14="http://schemas.microsoft.com/office/powerpoint/2010/main" val="1579011935"/>
              </p:ext>
            </p:extLst>
          </p:nvPr>
        </p:nvGraphicFramePr>
        <p:xfrm>
          <a:off x="548640" y="2697480"/>
          <a:ext cx="6675120" cy="914400"/>
        </p:xfrm>
        <a:graphic>
          <a:graphicData uri="http://schemas.openxmlformats.org/drawingml/2006/table">
            <a:tbl>
              <a:tblPr/>
              <a:tblGrid>
                <a:gridCol w="1874520"/>
                <a:gridCol w="1783080"/>
                <a:gridCol w="1097280"/>
                <a:gridCol w="1005840"/>
                <a:gridCol w="914400"/>
              </a:tblGrid>
              <a:tr h="338328">
                <a:tc>
                  <a:txBody>
                    <a:bodyPr/>
                    <a:lstStyle/>
                    <a:p>
                      <a:pPr indent="0" marL="0">
                        <a:buNone/>
                      </a:pPr>
                      <a:r>
                        <a:rPr lang="en-US" sz="1400" b="1" dirty="0">
                          <a:solidFill>
                            <a:schemeClr val="tx1"/>
                          </a:solidFill>
                        </a:rPr>
                        <a:t>Word</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Best match in</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Match</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 Weight</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tx1"/>
                          </a:solidFill>
                        </a:rPr>
                        <a:t>Points</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accent3"/>
                    </a:solidFill>
                  </a:tcPr>
                </a:tc>
              </a:tr>
              <a:tr h="3383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review</a:t>
                      </a:r>
                      <a:endParaRPr lang="en-US" sz="14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name</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exact  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1.00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pull</a:t>
                      </a:r>
                      <a:endParaRPr lang="en-US" sz="14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example query</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exact  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request</a:t>
                      </a:r>
                      <a:endParaRPr lang="en-US" sz="14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example query</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exact  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3383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authentication</a:t>
                      </a:r>
                      <a:endParaRPr lang="en-US" sz="14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example query</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exact  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2"/>
                    </a:solidFill>
                  </a:tcPr>
                </a:tc>
              </a:tr>
              <a:tr h="338328">
                <a:tc>
                  <a:txBody>
                    <a:bodyPr/>
                    <a:lstStyle/>
                    <a:p>
                      <a:pPr indent="0" marL="0">
                        <a:buNone/>
                      </a:pPr>
                      <a:r>
                        <a:rPr lang="en-US" sz="1400" dirty="0">
                          <a:solidFill>
                            <a:schemeClr val="tx1"/>
                          </a:solidFill>
                          <a:latin typeface="Consolas" pitchFamily="34" charset="0"/>
                          <a:ea typeface="Consolas" pitchFamily="34" charset="-122"/>
                          <a:cs typeface="Consolas" pitchFamily="34" charset="-120"/>
                        </a:rPr>
                        <a:t>vulnerabilities</a:t>
                      </a:r>
                      <a:endParaRPr lang="en-US" sz="1400" dirty="0">
                        <a:latin typeface="Consolas" charset="0"/>
                        <a:ea typeface="Consolas" charset="0"/>
                        <a:cs typeface="Consolas" charset="0"/>
                      </a:endParaRPr>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example query</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exact  1.0</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0.85</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r h="338328">
                <a:tc gridSpan="4">
                  <a:txBody>
                    <a:bodyPr/>
                    <a:lstStyle/>
                    <a:p>
                      <a:pPr indent="0" marL="0">
                        <a:buNone/>
                      </a:pPr>
                      <a:r>
                        <a:rPr lang="en-US" sz="1400" b="1" dirty="0">
                          <a:solidFill>
                            <a:schemeClr val="tx1"/>
                          </a:solidFill>
                        </a:rPr>
                        <a:t>Relevance = average points per word</a:t>
                      </a:r>
                      <a:endParaRPr lang="en-US" sz="14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c hMerge="1">
                  <a:tcPr/>
                </a:tc>
                <a:tc hMerge="1">
                  <a:tcPr/>
                </a:tc>
                <a:tc hMerge="1">
                  <a:tcPr/>
                </a:tc>
                <a:tc>
                  <a:txBody>
                    <a:bodyPr/>
                    <a:lstStyle/>
                    <a:p>
                      <a:pPr indent="0" marL="0">
                        <a:buNone/>
                      </a:pPr>
                      <a:r>
                        <a:rPr lang="en-US" sz="1500" b="1" dirty="0">
                          <a:solidFill>
                            <a:schemeClr val="accent2"/>
                          </a:solidFill>
                        </a:rPr>
                        <a:t>0.88</a:t>
                      </a:r>
                      <a:endParaRPr lang="en-US" sz="1500" dirty="0"/>
                    </a:p>
                  </a:txBody>
                  <a:tcPr marL="109728" marR="109728" marT="0" marB="0" anchor="ctr">
                    <a:lnL w="9525" cap="flat" cmpd="sng" algn="ctr">
                      <a:solidFill>
                        <a:srgbClr val="E4E1EE"/>
                      </a:solidFill>
                      <a:prstDash val="solid"/>
                      <a:round/>
                      <a:headEnd type="none" w="med" len="med"/>
                      <a:tailEnd type="none" w="med" len="med"/>
                    </a:lnL>
                    <a:lnR w="9525" cap="flat" cmpd="sng" algn="ctr">
                      <a:solidFill>
                        <a:srgbClr val="E4E1EE"/>
                      </a:solidFill>
                      <a:prstDash val="solid"/>
                      <a:round/>
                      <a:headEnd type="none" w="med" len="med"/>
                      <a:tailEnd type="none" w="med" len="med"/>
                    </a:lnR>
                    <a:lnT w="9525" cap="flat" cmpd="sng" algn="ctr">
                      <a:solidFill>
                        <a:srgbClr val="E4E1EE"/>
                      </a:solidFill>
                      <a:prstDash val="solid"/>
                      <a:round/>
                      <a:headEnd type="none" w="med" len="med"/>
                      <a:tailEnd type="none" w="med" len="med"/>
                    </a:lnT>
                    <a:lnB w="9525" cap="flat" cmpd="sng" algn="ctr">
                      <a:solidFill>
                        <a:srgbClr val="E4E1EE"/>
                      </a:solidFill>
                      <a:prstDash val="solid"/>
                      <a:round/>
                      <a:headEnd type="none" w="med" len="med"/>
                      <a:tailEnd type="none" w="med" len="med"/>
                    </a:lnB>
                    <a:solidFill>
                      <a:schemeClr val="bg1"/>
                    </a:solidFill>
                  </a:tcPr>
                </a:tc>
              </a:tr>
            </a:tbl>
          </a:graphicData>
        </a:graphic>
      </p:graphicFrame>
      <p:sp>
        <p:nvSpPr>
          <p:cNvPr id="8" name="Score card"/>
          <p:cNvSpPr/>
          <p:nvPr/>
        </p:nvSpPr>
        <p:spPr>
          <a:xfrm>
            <a:off x="7452360" y="2697480"/>
            <a:ext cx="4187952" cy="2368296"/>
          </a:xfrm>
          <a:prstGeom prst="roundRect">
            <a:avLst>
              <a:gd name="adj" fmla="val 5405"/>
            </a:avLst>
          </a:prstGeom>
          <a:solidFill>
            <a:schemeClr val="bg2"/>
          </a:solidFill>
          <a:ln/>
        </p:spPr>
      </p:sp>
      <p:sp>
        <p:nvSpPr>
          <p:cNvPr id="9" name="Text 6"/>
          <p:cNvSpPr txBox="1"/>
          <p:nvPr/>
        </p:nvSpPr>
        <p:spPr>
          <a:xfrm>
            <a:off x="7680960" y="2788920"/>
            <a:ext cx="3749040" cy="347472"/>
          </a:xfrm>
          <a:prstGeom prst="rect">
            <a:avLst/>
          </a:prstGeom>
          <a:noFill/>
          <a:ln/>
        </p:spPr>
        <p:txBody>
          <a:bodyPr wrap="square" lIns="0" tIns="0" rIns="0" bIns="0" rtlCol="0" anchor="t"/>
          <a:lstStyle/>
          <a:p>
            <a:pPr indent="0" marL="0">
              <a:buNone/>
            </a:pPr>
            <a:r>
              <a:rPr lang="en-US" sz="1600" b="1" dirty="0">
                <a:solidFill>
                  <a:schemeClr val="tx1"/>
                </a:solidFill>
              </a:rPr>
              <a:t>How the score adds up</a:t>
            </a:r>
            <a:endParaRPr lang="en-US" sz="1600" dirty="0"/>
          </a:p>
        </p:txBody>
      </p:sp>
      <p:sp>
        <p:nvSpPr>
          <p:cNvPr id="10" name="Text 7"/>
          <p:cNvSpPr txBox="1"/>
          <p:nvPr/>
        </p:nvSpPr>
        <p:spPr>
          <a:xfrm>
            <a:off x="7680960" y="3154680"/>
            <a:ext cx="3840480" cy="731520"/>
          </a:xfrm>
          <a:prstGeom prst="rect">
            <a:avLst/>
          </a:prstGeom>
          <a:noFill/>
          <a:ln/>
        </p:spPr>
        <p:txBody>
          <a:bodyPr wrap="square" lIns="0" tIns="0" rIns="0" bIns="0" rtlCol="0" anchor="t"/>
          <a:lstStyle/>
          <a:p>
            <a:pPr indent="0" marL="0">
              <a:buNone/>
            </a:pPr>
            <a:r>
              <a:rPr lang="en-US" sz="1300" b="1" dirty="0">
                <a:solidFill>
                  <a:schemeClr val="accent4"/>
                </a:solidFill>
                <a:latin typeface="Consolas" pitchFamily="34" charset="0"/>
                <a:ea typeface="Consolas" pitchFamily="34" charset="-122"/>
                <a:cs typeface="Consolas" pitchFamily="34" charset="-120"/>
              </a:rPr>
              <a:t>score = 100 × (0.7 × relevance</a:t>
            </a:r>
            <a:endParaRPr lang="en-US" sz="1300" dirty="0"/>
          </a:p>
          <a:p>
            <a:pPr indent="0" marL="0">
              <a:buNone/>
            </a:pPr>
            <a:r>
              <a:rPr lang="en-US" sz="1300" b="1" dirty="0">
                <a:solidFill>
                  <a:schemeClr val="accent4"/>
                </a:solidFill>
                <a:latin typeface="Consolas" pitchFamily="34" charset="0"/>
                <a:ea typeface="Consolas" pitchFamily="34" charset="-122"/>
                <a:cs typeface="Consolas" pitchFamily="34" charset="-120"/>
              </a:rPr>
              <a:t>              + 0.2 × coverage</a:t>
            </a:r>
            <a:endParaRPr lang="en-US" sz="1300" dirty="0"/>
          </a:p>
          <a:p>
            <a:pPr indent="0" marL="0">
              <a:buNone/>
            </a:pPr>
            <a:r>
              <a:rPr lang="en-US" sz="1300" b="1" dirty="0">
                <a:solidFill>
                  <a:schemeClr val="accent4"/>
                </a:solidFill>
                <a:latin typeface="Consolas" pitchFamily="34" charset="0"/>
                <a:ea typeface="Consolas" pitchFamily="34" charset="-122"/>
                <a:cs typeface="Consolas" pitchFamily="34" charset="-120"/>
              </a:rPr>
              <a:t>              + 0.1 × phrase)</a:t>
            </a:r>
            <a:endParaRPr lang="en-US" sz="1300" dirty="0"/>
          </a:p>
        </p:txBody>
      </p:sp>
      <p:sp>
        <p:nvSpPr>
          <p:cNvPr id="11" name="Text 8"/>
          <p:cNvSpPr txBox="1"/>
          <p:nvPr/>
        </p:nvSpPr>
        <p:spPr>
          <a:xfrm>
            <a:off x="7680960" y="3931920"/>
            <a:ext cx="3840480" cy="274320"/>
          </a:xfrm>
          <a:prstGeom prst="rect">
            <a:avLst/>
          </a:prstGeom>
          <a:noFill/>
          <a:ln/>
        </p:spPr>
        <p:txBody>
          <a:bodyPr wrap="square" lIns="0" tIns="0" rIns="0" bIns="0" rtlCol="0" anchor="t"/>
          <a:lstStyle/>
          <a:p>
            <a:pPr indent="0" marL="0">
              <a:buNone/>
            </a:pPr>
            <a:r>
              <a:rPr lang="en-US" sz="1200" dirty="0">
                <a:solidFill>
                  <a:schemeClr val="accent6"/>
                </a:solidFill>
              </a:rPr>
              <a:t>relevance 0.88  ·  coverage 1.0 (5 of 5)  ·  phrase 0</a:t>
            </a:r>
            <a:endParaRPr lang="en-US" sz="1200" dirty="0"/>
          </a:p>
        </p:txBody>
      </p:sp>
      <p:sp>
        <p:nvSpPr>
          <p:cNvPr id="12" name="Text 9"/>
          <p:cNvSpPr txBox="1"/>
          <p:nvPr/>
        </p:nvSpPr>
        <p:spPr>
          <a:xfrm>
            <a:off x="7680960" y="4206240"/>
            <a:ext cx="3840480" cy="548640"/>
          </a:xfrm>
          <a:prstGeom prst="rect">
            <a:avLst/>
          </a:prstGeom>
          <a:noFill/>
          <a:ln/>
        </p:spPr>
        <p:txBody>
          <a:bodyPr wrap="square" lIns="0" tIns="0" rIns="0" bIns="0" rtlCol="0" anchor="ctr"/>
          <a:lstStyle/>
          <a:p>
            <a:pPr indent="0" marL="0">
              <a:buNone/>
            </a:pPr>
            <a:r>
              <a:rPr lang="en-US" sz="4000" b="1" dirty="0">
                <a:solidFill>
                  <a:schemeClr val="accent5"/>
                </a:solidFill>
              </a:rPr>
              <a:t>82</a:t>
            </a:r>
            <a:pPr indent="0" marL="0">
              <a:buNone/>
            </a:pPr>
            <a:r>
              <a:rPr lang="en-US" sz="1600" b="1" dirty="0">
                <a:solidFill>
                  <a:schemeClr val="tx1"/>
                </a:solidFill>
              </a:rPr>
              <a:t>   Security Review</a:t>
            </a:r>
            <a:endParaRPr lang="en-US" sz="1600" dirty="0"/>
          </a:p>
        </p:txBody>
      </p:sp>
      <p:sp>
        <p:nvSpPr>
          <p:cNvPr id="13" name="Text 10"/>
          <p:cNvSpPr txBox="1"/>
          <p:nvPr/>
        </p:nvSpPr>
        <p:spPr>
          <a:xfrm>
            <a:off x="7680960" y="4736592"/>
            <a:ext cx="3840480" cy="274320"/>
          </a:xfrm>
          <a:prstGeom prst="rect">
            <a:avLst/>
          </a:prstGeom>
          <a:noFill/>
          <a:ln/>
        </p:spPr>
        <p:txBody>
          <a:bodyPr wrap="square" lIns="0" tIns="0" rIns="0" bIns="0" rtlCol="0" anchor="t"/>
          <a:lstStyle/>
          <a:p>
            <a:pPr indent="0" marL="0">
              <a:buNone/>
            </a:pPr>
            <a:r>
              <a:rPr lang="en-US" sz="1200" dirty="0">
                <a:solidFill>
                  <a:schemeClr val="accent6"/>
                </a:solidFill>
              </a:rPr>
              <a:t>Next: PR Reviewer 48  ·  Pull Request Description 36</a:t>
            </a:r>
            <a:endParaRPr lang="en-US" sz="1200" dirty="0"/>
          </a:p>
        </p:txBody>
      </p:sp>
      <p:sp>
        <p:nvSpPr>
          <p:cNvPr id="14" name="How a word matches rule"/>
          <p:cNvSpPr/>
          <p:nvPr/>
        </p:nvSpPr>
        <p:spPr>
          <a:xfrm>
            <a:off x="548640" y="5303520"/>
            <a:ext cx="4023360" cy="777240"/>
          </a:xfrm>
          <a:prstGeom prst="roundRect">
            <a:avLst>
              <a:gd name="adj" fmla="val 16471"/>
            </a:avLst>
          </a:prstGeom>
          <a:solidFill>
            <a:schemeClr val="bg1"/>
          </a:solidFill>
          <a:ln w="15875">
            <a:solidFill>
              <a:srgbClr val="B6B0D0"/>
            </a:solidFill>
            <a:prstDash val="solid"/>
          </a:ln>
        </p:spPr>
      </p:sp>
      <p:sp>
        <p:nvSpPr>
          <p:cNvPr id="15" name="Text 12"/>
          <p:cNvSpPr txBox="1"/>
          <p:nvPr/>
        </p:nvSpPr>
        <p:spPr>
          <a:xfrm>
            <a:off x="777240" y="5376672"/>
            <a:ext cx="3611880" cy="292608"/>
          </a:xfrm>
          <a:prstGeom prst="rect">
            <a:avLst/>
          </a:prstGeom>
          <a:noFill/>
          <a:ln/>
        </p:spPr>
        <p:txBody>
          <a:bodyPr wrap="square" lIns="0" tIns="0" rIns="0" bIns="0" rtlCol="0" anchor="t"/>
          <a:lstStyle/>
          <a:p>
            <a:pPr indent="0" marL="0">
              <a:buNone/>
            </a:pPr>
            <a:r>
              <a:rPr lang="en-US" sz="1300" b="1" dirty="0">
                <a:solidFill>
                  <a:schemeClr val="accent2"/>
                </a:solidFill>
              </a:rPr>
              <a:t>How a word matches</a:t>
            </a:r>
            <a:endParaRPr lang="en-US" sz="1300" dirty="0"/>
          </a:p>
        </p:txBody>
      </p:sp>
      <p:sp>
        <p:nvSpPr>
          <p:cNvPr id="16" name="Text 13"/>
          <p:cNvSpPr txBox="1"/>
          <p:nvPr/>
        </p:nvSpPr>
        <p:spPr>
          <a:xfrm>
            <a:off x="777240" y="5669280"/>
            <a:ext cx="3657600" cy="347472"/>
          </a:xfrm>
          <a:prstGeom prst="rect">
            <a:avLst/>
          </a:prstGeom>
          <a:noFill/>
          <a:ln/>
        </p:spPr>
        <p:txBody>
          <a:bodyPr wrap="square" lIns="0" tIns="0" rIns="0" bIns="0" rtlCol="0" anchor="t"/>
          <a:lstStyle/>
          <a:p>
            <a:pPr indent="0" marL="0">
              <a:buNone/>
            </a:pPr>
            <a:r>
              <a:rPr lang="en-US" sz="1300" dirty="0">
                <a:solidFill>
                  <a:schemeClr val="tx1"/>
                </a:solidFill>
              </a:rPr>
              <a:t>exact 1.0  ·  starts with 0.7  ·  contains 0.4</a:t>
            </a:r>
            <a:endParaRPr lang="en-US" sz="1300" dirty="0"/>
          </a:p>
        </p:txBody>
      </p:sp>
      <p:sp>
        <p:nvSpPr>
          <p:cNvPr id="17" name="Where it matches rule"/>
          <p:cNvSpPr/>
          <p:nvPr/>
        </p:nvSpPr>
        <p:spPr>
          <a:xfrm>
            <a:off x="4754880" y="5303520"/>
            <a:ext cx="6885432" cy="777240"/>
          </a:xfrm>
          <a:prstGeom prst="roundRect">
            <a:avLst>
              <a:gd name="adj" fmla="val 16471"/>
            </a:avLst>
          </a:prstGeom>
          <a:solidFill>
            <a:schemeClr val="bg1"/>
          </a:solidFill>
          <a:ln w="15875">
            <a:solidFill>
              <a:srgbClr val="B6B0D0"/>
            </a:solidFill>
            <a:prstDash val="solid"/>
          </a:ln>
        </p:spPr>
      </p:sp>
      <p:sp>
        <p:nvSpPr>
          <p:cNvPr id="18" name="Text 15"/>
          <p:cNvSpPr txBox="1"/>
          <p:nvPr/>
        </p:nvSpPr>
        <p:spPr>
          <a:xfrm>
            <a:off x="4983480" y="5376672"/>
            <a:ext cx="6473952" cy="292608"/>
          </a:xfrm>
          <a:prstGeom prst="rect">
            <a:avLst/>
          </a:prstGeom>
          <a:noFill/>
          <a:ln/>
        </p:spPr>
        <p:txBody>
          <a:bodyPr wrap="square" lIns="0" tIns="0" rIns="0" bIns="0" rtlCol="0" anchor="t"/>
          <a:lstStyle/>
          <a:p>
            <a:pPr indent="0" marL="0">
              <a:buNone/>
            </a:pPr>
            <a:r>
              <a:rPr lang="en-US" sz="1300" b="1" dirty="0">
                <a:solidFill>
                  <a:schemeClr val="accent2"/>
                </a:solidFill>
              </a:rPr>
              <a:t>Where it matches</a:t>
            </a:r>
            <a:endParaRPr lang="en-US" sz="1300" dirty="0"/>
          </a:p>
        </p:txBody>
      </p:sp>
      <p:sp>
        <p:nvSpPr>
          <p:cNvPr id="19" name="Text 16"/>
          <p:cNvSpPr txBox="1"/>
          <p:nvPr/>
        </p:nvSpPr>
        <p:spPr>
          <a:xfrm>
            <a:off x="4983480" y="5669280"/>
            <a:ext cx="6519672" cy="347472"/>
          </a:xfrm>
          <a:prstGeom prst="rect">
            <a:avLst/>
          </a:prstGeom>
          <a:noFill/>
          <a:ln/>
        </p:spPr>
        <p:txBody>
          <a:bodyPr wrap="square" lIns="0" tIns="0" rIns="0" bIns="0" rtlCol="0" anchor="t"/>
          <a:lstStyle/>
          <a:p>
            <a:pPr indent="0" marL="0">
              <a:buNone/>
            </a:pPr>
            <a:r>
              <a:rPr lang="en-US" sz="1300" dirty="0">
                <a:solidFill>
                  <a:schemeClr val="tx1"/>
                </a:solidFill>
              </a:rPr>
              <a:t>name 1.0  ·  example queries 0.85  ·  capabilities 0.7  ·  description 0.5</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03  ·  HOW I IMPLEMENTED IT</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Guardrails keep discovery from bypassing governance</a:t>
            </a:r>
            <a:endParaRPr lang="en-US" sz="3200" dirty="0"/>
          </a:p>
        </p:txBody>
      </p:sp>
      <p:sp>
        <p:nvSpPr>
          <p:cNvPr id="4" name="Score means relevance only card"/>
          <p:cNvSpPr/>
          <p:nvPr/>
        </p:nvSpPr>
        <p:spPr>
          <a:xfrm>
            <a:off x="548640" y="1965960"/>
            <a:ext cx="5454396" cy="1920240"/>
          </a:xfrm>
          <a:prstGeom prst="roundRect">
            <a:avLst>
              <a:gd name="adj" fmla="val 6667"/>
            </a:avLst>
          </a:prstGeom>
          <a:solidFill>
            <a:schemeClr val="bg2"/>
          </a:solidFill>
          <a:ln/>
        </p:spPr>
      </p:sp>
      <p:sp>
        <p:nvSpPr>
          <p:cNvPr id="5" name="Score means relevance only circle"/>
          <p:cNvSpPr/>
          <p:nvPr/>
        </p:nvSpPr>
        <p:spPr>
          <a:xfrm>
            <a:off x="822960" y="2240280"/>
            <a:ext cx="640080" cy="640080"/>
          </a:xfrm>
          <a:prstGeom prst="ellipse">
            <a:avLst/>
          </a:prstGeom>
          <a:solidFill>
            <a:schemeClr val="accent5"/>
          </a:solidFill>
          <a:ln/>
        </p:spPr>
      </p:sp>
      <p:pic>
        <p:nvPicPr>
          <p:cNvPr id="6" name="Score means relevance only icon" descr="preencoded.png">    </p:cNvPr>
          <p:cNvPicPr>
            <a:picLocks noChangeAspect="1"/>
          </p:cNvPicPr>
          <p:nvPr/>
        </p:nvPicPr>
        <p:blipFill>
          <a:blip r:embed="rId1"/>
          <a:stretch>
            <a:fillRect/>
          </a:stretch>
        </p:blipFill>
        <p:spPr>
          <a:xfrm>
            <a:off x="982980" y="2400300"/>
            <a:ext cx="320040" cy="320040"/>
          </a:xfrm>
          <a:prstGeom prst="rect">
            <a:avLst/>
          </a:prstGeom>
        </p:spPr>
      </p:pic>
      <p:sp>
        <p:nvSpPr>
          <p:cNvPr id="7" name="Text 4"/>
          <p:cNvSpPr txBox="1"/>
          <p:nvPr/>
        </p:nvSpPr>
        <p:spPr>
          <a:xfrm>
            <a:off x="1691640" y="22402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Score means relevance only</a:t>
            </a:r>
            <a:endParaRPr lang="en-US" sz="1800" dirty="0"/>
          </a:p>
        </p:txBody>
      </p:sp>
      <p:sp>
        <p:nvSpPr>
          <p:cNvPr id="8" name="Text 5"/>
          <p:cNvSpPr txBox="1"/>
          <p:nvPr/>
        </p:nvSpPr>
        <p:spPr>
          <a:xfrm>
            <a:off x="1691640" y="2697480"/>
            <a:ext cx="4114800" cy="1097280"/>
          </a:xfrm>
          <a:prstGeom prst="rect">
            <a:avLst/>
          </a:prstGeom>
          <a:noFill/>
          <a:ln/>
        </p:spPr>
        <p:txBody>
          <a:bodyPr wrap="square" lIns="0" tIns="0" rIns="0" bIns="0" rtlCol="0" anchor="t"/>
          <a:lstStyle/>
          <a:p>
            <a:pPr indent="0" marL="0">
              <a:buNone/>
            </a:pPr>
            <a:r>
              <a:rPr lang="en-US" sz="1500" dirty="0">
                <a:solidFill>
                  <a:schemeClr val="tx2"/>
                </a:solidFill>
              </a:rPr>
              <a:t>Approval, harness support and availability come back as separate fields. Policy filters run before ranking.</a:t>
            </a:r>
            <a:endParaRPr lang="en-US" sz="1500" dirty="0"/>
          </a:p>
        </p:txBody>
      </p:sp>
      <p:sp>
        <p:nvSpPr>
          <p:cNvPr id="9" name="Scoped to you and your teams card"/>
          <p:cNvSpPr/>
          <p:nvPr/>
        </p:nvSpPr>
        <p:spPr>
          <a:xfrm>
            <a:off x="6185916" y="1965960"/>
            <a:ext cx="5454396" cy="1920240"/>
          </a:xfrm>
          <a:prstGeom prst="roundRect">
            <a:avLst>
              <a:gd name="adj" fmla="val 6667"/>
            </a:avLst>
          </a:prstGeom>
          <a:solidFill>
            <a:schemeClr val="bg2"/>
          </a:solidFill>
          <a:ln/>
        </p:spPr>
      </p:sp>
      <p:sp>
        <p:nvSpPr>
          <p:cNvPr id="10" name="Scoped to you and your teams circle"/>
          <p:cNvSpPr/>
          <p:nvPr/>
        </p:nvSpPr>
        <p:spPr>
          <a:xfrm>
            <a:off x="6460236" y="2240280"/>
            <a:ext cx="640080" cy="640080"/>
          </a:xfrm>
          <a:prstGeom prst="ellipse">
            <a:avLst/>
          </a:prstGeom>
          <a:solidFill>
            <a:schemeClr val="accent5"/>
          </a:solidFill>
          <a:ln/>
        </p:spPr>
      </p:sp>
      <p:pic>
        <p:nvPicPr>
          <p:cNvPr id="11" name="Scoped to you and your teams icon" descr="preencoded.png">    </p:cNvPr>
          <p:cNvPicPr>
            <a:picLocks noChangeAspect="1"/>
          </p:cNvPicPr>
          <p:nvPr/>
        </p:nvPicPr>
        <p:blipFill>
          <a:blip r:embed="rId2"/>
          <a:stretch>
            <a:fillRect/>
          </a:stretch>
        </p:blipFill>
        <p:spPr>
          <a:xfrm>
            <a:off x="6620256" y="2400300"/>
            <a:ext cx="320040" cy="320040"/>
          </a:xfrm>
          <a:prstGeom prst="rect">
            <a:avLst/>
          </a:prstGeom>
        </p:spPr>
      </p:pic>
      <p:sp>
        <p:nvSpPr>
          <p:cNvPr id="12" name="Text 8"/>
          <p:cNvSpPr txBox="1"/>
          <p:nvPr/>
        </p:nvSpPr>
        <p:spPr>
          <a:xfrm>
            <a:off x="7328916" y="22402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Scoped to you and your teams</a:t>
            </a:r>
            <a:endParaRPr lang="en-US" sz="1800" dirty="0"/>
          </a:p>
        </p:txBody>
      </p:sp>
      <p:sp>
        <p:nvSpPr>
          <p:cNvPr id="13" name="Text 9"/>
          <p:cNvSpPr txBox="1"/>
          <p:nvPr/>
        </p:nvSpPr>
        <p:spPr>
          <a:xfrm>
            <a:off x="7328916" y="2697480"/>
            <a:ext cx="4114800" cy="1097280"/>
          </a:xfrm>
          <a:prstGeom prst="rect">
            <a:avLst/>
          </a:prstGeom>
          <a:noFill/>
          <a:ln/>
        </p:spPr>
        <p:txBody>
          <a:bodyPr wrap="square" lIns="0" tIns="0" rIns="0" bIns="0" rtlCol="0" anchor="t"/>
          <a:lstStyle/>
          <a:p>
            <a:pPr indent="0" marL="0">
              <a:buNone/>
            </a:pPr>
            <a:r>
              <a:rPr lang="en-US" sz="1500" dirty="0">
                <a:solidFill>
                  <a:schemeClr val="tx2"/>
                </a:solidFill>
              </a:rPr>
              <a:t>You only discover your own listings and those of teams you’re in. Drafts reach only owners; anonymous search is off.</a:t>
            </a:r>
            <a:endParaRPr lang="en-US" sz="1500" dirty="0"/>
          </a:p>
        </p:txBody>
      </p:sp>
      <p:sp>
        <p:nvSpPr>
          <p:cNvPr id="14" name="Search text stays home card"/>
          <p:cNvSpPr/>
          <p:nvPr/>
        </p:nvSpPr>
        <p:spPr>
          <a:xfrm>
            <a:off x="548640" y="4069080"/>
            <a:ext cx="5454396" cy="1920240"/>
          </a:xfrm>
          <a:prstGeom prst="roundRect">
            <a:avLst>
              <a:gd name="adj" fmla="val 6667"/>
            </a:avLst>
          </a:prstGeom>
          <a:solidFill>
            <a:schemeClr val="bg2"/>
          </a:solidFill>
          <a:ln/>
        </p:spPr>
      </p:sp>
      <p:sp>
        <p:nvSpPr>
          <p:cNvPr id="15" name="Search text stays home circle"/>
          <p:cNvSpPr/>
          <p:nvPr/>
        </p:nvSpPr>
        <p:spPr>
          <a:xfrm>
            <a:off x="822960" y="4343400"/>
            <a:ext cx="640080" cy="640080"/>
          </a:xfrm>
          <a:prstGeom prst="ellipse">
            <a:avLst/>
          </a:prstGeom>
          <a:solidFill>
            <a:schemeClr val="accent5"/>
          </a:solidFill>
          <a:ln/>
        </p:spPr>
      </p:sp>
      <p:pic>
        <p:nvPicPr>
          <p:cNvPr id="16" name="Search text stays home icon" descr="preencoded.png">    </p:cNvPr>
          <p:cNvPicPr>
            <a:picLocks noChangeAspect="1"/>
          </p:cNvPicPr>
          <p:nvPr/>
        </p:nvPicPr>
        <p:blipFill>
          <a:blip r:embed="rId3"/>
          <a:stretch>
            <a:fillRect/>
          </a:stretch>
        </p:blipFill>
        <p:spPr>
          <a:xfrm>
            <a:off x="982980" y="4503420"/>
            <a:ext cx="320040" cy="320040"/>
          </a:xfrm>
          <a:prstGeom prst="rect">
            <a:avLst/>
          </a:prstGeom>
        </p:spPr>
      </p:pic>
      <p:sp>
        <p:nvSpPr>
          <p:cNvPr id="17" name="Text 12"/>
          <p:cNvSpPr txBox="1"/>
          <p:nvPr/>
        </p:nvSpPr>
        <p:spPr>
          <a:xfrm>
            <a:off x="1691640" y="4343400"/>
            <a:ext cx="4114800" cy="411480"/>
          </a:xfrm>
          <a:prstGeom prst="rect">
            <a:avLst/>
          </a:prstGeom>
          <a:noFill/>
          <a:ln/>
        </p:spPr>
        <p:txBody>
          <a:bodyPr wrap="square" lIns="0" tIns="0" rIns="0" bIns="0" rtlCol="0" anchor="t"/>
          <a:lstStyle/>
          <a:p>
            <a:pPr indent="0" marL="0">
              <a:buNone/>
            </a:pPr>
            <a:r>
              <a:rPr lang="en-US" sz="1800" b="1" dirty="0">
                <a:solidFill>
                  <a:schemeClr val="tx1"/>
                </a:solidFill>
              </a:rPr>
              <a:t>Search text stays home</a:t>
            </a:r>
            <a:endParaRPr lang="en-US" sz="1800" dirty="0"/>
          </a:p>
        </p:txBody>
      </p:sp>
      <p:sp>
        <p:nvSpPr>
          <p:cNvPr id="18" name="Text 13"/>
          <p:cNvSpPr txBox="1"/>
          <p:nvPr/>
        </p:nvSpPr>
        <p:spPr>
          <a:xfrm>
            <a:off x="1691640" y="4800600"/>
            <a:ext cx="4114800" cy="1097280"/>
          </a:xfrm>
          <a:prstGeom prst="rect">
            <a:avLst/>
          </a:prstGeom>
          <a:noFill/>
          <a:ln/>
        </p:spPr>
        <p:txBody>
          <a:bodyPr wrap="square" lIns="0" tIns="0" rIns="0" bIns="0" rtlCol="0" anchor="t"/>
          <a:lstStyle/>
          <a:p>
            <a:pPr indent="0" marL="0">
              <a:buNone/>
            </a:pPr>
            <a:r>
              <a:rPr lang="en-US" sz="1500" dirty="0">
                <a:solidFill>
                  <a:schemeClr val="tx2"/>
                </a:solidFill>
              </a:rPr>
              <a:t>Federation honours the spec default, auto, but only to upstreams an admin allowlists. The list starts empty.</a:t>
            </a:r>
            <a:endParaRPr lang="en-US" sz="1500" dirty="0"/>
          </a:p>
        </p:txBody>
      </p:sp>
      <p:sp>
        <p:nvSpPr>
          <p:cNvPr id="19" name="Read freely, write with consent card"/>
          <p:cNvSpPr/>
          <p:nvPr/>
        </p:nvSpPr>
        <p:spPr>
          <a:xfrm>
            <a:off x="6185916" y="4069080"/>
            <a:ext cx="5454396" cy="1920240"/>
          </a:xfrm>
          <a:prstGeom prst="roundRect">
            <a:avLst>
              <a:gd name="adj" fmla="val 6667"/>
            </a:avLst>
          </a:prstGeom>
          <a:solidFill>
            <a:schemeClr val="bg2"/>
          </a:solidFill>
          <a:ln/>
        </p:spPr>
      </p:sp>
      <p:sp>
        <p:nvSpPr>
          <p:cNvPr id="20" name="Read freely, write with consent circle"/>
          <p:cNvSpPr/>
          <p:nvPr/>
        </p:nvSpPr>
        <p:spPr>
          <a:xfrm>
            <a:off x="6460236" y="4343400"/>
            <a:ext cx="640080" cy="640080"/>
          </a:xfrm>
          <a:prstGeom prst="ellipse">
            <a:avLst/>
          </a:prstGeom>
          <a:solidFill>
            <a:schemeClr val="accent5"/>
          </a:solidFill>
          <a:ln/>
        </p:spPr>
      </p:sp>
      <p:pic>
        <p:nvPicPr>
          <p:cNvPr id="21" name="Read freely, write with consent icon" descr="preencoded.png">    </p:cNvPr>
          <p:cNvPicPr>
            <a:picLocks noChangeAspect="1"/>
          </p:cNvPicPr>
          <p:nvPr/>
        </p:nvPicPr>
        <p:blipFill>
          <a:blip r:embed="rId4"/>
          <a:stretch>
            <a:fillRect/>
          </a:stretch>
        </p:blipFill>
        <p:spPr>
          <a:xfrm>
            <a:off x="6620256" y="4503420"/>
            <a:ext cx="320040" cy="320040"/>
          </a:xfrm>
          <a:prstGeom prst="rect">
            <a:avLst/>
          </a:prstGeom>
        </p:spPr>
      </p:pic>
      <p:sp>
        <p:nvSpPr>
          <p:cNvPr id="22" name="Text 16"/>
          <p:cNvSpPr txBox="1"/>
          <p:nvPr/>
        </p:nvSpPr>
        <p:spPr>
          <a:xfrm>
            <a:off x="7328916" y="4343400"/>
            <a:ext cx="4114800" cy="411480"/>
          </a:xfrm>
          <a:prstGeom prst="rect">
            <a:avLst/>
          </a:prstGeom>
          <a:noFill/>
          <a:ln/>
        </p:spPr>
        <p:txBody>
          <a:bodyPr wrap="square" lIns="0" tIns="0" rIns="0" bIns="0" rtlCol="0" anchor="t"/>
          <a:lstStyle/>
          <a:p>
            <a:pPr indent="0" marL="0">
              <a:buNone/>
            </a:pPr>
            <a:r>
              <a:rPr lang="en-US" sz="1800" b="1" dirty="0">
                <a:solidFill>
                  <a:schemeClr val="tx1"/>
                </a:solidFill>
              </a:rPr>
              <a:t>Read freely, write with consent</a:t>
            </a:r>
            <a:endParaRPr lang="en-US" sz="1800" dirty="0"/>
          </a:p>
        </p:txBody>
      </p:sp>
      <p:sp>
        <p:nvSpPr>
          <p:cNvPr id="23" name="Text 17"/>
          <p:cNvSpPr txBox="1"/>
          <p:nvPr/>
        </p:nvSpPr>
        <p:spPr>
          <a:xfrm>
            <a:off x="7328916" y="4800600"/>
            <a:ext cx="4114800" cy="1097280"/>
          </a:xfrm>
          <a:prstGeom prst="rect">
            <a:avLst/>
          </a:prstGeom>
          <a:noFill/>
          <a:ln/>
        </p:spPr>
        <p:txBody>
          <a:bodyPr wrap="square" lIns="0" tIns="0" rIns="0" bIns="0" rtlCol="0" anchor="t"/>
          <a:lstStyle/>
          <a:p>
            <a:pPr indent="0" marL="0">
              <a:buNone/>
            </a:pPr>
            <a:r>
              <a:rPr lang="en-US" sz="1500" dirty="0">
                <a:solidFill>
                  <a:schemeClr val="tx2"/>
                </a:solidFill>
              </a:rPr>
              <a:t>Approved skills and prompts load immediately. Anything that changes a setup goes through an install that asks first.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  WHAT IT UNLOCKS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Agents search the registry before they reinvent</a:t>
            </a:r>
            <a:endParaRPr lang="en-US" sz="3200" dirty="0"/>
          </a:p>
        </p:txBody>
      </p:sp>
      <p:sp>
        <p:nvSpPr>
          <p:cNvPr id="4" name="Terminal"/>
          <p:cNvSpPr/>
          <p:nvPr/>
        </p:nvSpPr>
        <p:spPr>
          <a:xfrm>
            <a:off x="548640" y="1965960"/>
            <a:ext cx="6720840" cy="4114800"/>
          </a:xfrm>
          <a:prstGeom prst="roundRect">
            <a:avLst>
              <a:gd name="adj" fmla="val 3111"/>
            </a:avLst>
          </a:prstGeom>
          <a:solidFill>
            <a:schemeClr val="bg1"/>
          </a:solidFill>
          <a:ln w="15875">
            <a:solidFill>
              <a:srgbClr val="B6B0D0"/>
            </a:solidFill>
            <a:prstDash val="solid"/>
          </a:ln>
          <a:effectLst>
            <a:outerShdw sx="100000" sy="100000" kx="0" ky="0" algn="bl" rotWithShape="0" blurRad="127000" dist="38100" dir="5400000">
              <a:srgbClr val="474552">
                <a:alpha val="14000"/>
              </a:srgbClr>
            </a:outerShdw>
          </a:effectLst>
        </p:spPr>
      </p:sp>
      <p:sp>
        <p:nvSpPr>
          <p:cNvPr id="5" name="Terminal dot 1"/>
          <p:cNvSpPr/>
          <p:nvPr/>
        </p:nvSpPr>
        <p:spPr>
          <a:xfrm>
            <a:off x="777240" y="2148840"/>
            <a:ext cx="137160" cy="137160"/>
          </a:xfrm>
          <a:prstGeom prst="ellipse">
            <a:avLst/>
          </a:prstGeom>
          <a:solidFill>
            <a:srgbClr val="E8601F"/>
          </a:solidFill>
          <a:ln/>
        </p:spPr>
      </p:sp>
      <p:sp>
        <p:nvSpPr>
          <p:cNvPr id="6" name="Terminal dot 2"/>
          <p:cNvSpPr/>
          <p:nvPr/>
        </p:nvSpPr>
        <p:spPr>
          <a:xfrm>
            <a:off x="1033272" y="2148840"/>
            <a:ext cx="137160" cy="137160"/>
          </a:xfrm>
          <a:prstGeom prst="ellipse">
            <a:avLst/>
          </a:prstGeom>
          <a:solidFill>
            <a:srgbClr val="B6B0D0"/>
          </a:solidFill>
          <a:ln/>
        </p:spPr>
      </p:sp>
      <p:sp>
        <p:nvSpPr>
          <p:cNvPr id="7" name="Terminal dot 3"/>
          <p:cNvSpPr/>
          <p:nvPr/>
        </p:nvSpPr>
        <p:spPr>
          <a:xfrm>
            <a:off x="1289304" y="2148840"/>
            <a:ext cx="137160" cy="137160"/>
          </a:xfrm>
          <a:prstGeom prst="ellipse">
            <a:avLst/>
          </a:prstGeom>
          <a:solidFill>
            <a:srgbClr val="474552"/>
          </a:solidFill>
          <a:ln/>
        </p:spPr>
      </p:sp>
      <p:sp>
        <p:nvSpPr>
          <p:cNvPr id="8" name="Text 6"/>
          <p:cNvSpPr txBox="1"/>
          <p:nvPr/>
        </p:nvSpPr>
        <p:spPr>
          <a:xfrm>
            <a:off x="822960" y="2468880"/>
            <a:ext cx="6309360" cy="3474720"/>
          </a:xfrm>
          <a:prstGeom prst="rect">
            <a:avLst/>
          </a:prstGeom>
          <a:noFill/>
          <a:ln/>
        </p:spPr>
        <p:txBody>
          <a:bodyPr wrap="square" lIns="0" tIns="0" rIns="0" bIns="0" rtlCol="0" anchor="t"/>
          <a:lstStyle/>
          <a:p>
            <a:pPr indent="0" marL="0">
              <a:lnSpc>
                <a:spcPct val="145000"/>
              </a:lnSpc>
              <a:buNone/>
            </a:pPr>
            <a:r>
              <a:rPr lang="en-US" sz="1250" b="1" dirty="0">
                <a:solidFill>
                  <a:srgbClr val="C2410C"/>
                </a:solidFill>
                <a:latin typeface="Consolas" pitchFamily="34" charset="0"/>
                <a:ea typeface="Consolas" pitchFamily="34" charset="-122"/>
                <a:cs typeface="Consolas" pitchFamily="34" charset="-120"/>
              </a:rPr>
              <a:t>$ </a:t>
            </a:r>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observal discover search 'review a pull request for auth bugs'</a:t>
            </a:r>
            <a:endParaRPr lang="en-US" sz="1250" dirty="0"/>
          </a:p>
          <a:p>
            <a:pPr indent="0" marL="0">
              <a:lnSpc>
                <a:spcPct val="1450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indent="0" marL="0">
              <a:lnSpc>
                <a:spcPct val="145000"/>
              </a:lnSpc>
              <a:buNone/>
            </a:pPr>
            <a:r>
              <a:rPr lang="en-US" sz="1250" dirty="0">
                <a:solidFill>
                  <a:srgbClr val="6E6A7C"/>
                </a:solidFill>
                <a:latin typeface="Consolas" pitchFamily="34" charset="0"/>
                <a:ea typeface="Consolas" pitchFamily="34" charset="-122"/>
                <a:cs typeface="Consolas" pitchFamily="34" charset="-120"/>
              </a:rPr>
              <a:t> #  Kind    Resource            Match  Use</a:t>
            </a:r>
            <a:endParaRPr lang="en-US" sz="1250" dirty="0"/>
          </a:p>
          <a:p>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 1  skill   Security Review        92  </a:t>
            </a:r>
            <a:pPr indent="0" marL="0">
              <a:lnSpc>
                <a:spcPct val="145000"/>
              </a:lnSpc>
              <a:buNone/>
            </a:pPr>
            <a:r>
              <a:rPr lang="en-US" sz="1250" b="1" dirty="0">
                <a:solidFill>
                  <a:srgbClr val="2D6E3A"/>
                </a:solidFill>
                <a:latin typeface="Consolas" pitchFamily="34" charset="0"/>
                <a:ea typeface="Consolas" pitchFamily="34" charset="-122"/>
                <a:cs typeface="Consolas" pitchFamily="34" charset="-120"/>
              </a:rPr>
              <a:t>now</a:t>
            </a:r>
            <a:endParaRPr lang="en-US" sz="1250" dirty="0"/>
          </a:p>
          <a:p>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 2  prompt  OWASP Checklist        81  </a:t>
            </a:r>
            <a:pPr indent="0" marL="0">
              <a:lnSpc>
                <a:spcPct val="145000"/>
              </a:lnSpc>
              <a:buNone/>
            </a:pPr>
            <a:r>
              <a:rPr lang="en-US" sz="1250" b="1" dirty="0">
                <a:solidFill>
                  <a:srgbClr val="2D6E3A"/>
                </a:solidFill>
                <a:latin typeface="Consolas" pitchFamily="34" charset="0"/>
                <a:ea typeface="Consolas" pitchFamily="34" charset="-122"/>
                <a:cs typeface="Consolas" pitchFamily="34" charset="-120"/>
              </a:rPr>
              <a:t>now</a:t>
            </a:r>
            <a:endParaRPr lang="en-US" sz="1250" dirty="0"/>
          </a:p>
          <a:p>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 3  mcp     github                 64  </a:t>
            </a:r>
            <a:pPr indent="0" marL="0">
              <a:lnSpc>
                <a:spcPct val="145000"/>
              </a:lnSpc>
              <a:buNone/>
            </a:pPr>
            <a:r>
              <a:rPr lang="en-US" sz="1250" b="1" dirty="0">
                <a:solidFill>
                  <a:srgbClr val="C2410C"/>
                </a:solidFill>
                <a:latin typeface="Consolas" pitchFamily="34" charset="0"/>
                <a:ea typeface="Consolas" pitchFamily="34" charset="-122"/>
                <a:cs typeface="Consolas" pitchFamily="34" charset="-120"/>
              </a:rPr>
              <a:t>next-session</a:t>
            </a:r>
            <a:endParaRPr lang="en-US" sz="1250" dirty="0"/>
          </a:p>
          <a:p>
            <a:pPr indent="0" marL="0">
              <a:lnSpc>
                <a:spcPct val="145000"/>
              </a:lnSpc>
              <a:buNone/>
            </a:pPr>
            <a:r>
              <a:rPr lang="en-US" sz="1250" dirty="0">
                <a:solidFill>
                  <a:schemeClr val="tx1"/>
                </a:solidFill>
                <a:latin typeface="Consolas" pitchFamily="34" charset="0"/>
                <a:ea typeface="Consolas" pitchFamily="34" charset="-122"/>
                <a:cs typeface="Consolas" pitchFamily="34" charset="-120"/>
              </a:rPr>
              <a:t> </a:t>
            </a:r>
            <a:endParaRPr lang="en-US" sz="1250" dirty="0"/>
          </a:p>
          <a:p>
            <a:pPr indent="0" marL="0">
              <a:lnSpc>
                <a:spcPct val="145000"/>
              </a:lnSpc>
              <a:buNone/>
            </a:pPr>
            <a:r>
              <a:rPr lang="en-US" sz="1250" b="1" dirty="0">
                <a:solidFill>
                  <a:srgbClr val="C2410C"/>
                </a:solidFill>
                <a:latin typeface="Consolas" pitchFamily="34" charset="0"/>
                <a:ea typeface="Consolas" pitchFamily="34" charset="-122"/>
                <a:cs typeface="Consolas" pitchFamily="34" charset="-120"/>
              </a:rPr>
              <a:t>$ </a:t>
            </a:r>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observal discover use urn:air:observal.acme.com:skill:5f2c…</a:t>
            </a:r>
            <a:endParaRPr lang="en-US" sz="1250" dirty="0"/>
          </a:p>
          <a:p>
            <a:pPr indent="0" marL="0">
              <a:lnSpc>
                <a:spcPct val="145000"/>
              </a:lnSpc>
              <a:buNone/>
            </a:pPr>
            <a:r>
              <a:rPr lang="en-US" sz="1250" b="1" dirty="0">
                <a:solidFill>
                  <a:srgbClr val="2D6E3A"/>
                </a:solidFill>
                <a:latin typeface="Consolas" pitchFamily="34" charset="0"/>
                <a:ea typeface="Consolas" pitchFamily="34" charset="-122"/>
                <a:cs typeface="Consolas" pitchFamily="34" charset="-120"/>
              </a:rPr>
              <a:t>✓ Loaded </a:t>
            </a:r>
            <a:pPr indent="0" marL="0">
              <a:lnSpc>
                <a:spcPct val="145000"/>
              </a:lnSpc>
              <a:buNone/>
            </a:pPr>
            <a:r>
              <a:rPr lang="en-US" sz="1250" b="1" dirty="0">
                <a:solidFill>
                  <a:srgbClr val="383A42"/>
                </a:solidFill>
                <a:latin typeface="Consolas" pitchFamily="34" charset="0"/>
                <a:ea typeface="Consolas" pitchFamily="34" charset="-122"/>
                <a:cs typeface="Consolas" pitchFamily="34" charset="-120"/>
              </a:rPr>
              <a:t>Security Review</a:t>
            </a:r>
            <a:pPr indent="0" marL="0">
              <a:lnSpc>
                <a:spcPct val="145000"/>
              </a:lnSpc>
              <a:buNone/>
            </a:pPr>
            <a:r>
              <a:rPr lang="en-US" sz="1250" dirty="0">
                <a:solidFill>
                  <a:srgbClr val="383A42"/>
                </a:solidFill>
                <a:latin typeface="Consolas" pitchFamily="34" charset="0"/>
                <a:ea typeface="Consolas" pitchFamily="34" charset="-122"/>
                <a:cs typeface="Consolas" pitchFamily="34" charset="-120"/>
              </a:rPr>
              <a:t> 1.2.0 (skill)</a:t>
            </a:r>
            <a:endParaRPr lang="en-US" sz="1250" dirty="0"/>
          </a:p>
          <a:p>
            <a:pPr indent="0" marL="0">
              <a:lnSpc>
                <a:spcPct val="145000"/>
              </a:lnSpc>
              <a:buNone/>
            </a:pPr>
            <a:r>
              <a:rPr lang="en-US" sz="1250" dirty="0">
                <a:solidFill>
                  <a:srgbClr val="6E6A7C"/>
                </a:solidFill>
                <a:latin typeface="Consolas" pitchFamily="34" charset="0"/>
                <a:ea typeface="Consolas" pitchFamily="34" charset="-122"/>
                <a:cs typeface="Consolas" pitchFamily="34" charset="-120"/>
              </a:rPr>
              <a:t>Recorded in the capability lock for claude-code</a:t>
            </a:r>
            <a:endParaRPr lang="en-US" sz="1250" dirty="0"/>
          </a:p>
        </p:txBody>
      </p:sp>
      <p:sp>
        <p:nvSpPr>
          <p:cNvPr id="9" name="Use case step 1"/>
          <p:cNvSpPr/>
          <p:nvPr/>
        </p:nvSpPr>
        <p:spPr>
          <a:xfrm>
            <a:off x="7589520" y="1965960"/>
            <a:ext cx="548640" cy="548640"/>
          </a:xfrm>
          <a:prstGeom prst="ellipse">
            <a:avLst/>
          </a:prstGeom>
          <a:solidFill>
            <a:schemeClr val="accent5"/>
          </a:solidFill>
          <a:ln/>
        </p:spPr>
      </p:sp>
      <p:sp>
        <p:nvSpPr>
          <p:cNvPr id="10" name="Text 8"/>
          <p:cNvSpPr txBox="1"/>
          <p:nvPr/>
        </p:nvSpPr>
        <p:spPr>
          <a:xfrm>
            <a:off x="7589520" y="196596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1" name="Text 9"/>
          <p:cNvSpPr txBox="1"/>
          <p:nvPr/>
        </p:nvSpPr>
        <p:spPr>
          <a:xfrm>
            <a:off x="8321040" y="1947672"/>
            <a:ext cx="3291840" cy="365760"/>
          </a:xfrm>
          <a:prstGeom prst="rect">
            <a:avLst/>
          </a:prstGeom>
          <a:noFill/>
          <a:ln/>
        </p:spPr>
        <p:txBody>
          <a:bodyPr wrap="square" lIns="0" tIns="0" rIns="0" bIns="0" rtlCol="0" anchor="t"/>
          <a:lstStyle/>
          <a:p>
            <a:pPr indent="0" marL="0">
              <a:buNone/>
            </a:pPr>
            <a:r>
              <a:rPr lang="en-US" sz="1800" b="1" dirty="0">
                <a:solidFill>
                  <a:schemeClr val="tx1"/>
                </a:solidFill>
              </a:rPr>
              <a:t>Search</a:t>
            </a:r>
            <a:endParaRPr lang="en-US" sz="1800" dirty="0"/>
          </a:p>
        </p:txBody>
      </p:sp>
      <p:sp>
        <p:nvSpPr>
          <p:cNvPr id="12" name="Text 10"/>
          <p:cNvSpPr txBox="1"/>
          <p:nvPr/>
        </p:nvSpPr>
        <p:spPr>
          <a:xfrm>
            <a:off x="8321040" y="2313432"/>
            <a:ext cx="3291840" cy="594360"/>
          </a:xfrm>
          <a:prstGeom prst="rect">
            <a:avLst/>
          </a:prstGeom>
          <a:noFill/>
          <a:ln/>
        </p:spPr>
        <p:txBody>
          <a:bodyPr wrap="square" lIns="0" tIns="0" rIns="0" bIns="0" rtlCol="0" anchor="t"/>
          <a:lstStyle/>
          <a:p>
            <a:pPr indent="0" marL="0">
              <a:buNone/>
            </a:pPr>
            <a:r>
              <a:rPr lang="en-US" sz="1400" dirty="0">
                <a:solidFill>
                  <a:schemeClr val="accent6"/>
                </a:solidFill>
              </a:rPr>
              <a:t>Ranked candidates, each with the words that matched</a:t>
            </a:r>
            <a:endParaRPr lang="en-US" sz="1400" dirty="0"/>
          </a:p>
        </p:txBody>
      </p:sp>
      <p:sp>
        <p:nvSpPr>
          <p:cNvPr id="13" name="Use case step 2"/>
          <p:cNvSpPr/>
          <p:nvPr/>
        </p:nvSpPr>
        <p:spPr>
          <a:xfrm>
            <a:off x="7589520" y="2971800"/>
            <a:ext cx="548640" cy="548640"/>
          </a:xfrm>
          <a:prstGeom prst="ellipse">
            <a:avLst/>
          </a:prstGeom>
          <a:solidFill>
            <a:schemeClr val="accent5"/>
          </a:solidFill>
          <a:ln/>
        </p:spPr>
      </p:sp>
      <p:sp>
        <p:nvSpPr>
          <p:cNvPr id="14" name="Text 12"/>
          <p:cNvSpPr txBox="1"/>
          <p:nvPr/>
        </p:nvSpPr>
        <p:spPr>
          <a:xfrm>
            <a:off x="7589520" y="297180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5" name="Text 13"/>
          <p:cNvSpPr txBox="1"/>
          <p:nvPr/>
        </p:nvSpPr>
        <p:spPr>
          <a:xfrm>
            <a:off x="8321040" y="2953512"/>
            <a:ext cx="3291840" cy="365760"/>
          </a:xfrm>
          <a:prstGeom prst="rect">
            <a:avLst/>
          </a:prstGeom>
          <a:noFill/>
          <a:ln/>
        </p:spPr>
        <p:txBody>
          <a:bodyPr wrap="square" lIns="0" tIns="0" rIns="0" bIns="0" rtlCol="0" anchor="t"/>
          <a:lstStyle/>
          <a:p>
            <a:pPr indent="0" marL="0">
              <a:buNone/>
            </a:pPr>
            <a:r>
              <a:rPr lang="en-US" sz="1800" b="1" dirty="0">
                <a:solidFill>
                  <a:schemeClr val="tx1"/>
                </a:solidFill>
              </a:rPr>
              <a:t>Inspect</a:t>
            </a:r>
            <a:endParaRPr lang="en-US" sz="1800" dirty="0"/>
          </a:p>
        </p:txBody>
      </p:sp>
      <p:sp>
        <p:nvSpPr>
          <p:cNvPr id="16" name="Text 14"/>
          <p:cNvSpPr txBox="1"/>
          <p:nvPr/>
        </p:nvSpPr>
        <p:spPr>
          <a:xfrm>
            <a:off x="8321040" y="3319272"/>
            <a:ext cx="3291840" cy="594360"/>
          </a:xfrm>
          <a:prstGeom prst="rect">
            <a:avLst/>
          </a:prstGeom>
          <a:noFill/>
          <a:ln/>
        </p:spPr>
        <p:txBody>
          <a:bodyPr wrap="square" lIns="0" tIns="0" rIns="0" bIns="0" rtlCol="0" anchor="t"/>
          <a:lstStyle/>
          <a:p>
            <a:pPr indent="0" marL="0">
              <a:buNone/>
            </a:pPr>
            <a:r>
              <a:rPr lang="en-US" sz="1400" dirty="0">
                <a:solidFill>
                  <a:schemeClr val="accent6"/>
                </a:solidFill>
              </a:rPr>
              <a:t>What it’s for, which harnesses, the exact artifact and digest</a:t>
            </a:r>
            <a:endParaRPr lang="en-US" sz="1400" dirty="0"/>
          </a:p>
        </p:txBody>
      </p:sp>
      <p:sp>
        <p:nvSpPr>
          <p:cNvPr id="17" name="Use case step 3"/>
          <p:cNvSpPr/>
          <p:nvPr/>
        </p:nvSpPr>
        <p:spPr>
          <a:xfrm>
            <a:off x="7589520" y="3977640"/>
            <a:ext cx="548640" cy="548640"/>
          </a:xfrm>
          <a:prstGeom prst="ellipse">
            <a:avLst/>
          </a:prstGeom>
          <a:solidFill>
            <a:schemeClr val="accent5"/>
          </a:solidFill>
          <a:ln/>
        </p:spPr>
      </p:sp>
      <p:sp>
        <p:nvSpPr>
          <p:cNvPr id="18" name="Text 16"/>
          <p:cNvSpPr txBox="1"/>
          <p:nvPr/>
        </p:nvSpPr>
        <p:spPr>
          <a:xfrm>
            <a:off x="7589520" y="3977640"/>
            <a:ext cx="548640" cy="54864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9" name="Text 17"/>
          <p:cNvSpPr txBox="1"/>
          <p:nvPr/>
        </p:nvSpPr>
        <p:spPr>
          <a:xfrm>
            <a:off x="8321040" y="3959352"/>
            <a:ext cx="3291840" cy="365760"/>
          </a:xfrm>
          <a:prstGeom prst="rect">
            <a:avLst/>
          </a:prstGeom>
          <a:noFill/>
          <a:ln/>
        </p:spPr>
        <p:txBody>
          <a:bodyPr wrap="square" lIns="0" tIns="0" rIns="0" bIns="0" rtlCol="0" anchor="t"/>
          <a:lstStyle/>
          <a:p>
            <a:pPr indent="0" marL="0">
              <a:buNone/>
            </a:pPr>
            <a:r>
              <a:rPr lang="en-US" sz="1800" b="1" dirty="0">
                <a:solidFill>
                  <a:schemeClr val="tx1"/>
                </a:solidFill>
              </a:rPr>
              <a:t>Use</a:t>
            </a:r>
            <a:endParaRPr lang="en-US" sz="1800" dirty="0"/>
          </a:p>
        </p:txBody>
      </p:sp>
      <p:sp>
        <p:nvSpPr>
          <p:cNvPr id="20" name="Text 18"/>
          <p:cNvSpPr txBox="1"/>
          <p:nvPr/>
        </p:nvSpPr>
        <p:spPr>
          <a:xfrm>
            <a:off x="8321040" y="4325112"/>
            <a:ext cx="3291840" cy="594360"/>
          </a:xfrm>
          <a:prstGeom prst="rect">
            <a:avLst/>
          </a:prstGeom>
          <a:noFill/>
          <a:ln/>
        </p:spPr>
        <p:txBody>
          <a:bodyPr wrap="square" lIns="0" tIns="0" rIns="0" bIns="0" rtlCol="0" anchor="t"/>
          <a:lstStyle/>
          <a:p>
            <a:pPr indent="0" marL="0">
              <a:buNone/>
            </a:pPr>
            <a:r>
              <a:rPr lang="en-US" sz="1400" dirty="0">
                <a:solidFill>
                  <a:schemeClr val="accent6"/>
                </a:solidFill>
              </a:rPr>
              <a:t>Load it into this session and record that it was used</a:t>
            </a:r>
            <a:endParaRPr lang="en-US" sz="1400" dirty="0"/>
          </a:p>
        </p:txBody>
      </p:sp>
      <p:sp>
        <p:nvSpPr>
          <p:cNvPr id="21" name="Skill trigger note"/>
          <p:cNvSpPr/>
          <p:nvPr/>
        </p:nvSpPr>
        <p:spPr>
          <a:xfrm>
            <a:off x="7589520" y="5029200"/>
            <a:ext cx="4050792" cy="1051560"/>
          </a:xfrm>
          <a:prstGeom prst="roundRect">
            <a:avLst>
              <a:gd name="adj" fmla="val 12174"/>
            </a:avLst>
          </a:prstGeom>
          <a:solidFill>
            <a:schemeClr val="bg2"/>
          </a:solidFill>
          <a:ln/>
        </p:spPr>
      </p:sp>
      <p:sp>
        <p:nvSpPr>
          <p:cNvPr id="22" name="Text 20"/>
          <p:cNvSpPr txBox="1"/>
          <p:nvPr/>
        </p:nvSpPr>
        <p:spPr>
          <a:xfrm>
            <a:off x="7818120" y="5029200"/>
            <a:ext cx="3657600" cy="1051560"/>
          </a:xfrm>
          <a:prstGeom prst="rect">
            <a:avLst/>
          </a:prstGeom>
          <a:noFill/>
          <a:ln/>
        </p:spPr>
        <p:txBody>
          <a:bodyPr wrap="square" lIns="0" tIns="0" rIns="0" bIns="0" rtlCol="0" anchor="ctr"/>
          <a:lstStyle/>
          <a:p>
            <a:pPr indent="0" marL="0">
              <a:buNone/>
            </a:pPr>
            <a:r>
              <a:rPr lang="en-US" sz="1400" dirty="0">
                <a:solidFill>
                  <a:schemeClr val="tx1"/>
                </a:solidFill>
              </a:rPr>
              <a:t>A bundled agent skill tells Claude Code, Cursor, Kiro, Pi and others to search first.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  WHAT IT UNLOCKS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Text loads into the session now; anything that changes your setup asks first</a:t>
            </a:r>
            <a:endParaRPr lang="en-US" sz="3200" dirty="0"/>
          </a:p>
        </p:txBody>
      </p:sp>
      <p:sp>
        <p:nvSpPr>
          <p:cNvPr id="4" name="Available now card"/>
          <p:cNvSpPr/>
          <p:nvPr/>
        </p:nvSpPr>
        <p:spPr>
          <a:xfrm>
            <a:off x="548640" y="1965960"/>
            <a:ext cx="3575304" cy="3108960"/>
          </a:xfrm>
          <a:prstGeom prst="roundRect">
            <a:avLst>
              <a:gd name="adj" fmla="val 4118"/>
            </a:avLst>
          </a:prstGeom>
          <a:solidFill>
            <a:schemeClr val="bg2"/>
          </a:solidFill>
          <a:ln/>
        </p:spPr>
      </p:sp>
      <p:sp>
        <p:nvSpPr>
          <p:cNvPr id="5" name="Available now chip"/>
          <p:cNvSpPr/>
          <p:nvPr/>
        </p:nvSpPr>
        <p:spPr>
          <a:xfrm>
            <a:off x="822960" y="2194560"/>
            <a:ext cx="2103120" cy="438912"/>
          </a:xfrm>
          <a:prstGeom prst="roundRect">
            <a:avLst>
              <a:gd name="adj" fmla="val 50000"/>
            </a:avLst>
          </a:prstGeom>
          <a:solidFill>
            <a:schemeClr val="accent5"/>
          </a:solidFill>
          <a:ln/>
        </p:spPr>
      </p:sp>
      <p:sp>
        <p:nvSpPr>
          <p:cNvPr id="6" name="Text 4"/>
          <p:cNvSpPr txBox="1"/>
          <p:nvPr/>
        </p:nvSpPr>
        <p:spPr>
          <a:xfrm>
            <a:off x="822960" y="2194560"/>
            <a:ext cx="2103120" cy="438912"/>
          </a:xfrm>
          <a:prstGeom prst="rect">
            <a:avLst/>
          </a:prstGeom>
          <a:noFill/>
          <a:ln/>
        </p:spPr>
        <p:txBody>
          <a:bodyPr wrap="square" lIns="0" tIns="0" rIns="0" bIns="0" rtlCol="0" anchor="ctr"/>
          <a:lstStyle/>
          <a:p>
            <a:pPr algn="ctr" indent="0" marL="0">
              <a:buNone/>
            </a:pPr>
            <a:r>
              <a:rPr lang="en-US" sz="1500" b="1" dirty="0">
                <a:solidFill>
                  <a:schemeClr val="bg1"/>
                </a:solidFill>
              </a:rPr>
              <a:t>Available now</a:t>
            </a:r>
            <a:endParaRPr lang="en-US" sz="1500" dirty="0"/>
          </a:p>
        </p:txBody>
      </p:sp>
      <p:pic>
        <p:nvPicPr>
          <p:cNvPr id="7" name="Available now skill icon" descr="preencoded.png">    </p:cNvPr>
          <p:cNvPicPr>
            <a:picLocks noChangeAspect="1"/>
          </p:cNvPicPr>
          <p:nvPr/>
        </p:nvPicPr>
        <p:blipFill>
          <a:blip r:embed="rId1"/>
          <a:stretch>
            <a:fillRect/>
          </a:stretch>
        </p:blipFill>
        <p:spPr>
          <a:xfrm>
            <a:off x="822960" y="2880360"/>
            <a:ext cx="384048" cy="384048"/>
          </a:xfrm>
          <a:prstGeom prst="rect">
            <a:avLst/>
          </a:prstGeom>
        </p:spPr>
      </p:pic>
      <p:pic>
        <p:nvPicPr>
          <p:cNvPr id="8" name="Available now prompt icon" descr="preencoded.png">    </p:cNvPr>
          <p:cNvPicPr>
            <a:picLocks noChangeAspect="1"/>
          </p:cNvPicPr>
          <p:nvPr/>
        </p:nvPicPr>
        <p:blipFill>
          <a:blip r:embed="rId2"/>
          <a:stretch>
            <a:fillRect/>
          </a:stretch>
        </p:blipFill>
        <p:spPr>
          <a:xfrm>
            <a:off x="1371600" y="2880360"/>
            <a:ext cx="384048" cy="384048"/>
          </a:xfrm>
          <a:prstGeom prst="rect">
            <a:avLst/>
          </a:prstGeom>
        </p:spPr>
      </p:pic>
      <p:sp>
        <p:nvSpPr>
          <p:cNvPr id="9" name="Text 5"/>
          <p:cNvSpPr txBox="1"/>
          <p:nvPr/>
        </p:nvSpPr>
        <p:spPr>
          <a:xfrm>
            <a:off x="822960" y="3429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Skills · Prompts</a:t>
            </a:r>
            <a:endParaRPr lang="en-US" sz="1700" dirty="0"/>
          </a:p>
        </p:txBody>
      </p:sp>
      <p:sp>
        <p:nvSpPr>
          <p:cNvPr id="10" name="Text 6"/>
          <p:cNvSpPr txBox="1"/>
          <p:nvPr/>
        </p:nvSpPr>
        <p:spPr>
          <a:xfrm>
            <a:off x="822960" y="3840480"/>
            <a:ext cx="3063240" cy="1143000"/>
          </a:xfrm>
          <a:prstGeom prst="rect">
            <a:avLst/>
          </a:prstGeom>
          <a:noFill/>
          <a:ln/>
        </p:spPr>
        <p:txBody>
          <a:bodyPr wrap="square" lIns="0" tIns="0" rIns="0" bIns="0" rtlCol="0" anchor="t"/>
          <a:lstStyle/>
          <a:p>
            <a:pPr indent="0" marL="0">
              <a:buNone/>
            </a:pPr>
            <a:r>
              <a:rPr lang="en-US" sz="1500" dirty="0">
                <a:solidFill>
                  <a:schemeClr val="tx2"/>
                </a:solidFill>
              </a:rPr>
              <a:t>The exact approved version is fetched from its permanent URL and loaded into context.</a:t>
            </a:r>
            <a:endParaRPr lang="en-US" sz="1500" dirty="0"/>
          </a:p>
        </p:txBody>
      </p:sp>
      <p:sp>
        <p:nvSpPr>
          <p:cNvPr id="11" name="Next session card"/>
          <p:cNvSpPr/>
          <p:nvPr/>
        </p:nvSpPr>
        <p:spPr>
          <a:xfrm>
            <a:off x="4306824" y="1965960"/>
            <a:ext cx="3575304" cy="3108960"/>
          </a:xfrm>
          <a:prstGeom prst="roundRect">
            <a:avLst>
              <a:gd name="adj" fmla="val 4118"/>
            </a:avLst>
          </a:prstGeom>
          <a:solidFill>
            <a:schemeClr val="bg2"/>
          </a:solidFill>
          <a:ln/>
        </p:spPr>
      </p:sp>
      <p:sp>
        <p:nvSpPr>
          <p:cNvPr id="12" name="Next session chip"/>
          <p:cNvSpPr/>
          <p:nvPr/>
        </p:nvSpPr>
        <p:spPr>
          <a:xfrm>
            <a:off x="4581144" y="2194560"/>
            <a:ext cx="2103120" cy="438912"/>
          </a:xfrm>
          <a:prstGeom prst="roundRect">
            <a:avLst>
              <a:gd name="adj" fmla="val 50000"/>
            </a:avLst>
          </a:prstGeom>
          <a:solidFill>
            <a:schemeClr val="accent4"/>
          </a:solidFill>
          <a:ln/>
        </p:spPr>
      </p:sp>
      <p:sp>
        <p:nvSpPr>
          <p:cNvPr id="13" name="Text 9"/>
          <p:cNvSpPr txBox="1"/>
          <p:nvPr/>
        </p:nvSpPr>
        <p:spPr>
          <a:xfrm>
            <a:off x="4581144" y="2194560"/>
            <a:ext cx="2103120" cy="438912"/>
          </a:xfrm>
          <a:prstGeom prst="rect">
            <a:avLst/>
          </a:prstGeom>
          <a:noFill/>
          <a:ln/>
        </p:spPr>
        <p:txBody>
          <a:bodyPr wrap="square" lIns="0" tIns="0" rIns="0" bIns="0" rtlCol="0" anchor="ctr"/>
          <a:lstStyle/>
          <a:p>
            <a:pPr algn="ctr" indent="0" marL="0">
              <a:buNone/>
            </a:pPr>
            <a:r>
              <a:rPr lang="en-US" sz="1500" b="1" dirty="0">
                <a:solidFill>
                  <a:schemeClr val="bg1"/>
                </a:solidFill>
              </a:rPr>
              <a:t>Next session</a:t>
            </a:r>
            <a:endParaRPr lang="en-US" sz="1500" dirty="0"/>
          </a:p>
        </p:txBody>
      </p:sp>
      <p:pic>
        <p:nvPicPr>
          <p:cNvPr id="14" name="Next session mcp icon" descr="preencoded.png">    </p:cNvPr>
          <p:cNvPicPr>
            <a:picLocks noChangeAspect="1"/>
          </p:cNvPicPr>
          <p:nvPr/>
        </p:nvPicPr>
        <p:blipFill>
          <a:blip r:embed="rId3"/>
          <a:stretch>
            <a:fillRect/>
          </a:stretch>
        </p:blipFill>
        <p:spPr>
          <a:xfrm>
            <a:off x="4581144" y="2880360"/>
            <a:ext cx="384048" cy="384048"/>
          </a:xfrm>
          <a:prstGeom prst="rect">
            <a:avLst/>
          </a:prstGeom>
        </p:spPr>
      </p:pic>
      <p:pic>
        <p:nvPicPr>
          <p:cNvPr id="15" name="Next session agent icon" descr="preencoded.png">    </p:cNvPr>
          <p:cNvPicPr>
            <a:picLocks noChangeAspect="1"/>
          </p:cNvPicPr>
          <p:nvPr/>
        </p:nvPicPr>
        <p:blipFill>
          <a:blip r:embed="rId4"/>
          <a:stretch>
            <a:fillRect/>
          </a:stretch>
        </p:blipFill>
        <p:spPr>
          <a:xfrm>
            <a:off x="5129784" y="2880360"/>
            <a:ext cx="384048" cy="384048"/>
          </a:xfrm>
          <a:prstGeom prst="rect">
            <a:avLst/>
          </a:prstGeom>
        </p:spPr>
      </p:pic>
      <p:pic>
        <p:nvPicPr>
          <p:cNvPr id="16" name="Next session sandbox icon" descr="preencoded.png">    </p:cNvPr>
          <p:cNvPicPr>
            <a:picLocks noChangeAspect="1"/>
          </p:cNvPicPr>
          <p:nvPr/>
        </p:nvPicPr>
        <p:blipFill>
          <a:blip r:embed="rId5"/>
          <a:stretch>
            <a:fillRect/>
          </a:stretch>
        </p:blipFill>
        <p:spPr>
          <a:xfrm>
            <a:off x="5678424" y="2880360"/>
            <a:ext cx="384048" cy="384048"/>
          </a:xfrm>
          <a:prstGeom prst="rect">
            <a:avLst/>
          </a:prstGeom>
        </p:spPr>
      </p:pic>
      <p:sp>
        <p:nvSpPr>
          <p:cNvPr id="17" name="Text 10"/>
          <p:cNvSpPr txBox="1"/>
          <p:nvPr/>
        </p:nvSpPr>
        <p:spPr>
          <a:xfrm>
            <a:off x="4581144" y="3429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MCP · Agents · Sandboxes</a:t>
            </a:r>
            <a:endParaRPr lang="en-US" sz="1700" dirty="0"/>
          </a:p>
        </p:txBody>
      </p:sp>
      <p:sp>
        <p:nvSpPr>
          <p:cNvPr id="18" name="Text 11"/>
          <p:cNvSpPr txBox="1"/>
          <p:nvPr/>
        </p:nvSpPr>
        <p:spPr>
          <a:xfrm>
            <a:off x="4581144" y="3840480"/>
            <a:ext cx="3063240" cy="1143000"/>
          </a:xfrm>
          <a:prstGeom prst="rect">
            <a:avLst/>
          </a:prstGeom>
          <a:noFill/>
          <a:ln/>
        </p:spPr>
        <p:txBody>
          <a:bodyPr wrap="square" lIns="0" tIns="0" rIns="0" bIns="0" rtlCol="0" anchor="t"/>
          <a:lstStyle/>
          <a:p>
            <a:pPr indent="0" marL="0">
              <a:buNone/>
            </a:pPr>
            <a:r>
              <a:rPr lang="en-US" sz="1500" dirty="0">
                <a:solidFill>
                  <a:schemeClr val="tx2"/>
                </a:solidFill>
              </a:rPr>
              <a:t>Nothing is written. You get the install command, which confirms first and applies after a restart.</a:t>
            </a:r>
            <a:endParaRPr lang="en-US" sz="1500" dirty="0"/>
          </a:p>
        </p:txBody>
      </p:sp>
      <p:sp>
        <p:nvSpPr>
          <p:cNvPr id="19" name="Explicit install card"/>
          <p:cNvSpPr/>
          <p:nvPr/>
        </p:nvSpPr>
        <p:spPr>
          <a:xfrm>
            <a:off x="8065008" y="1965960"/>
            <a:ext cx="3575304" cy="3108960"/>
          </a:xfrm>
          <a:prstGeom prst="roundRect">
            <a:avLst>
              <a:gd name="adj" fmla="val 4118"/>
            </a:avLst>
          </a:prstGeom>
          <a:solidFill>
            <a:schemeClr val="bg2"/>
          </a:solidFill>
          <a:ln/>
        </p:spPr>
      </p:sp>
      <p:sp>
        <p:nvSpPr>
          <p:cNvPr id="20" name="Explicit install chip"/>
          <p:cNvSpPr/>
          <p:nvPr/>
        </p:nvSpPr>
        <p:spPr>
          <a:xfrm>
            <a:off x="8339328" y="2194560"/>
            <a:ext cx="2103120" cy="438912"/>
          </a:xfrm>
          <a:prstGeom prst="roundRect">
            <a:avLst>
              <a:gd name="adj" fmla="val 50000"/>
            </a:avLst>
          </a:prstGeom>
          <a:solidFill>
            <a:schemeClr val="accent3"/>
          </a:solidFill>
          <a:ln/>
        </p:spPr>
      </p:sp>
      <p:sp>
        <p:nvSpPr>
          <p:cNvPr id="21" name="Text 14"/>
          <p:cNvSpPr txBox="1"/>
          <p:nvPr/>
        </p:nvSpPr>
        <p:spPr>
          <a:xfrm>
            <a:off x="8339328" y="2194560"/>
            <a:ext cx="2103120" cy="438912"/>
          </a:xfrm>
          <a:prstGeom prst="rect">
            <a:avLst/>
          </a:prstGeom>
          <a:noFill/>
          <a:ln/>
        </p:spPr>
        <p:txBody>
          <a:bodyPr wrap="square" lIns="0" tIns="0" rIns="0" bIns="0" rtlCol="0" anchor="ctr"/>
          <a:lstStyle/>
          <a:p>
            <a:pPr algn="ctr" indent="0" marL="0">
              <a:buNone/>
            </a:pPr>
            <a:r>
              <a:rPr lang="en-US" sz="1500" b="1" dirty="0">
                <a:solidFill>
                  <a:schemeClr val="tx1"/>
                </a:solidFill>
              </a:rPr>
              <a:t>Explicit install</a:t>
            </a:r>
            <a:endParaRPr lang="en-US" sz="1500" dirty="0"/>
          </a:p>
        </p:txBody>
      </p:sp>
      <p:pic>
        <p:nvPicPr>
          <p:cNvPr id="22" name="Explicit install hook icon" descr="preencoded.png">    </p:cNvPr>
          <p:cNvPicPr>
            <a:picLocks noChangeAspect="1"/>
          </p:cNvPicPr>
          <p:nvPr/>
        </p:nvPicPr>
        <p:blipFill>
          <a:blip r:embed="rId6"/>
          <a:stretch>
            <a:fillRect/>
          </a:stretch>
        </p:blipFill>
        <p:spPr>
          <a:xfrm>
            <a:off x="8339328" y="2880360"/>
            <a:ext cx="384048" cy="384048"/>
          </a:xfrm>
          <a:prstGeom prst="rect">
            <a:avLst/>
          </a:prstGeom>
        </p:spPr>
      </p:pic>
      <p:sp>
        <p:nvSpPr>
          <p:cNvPr id="23" name="Text 15"/>
          <p:cNvSpPr txBox="1"/>
          <p:nvPr/>
        </p:nvSpPr>
        <p:spPr>
          <a:xfrm>
            <a:off x="8339328" y="3429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Hooks</a:t>
            </a:r>
            <a:endParaRPr lang="en-US" sz="1700" dirty="0"/>
          </a:p>
        </p:txBody>
      </p:sp>
      <p:sp>
        <p:nvSpPr>
          <p:cNvPr id="24" name="Text 16"/>
          <p:cNvSpPr txBox="1"/>
          <p:nvPr/>
        </p:nvSpPr>
        <p:spPr>
          <a:xfrm>
            <a:off x="8339328" y="3840480"/>
            <a:ext cx="3063240" cy="1143000"/>
          </a:xfrm>
          <a:prstGeom prst="rect">
            <a:avLst/>
          </a:prstGeom>
          <a:noFill/>
          <a:ln/>
        </p:spPr>
        <p:txBody>
          <a:bodyPr wrap="square" lIns="0" tIns="0" rIns="0" bIns="0" rtlCol="0" anchor="t"/>
          <a:lstStyle/>
          <a:p>
            <a:pPr indent="0" marL="0">
              <a:buNone/>
            </a:pPr>
            <a:r>
              <a:rPr lang="en-US" sz="1500" dirty="0">
                <a:solidFill>
                  <a:schemeClr val="tx2"/>
                </a:solidFill>
              </a:rPr>
              <a:t>Never activated implicitly. Always a deliberate, confirmed install.</a:t>
            </a:r>
            <a:endParaRPr lang="en-US" sz="1500" dirty="0"/>
          </a:p>
        </p:txBody>
      </p:sp>
      <p:sp>
        <p:nvSpPr>
          <p:cNvPr id="25" name="Refusals strip"/>
          <p:cNvSpPr/>
          <p:nvPr/>
        </p:nvSpPr>
        <p:spPr>
          <a:xfrm>
            <a:off x="548640" y="5257800"/>
            <a:ext cx="11091672" cy="822960"/>
          </a:xfrm>
          <a:prstGeom prst="roundRect">
            <a:avLst>
              <a:gd name="adj" fmla="val 15556"/>
            </a:avLst>
          </a:prstGeom>
          <a:solidFill>
            <a:schemeClr val="bg1"/>
          </a:solidFill>
          <a:ln w="15875">
            <a:solidFill>
              <a:srgbClr val="B6B0D0"/>
            </a:solidFill>
            <a:prstDash val="solid"/>
          </a:ln>
        </p:spPr>
      </p:sp>
      <p:sp>
        <p:nvSpPr>
          <p:cNvPr id="26" name="Refusals circle"/>
          <p:cNvSpPr/>
          <p:nvPr/>
        </p:nvSpPr>
        <p:spPr>
          <a:xfrm>
            <a:off x="731520" y="5413248"/>
            <a:ext cx="512064" cy="512064"/>
          </a:xfrm>
          <a:prstGeom prst="ellipse">
            <a:avLst/>
          </a:prstGeom>
          <a:solidFill>
            <a:schemeClr val="accent5"/>
          </a:solidFill>
          <a:ln/>
        </p:spPr>
      </p:sp>
      <p:pic>
        <p:nvPicPr>
          <p:cNvPr id="27" name="Refusals icon" descr="preencoded.png">    </p:cNvPr>
          <p:cNvPicPr>
            <a:picLocks noChangeAspect="1"/>
          </p:cNvPicPr>
          <p:nvPr/>
        </p:nvPicPr>
        <p:blipFill>
          <a:blip r:embed="rId7"/>
          <a:stretch>
            <a:fillRect/>
          </a:stretch>
        </p:blipFill>
        <p:spPr>
          <a:xfrm>
            <a:off x="859536" y="5541264"/>
            <a:ext cx="256032" cy="256032"/>
          </a:xfrm>
          <a:prstGeom prst="rect">
            <a:avLst/>
          </a:prstGeom>
        </p:spPr>
      </p:pic>
      <p:sp>
        <p:nvSpPr>
          <p:cNvPr id="28" name="Text 19"/>
          <p:cNvSpPr txBox="1"/>
          <p:nvPr/>
        </p:nvSpPr>
        <p:spPr>
          <a:xfrm>
            <a:off x="1463040" y="5257800"/>
            <a:ext cx="9966960" cy="822960"/>
          </a:xfrm>
          <a:prstGeom prst="rect">
            <a:avLst/>
          </a:prstGeom>
          <a:noFill/>
          <a:ln/>
        </p:spPr>
        <p:txBody>
          <a:bodyPr wrap="square" lIns="0" tIns="0" rIns="0" bIns="0" rtlCol="0" anchor="ctr"/>
          <a:lstStyle/>
          <a:p>
            <a:pPr indent="0" marL="0">
              <a:buNone/>
            </a:pPr>
            <a:r>
              <a:rPr lang="en-US" sz="1500" dirty="0">
                <a:solidFill>
                  <a:schemeClr val="tx1"/>
                </a:solidFill>
              </a:rPr>
              <a:t>Unapproved resources are refused unless you pass --yes, and so is anything your harness doesn’t support.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  WHAT IT UNLOCKS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Every use is recorded, so a session that worked can become an agent</a:t>
            </a:r>
            <a:endParaRPr lang="en-US" sz="3200" dirty="0"/>
          </a:p>
        </p:txBody>
      </p:sp>
      <p:sp>
        <p:nvSpPr>
          <p:cNvPr id="4" name="Use circle"/>
          <p:cNvSpPr/>
          <p:nvPr/>
        </p:nvSpPr>
        <p:spPr>
          <a:xfrm>
            <a:off x="1417320" y="2011680"/>
            <a:ext cx="914400" cy="914400"/>
          </a:xfrm>
          <a:prstGeom prst="ellipse">
            <a:avLst/>
          </a:prstGeom>
          <a:solidFill>
            <a:schemeClr val="accent3"/>
          </a:solidFill>
          <a:ln/>
        </p:spPr>
      </p:sp>
      <p:pic>
        <p:nvPicPr>
          <p:cNvPr id="5" name="Use icon" descr="preencoded.png">    </p:cNvPr>
          <p:cNvPicPr>
            <a:picLocks noChangeAspect="1"/>
          </p:cNvPicPr>
          <p:nvPr/>
        </p:nvPicPr>
        <p:blipFill>
          <a:blip r:embed="rId1"/>
          <a:stretch>
            <a:fillRect/>
          </a:stretch>
        </p:blipFill>
        <p:spPr>
          <a:xfrm>
            <a:off x="1645920" y="2240280"/>
            <a:ext cx="457200" cy="457200"/>
          </a:xfrm>
          <a:prstGeom prst="rect">
            <a:avLst/>
          </a:prstGeom>
        </p:spPr>
      </p:pic>
      <p:sp>
        <p:nvSpPr>
          <p:cNvPr id="6" name="Text 3"/>
          <p:cNvSpPr txBox="1"/>
          <p:nvPr/>
        </p:nvSpPr>
        <p:spPr>
          <a:xfrm>
            <a:off x="548640" y="3063240"/>
            <a:ext cx="2651760" cy="384048"/>
          </a:xfrm>
          <a:prstGeom prst="rect">
            <a:avLst/>
          </a:prstGeom>
          <a:noFill/>
          <a:ln/>
        </p:spPr>
        <p:txBody>
          <a:bodyPr wrap="square" lIns="0" tIns="0" rIns="0" bIns="0" rtlCol="0" anchor="t"/>
          <a:lstStyle/>
          <a:p>
            <a:pPr algn="ctr" indent="0" marL="0">
              <a:buNone/>
            </a:pPr>
            <a:r>
              <a:rPr lang="en-US" sz="1800" b="1" dirty="0">
                <a:solidFill>
                  <a:schemeClr val="tx1"/>
                </a:solidFill>
              </a:rPr>
              <a:t>Use</a:t>
            </a:r>
            <a:endParaRPr lang="en-US" sz="1800" dirty="0"/>
          </a:p>
        </p:txBody>
      </p:sp>
      <p:sp>
        <p:nvSpPr>
          <p:cNvPr id="7" name="Text 4"/>
          <p:cNvSpPr txBox="1"/>
          <p:nvPr/>
        </p:nvSpPr>
        <p:spPr>
          <a:xfrm>
            <a:off x="685800" y="3474720"/>
            <a:ext cx="2377440" cy="914400"/>
          </a:xfrm>
          <a:prstGeom prst="rect">
            <a:avLst/>
          </a:prstGeom>
          <a:noFill/>
          <a:ln/>
        </p:spPr>
        <p:txBody>
          <a:bodyPr wrap="square" lIns="0" tIns="0" rIns="0" bIns="0" rtlCol="0" anchor="t"/>
          <a:lstStyle/>
          <a:p>
            <a:pPr algn="ctr" indent="0" marL="0">
              <a:buNone/>
            </a:pPr>
            <a:r>
              <a:rPr lang="en-US" sz="1400" dirty="0">
                <a:solidFill>
                  <a:schemeClr val="accent6"/>
                </a:solidFill>
              </a:rPr>
              <a:t>discover use, or a normal install</a:t>
            </a:r>
            <a:endParaRPr lang="en-US" sz="1400" dirty="0"/>
          </a:p>
        </p:txBody>
      </p:sp>
      <p:sp>
        <p:nvSpPr>
          <p:cNvPr id="8" name="Flow arrow 1"/>
          <p:cNvSpPr/>
          <p:nvPr/>
        </p:nvSpPr>
        <p:spPr>
          <a:xfrm>
            <a:off x="2468880" y="2468880"/>
            <a:ext cx="1691640" cy="0"/>
          </a:xfrm>
          <a:prstGeom prst="line">
            <a:avLst/>
          </a:prstGeom>
          <a:noFill/>
          <a:ln w="22225">
            <a:solidFill>
              <a:srgbClr val="474552"/>
            </a:solidFill>
            <a:prstDash val="solid"/>
            <a:tailEnd type="triangle"/>
          </a:ln>
        </p:spPr>
      </p:sp>
      <p:sp>
        <p:nvSpPr>
          <p:cNvPr id="9" name="Capability lock circle"/>
          <p:cNvSpPr/>
          <p:nvPr/>
        </p:nvSpPr>
        <p:spPr>
          <a:xfrm>
            <a:off x="4251960" y="2011680"/>
            <a:ext cx="914400" cy="914400"/>
          </a:xfrm>
          <a:prstGeom prst="ellipse">
            <a:avLst/>
          </a:prstGeom>
          <a:solidFill>
            <a:schemeClr val="accent3"/>
          </a:solidFill>
          <a:ln/>
        </p:spPr>
      </p:sp>
      <p:pic>
        <p:nvPicPr>
          <p:cNvPr id="10" name="Capability lock icon" descr="preencoded.png">    </p:cNvPr>
          <p:cNvPicPr>
            <a:picLocks noChangeAspect="1"/>
          </p:cNvPicPr>
          <p:nvPr/>
        </p:nvPicPr>
        <p:blipFill>
          <a:blip r:embed="rId2"/>
          <a:stretch>
            <a:fillRect/>
          </a:stretch>
        </p:blipFill>
        <p:spPr>
          <a:xfrm>
            <a:off x="4480560" y="2240280"/>
            <a:ext cx="457200" cy="457200"/>
          </a:xfrm>
          <a:prstGeom prst="rect">
            <a:avLst/>
          </a:prstGeom>
        </p:spPr>
      </p:pic>
      <p:sp>
        <p:nvSpPr>
          <p:cNvPr id="11" name="Text 7"/>
          <p:cNvSpPr txBox="1"/>
          <p:nvPr/>
        </p:nvSpPr>
        <p:spPr>
          <a:xfrm>
            <a:off x="3383280" y="3063240"/>
            <a:ext cx="2651760" cy="384048"/>
          </a:xfrm>
          <a:prstGeom prst="rect">
            <a:avLst/>
          </a:prstGeom>
          <a:noFill/>
          <a:ln/>
        </p:spPr>
        <p:txBody>
          <a:bodyPr wrap="square" lIns="0" tIns="0" rIns="0" bIns="0" rtlCol="0" anchor="t"/>
          <a:lstStyle/>
          <a:p>
            <a:pPr algn="ctr" indent="0" marL="0">
              <a:buNone/>
            </a:pPr>
            <a:r>
              <a:rPr lang="en-US" sz="1800" b="1" dirty="0">
                <a:solidFill>
                  <a:schemeClr val="tx1"/>
                </a:solidFill>
              </a:rPr>
              <a:t>Capability lock</a:t>
            </a:r>
            <a:endParaRPr lang="en-US" sz="1800" dirty="0"/>
          </a:p>
        </p:txBody>
      </p:sp>
      <p:sp>
        <p:nvSpPr>
          <p:cNvPr id="12" name="Text 8"/>
          <p:cNvSpPr txBox="1"/>
          <p:nvPr/>
        </p:nvSpPr>
        <p:spPr>
          <a:xfrm>
            <a:off x="3520440" y="3474720"/>
            <a:ext cx="2377440" cy="914400"/>
          </a:xfrm>
          <a:prstGeom prst="rect">
            <a:avLst/>
          </a:prstGeom>
          <a:noFill/>
          <a:ln/>
        </p:spPr>
        <p:txBody>
          <a:bodyPr wrap="square" lIns="0" tIns="0" rIns="0" bIns="0" rtlCol="0" anchor="t"/>
          <a:lstStyle/>
          <a:p>
            <a:pPr algn="ctr" indent="0" marL="0">
              <a:buNone/>
            </a:pPr>
            <a:r>
              <a:rPr lang="en-US" sz="1400" dirty="0">
                <a:solidFill>
                  <a:schemeClr val="accent6"/>
                </a:solidFill>
              </a:rPr>
              <a:t>One local line: URN, version, digest, harness, folder, time</a:t>
            </a:r>
            <a:endParaRPr lang="en-US" sz="1400" dirty="0"/>
          </a:p>
        </p:txBody>
      </p:sp>
      <p:sp>
        <p:nvSpPr>
          <p:cNvPr id="13" name="Flow arrow 2"/>
          <p:cNvSpPr/>
          <p:nvPr/>
        </p:nvSpPr>
        <p:spPr>
          <a:xfrm>
            <a:off x="5303520" y="2468880"/>
            <a:ext cx="1691640" cy="0"/>
          </a:xfrm>
          <a:prstGeom prst="line">
            <a:avLst/>
          </a:prstGeom>
          <a:noFill/>
          <a:ln w="22225">
            <a:solidFill>
              <a:srgbClr val="474552"/>
            </a:solidFill>
            <a:prstDash val="solid"/>
            <a:tailEnd type="triangle"/>
          </a:ln>
        </p:spPr>
      </p:sp>
      <p:sp>
        <p:nvSpPr>
          <p:cNvPr id="14" name="Session telemetry circle"/>
          <p:cNvSpPr/>
          <p:nvPr/>
        </p:nvSpPr>
        <p:spPr>
          <a:xfrm>
            <a:off x="7086600" y="2011680"/>
            <a:ext cx="914400" cy="914400"/>
          </a:xfrm>
          <a:prstGeom prst="ellipse">
            <a:avLst/>
          </a:prstGeom>
          <a:solidFill>
            <a:schemeClr val="accent3"/>
          </a:solidFill>
          <a:ln/>
        </p:spPr>
      </p:sp>
      <p:pic>
        <p:nvPicPr>
          <p:cNvPr id="15" name="Session telemetry icon" descr="preencoded.png">    </p:cNvPr>
          <p:cNvPicPr>
            <a:picLocks noChangeAspect="1"/>
          </p:cNvPicPr>
          <p:nvPr/>
        </p:nvPicPr>
        <p:blipFill>
          <a:blip r:embed="rId3"/>
          <a:stretch>
            <a:fillRect/>
          </a:stretch>
        </p:blipFill>
        <p:spPr>
          <a:xfrm>
            <a:off x="7315200" y="2240280"/>
            <a:ext cx="457200" cy="457200"/>
          </a:xfrm>
          <a:prstGeom prst="rect">
            <a:avLst/>
          </a:prstGeom>
        </p:spPr>
      </p:pic>
      <p:sp>
        <p:nvSpPr>
          <p:cNvPr id="16" name="Text 11"/>
          <p:cNvSpPr txBox="1"/>
          <p:nvPr/>
        </p:nvSpPr>
        <p:spPr>
          <a:xfrm>
            <a:off x="6217920" y="3063240"/>
            <a:ext cx="2651760" cy="384048"/>
          </a:xfrm>
          <a:prstGeom prst="rect">
            <a:avLst/>
          </a:prstGeom>
          <a:noFill/>
          <a:ln/>
        </p:spPr>
        <p:txBody>
          <a:bodyPr wrap="square" lIns="0" tIns="0" rIns="0" bIns="0" rtlCol="0" anchor="t"/>
          <a:lstStyle/>
          <a:p>
            <a:pPr algn="ctr" indent="0" marL="0">
              <a:buNone/>
            </a:pPr>
            <a:r>
              <a:rPr lang="en-US" sz="1800" b="1" dirty="0">
                <a:solidFill>
                  <a:schemeClr val="tx1"/>
                </a:solidFill>
              </a:rPr>
              <a:t>Session telemetry</a:t>
            </a:r>
            <a:endParaRPr lang="en-US" sz="1800" dirty="0"/>
          </a:p>
        </p:txBody>
      </p:sp>
      <p:sp>
        <p:nvSpPr>
          <p:cNvPr id="17" name="Text 12"/>
          <p:cNvSpPr txBox="1"/>
          <p:nvPr/>
        </p:nvSpPr>
        <p:spPr>
          <a:xfrm>
            <a:off x="6355080" y="3474720"/>
            <a:ext cx="2377440" cy="914400"/>
          </a:xfrm>
          <a:prstGeom prst="rect">
            <a:avLst/>
          </a:prstGeom>
          <a:noFill/>
          <a:ln/>
        </p:spPr>
        <p:txBody>
          <a:bodyPr wrap="square" lIns="0" tIns="0" rIns="0" bIns="0" rtlCol="0" anchor="t"/>
          <a:lstStyle/>
          <a:p>
            <a:pPr algn="ctr" indent="0" marL="0">
              <a:buNone/>
            </a:pPr>
            <a:r>
              <a:rPr lang="en-US" sz="1400" dirty="0">
                <a:solidFill>
                  <a:schemeClr val="accent6"/>
                </a:solidFill>
              </a:rPr>
              <a:t>Uploads attach the uses that fall inside the session</a:t>
            </a:r>
            <a:endParaRPr lang="en-US" sz="1400" dirty="0"/>
          </a:p>
        </p:txBody>
      </p:sp>
      <p:sp>
        <p:nvSpPr>
          <p:cNvPr id="18" name="Flow arrow 3"/>
          <p:cNvSpPr/>
          <p:nvPr/>
        </p:nvSpPr>
        <p:spPr>
          <a:xfrm>
            <a:off x="8138160" y="2468880"/>
            <a:ext cx="1691640" cy="0"/>
          </a:xfrm>
          <a:prstGeom prst="line">
            <a:avLst/>
          </a:prstGeom>
          <a:noFill/>
          <a:ln w="22225">
            <a:solidFill>
              <a:srgbClr val="474552"/>
            </a:solidFill>
            <a:prstDash val="solid"/>
            <a:tailEnd type="triangle"/>
          </a:ln>
        </p:spPr>
      </p:sp>
      <p:sp>
        <p:nvSpPr>
          <p:cNvPr id="19" name="New agent circle"/>
          <p:cNvSpPr/>
          <p:nvPr/>
        </p:nvSpPr>
        <p:spPr>
          <a:xfrm>
            <a:off x="9921240" y="2011680"/>
            <a:ext cx="914400" cy="914400"/>
          </a:xfrm>
          <a:prstGeom prst="ellipse">
            <a:avLst/>
          </a:prstGeom>
          <a:solidFill>
            <a:schemeClr val="accent5"/>
          </a:solidFill>
          <a:ln/>
        </p:spPr>
      </p:sp>
      <p:pic>
        <p:nvPicPr>
          <p:cNvPr id="20" name="New agent icon" descr="preencoded.png">    </p:cNvPr>
          <p:cNvPicPr>
            <a:picLocks noChangeAspect="1"/>
          </p:cNvPicPr>
          <p:nvPr/>
        </p:nvPicPr>
        <p:blipFill>
          <a:blip r:embed="rId4"/>
          <a:stretch>
            <a:fillRect/>
          </a:stretch>
        </p:blipFill>
        <p:spPr>
          <a:xfrm>
            <a:off x="10149840" y="2240280"/>
            <a:ext cx="457200" cy="457200"/>
          </a:xfrm>
          <a:prstGeom prst="rect">
            <a:avLst/>
          </a:prstGeom>
        </p:spPr>
      </p:pic>
      <p:sp>
        <p:nvSpPr>
          <p:cNvPr id="21" name="Text 15"/>
          <p:cNvSpPr txBox="1"/>
          <p:nvPr/>
        </p:nvSpPr>
        <p:spPr>
          <a:xfrm>
            <a:off x="9052560" y="3063240"/>
            <a:ext cx="2651760" cy="384048"/>
          </a:xfrm>
          <a:prstGeom prst="rect">
            <a:avLst/>
          </a:prstGeom>
          <a:noFill/>
          <a:ln/>
        </p:spPr>
        <p:txBody>
          <a:bodyPr wrap="square" lIns="0" tIns="0" rIns="0" bIns="0" rtlCol="0" anchor="t"/>
          <a:lstStyle/>
          <a:p>
            <a:pPr algn="ctr" indent="0" marL="0">
              <a:buNone/>
            </a:pPr>
            <a:r>
              <a:rPr lang="en-US" sz="1800" b="1" dirty="0">
                <a:solidFill>
                  <a:schemeClr val="tx1"/>
                </a:solidFill>
              </a:rPr>
              <a:t>New agent</a:t>
            </a:r>
            <a:endParaRPr lang="en-US" sz="1800" dirty="0"/>
          </a:p>
        </p:txBody>
      </p:sp>
      <p:sp>
        <p:nvSpPr>
          <p:cNvPr id="22" name="Text 16"/>
          <p:cNvSpPr txBox="1"/>
          <p:nvPr/>
        </p:nvSpPr>
        <p:spPr>
          <a:xfrm>
            <a:off x="9189720" y="3474720"/>
            <a:ext cx="2377440" cy="914400"/>
          </a:xfrm>
          <a:prstGeom prst="rect">
            <a:avLst/>
          </a:prstGeom>
          <a:noFill/>
          <a:ln/>
        </p:spPr>
        <p:txBody>
          <a:bodyPr wrap="square" lIns="0" tIns="0" rIns="0" bIns="0" rtlCol="0" anchor="t"/>
          <a:lstStyle/>
          <a:p>
            <a:pPr algn="ctr" indent="0" marL="0">
              <a:buNone/>
            </a:pPr>
            <a:r>
              <a:rPr lang="en-US" sz="1400" dirty="0">
                <a:solidFill>
                  <a:schemeClr val="accent6"/>
                </a:solidFill>
              </a:rPr>
              <a:t>Save the combination that worked as a reusable agent</a:t>
            </a:r>
            <a:endParaRPr lang="en-US" sz="1400" dirty="0"/>
          </a:p>
        </p:txBody>
      </p:sp>
      <p:sp>
        <p:nvSpPr>
          <p:cNvPr id="23" name="Command pill"/>
          <p:cNvSpPr/>
          <p:nvPr/>
        </p:nvSpPr>
        <p:spPr>
          <a:xfrm>
            <a:off x="548640" y="4754880"/>
            <a:ext cx="11091672" cy="868680"/>
          </a:xfrm>
          <a:prstGeom prst="roundRect">
            <a:avLst>
              <a:gd name="adj" fmla="val 49474"/>
            </a:avLst>
          </a:prstGeom>
          <a:solidFill>
            <a:schemeClr val="bg2"/>
          </a:solidFill>
          <a:ln/>
        </p:spPr>
      </p:sp>
      <p:sp>
        <p:nvSpPr>
          <p:cNvPr id="24" name="Text 18"/>
          <p:cNvSpPr txBox="1"/>
          <p:nvPr/>
        </p:nvSpPr>
        <p:spPr>
          <a:xfrm>
            <a:off x="914400" y="4754880"/>
            <a:ext cx="10424160" cy="868680"/>
          </a:xfrm>
          <a:prstGeom prst="rect">
            <a:avLst/>
          </a:prstGeom>
          <a:noFill/>
          <a:ln/>
        </p:spPr>
        <p:txBody>
          <a:bodyPr wrap="square" lIns="0" tIns="0" rIns="0" bIns="0" rtlCol="0" anchor="ctr"/>
          <a:lstStyle/>
          <a:p>
            <a:pPr indent="0" marL="0">
              <a:buNone/>
            </a:pPr>
            <a:r>
              <a:rPr lang="en-US" sz="2000" b="1" dirty="0">
                <a:solidFill>
                  <a:srgbClr val="C2410C"/>
                </a:solidFill>
                <a:latin typeface="Consolas" pitchFamily="34" charset="0"/>
                <a:ea typeface="Consolas" pitchFamily="34" charset="-122"/>
                <a:cs typeface="Consolas" pitchFamily="34" charset="-120"/>
              </a:rPr>
              <a:t>$ </a:t>
            </a:r>
            <a:pPr indent="0" marL="0">
              <a:buNone/>
            </a:pPr>
            <a:r>
              <a:rPr lang="en-US" sz="2000" dirty="0">
                <a:solidFill>
                  <a:srgbClr val="383A42"/>
                </a:solidFill>
                <a:latin typeface="Consolas" pitchFamily="34" charset="0"/>
                <a:ea typeface="Consolas" pitchFamily="34" charset="-122"/>
                <a:cs typeface="Consolas" pitchFamily="34" charset="-120"/>
              </a:rPr>
              <a:t>observal agent init </a:t>
            </a:r>
            <a:pPr indent="0" marL="0">
              <a:buNone/>
            </a:pPr>
            <a:r>
              <a:rPr lang="en-US" sz="2000" b="1" dirty="0">
                <a:solidFill>
                  <a:srgbClr val="C2410C"/>
                </a:solidFill>
                <a:latin typeface="Consolas" pitchFamily="34" charset="0"/>
                <a:ea typeface="Consolas" pitchFamily="34" charset="-122"/>
                <a:cs typeface="Consolas" pitchFamily="34" charset="-120"/>
              </a:rPr>
              <a:t>--from-capabilities</a:t>
            </a:r>
            <a:pPr indent="0" marL="0">
              <a:buNone/>
            </a:pPr>
            <a:r>
              <a:rPr lang="en-US" sz="2000" dirty="0">
                <a:solidFill>
                  <a:srgbClr val="383A42"/>
                </a:solidFill>
                <a:latin typeface="Consolas" pitchFamily="34" charset="0"/>
                <a:ea typeface="Consolas" pitchFamily="34" charset="-122"/>
                <a:cs typeface="Consolas" pitchFamily="34" charset="-120"/>
              </a:rPr>
              <a:t> --name pr-review-flow</a:t>
            </a:r>
            <a:endParaRPr lang="en-US" sz="2000" dirty="0"/>
          </a:p>
        </p:txBody>
      </p:sp>
      <p:sp>
        <p:nvSpPr>
          <p:cNvPr id="25" name="Text 19"/>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1400" dirty="0">
                <a:solidFill>
                  <a:schemeClr val="accent6"/>
                </a:solidFill>
              </a:rPr>
              <a:t>No new tracking channel, nothing secret stored, and local records are pruned after 30 days.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04  ·  WHAT IT UNLOCKS</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Beyond one registry: findable everywhere</a:t>
            </a:r>
            <a:endParaRPr lang="en-US" sz="3200" dirty="0"/>
          </a:p>
        </p:txBody>
      </p:sp>
      <p:sp>
        <p:nvSpPr>
          <p:cNvPr id="4" name="Publish once, be found anywhere card"/>
          <p:cNvSpPr/>
          <p:nvPr/>
        </p:nvSpPr>
        <p:spPr>
          <a:xfrm>
            <a:off x="548640" y="1965960"/>
            <a:ext cx="5454396" cy="1920240"/>
          </a:xfrm>
          <a:prstGeom prst="roundRect">
            <a:avLst>
              <a:gd name="adj" fmla="val 6667"/>
            </a:avLst>
          </a:prstGeom>
          <a:solidFill>
            <a:schemeClr val="bg2"/>
          </a:solidFill>
          <a:ln/>
        </p:spPr>
      </p:sp>
      <p:sp>
        <p:nvSpPr>
          <p:cNvPr id="5" name="Publish once, be found anywhere circle"/>
          <p:cNvSpPr/>
          <p:nvPr/>
        </p:nvSpPr>
        <p:spPr>
          <a:xfrm>
            <a:off x="822960" y="2240280"/>
            <a:ext cx="640080" cy="640080"/>
          </a:xfrm>
          <a:prstGeom prst="ellipse">
            <a:avLst/>
          </a:prstGeom>
          <a:solidFill>
            <a:schemeClr val="accent5"/>
          </a:solidFill>
          <a:ln/>
        </p:spPr>
      </p:sp>
      <p:pic>
        <p:nvPicPr>
          <p:cNvPr id="6" name="Publish once, be found anywhere icon" descr="preencoded.png">    </p:cNvPr>
          <p:cNvPicPr>
            <a:picLocks noChangeAspect="1"/>
          </p:cNvPicPr>
          <p:nvPr/>
        </p:nvPicPr>
        <p:blipFill>
          <a:blip r:embed="rId1"/>
          <a:stretch>
            <a:fillRect/>
          </a:stretch>
        </p:blipFill>
        <p:spPr>
          <a:xfrm>
            <a:off x="982980" y="2400300"/>
            <a:ext cx="320040" cy="320040"/>
          </a:xfrm>
          <a:prstGeom prst="rect">
            <a:avLst/>
          </a:prstGeom>
        </p:spPr>
      </p:pic>
      <p:sp>
        <p:nvSpPr>
          <p:cNvPr id="7" name="Text 4"/>
          <p:cNvSpPr txBox="1"/>
          <p:nvPr/>
        </p:nvSpPr>
        <p:spPr>
          <a:xfrm>
            <a:off x="1691640" y="22402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Publish once, be found anywhere</a:t>
            </a:r>
            <a:endParaRPr lang="en-US" sz="1800" dirty="0"/>
          </a:p>
        </p:txBody>
      </p:sp>
      <p:sp>
        <p:nvSpPr>
          <p:cNvPr id="8" name="Text 5"/>
          <p:cNvSpPr txBox="1"/>
          <p:nvPr/>
        </p:nvSpPr>
        <p:spPr>
          <a:xfrm>
            <a:off x="1691640" y="2697480"/>
            <a:ext cx="4114800" cy="1097280"/>
          </a:xfrm>
          <a:prstGeom prst="rect">
            <a:avLst/>
          </a:prstGeom>
          <a:noFill/>
          <a:ln/>
        </p:spPr>
        <p:txBody>
          <a:bodyPr wrap="square" lIns="0" tIns="0" rIns="0" bIns="0" rtlCol="0" anchor="t"/>
          <a:lstStyle/>
          <a:p>
            <a:pPr indent="0" marL="0">
              <a:buNone/>
            </a:pPr>
            <a:r>
              <a:rPr lang="en-US" sz="1500" dirty="0">
                <a:solidFill>
                  <a:schemeClr val="tx2"/>
                </a:solidFill>
              </a:rPr>
              <a:t>Host /.well-known/ard.json for your MCP server, skill or agent, and any ARD registry can crawl it.</a:t>
            </a:r>
            <a:endParaRPr lang="en-US" sz="1500" dirty="0"/>
          </a:p>
        </p:txBody>
      </p:sp>
      <p:sp>
        <p:nvSpPr>
          <p:cNvPr id="9" name="Company first, public as fallback card"/>
          <p:cNvSpPr/>
          <p:nvPr/>
        </p:nvSpPr>
        <p:spPr>
          <a:xfrm>
            <a:off x="6185916" y="1965960"/>
            <a:ext cx="5454396" cy="1920240"/>
          </a:xfrm>
          <a:prstGeom prst="roundRect">
            <a:avLst>
              <a:gd name="adj" fmla="val 6667"/>
            </a:avLst>
          </a:prstGeom>
          <a:solidFill>
            <a:schemeClr val="bg1"/>
          </a:solidFill>
          <a:ln w="15875">
            <a:solidFill>
              <a:srgbClr val="B6B0D0"/>
            </a:solidFill>
            <a:prstDash val="solid"/>
          </a:ln>
        </p:spPr>
      </p:sp>
      <p:sp>
        <p:nvSpPr>
          <p:cNvPr id="10" name="Company first, public as fallback circle"/>
          <p:cNvSpPr/>
          <p:nvPr/>
        </p:nvSpPr>
        <p:spPr>
          <a:xfrm>
            <a:off x="6460236" y="2240280"/>
            <a:ext cx="640080" cy="640080"/>
          </a:xfrm>
          <a:prstGeom prst="ellipse">
            <a:avLst/>
          </a:prstGeom>
          <a:solidFill>
            <a:schemeClr val="accent3"/>
          </a:solidFill>
          <a:ln/>
        </p:spPr>
      </p:sp>
      <p:pic>
        <p:nvPicPr>
          <p:cNvPr id="11" name="Company first, public as fallback icon" descr="preencoded.png">    </p:cNvPr>
          <p:cNvPicPr>
            <a:picLocks noChangeAspect="1"/>
          </p:cNvPicPr>
          <p:nvPr/>
        </p:nvPicPr>
        <p:blipFill>
          <a:blip r:embed="rId2"/>
          <a:stretch>
            <a:fillRect/>
          </a:stretch>
        </p:blipFill>
        <p:spPr>
          <a:xfrm>
            <a:off x="6620256" y="2400300"/>
            <a:ext cx="320040" cy="320040"/>
          </a:xfrm>
          <a:prstGeom prst="rect">
            <a:avLst/>
          </a:prstGeom>
        </p:spPr>
      </p:pic>
      <p:sp>
        <p:nvSpPr>
          <p:cNvPr id="12" name="Text 8"/>
          <p:cNvSpPr txBox="1"/>
          <p:nvPr/>
        </p:nvSpPr>
        <p:spPr>
          <a:xfrm>
            <a:off x="7328916" y="2240280"/>
            <a:ext cx="4114800" cy="411480"/>
          </a:xfrm>
          <a:prstGeom prst="rect">
            <a:avLst/>
          </a:prstGeom>
          <a:noFill/>
          <a:ln/>
        </p:spPr>
        <p:txBody>
          <a:bodyPr wrap="square" lIns="0" tIns="0" rIns="0" bIns="0" rtlCol="0" anchor="t"/>
          <a:lstStyle/>
          <a:p>
            <a:pPr indent="0" marL="0">
              <a:buNone/>
            </a:pPr>
            <a:r>
              <a:rPr lang="en-US" sz="1800" b="1" dirty="0">
                <a:solidFill>
                  <a:schemeClr val="tx1"/>
                </a:solidFill>
              </a:rPr>
              <a:t>Company first, public as fallback</a:t>
            </a:r>
            <a:endParaRPr lang="en-US" sz="1800" dirty="0"/>
          </a:p>
        </p:txBody>
      </p:sp>
      <p:sp>
        <p:nvSpPr>
          <p:cNvPr id="13" name="Text 9"/>
          <p:cNvSpPr txBox="1"/>
          <p:nvPr/>
        </p:nvSpPr>
        <p:spPr>
          <a:xfrm>
            <a:off x="7328916" y="2697480"/>
            <a:ext cx="4114800" cy="1097280"/>
          </a:xfrm>
          <a:prstGeom prst="rect">
            <a:avLst/>
          </a:prstGeom>
          <a:noFill/>
          <a:ln/>
        </p:spPr>
        <p:txBody>
          <a:bodyPr wrap="square" lIns="0" tIns="0" rIns="0" bIns="0" rtlCol="0" anchor="t"/>
          <a:lstStyle/>
          <a:p>
            <a:pPr indent="0" marL="0">
              <a:buNone/>
            </a:pPr>
            <a:r>
              <a:rPr lang="en-US" sz="1500" dirty="0">
                <a:solidFill>
                  <a:schemeClr val="tx2"/>
                </a:solidFill>
              </a:rPr>
              <a:t>An internal registry answers with approved resources and refers to public ones for the rest.</a:t>
            </a:r>
            <a:endParaRPr lang="en-US" sz="1500" dirty="0"/>
          </a:p>
        </p:txBody>
      </p:sp>
      <p:sp>
        <p:nvSpPr>
          <p:cNvPr id="14" name="Agents that find tools at runtime card"/>
          <p:cNvSpPr/>
          <p:nvPr/>
        </p:nvSpPr>
        <p:spPr>
          <a:xfrm>
            <a:off x="548640" y="4069080"/>
            <a:ext cx="5454396" cy="1920240"/>
          </a:xfrm>
          <a:prstGeom prst="roundRect">
            <a:avLst>
              <a:gd name="adj" fmla="val 6667"/>
            </a:avLst>
          </a:prstGeom>
          <a:solidFill>
            <a:schemeClr val="bg1"/>
          </a:solidFill>
          <a:ln w="15875">
            <a:solidFill>
              <a:srgbClr val="B6B0D0"/>
            </a:solidFill>
            <a:prstDash val="solid"/>
          </a:ln>
        </p:spPr>
      </p:sp>
      <p:sp>
        <p:nvSpPr>
          <p:cNvPr id="15" name="Agents that find tools at runtime circle"/>
          <p:cNvSpPr/>
          <p:nvPr/>
        </p:nvSpPr>
        <p:spPr>
          <a:xfrm>
            <a:off x="822960" y="4343400"/>
            <a:ext cx="640080" cy="640080"/>
          </a:xfrm>
          <a:prstGeom prst="ellipse">
            <a:avLst/>
          </a:prstGeom>
          <a:solidFill>
            <a:schemeClr val="accent3"/>
          </a:solidFill>
          <a:ln/>
        </p:spPr>
      </p:sp>
      <p:pic>
        <p:nvPicPr>
          <p:cNvPr id="16" name="Agents that find tools at runtime icon" descr="preencoded.png">    </p:cNvPr>
          <p:cNvPicPr>
            <a:picLocks noChangeAspect="1"/>
          </p:cNvPicPr>
          <p:nvPr/>
        </p:nvPicPr>
        <p:blipFill>
          <a:blip r:embed="rId3"/>
          <a:stretch>
            <a:fillRect/>
          </a:stretch>
        </p:blipFill>
        <p:spPr>
          <a:xfrm>
            <a:off x="982980" y="4503420"/>
            <a:ext cx="320040" cy="320040"/>
          </a:xfrm>
          <a:prstGeom prst="rect">
            <a:avLst/>
          </a:prstGeom>
        </p:spPr>
      </p:pic>
      <p:sp>
        <p:nvSpPr>
          <p:cNvPr id="17" name="Text 12"/>
          <p:cNvSpPr txBox="1"/>
          <p:nvPr/>
        </p:nvSpPr>
        <p:spPr>
          <a:xfrm>
            <a:off x="1691640" y="4343400"/>
            <a:ext cx="4114800" cy="411480"/>
          </a:xfrm>
          <a:prstGeom prst="rect">
            <a:avLst/>
          </a:prstGeom>
          <a:noFill/>
          <a:ln/>
        </p:spPr>
        <p:txBody>
          <a:bodyPr wrap="square" lIns="0" tIns="0" rIns="0" bIns="0" rtlCol="0" anchor="t"/>
          <a:lstStyle/>
          <a:p>
            <a:pPr indent="0" marL="0">
              <a:buNone/>
            </a:pPr>
            <a:r>
              <a:rPr lang="en-US" sz="1800" b="1" dirty="0">
                <a:solidFill>
                  <a:schemeClr val="tx1"/>
                </a:solidFill>
              </a:rPr>
              <a:t>Agents that find tools at runtime</a:t>
            </a:r>
            <a:endParaRPr lang="en-US" sz="1800" dirty="0"/>
          </a:p>
        </p:txBody>
      </p:sp>
      <p:sp>
        <p:nvSpPr>
          <p:cNvPr id="18" name="Text 13"/>
          <p:cNvSpPr txBox="1"/>
          <p:nvPr/>
        </p:nvSpPr>
        <p:spPr>
          <a:xfrm>
            <a:off x="1691640" y="4800600"/>
            <a:ext cx="4114800" cy="1097280"/>
          </a:xfrm>
          <a:prstGeom prst="rect">
            <a:avLst/>
          </a:prstGeom>
          <a:noFill/>
          <a:ln/>
        </p:spPr>
        <p:txBody>
          <a:bodyPr wrap="square" lIns="0" tIns="0" rIns="0" bIns="0" rtlCol="0" anchor="t"/>
          <a:lstStyle/>
          <a:p>
            <a:pPr indent="0" marL="0">
              <a:buNone/>
            </a:pPr>
            <a:r>
              <a:rPr lang="en-US" sz="1500" dirty="0">
                <a:solidFill>
                  <a:schemeClr val="tx2"/>
                </a:solidFill>
              </a:rPr>
              <a:t>GitHub’s agent finder and Hugging Face’s Discover Tool already do this.</a:t>
            </a:r>
            <a:endParaRPr lang="en-US" sz="1500" dirty="0"/>
          </a:p>
        </p:txBody>
      </p:sp>
      <p:sp>
        <p:nvSpPr>
          <p:cNvPr id="19" name="Governed catalogues, open standard card"/>
          <p:cNvSpPr/>
          <p:nvPr/>
        </p:nvSpPr>
        <p:spPr>
          <a:xfrm>
            <a:off x="6185916" y="4069080"/>
            <a:ext cx="5454396" cy="1920240"/>
          </a:xfrm>
          <a:prstGeom prst="roundRect">
            <a:avLst>
              <a:gd name="adj" fmla="val 6667"/>
            </a:avLst>
          </a:prstGeom>
          <a:solidFill>
            <a:schemeClr val="bg1"/>
          </a:solidFill>
          <a:ln w="15875">
            <a:solidFill>
              <a:srgbClr val="B6B0D0"/>
            </a:solidFill>
            <a:prstDash val="solid"/>
          </a:ln>
        </p:spPr>
      </p:sp>
      <p:sp>
        <p:nvSpPr>
          <p:cNvPr id="20" name="Governed catalogues, open standard circle"/>
          <p:cNvSpPr/>
          <p:nvPr/>
        </p:nvSpPr>
        <p:spPr>
          <a:xfrm>
            <a:off x="6460236" y="4343400"/>
            <a:ext cx="640080" cy="640080"/>
          </a:xfrm>
          <a:prstGeom prst="ellipse">
            <a:avLst/>
          </a:prstGeom>
          <a:solidFill>
            <a:schemeClr val="accent3"/>
          </a:solidFill>
          <a:ln/>
        </p:spPr>
      </p:sp>
      <p:pic>
        <p:nvPicPr>
          <p:cNvPr id="21" name="Governed catalogues, open standard icon" descr="preencoded.png">    </p:cNvPr>
          <p:cNvPicPr>
            <a:picLocks noChangeAspect="1"/>
          </p:cNvPicPr>
          <p:nvPr/>
        </p:nvPicPr>
        <p:blipFill>
          <a:blip r:embed="rId4"/>
          <a:stretch>
            <a:fillRect/>
          </a:stretch>
        </p:blipFill>
        <p:spPr>
          <a:xfrm>
            <a:off x="6620256" y="4503420"/>
            <a:ext cx="320040" cy="320040"/>
          </a:xfrm>
          <a:prstGeom prst="rect">
            <a:avLst/>
          </a:prstGeom>
        </p:spPr>
      </p:pic>
      <p:sp>
        <p:nvSpPr>
          <p:cNvPr id="22" name="Text 16"/>
          <p:cNvSpPr txBox="1"/>
          <p:nvPr/>
        </p:nvSpPr>
        <p:spPr>
          <a:xfrm>
            <a:off x="7328916" y="4343400"/>
            <a:ext cx="4114800" cy="411480"/>
          </a:xfrm>
          <a:prstGeom prst="rect">
            <a:avLst/>
          </a:prstGeom>
          <a:noFill/>
          <a:ln/>
        </p:spPr>
        <p:txBody>
          <a:bodyPr wrap="square" lIns="0" tIns="0" rIns="0" bIns="0" rtlCol="0" anchor="t"/>
          <a:lstStyle/>
          <a:p>
            <a:pPr indent="0" marL="0">
              <a:buNone/>
            </a:pPr>
            <a:r>
              <a:rPr lang="en-US" sz="1800" b="1" dirty="0">
                <a:solidFill>
                  <a:schemeClr val="tx1"/>
                </a:solidFill>
              </a:rPr>
              <a:t>Governed catalogues, open standard</a:t>
            </a:r>
            <a:endParaRPr lang="en-US" sz="1800" dirty="0"/>
          </a:p>
        </p:txBody>
      </p:sp>
      <p:sp>
        <p:nvSpPr>
          <p:cNvPr id="23" name="Text 17"/>
          <p:cNvSpPr txBox="1"/>
          <p:nvPr/>
        </p:nvSpPr>
        <p:spPr>
          <a:xfrm>
            <a:off x="7328916" y="4800600"/>
            <a:ext cx="4114800" cy="1097280"/>
          </a:xfrm>
          <a:prstGeom prst="rect">
            <a:avLst/>
          </a:prstGeom>
          <a:noFill/>
          <a:ln/>
        </p:spPr>
        <p:txBody>
          <a:bodyPr wrap="square" lIns="0" tIns="0" rIns="0" bIns="0" rtlCol="0" anchor="t"/>
          <a:lstStyle/>
          <a:p>
            <a:pPr indent="0" marL="0">
              <a:buNone/>
            </a:pPr>
            <a:r>
              <a:rPr lang="en-US" sz="1500" dirty="0">
                <a:solidFill>
                  <a:schemeClr val="tx2"/>
                </a:solidFill>
              </a:rPr>
              <a:t>Registries like Observal add approval, visibility and telemetry without leaving the standard.</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05  ·  TRY IT YOURSELF</a:t>
            </a:r>
            <a:endParaRPr lang="en-US" sz="1200" dirty="0"/>
          </a:p>
        </p:txBody>
      </p:sp>
      <p:sp>
        <p:nvSpPr>
          <p:cNvPr id="3" name="Text 0"/>
          <p:cNvSpPr/>
          <p:nvPr>
            <p:ph idx="101" type="title" hasCustomPrompt="1"/>
          </p:nvPr>
        </p:nvSpPr>
        <p:spPr>
          <a:xfrm>
            <a:off x="548640" y="694944"/>
            <a:ext cx="11091672" cy="1097280"/>
          </a:xfrm>
          <a:prstGeom prst="rect">
            <a:avLst/>
          </a:prstGeom>
          <a:noFill/>
          <a:ln/>
        </p:spPr>
        <p:txBody>
          <a:bodyPr wrap="square" lIns="0" tIns="0" rIns="0" bIns="0" rtlCol="0" anchor="t"/>
          <a:lstStyle/>
          <a:p>
            <a:pPr algn="l" indent="0" marL="0">
              <a:buNone/>
            </a:pPr>
            <a:r>
              <a:rPr lang="en-US" sz="3200" b="1" dirty="0">
                <a:solidFill>
                  <a:schemeClr val="tx1"/>
                </a:solidFill>
              </a:rPr>
              <a:t>Publish an ARD entry for your own project this week</a:t>
            </a:r>
            <a:endParaRPr lang="en-US" sz="3200" dirty="0"/>
          </a:p>
        </p:txBody>
      </p:sp>
      <p:sp>
        <p:nvSpPr>
          <p:cNvPr id="4" name="Text 2"/>
          <p:cNvSpPr txBox="1"/>
          <p:nvPr/>
        </p:nvSpPr>
        <p:spPr>
          <a:xfrm>
            <a:off x="548640" y="1965960"/>
            <a:ext cx="6583680" cy="365760"/>
          </a:xfrm>
          <a:prstGeom prst="rect">
            <a:avLst/>
          </a:prstGeom>
          <a:noFill/>
          <a:ln/>
        </p:spPr>
        <p:txBody>
          <a:bodyPr wrap="square" lIns="0" tIns="0" rIns="0" bIns="0" rtlCol="0" anchor="t"/>
          <a:lstStyle/>
          <a:p>
            <a:pPr indent="0" marL="0">
              <a:buNone/>
            </a:pPr>
            <a:r>
              <a:rPr lang="en-US" sz="1700" b="1" dirty="0">
                <a:solidFill>
                  <a:schemeClr val="tx1"/>
                </a:solidFill>
              </a:rPr>
              <a:t>1  Publish  /.well-known/ard.json</a:t>
            </a:r>
            <a:endParaRPr lang="en-US" sz="1700" dirty="0"/>
          </a:p>
        </p:txBody>
      </p:sp>
      <p:sp>
        <p:nvSpPr>
          <p:cNvPr id="5" name="ard.json example"/>
          <p:cNvSpPr/>
          <p:nvPr/>
        </p:nvSpPr>
        <p:spPr>
          <a:xfrm>
            <a:off x="548640" y="2423160"/>
            <a:ext cx="6583680" cy="3657600"/>
          </a:xfrm>
          <a:prstGeom prst="roundRect">
            <a:avLst>
              <a:gd name="adj" fmla="val 3500"/>
            </a:avLst>
          </a:prstGeom>
          <a:solidFill>
            <a:schemeClr val="bg2"/>
          </a:solidFill>
          <a:ln/>
        </p:spPr>
      </p:sp>
      <p:sp>
        <p:nvSpPr>
          <p:cNvPr id="6" name="Text 4"/>
          <p:cNvSpPr txBox="1"/>
          <p:nvPr/>
        </p:nvSpPr>
        <p:spPr>
          <a:xfrm>
            <a:off x="822960" y="2651760"/>
            <a:ext cx="6126480" cy="3291840"/>
          </a:xfrm>
          <a:prstGeom prst="rect">
            <a:avLst/>
          </a:prstGeom>
          <a:noFill/>
          <a:ln/>
        </p:spPr>
        <p:txBody>
          <a:bodyPr wrap="square" lIns="0" tIns="0" rIns="0" bIns="0" rtlCol="0" anchor="t"/>
          <a:lstStyle/>
          <a:p>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50" dirty="0">
                <a:solidFill>
                  <a:srgbClr val="5A4FA0"/>
                </a:solidFill>
                <a:latin typeface="Consolas" pitchFamily="34" charset="0"/>
                <a:ea typeface="Consolas" pitchFamily="34" charset="-122"/>
                <a:cs typeface="Consolas" pitchFamily="34" charset="-120"/>
              </a:rPr>
              <a:t>"entries"</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endParaRPr lang="en-US" sz="1250" dirty="0"/>
          </a:p>
          <a:p>
            <a:pPr indent="0" marL="0">
              <a:lnSpc>
                <a:spcPct val="130000"/>
              </a:lnSpc>
              <a:buNone/>
            </a:pPr>
            <a:r>
              <a:rPr lang="en-US" sz="1250" b="1" dirty="0">
                <a:solidFill>
                  <a:srgbClr val="C2410C"/>
                </a:solidFill>
                <a:latin typeface="Consolas" pitchFamily="34" charset="0"/>
                <a:ea typeface="Consolas" pitchFamily="34" charset="-122"/>
                <a:cs typeface="Consolas" pitchFamily="34" charset="-120"/>
              </a:rPr>
              <a:t>    "identifier"</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"urn:air:yourdomain.dev:mcp:weather"</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b="1" dirty="0">
                <a:solidFill>
                  <a:srgbClr val="C2410C"/>
                </a:solidFill>
                <a:latin typeface="Consolas" pitchFamily="34" charset="0"/>
                <a:ea typeface="Consolas" pitchFamily="34" charset="-122"/>
                <a:cs typeface="Consolas" pitchFamily="34" charset="-120"/>
              </a:rPr>
              <a:t>    "displayName"</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"Chennai Weather"</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b="1" dirty="0">
                <a:solidFill>
                  <a:srgbClr val="C2410C"/>
                </a:solidFill>
                <a:latin typeface="Consolas" pitchFamily="34" charset="0"/>
                <a:ea typeface="Consolas" pitchFamily="34" charset="-122"/>
                <a:cs typeface="Consolas" pitchFamily="34" charset="-120"/>
              </a:rPr>
              <a:t>    "type"</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"application/mcp-server-card+json"</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b="1" dirty="0">
                <a:solidFill>
                  <a:srgbClr val="C2410C"/>
                </a:solidFill>
                <a:latin typeface="Consolas" pitchFamily="34" charset="0"/>
                <a:ea typeface="Consolas" pitchFamily="34" charset="-122"/>
                <a:cs typeface="Consolas" pitchFamily="34" charset="-120"/>
              </a:rPr>
              <a:t>    "url"</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"https://yourdomain.dev/mcp/weather.json"</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b="1" dirty="0">
                <a:solidFill>
                  <a:srgbClr val="5A4FA0"/>
                </a:solidFill>
                <a:latin typeface="Consolas" pitchFamily="34" charset="0"/>
                <a:ea typeface="Consolas" pitchFamily="34" charset="-122"/>
                <a:cs typeface="Consolas" pitchFamily="34" charset="-120"/>
              </a:rPr>
              <a:t>    "representativeQueries"</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endParaRPr lang="en-US" sz="1250" dirty="0"/>
          </a:p>
          <a:p>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      "will it rain in Chennai tomorrow"</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dirty="0">
                <a:solidFill>
                  <a:srgbClr val="2D6E3A"/>
                </a:solidFill>
                <a:latin typeface="Consolas" pitchFamily="34" charset="0"/>
                <a:ea typeface="Consolas" pitchFamily="34" charset="-122"/>
                <a:cs typeface="Consolas" pitchFamily="34" charset="-120"/>
              </a:rPr>
              <a:t>      "current humidity in Chennai"</a:t>
            </a:r>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a:t>
            </a:r>
            <a:endParaRPr lang="en-US" sz="1250" dirty="0"/>
          </a:p>
          <a:p>
            <a:pPr indent="0" marL="0">
              <a:lnSpc>
                <a:spcPct val="130000"/>
              </a:lnSpc>
              <a:buNone/>
            </a:pPr>
            <a:r>
              <a:rPr lang="en-US" sz="1250" dirty="0">
                <a:solidFill>
                  <a:srgbClr val="383A42"/>
                </a:solidFill>
                <a:latin typeface="Consolas" pitchFamily="34" charset="0"/>
                <a:ea typeface="Consolas" pitchFamily="34" charset="-122"/>
                <a:cs typeface="Consolas" pitchFamily="34" charset="-120"/>
              </a:rPr>
              <a:t>}] }</a:t>
            </a:r>
            <a:endParaRPr lang="en-US" sz="1250" dirty="0"/>
          </a:p>
        </p:txBody>
      </p:sp>
      <p:sp>
        <p:nvSpPr>
          <p:cNvPr id="7" name="Text 5"/>
          <p:cNvSpPr txBox="1"/>
          <p:nvPr/>
        </p:nvSpPr>
        <p:spPr>
          <a:xfrm>
            <a:off x="7498080" y="1965960"/>
            <a:ext cx="4114800" cy="365760"/>
          </a:xfrm>
          <a:prstGeom prst="rect">
            <a:avLst/>
          </a:prstGeom>
          <a:noFill/>
          <a:ln/>
        </p:spPr>
        <p:txBody>
          <a:bodyPr wrap="square" lIns="0" tIns="0" rIns="0" bIns="0" rtlCol="0" anchor="t"/>
          <a:lstStyle/>
          <a:p>
            <a:pPr indent="0" marL="0">
              <a:buNone/>
            </a:pPr>
            <a:r>
              <a:rPr lang="en-US" sz="1700" b="1" dirty="0">
                <a:solidFill>
                  <a:schemeClr val="tx1"/>
                </a:solidFill>
              </a:rPr>
              <a:t>2  Validate it</a:t>
            </a:r>
            <a:endParaRPr lang="en-US" sz="1700" dirty="0"/>
          </a:p>
        </p:txBody>
      </p:sp>
      <p:sp>
        <p:nvSpPr>
          <p:cNvPr id="8" name="Validate command"/>
          <p:cNvSpPr/>
          <p:nvPr/>
        </p:nvSpPr>
        <p:spPr>
          <a:xfrm>
            <a:off x="7498080" y="2423160"/>
            <a:ext cx="4142232" cy="1280160"/>
          </a:xfrm>
          <a:prstGeom prst="roundRect">
            <a:avLst>
              <a:gd name="adj" fmla="val 10000"/>
            </a:avLst>
          </a:prstGeom>
          <a:solidFill>
            <a:schemeClr val="bg2"/>
          </a:solidFill>
          <a:ln/>
        </p:spPr>
      </p:sp>
      <p:sp>
        <p:nvSpPr>
          <p:cNvPr id="9" name="Text 7"/>
          <p:cNvSpPr txBox="1"/>
          <p:nvPr/>
        </p:nvSpPr>
        <p:spPr>
          <a:xfrm>
            <a:off x="7726680" y="2606040"/>
            <a:ext cx="3794760" cy="914400"/>
          </a:xfrm>
          <a:prstGeom prst="rect">
            <a:avLst/>
          </a:prstGeom>
          <a:noFill/>
          <a:ln/>
        </p:spPr>
        <p:txBody>
          <a:bodyPr wrap="square" lIns="0" tIns="0" rIns="0" bIns="0" rtlCol="0" anchor="t"/>
          <a:lstStyle/>
          <a:p>
            <a:pPr indent="0" marL="0">
              <a:lnSpc>
                <a:spcPct val="130000"/>
              </a:lnSpc>
              <a:buNone/>
            </a:pPr>
            <a:r>
              <a:rPr lang="en-US" sz="1300" b="1" dirty="0">
                <a:solidFill>
                  <a:srgbClr val="C2410C"/>
                </a:solidFill>
                <a:latin typeface="Consolas" pitchFamily="34" charset="0"/>
                <a:ea typeface="Consolas" pitchFamily="34" charset="-122"/>
                <a:cs typeface="Consolas" pitchFamily="34" charset="-120"/>
              </a:rPr>
              <a:t>$ </a:t>
            </a:r>
            <a:pPr indent="0" marL="0">
              <a:lnSpc>
                <a:spcPct val="130000"/>
              </a:lnSpc>
              <a:buNone/>
            </a:pPr>
            <a:r>
              <a:rPr lang="en-US" sz="1300" dirty="0">
                <a:solidFill>
                  <a:srgbClr val="383A42"/>
                </a:solidFill>
                <a:latin typeface="Consolas" pitchFamily="34" charset="0"/>
                <a:ea typeface="Consolas" pitchFamily="34" charset="-122"/>
                <a:cs typeface="Consolas" pitchFamily="34" charset="-120"/>
              </a:rPr>
              <a:t>conformance-test \</a:t>
            </a:r>
            <a:endParaRPr lang="en-US" sz="1300" dirty="0"/>
          </a:p>
          <a:p>
            <a:pPr indent="0" marL="0">
              <a:lnSpc>
                <a:spcPct val="130000"/>
              </a:lnSpc>
              <a:buNone/>
            </a:pPr>
            <a:r>
              <a:rPr lang="en-US" sz="1300" dirty="0">
                <a:solidFill>
                  <a:srgbClr val="383A42"/>
                </a:solidFill>
                <a:latin typeface="Consolas" pitchFamily="34" charset="0"/>
                <a:ea typeface="Consolas" pitchFamily="34" charset="-122"/>
                <a:cs typeface="Consolas" pitchFamily="34" charset="-120"/>
              </a:rPr>
              <a:t>    publisher yourdomain.dev</a:t>
            </a:r>
            <a:endParaRPr lang="en-US" sz="1300" dirty="0"/>
          </a:p>
        </p:txBody>
      </p:sp>
      <p:sp>
        <p:nvSpPr>
          <p:cNvPr id="10" name="Text 8"/>
          <p:cNvSpPr txBox="1"/>
          <p:nvPr/>
        </p:nvSpPr>
        <p:spPr>
          <a:xfrm>
            <a:off x="7498080" y="3767328"/>
            <a:ext cx="4142232" cy="320040"/>
          </a:xfrm>
          <a:prstGeom prst="rect">
            <a:avLst/>
          </a:prstGeom>
          <a:noFill/>
          <a:ln/>
        </p:spPr>
        <p:txBody>
          <a:bodyPr wrap="square" lIns="0" tIns="0" rIns="0" bIns="0" rtlCol="0" anchor="t"/>
          <a:lstStyle/>
          <a:p>
            <a:pPr indent="0" marL="0">
              <a:buNone/>
            </a:pPr>
            <a:r>
              <a:rPr lang="en-US" sz="1200" dirty="0">
                <a:solidFill>
                  <a:schemeClr val="accent6"/>
                </a:solidFill>
              </a:rPr>
              <a:t>From the ard-spec repo’s conformance folder</a:t>
            </a:r>
            <a:endParaRPr lang="en-US" sz="1200" dirty="0"/>
          </a:p>
        </p:txBody>
      </p:sp>
      <p:sp>
        <p:nvSpPr>
          <p:cNvPr id="11" name="Text 9"/>
          <p:cNvSpPr txBox="1"/>
          <p:nvPr/>
        </p:nvSpPr>
        <p:spPr>
          <a:xfrm>
            <a:off x="7498080" y="4251960"/>
            <a:ext cx="4114800" cy="365760"/>
          </a:xfrm>
          <a:prstGeom prst="rect">
            <a:avLst/>
          </a:prstGeom>
          <a:noFill/>
          <a:ln/>
        </p:spPr>
        <p:txBody>
          <a:bodyPr wrap="square" lIns="0" tIns="0" rIns="0" bIns="0" rtlCol="0" anchor="t"/>
          <a:lstStyle/>
          <a:p>
            <a:pPr indent="0" marL="0">
              <a:buNone/>
            </a:pPr>
            <a:r>
              <a:rPr lang="en-US" sz="1700" b="1" dirty="0">
                <a:solidFill>
                  <a:schemeClr val="tx1"/>
                </a:solidFill>
              </a:rPr>
              <a:t>3  Join in</a:t>
            </a:r>
            <a:endParaRPr lang="en-US" sz="1700" dirty="0"/>
          </a:p>
        </p:txBody>
      </p:sp>
      <p:sp>
        <p:nvSpPr>
          <p:cNvPr id="12" name="Join card"/>
          <p:cNvSpPr/>
          <p:nvPr/>
        </p:nvSpPr>
        <p:spPr>
          <a:xfrm>
            <a:off x="7498080" y="4709160"/>
            <a:ext cx="4142232" cy="1371600"/>
          </a:xfrm>
          <a:prstGeom prst="roundRect">
            <a:avLst>
              <a:gd name="adj" fmla="val 9333"/>
            </a:avLst>
          </a:prstGeom>
          <a:solidFill>
            <a:schemeClr val="bg2"/>
          </a:solidFill>
          <a:ln/>
        </p:spPr>
      </p:sp>
      <p:sp>
        <p:nvSpPr>
          <p:cNvPr id="13" name="Text 11"/>
          <p:cNvSpPr txBox="1"/>
          <p:nvPr/>
        </p:nvSpPr>
        <p:spPr>
          <a:xfrm>
            <a:off x="7726680" y="4800600"/>
            <a:ext cx="3794760" cy="118872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github.com/ards-project/ard-spec</a:t>
            </a:r>
            <a:endParaRPr lang="en-US" sz="1400" dirty="0"/>
          </a:p>
          <a:p>
            <a:pPr indent="0" marL="0">
              <a:buNone/>
            </a:pPr>
            <a:r>
              <a:rPr lang="en-US" sz="1400" dirty="0">
                <a:solidFill>
                  <a:schemeClr val="tx2"/>
                </a:solidFill>
              </a:rPr>
              <a:t>Issues for spec changes. PRs welcome for examples, tooling and implementations.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Lilac accent circle"/>
          <p:cNvSpPr/>
          <p:nvPr/>
        </p:nvSpPr>
        <p:spPr>
          <a:xfrm>
            <a:off x="8778240" y="3291840"/>
            <a:ext cx="4206240" cy="4206240"/>
          </a:xfrm>
          <a:prstGeom prst="ellipse">
            <a:avLst/>
          </a:prstGeom>
          <a:solidFill>
            <a:schemeClr val="accent3">
              <a:alpha val="55000"/>
            </a:schemeClr>
          </a:solidFill>
          <a:ln/>
        </p:spPr>
      </p:sp>
      <p:sp>
        <p:nvSpPr>
          <p:cNvPr id="3" name="Coral accent dot"/>
          <p:cNvSpPr/>
          <p:nvPr/>
        </p:nvSpPr>
        <p:spPr>
          <a:xfrm>
            <a:off x="10058400" y="640080"/>
            <a:ext cx="1280160" cy="1280160"/>
          </a:xfrm>
          <a:prstGeom prst="ellipse">
            <a:avLst/>
          </a:prstGeom>
          <a:solidFill>
            <a:schemeClr val="accent1"/>
          </a:solidFill>
          <a:ln/>
        </p:spPr>
      </p:sp>
      <p:sp>
        <p:nvSpPr>
          <p:cNvPr id="4" name="Text 2"/>
          <p:cNvSpPr txBox="1"/>
          <p:nvPr/>
        </p:nvSpPr>
        <p:spPr>
          <a:xfrm>
            <a:off x="822960" y="2331720"/>
            <a:ext cx="7772400" cy="1097280"/>
          </a:xfrm>
          <a:prstGeom prst="rect">
            <a:avLst/>
          </a:prstGeom>
          <a:noFill/>
          <a:ln/>
        </p:spPr>
        <p:txBody>
          <a:bodyPr wrap="square" lIns="0" tIns="0" rIns="0" bIns="0" rtlCol="0" anchor="ctr"/>
          <a:lstStyle/>
          <a:p>
            <a:pPr indent="0" marL="0">
              <a:buNone/>
            </a:pPr>
            <a:r>
              <a:rPr lang="en-US" sz="6000" b="1" dirty="0">
                <a:solidFill>
                  <a:schemeClr val="tx1"/>
                </a:solidFill>
              </a:rPr>
              <a:t>Thank you!</a:t>
            </a:r>
            <a:endParaRPr lang="en-US" sz="6000" dirty="0"/>
          </a:p>
        </p:txBody>
      </p:sp>
      <p:sp>
        <p:nvSpPr>
          <p:cNvPr id="5" name="Text 3"/>
          <p:cNvSpPr txBox="1"/>
          <p:nvPr/>
        </p:nvSpPr>
        <p:spPr>
          <a:xfrm>
            <a:off x="822960" y="3703320"/>
            <a:ext cx="7772400" cy="1097280"/>
          </a:xfrm>
          <a:prstGeom prst="rect">
            <a:avLst/>
          </a:prstGeom>
          <a:noFill/>
          <a:ln/>
        </p:spPr>
        <p:txBody>
          <a:bodyPr wrap="square" lIns="0" tIns="0" rIns="0" bIns="0" rtlCol="0" anchor="t"/>
          <a:lstStyle/>
          <a:p>
            <a:pPr indent="0" marL="0">
              <a:buNone/>
            </a:pPr>
            <a:r>
              <a:rPr lang="en-US" sz="1800" b="1" dirty="0">
                <a:solidFill>
                  <a:schemeClr val="tx1"/>
                </a:solidFill>
              </a:rPr>
              <a:t>Shaan Narendran  ·  github.com/ShaanNarendran</a:t>
            </a:r>
            <a:endParaRPr lang="en-US" sz="1800" dirty="0"/>
          </a:p>
          <a:p>
            <a:pPr indent="0" marL="0">
              <a:buNone/>
            </a:pPr>
            <a:r>
              <a:rPr lang="en-US" sz="1800" dirty="0">
                <a:solidFill>
                  <a:schemeClr val="tx2"/>
                </a:solidFill>
                <a:latin typeface="Consolas" pitchFamily="34" charset="0"/>
                <a:ea typeface="Consolas" pitchFamily="34" charset="-122"/>
                <a:cs typeface="Consolas" pitchFamily="34" charset="-120"/>
              </a:rPr>
              <a:t>agenticresourcediscovery.org/spec</a:t>
            </a:r>
            <a:endParaRPr lang="en-US" sz="1800" dirty="0"/>
          </a:p>
          <a:p>
            <a:pPr indent="0" marL="0">
              <a:buNone/>
            </a:pPr>
            <a:r>
              <a:rPr lang="en-US" sz="1800" dirty="0">
                <a:solidFill>
                  <a:schemeClr val="tx2"/>
                </a:solidFill>
                <a:latin typeface="Consolas" pitchFamily="34" charset="0"/>
                <a:ea typeface="Consolas" pitchFamily="34" charset="-122"/>
                <a:cs typeface="Consolas" pitchFamily="34" charset="-120"/>
              </a:rPr>
              <a:t>github.com/Observal/Observal</a:t>
            </a:r>
            <a:endParaRPr lang="en-US" sz="1800" dirty="0"/>
          </a:p>
        </p:txBody>
      </p:sp>
      <p:sp>
        <p:nvSpPr>
          <p:cNvPr id="7" name="Text 0"/>
          <p:cNvSpPr/>
          <p:nvPr>
            <p:ph idx="100" type="title" hasCustomPrompt="1"/>
          </p:nvPr>
        </p:nvSpPr>
        <p:spPr>
          <a:xfrm>
            <a:off x="822960" y="1828800"/>
            <a:ext cx="10607040" cy="2103120"/>
          </a:xfrm>
          <a:prstGeom prst="rect">
            <a:avLst/>
          </a:prstGeom>
          <a:noFill/>
          <a:ln/>
        </p:spPr>
        <p:txBody>
          <a:bodyPr wrap="square" lIns="0" tIns="0" rIns="0" bIns="0" rtlCol="0" anchor="t"/>
          <a:lstStyle/>
          <a:p>
            <a:pPr algn="l" indent="0" marL="0">
              <a:buNone/>
            </a:pPr>
            <a:endParaRPr lang="en-US" sz="5400" dirty="0"/>
          </a:p>
        </p:txBody>
      </p:sp>
      <p:sp>
        <p:nvSpPr>
          <p:cNvPr id="8" name="Text 0"/>
          <p:cNvSpPr/>
          <p:nvPr>
            <p:ph idx="101" type="body" hasCustomPrompt="1"/>
          </p:nvPr>
        </p:nvSpPr>
        <p:spPr>
          <a:xfrm>
            <a:off x="822960" y="4114800"/>
            <a:ext cx="9692640" cy="13716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AIF Chennai ARD">
  <a:themeElements>
    <a:clrScheme name="AAIF Chennai ARD">
      <a:dk1>
        <a:srgbClr val="1A1A1A"/>
      </a:dk1>
      <a:lt1>
        <a:srgbClr val="FFFFFF"/>
      </a:lt1>
      <a:dk2>
        <a:srgbClr val="474552"/>
      </a:dk2>
      <a:lt2>
        <a:srgbClr val="F1EFF7"/>
      </a:lt2>
      <a:accent1>
        <a:srgbClr val="FF702D"/>
      </a:accent1>
      <a:accent2>
        <a:srgbClr val="C2410C"/>
      </a:accent2>
      <a:accent3>
        <a:srgbClr val="B6B0D0"/>
      </a:accent3>
      <a:accent4>
        <a:srgbClr val="5A4FA0"/>
      </a:accent4>
      <a:accent5>
        <a:srgbClr val="E8601F"/>
      </a:accent5>
      <a:accent6>
        <a:srgbClr val="5E5A6E"/>
      </a:accent6>
      <a:hlink>
        <a:srgbClr val="C2410C"/>
      </a:hlink>
      <a:folHlink>
        <a:srgbClr val="5A4FA0"/>
      </a:folHlink>
    </a:clrScheme>
    <a:fontScheme name="AAIF Chennai ARD">
      <a:majorFont>
        <a:latin typeface="Instrument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Resource Discovery</dc:title>
  <dc:subject>What ARD is, how I implemented it in Observal, and what it unlocks</dc:subject>
  <dc:creator>Shaan Narendran</dc:creator>
  <cp:lastModifiedBy>Shaan Narendran</cp:lastModifiedBy>
  <cp:revision>1</cp:revision>
  <dcterms:created xsi:type="dcterms:W3CDTF">2026-10-24T04:46:23Z</dcterms:created>
  <dcterms:modified xsi:type="dcterms:W3CDTF">2026-10-24T04:46:23Z</dcterms:modified>
</cp:coreProperties>
</file>