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cd6f083-92b5-886a-a711-4761f7ac7ba5}">
          <p14:sldIdLst>
            <p14:sldId id="256"/>
            <p14:sldId id="257"/>
          </p14:sldIdLst>
        </p14:section>
        <p14:section name="Why discovery" id="{4d38a27f-6b24-669f-f760-7891aec927d8}">
          <p14:sldIdLst>
            <p14:sldId id="258"/>
            <p14:sldId id="259"/>
            <p14:sldId id="260"/>
          </p14:sldIdLst>
        </p14:section>
        <p14:section name="What ARD is" id="{bae3ac7a-27b4-4c26-78f0-3d4e498539e6}">
          <p14:sldIdLst>
            <p14:sldId id="261"/>
            <p14:sldId id="262"/>
            <p14:sldId id="263"/>
            <p14:sldId id="264"/>
            <p14:sldId id="265"/>
            <p14:sldId id="266"/>
            <p14:sldId id="267"/>
            <p14:sldId id="268"/>
          </p14:sldIdLst>
        </p14:section>
        <p14:section name="My implementation" id="{56e6ee09-d70d-1db0-990f-06900da6b9bf}">
          <p14:sldIdLst>
            <p14:sldId id="269"/>
            <p14:sldId id="270"/>
            <p14:sldId id="271"/>
            <p14:sldId id="272"/>
            <p14:sldId id="273"/>
            <p14:sldId id="274"/>
          </p14:sldIdLst>
        </p14:section>
        <p14:section name="Use cases" id="{a44ed9e1-0c66-f0c1-5326-7463d6acbbd2}">
          <p14:sldIdLst>
            <p14:sldId id="275"/>
            <p14:sldId id="276"/>
            <p14:sldId id="277"/>
            <p14:sldId id="278"/>
          </p14:sldIdLst>
        </p14:section>
        <p14:section name="Wrap-up" id="{1095600c-15eb-99c5-a794-fed7bf8fdbbc}">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and what I learned,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side] Most agents pick tools by putting every tool's description into the context window, on every turn. With five tools that's fine. With five thousand, the descriptions crowd out your actual task, burn tokens, and the model chooses worse.
[Right side] ARD's answer is to move selection out of the model. A search service indexes thousands of resources, and the agent loads only the few that match this task. Plenty of room left in the context.
It's the same shift the web went through, which brings me to this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"Search engines lit the web up." · 0:30
That's R.V. Guha, introducing ARD in June. Guha helped create RSS and schema.org, so he's seen this pattern before.
Early on, the web lived in hand-curated directories, and search engines made it usable. Agentic resources are in that directory era right now: curated lists, marketplaces, config files. ARD is a search layer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Three reasons. [Cards] Stable: hosting moves, the name doesn't. Verifiable: the publisher domain has to match the identity in the entry's trust manifest, so nobody can publish urn:air:google.com-anything without proof from google.com. And globally unique for free: DNS already makes domains unique, so catalogues from different registries merge without collisions, and nobody has to run a naming committee.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Five ways to publish · 1:00
How do registries find your entry? There's a static layer that works a lot like publishing web pages.
There are five mechanisms. [Top two rows] These two are the ones consumers must check: a manifest at /.well-known/ard.json, which is just JSON with an entries array, and a link tag with rel="ard" in your HTML.
[Other rows] You can also embed the entry as JSON-LD on the resource's own page, add an Agentmap line to robots.txt, or publish DNS records that point at your entries or at a search endpoint.
One tip: older articles mention ai-catalog.json. That's the predecessor.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Registries and one REST search API · 1:00
The dynamic layer is registries.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Federation · 1:15
Because everyone speaks the same API, federation is just HTTP, and the client picks the mode. [Left] auto, the default, means the registry asks its upstreams and merges everything. referrals means it returns its own results plus pointers to other registries. none means local only.
[Diagram] This is the spec's own example. Someone says: book me a flight to Tokyo and file the expense report. The orchestrator searches the company registry in referrals mode. It gets the internal expense agent with a score of 97, plus two referrals. It follows the travel referral to find the flight agent. Then it calls each one through its own protocol.
It's a bit like DNS: one lookup experience across private and public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
[Numbers] The pull request came to 23 commits and 90 files, about ten thousand lines, more than four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Postgres narrows, Python ranks, CI checks · 1:00
For search, I avoided new infrastructure. [Step 1] Postgres narrows: visibility rules, filters and a trigram-indexed text match, giving at most five thousand candidates. [Step 2] Python ranks: each query word is scored against the name, the representative queries, the capabilities and the description, in that order of weight. [Step 3] And every result explains itself with the words that matched.
[Chart] I didn't want to guess whether that's good enough, so there's a benchmark in CI: 47 requests written the way developers actually ask. Recall at 5 is 0.96 for the ranker and 0.94 end to end. The grey bars are floors: drop below them and the build fails, and the rule is that floors only go up.
The misses are synonyms, like "PRs" versus "pull requests".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Guardrails · 1:00
Discovery could easily become a back door around a registry's rules, so I built in four guardrails.
[Top left] Score means relevance only, as the spec says. Approval and harness support are separate fields, and policy filters run before ranking.
[Top right] Discovery never shows more than the registry already would. Drafts and rejected items only reach their owners.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What I learned · 1:15
Five lessons from implementing a spec that was still moving.
One: pin it. I vendored the schemas and the official conformance tool at one commit and run them in CI, so updating the spec is a reviewed change, not a surprise.
Two: write decisions down. An ADR with ten decisions meant reviewers debated choices, not code.
Three: project, don't rewrite. Nothing existing broke.
Four: the spec changed while I was building. The well-known path, the URN prefix and the MCP media type all got new names. So accept the old spellings on input and always emit the new ones.
Five: be honest about conformance. The spec says registries must crawl, and I haven't built crawling yet, so Observal is a publisher and search endpoint, not a full registry, and the docs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3.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3.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everything goes into context</a:t>
            </a:r>
            <a:endParaRPr lang="en-US" sz="1800" dirty="0"/>
          </a:p>
        </p:txBody>
      </p:sp>
      <p:sp>
        <p:nvSpPr>
          <p:cNvPr id="5" name="Context window today"/>
          <p:cNvSpPr/>
          <p:nvPr/>
        </p:nvSpPr>
        <p:spPr>
          <a:xfrm>
            <a:off x="548640" y="2468880"/>
            <a:ext cx="5120640" cy="2971800"/>
          </a:xfrm>
          <a:prstGeom prst="roundRect">
            <a:avLst>
              <a:gd name="adj" fmla="val 2462"/>
            </a:avLst>
          </a:prstGeom>
          <a:solidFill>
            <a:schemeClr val="bg1"/>
          </a:solidFill>
          <a:ln w="15875">
            <a:solidFill>
              <a:srgbClr val="474552"/>
            </a:solidFill>
            <a:prstDash val="solid"/>
          </a:ln>
        </p:spPr>
      </p:sp>
      <p:sp>
        <p:nvSpPr>
          <p:cNvPr id="6" name="Task bar left"/>
          <p:cNvSpPr/>
          <p:nvPr/>
        </p:nvSpPr>
        <p:spPr>
          <a:xfrm>
            <a:off x="777240" y="2651760"/>
            <a:ext cx="4663440" cy="219456"/>
          </a:xfrm>
          <a:prstGeom prst="roundRect">
            <a:avLst>
              <a:gd name="adj" fmla="val 16667"/>
            </a:avLst>
          </a:prstGeom>
          <a:solidFill>
            <a:schemeClr val="accent1"/>
          </a:solidFill>
          <a:ln/>
        </p:spPr>
      </p:sp>
      <p:sp>
        <p:nvSpPr>
          <p:cNvPr id="7" name="Description 1"/>
          <p:cNvSpPr/>
          <p:nvPr/>
        </p:nvSpPr>
        <p:spPr>
          <a:xfrm>
            <a:off x="777240" y="2962656"/>
            <a:ext cx="4663440" cy="201168"/>
          </a:xfrm>
          <a:prstGeom prst="roundRect">
            <a:avLst>
              <a:gd name="adj" fmla="val 18182"/>
            </a:avLst>
          </a:prstGeom>
          <a:solidFill>
            <a:schemeClr val="accent3">
              <a:alpha val="80000"/>
            </a:schemeClr>
          </a:solidFill>
          <a:ln/>
        </p:spPr>
      </p:sp>
      <p:sp>
        <p:nvSpPr>
          <p:cNvPr id="8" name="Description 2"/>
          <p:cNvSpPr/>
          <p:nvPr/>
        </p:nvSpPr>
        <p:spPr>
          <a:xfrm>
            <a:off x="777240" y="3236976"/>
            <a:ext cx="4114800" cy="201168"/>
          </a:xfrm>
          <a:prstGeom prst="roundRect">
            <a:avLst>
              <a:gd name="adj" fmla="val 18182"/>
            </a:avLst>
          </a:prstGeom>
          <a:solidFill>
            <a:schemeClr val="accent3">
              <a:alpha val="80000"/>
            </a:schemeClr>
          </a:solidFill>
          <a:ln/>
        </p:spPr>
      </p:sp>
      <p:sp>
        <p:nvSpPr>
          <p:cNvPr id="9" name="Description 3"/>
          <p:cNvSpPr/>
          <p:nvPr/>
        </p:nvSpPr>
        <p:spPr>
          <a:xfrm>
            <a:off x="777240" y="3511296"/>
            <a:ext cx="3566160" cy="201168"/>
          </a:xfrm>
          <a:prstGeom prst="roundRect">
            <a:avLst>
              <a:gd name="adj" fmla="val 18182"/>
            </a:avLst>
          </a:prstGeom>
          <a:solidFill>
            <a:schemeClr val="accent3">
              <a:alpha val="80000"/>
            </a:schemeClr>
          </a:solidFill>
          <a:ln/>
        </p:spPr>
      </p:sp>
      <p:sp>
        <p:nvSpPr>
          <p:cNvPr id="10" name="Description 4"/>
          <p:cNvSpPr/>
          <p:nvPr/>
        </p:nvSpPr>
        <p:spPr>
          <a:xfrm>
            <a:off x="777240" y="3785616"/>
            <a:ext cx="4663440" cy="201168"/>
          </a:xfrm>
          <a:prstGeom prst="roundRect">
            <a:avLst>
              <a:gd name="adj" fmla="val 18182"/>
            </a:avLst>
          </a:prstGeom>
          <a:solidFill>
            <a:schemeClr val="accent3">
              <a:alpha val="80000"/>
            </a:schemeClr>
          </a:solidFill>
          <a:ln/>
        </p:spPr>
      </p:sp>
      <p:sp>
        <p:nvSpPr>
          <p:cNvPr id="11" name="Description 5"/>
          <p:cNvSpPr/>
          <p:nvPr/>
        </p:nvSpPr>
        <p:spPr>
          <a:xfrm>
            <a:off x="777240" y="4059936"/>
            <a:ext cx="4114800" cy="201168"/>
          </a:xfrm>
          <a:prstGeom prst="roundRect">
            <a:avLst>
              <a:gd name="adj" fmla="val 18182"/>
            </a:avLst>
          </a:prstGeom>
          <a:solidFill>
            <a:schemeClr val="accent3">
              <a:alpha val="80000"/>
            </a:schemeClr>
          </a:solidFill>
          <a:ln/>
        </p:spPr>
      </p:sp>
      <p:sp>
        <p:nvSpPr>
          <p:cNvPr id="12" name="Description 6"/>
          <p:cNvSpPr/>
          <p:nvPr/>
        </p:nvSpPr>
        <p:spPr>
          <a:xfrm>
            <a:off x="777240" y="4334256"/>
            <a:ext cx="3566160" cy="201168"/>
          </a:xfrm>
          <a:prstGeom prst="roundRect">
            <a:avLst>
              <a:gd name="adj" fmla="val 18182"/>
            </a:avLst>
          </a:prstGeom>
          <a:solidFill>
            <a:schemeClr val="accent3">
              <a:alpha val="80000"/>
            </a:schemeClr>
          </a:solidFill>
          <a:ln/>
        </p:spPr>
      </p:sp>
      <p:sp>
        <p:nvSpPr>
          <p:cNvPr id="13" name="Description 7"/>
          <p:cNvSpPr/>
          <p:nvPr/>
        </p:nvSpPr>
        <p:spPr>
          <a:xfrm>
            <a:off x="777240" y="4608576"/>
            <a:ext cx="4663440" cy="201168"/>
          </a:xfrm>
          <a:prstGeom prst="roundRect">
            <a:avLst>
              <a:gd name="adj" fmla="val 18182"/>
            </a:avLst>
          </a:prstGeom>
          <a:solidFill>
            <a:schemeClr val="accent3">
              <a:alpha val="80000"/>
            </a:schemeClr>
          </a:solidFill>
          <a:ln/>
        </p:spPr>
      </p:sp>
      <p:sp>
        <p:nvSpPr>
          <p:cNvPr id="14" name="Description 8"/>
          <p:cNvSpPr/>
          <p:nvPr/>
        </p:nvSpPr>
        <p:spPr>
          <a:xfrm>
            <a:off x="777240" y="4882896"/>
            <a:ext cx="4114800" cy="201168"/>
          </a:xfrm>
          <a:prstGeom prst="roundRect">
            <a:avLst>
              <a:gd name="adj" fmla="val 18182"/>
            </a:avLst>
          </a:prstGeom>
          <a:solidFill>
            <a:schemeClr val="accent3">
              <a:alpha val="80000"/>
            </a:schemeClr>
          </a:solidFill>
          <a:ln/>
        </p:spPr>
      </p:sp>
      <p:sp>
        <p:nvSpPr>
          <p:cNvPr id="15" name="Description 9"/>
          <p:cNvSpPr/>
          <p:nvPr/>
        </p:nvSpPr>
        <p:spPr>
          <a:xfrm>
            <a:off x="777240" y="5157216"/>
            <a:ext cx="3566160" cy="201168"/>
          </a:xfrm>
          <a:prstGeom prst="roundRect">
            <a:avLst>
              <a:gd name="adj" fmla="val 18182"/>
            </a:avLst>
          </a:prstGeom>
          <a:solidFill>
            <a:schemeClr val="accent3">
              <a:alpha val="80000"/>
            </a:schemeClr>
          </a:solidFill>
          <a:ln/>
        </p:spPr>
      </p:sp>
      <p:sp>
        <p:nvSpPr>
          <p:cNvPr id="16" name="Description 10"/>
          <p:cNvSpPr/>
          <p:nvPr/>
        </p:nvSpPr>
        <p:spPr>
          <a:xfrm>
            <a:off x="777240" y="5431536"/>
            <a:ext cx="4663440" cy="201168"/>
          </a:xfrm>
          <a:prstGeom prst="roundRect">
            <a:avLst>
              <a:gd name="adj" fmla="val 18182"/>
            </a:avLst>
          </a:prstGeom>
          <a:solidFill>
            <a:schemeClr val="accent3">
              <a:alpha val="35000"/>
            </a:schemeClr>
          </a:solidFill>
          <a:ln/>
        </p:spPr>
      </p:sp>
      <p:sp>
        <p:nvSpPr>
          <p:cNvPr id="17" name="Text 15"/>
          <p:cNvSpPr txBox="1"/>
          <p:nvPr/>
        </p:nvSpPr>
        <p:spPr>
          <a:xfrm>
            <a:off x="548640" y="5669280"/>
            <a:ext cx="5212080" cy="548640"/>
          </a:xfrm>
          <a:prstGeom prst="rect">
            <a:avLst/>
          </a:prstGeom>
          <a:noFill/>
          <a:ln/>
        </p:spPr>
        <p:txBody>
          <a:bodyPr wrap="square" lIns="0" tIns="0" rIns="0" bIns="0" rtlCol="0" anchor="t"/>
          <a:lstStyle/>
          <a:p>
            <a:pPr indent="0" marL="0">
              <a:buNone/>
            </a:pPr>
            <a:r>
              <a:rPr lang="en-US" sz="1400" dirty="0">
                <a:solidFill>
                  <a:schemeClr val="accent6"/>
                </a:solidFill>
              </a:rPr>
              <a:t>Every connected tool’s description, on every turn. The task gets crowded out.</a:t>
            </a:r>
            <a:endParaRPr lang="en-US" sz="1400" dirty="0"/>
          </a:p>
        </p:txBody>
      </p:sp>
      <p:sp>
        <p:nvSpPr>
          <p:cNvPr id="18" name="Text 16"/>
          <p:cNvSpPr txBox="1"/>
          <p:nvPr/>
        </p:nvSpPr>
        <p:spPr>
          <a:xfrm>
            <a:off x="6263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19" name="Search service"/>
          <p:cNvSpPr/>
          <p:nvPr/>
        </p:nvSpPr>
        <p:spPr>
          <a:xfrm>
            <a:off x="6263640" y="2468880"/>
            <a:ext cx="2240280" cy="2971800"/>
          </a:xfrm>
          <a:prstGeom prst="roundRect">
            <a:avLst>
              <a:gd name="adj" fmla="val 5714"/>
            </a:avLst>
          </a:prstGeom>
          <a:solidFill>
            <a:schemeClr val="bg2"/>
          </a:solidFill>
          <a:ln/>
        </p:spPr>
      </p:sp>
      <p:sp>
        <p:nvSpPr>
          <p:cNvPr id="20" name="Search service circle"/>
          <p:cNvSpPr/>
          <p:nvPr/>
        </p:nvSpPr>
        <p:spPr>
          <a:xfrm>
            <a:off x="6903720" y="2788920"/>
            <a:ext cx="914400" cy="914400"/>
          </a:xfrm>
          <a:prstGeom prst="ellipse">
            <a:avLst/>
          </a:prstGeom>
          <a:solidFill>
            <a:schemeClr val="accent5"/>
          </a:solidFill>
          <a:ln/>
        </p:spPr>
      </p:sp>
      <p:pic>
        <p:nvPicPr>
          <p:cNvPr id="21" name="Search service icon" descr="preencoded.png">    </p:cNvPr>
          <p:cNvPicPr>
            <a:picLocks noChangeAspect="1"/>
          </p:cNvPicPr>
          <p:nvPr/>
        </p:nvPicPr>
        <p:blipFill>
          <a:blip r:embed="rId1"/>
          <a:stretch>
            <a:fillRect/>
          </a:stretch>
        </p:blipFill>
        <p:spPr>
          <a:xfrm>
            <a:off x="7132320" y="3017520"/>
            <a:ext cx="457200" cy="457200"/>
          </a:xfrm>
          <a:prstGeom prst="rect">
            <a:avLst/>
          </a:prstGeom>
        </p:spPr>
      </p:pic>
      <p:sp>
        <p:nvSpPr>
          <p:cNvPr id="22" name="Text 19"/>
          <p:cNvSpPr txBox="1"/>
          <p:nvPr/>
        </p:nvSpPr>
        <p:spPr>
          <a:xfrm>
            <a:off x="6355080" y="3886200"/>
            <a:ext cx="205740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23" name="Text 20"/>
          <p:cNvSpPr txBox="1"/>
          <p:nvPr/>
        </p:nvSpPr>
        <p:spPr>
          <a:xfrm>
            <a:off x="6400800" y="4297680"/>
            <a:ext cx="196596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24" name="Search to context"/>
          <p:cNvSpPr/>
          <p:nvPr/>
        </p:nvSpPr>
        <p:spPr>
          <a:xfrm>
            <a:off x="8595360" y="3950208"/>
            <a:ext cx="502920" cy="0"/>
          </a:xfrm>
          <a:prstGeom prst="line">
            <a:avLst/>
          </a:prstGeom>
          <a:noFill/>
          <a:ln w="22225">
            <a:solidFill>
              <a:srgbClr val="474552"/>
            </a:solidFill>
            <a:prstDash val="solid"/>
            <a:tailEnd type="triangle"/>
          </a:ln>
        </p:spPr>
      </p:sp>
      <p:sp>
        <p:nvSpPr>
          <p:cNvPr id="25" name="Context window with ARD"/>
          <p:cNvSpPr/>
          <p:nvPr/>
        </p:nvSpPr>
        <p:spPr>
          <a:xfrm>
            <a:off x="9189720" y="2468880"/>
            <a:ext cx="2450592" cy="2971800"/>
          </a:xfrm>
          <a:prstGeom prst="roundRect">
            <a:avLst>
              <a:gd name="adj" fmla="val 2985"/>
            </a:avLst>
          </a:prstGeom>
          <a:solidFill>
            <a:schemeClr val="bg1"/>
          </a:solidFill>
          <a:ln w="15875">
            <a:solidFill>
              <a:srgbClr val="474552"/>
            </a:solidFill>
            <a:prstDash val="solid"/>
          </a:ln>
        </p:spPr>
      </p:sp>
      <p:sp>
        <p:nvSpPr>
          <p:cNvPr id="26" name="Task bar right"/>
          <p:cNvSpPr/>
          <p:nvPr/>
        </p:nvSpPr>
        <p:spPr>
          <a:xfrm>
            <a:off x="9372600" y="2651760"/>
            <a:ext cx="2084832" cy="219456"/>
          </a:xfrm>
          <a:prstGeom prst="roundRect">
            <a:avLst>
              <a:gd name="adj" fmla="val 16667"/>
            </a:avLst>
          </a:prstGeom>
          <a:solidFill>
            <a:schemeClr val="accent1"/>
          </a:solidFill>
          <a:ln/>
        </p:spPr>
      </p:sp>
      <p:sp>
        <p:nvSpPr>
          <p:cNvPr id="27" name="Top result 1"/>
          <p:cNvSpPr/>
          <p:nvPr/>
        </p:nvSpPr>
        <p:spPr>
          <a:xfrm>
            <a:off x="9372600" y="2962656"/>
            <a:ext cx="2084832" cy="201168"/>
          </a:xfrm>
          <a:prstGeom prst="roundRect">
            <a:avLst>
              <a:gd name="adj" fmla="val 18182"/>
            </a:avLst>
          </a:prstGeom>
          <a:solidFill>
            <a:schemeClr val="accent3"/>
          </a:solidFill>
          <a:ln/>
        </p:spPr>
      </p:sp>
      <p:sp>
        <p:nvSpPr>
          <p:cNvPr id="28" name="Top result 2"/>
          <p:cNvSpPr/>
          <p:nvPr/>
        </p:nvSpPr>
        <p:spPr>
          <a:xfrm>
            <a:off x="9372600" y="3236976"/>
            <a:ext cx="1719072" cy="201168"/>
          </a:xfrm>
          <a:prstGeom prst="roundRect">
            <a:avLst>
              <a:gd name="adj" fmla="val 18182"/>
            </a:avLst>
          </a:prstGeom>
          <a:solidFill>
            <a:schemeClr val="accent3"/>
          </a:solidFill>
          <a:ln/>
        </p:spPr>
      </p:sp>
      <p:sp>
        <p:nvSpPr>
          <p:cNvPr id="29" name="Top result 3"/>
          <p:cNvSpPr/>
          <p:nvPr/>
        </p:nvSpPr>
        <p:spPr>
          <a:xfrm>
            <a:off x="9372600" y="3511296"/>
            <a:ext cx="1353312" cy="201168"/>
          </a:xfrm>
          <a:prstGeom prst="roundRect">
            <a:avLst>
              <a:gd name="adj" fmla="val 18182"/>
            </a:avLst>
          </a:prstGeom>
          <a:solidFill>
            <a:schemeClr val="accent3"/>
          </a:solidFill>
          <a:ln/>
        </p:spPr>
      </p:sp>
      <p:sp>
        <p:nvSpPr>
          <p:cNvPr id="30" name="Text 27"/>
          <p:cNvSpPr txBox="1"/>
          <p:nvPr/>
        </p:nvSpPr>
        <p:spPr>
          <a:xfrm>
            <a:off x="6263640" y="5669280"/>
            <a:ext cx="5394960" cy="548640"/>
          </a:xfrm>
          <a:prstGeom prst="rect">
            <a:avLst/>
          </a:prstGeom>
          <a:noFill/>
          <a:ln/>
        </p:spPr>
        <p:txBody>
          <a:bodyPr wrap="square" lIns="0" tIns="0" rIns="0" bIns="0" rtlCol="0" anchor="t"/>
          <a:lstStyle/>
          <a:p>
            <a:pPr indent="0" marL="0">
              <a:buNone/>
            </a:pPr>
            <a:r>
              <a:rPr lang="en-US" sz="1400" dirty="0">
                <a:solidFill>
                  <a:schemeClr val="accent6"/>
                </a:solidFill>
              </a:rPr>
              <a:t>Only the top results for this task. Lots of room left.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p:cNvSpPr/>
          <p:nvPr/>
        </p:nvSpPr>
        <p:spPr>
          <a:xfrm>
            <a:off x="548640" y="1965960"/>
            <a:ext cx="4023360" cy="1234440"/>
          </a:xfrm>
          <a:prstGeom prst="roundRect">
            <a:avLst>
              <a:gd name="adj" fmla="val 10370"/>
            </a:avLst>
          </a:prstGeom>
          <a:solidFill>
            <a:schemeClr val="bg1"/>
          </a:solidFill>
          <a:ln w="12700">
            <a:solidFill>
              <a:srgbClr val="E4E1EE"/>
            </a:solidFill>
            <a:prstDash val="solid"/>
          </a:ln>
        </p:spPr>
      </p:sp>
      <p:sp>
        <p:nvSpPr>
          <p:cNvPr id="5" name="Text 3"/>
          <p:cNvSpPr txBox="1"/>
          <p:nvPr/>
        </p:nvSpPr>
        <p:spPr>
          <a:xfrm>
            <a:off x="777240" y="21031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auto</a:t>
            </a:r>
            <a:pPr indent="0" marL="0">
              <a:buNone/>
            </a:pPr>
            <a:r>
              <a:rPr lang="en-US" sz="1200" dirty="0">
                <a:solidFill>
                  <a:schemeClr val="accent6"/>
                </a:solidFill>
              </a:rPr>
              <a:t>   default</a:t>
            </a:r>
            <a:endParaRPr lang="en-US" sz="1800" dirty="0"/>
          </a:p>
        </p:txBody>
      </p:sp>
      <p:sp>
        <p:nvSpPr>
          <p:cNvPr id="6" name="Text 4"/>
          <p:cNvSpPr txBox="1"/>
          <p:nvPr/>
        </p:nvSpPr>
        <p:spPr>
          <a:xfrm>
            <a:off x="777240" y="24963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The registry queries its upstreams and returns one merged result set.</a:t>
            </a:r>
            <a:endParaRPr lang="en-US" sz="1400" dirty="0"/>
          </a:p>
        </p:txBody>
      </p:sp>
      <p:sp>
        <p:nvSpPr>
          <p:cNvPr id="7" name="Mode referrals"/>
          <p:cNvSpPr/>
          <p:nvPr/>
        </p:nvSpPr>
        <p:spPr>
          <a:xfrm>
            <a:off x="548640" y="3337560"/>
            <a:ext cx="4023360" cy="1234440"/>
          </a:xfrm>
          <a:prstGeom prst="roundRect">
            <a:avLst>
              <a:gd name="adj" fmla="val 10370"/>
            </a:avLst>
          </a:prstGeom>
          <a:solidFill>
            <a:schemeClr val="bg2"/>
          </a:solidFill>
          <a:ln/>
        </p:spPr>
      </p:sp>
      <p:sp>
        <p:nvSpPr>
          <p:cNvPr id="8" name="Text 6"/>
          <p:cNvSpPr txBox="1"/>
          <p:nvPr/>
        </p:nvSpPr>
        <p:spPr>
          <a:xfrm>
            <a:off x="777240" y="34747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referrals</a:t>
            </a:r>
            <a:endParaRPr lang="en-US" sz="1800" dirty="0"/>
          </a:p>
        </p:txBody>
      </p:sp>
      <p:sp>
        <p:nvSpPr>
          <p:cNvPr id="9" name="Text 7"/>
          <p:cNvSpPr txBox="1"/>
          <p:nvPr/>
        </p:nvSpPr>
        <p:spPr>
          <a:xfrm>
            <a:off x="777240" y="38679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Returns its own results plus other registries the client may try next.</a:t>
            </a:r>
            <a:endParaRPr lang="en-US" sz="1400" dirty="0"/>
          </a:p>
        </p:txBody>
      </p:sp>
      <p:sp>
        <p:nvSpPr>
          <p:cNvPr id="10" name="Mode none"/>
          <p:cNvSpPr/>
          <p:nvPr/>
        </p:nvSpPr>
        <p:spPr>
          <a:xfrm>
            <a:off x="548640" y="4709160"/>
            <a:ext cx="4023360" cy="1234440"/>
          </a:xfrm>
          <a:prstGeom prst="roundRect">
            <a:avLst>
              <a:gd name="adj" fmla="val 10370"/>
            </a:avLst>
          </a:prstGeom>
          <a:solidFill>
            <a:schemeClr val="bg1"/>
          </a:solidFill>
          <a:ln w="12700">
            <a:solidFill>
              <a:srgbClr val="E4E1EE"/>
            </a:solidFill>
            <a:prstDash val="solid"/>
          </a:ln>
        </p:spPr>
      </p:sp>
      <p:sp>
        <p:nvSpPr>
          <p:cNvPr id="11" name="Text 9"/>
          <p:cNvSpPr txBox="1"/>
          <p:nvPr/>
        </p:nvSpPr>
        <p:spPr>
          <a:xfrm>
            <a:off x="777240" y="48463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none</a:t>
            </a:r>
            <a:endParaRPr lang="en-US" sz="1800" dirty="0"/>
          </a:p>
        </p:txBody>
      </p:sp>
      <p:sp>
        <p:nvSpPr>
          <p:cNvPr id="12" name="Text 10"/>
          <p:cNvSpPr txBox="1"/>
          <p:nvPr/>
        </p:nvSpPr>
        <p:spPr>
          <a:xfrm>
            <a:off x="777240" y="52395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Searches only its own index.</a:t>
            </a:r>
            <a:endParaRPr lang="en-US" sz="1400" dirty="0"/>
          </a:p>
        </p:txBody>
      </p:sp>
      <p:sp>
        <p:nvSpPr>
          <p:cNvPr id="13" name="User request"/>
          <p:cNvSpPr/>
          <p:nvPr/>
        </p:nvSpPr>
        <p:spPr>
          <a:xfrm>
            <a:off x="5029200" y="1965960"/>
            <a:ext cx="6611112" cy="731520"/>
          </a:xfrm>
          <a:prstGeom prst="roundRect">
            <a:avLst>
              <a:gd name="adj" fmla="val 17500"/>
            </a:avLst>
          </a:prstGeom>
          <a:solidFill>
            <a:schemeClr val="bg2"/>
          </a:solidFill>
          <a:ln/>
        </p:spPr>
      </p:sp>
      <p:sp>
        <p:nvSpPr>
          <p:cNvPr id="14" name="Text 12"/>
          <p:cNvSpPr txBox="1"/>
          <p:nvPr/>
        </p:nvSpPr>
        <p:spPr>
          <a:xfrm>
            <a:off x="5257800" y="1965960"/>
            <a:ext cx="6217920" cy="731520"/>
          </a:xfrm>
          <a:prstGeom prst="rect">
            <a:avLst/>
          </a:prstGeom>
          <a:noFill/>
          <a:ln/>
        </p:spPr>
        <p:txBody>
          <a:bodyPr wrap="square" lIns="0" tIns="0" rIns="0" bIns="0" rtlCol="0" anchor="ctr"/>
          <a:lstStyle/>
          <a:p>
            <a:pPr indent="0" marL="0">
              <a:buNone/>
            </a:pPr>
            <a:r>
              <a:rPr lang="en-US" sz="1600" i="1" dirty="0">
                <a:solidFill>
                  <a:schemeClr val="tx1"/>
                </a:solidFill>
              </a:rPr>
              <a:t>“Book me a flight to Tokyo and file the travel expense report.”</a:t>
            </a:r>
            <a:endParaRPr lang="en-US" sz="1600" dirty="0"/>
          </a:p>
        </p:txBody>
      </p:sp>
      <p:sp>
        <p:nvSpPr>
          <p:cNvPr id="15" name="Orchestrator"/>
          <p:cNvSpPr/>
          <p:nvPr/>
        </p:nvSpPr>
        <p:spPr>
          <a:xfrm>
            <a:off x="5029200" y="3017520"/>
            <a:ext cx="2468880" cy="777240"/>
          </a:xfrm>
          <a:prstGeom prst="roundRect">
            <a:avLst>
              <a:gd name="adj" fmla="val 16471"/>
            </a:avLst>
          </a:prstGeom>
          <a:solidFill>
            <a:schemeClr val="accent5"/>
          </a:solidFill>
          <a:ln/>
        </p:spPr>
      </p:sp>
      <p:sp>
        <p:nvSpPr>
          <p:cNvPr id="16" name="Text 14"/>
          <p:cNvSpPr txBox="1"/>
          <p:nvPr/>
        </p:nvSpPr>
        <p:spPr>
          <a:xfrm>
            <a:off x="5029200" y="3017520"/>
            <a:ext cx="2468880" cy="777240"/>
          </a:xfrm>
          <a:prstGeom prst="rect">
            <a:avLst/>
          </a:prstGeom>
          <a:noFill/>
          <a:ln/>
        </p:spPr>
        <p:txBody>
          <a:bodyPr wrap="square" lIns="0" tIns="0" rIns="0" bIns="0" rtlCol="0" anchor="ctr"/>
          <a:lstStyle/>
          <a:p>
            <a:pPr algn="ctr" indent="0" marL="0">
              <a:buNone/>
            </a:pPr>
            <a:r>
              <a:rPr lang="en-US" sz="1700" b="1" dirty="0">
                <a:solidFill>
                  <a:schemeClr val="bg1"/>
                </a:solidFill>
              </a:rPr>
              <a:t>Orchestrator</a:t>
            </a:r>
            <a:endParaRPr lang="en-US" sz="1700" dirty="0"/>
          </a:p>
        </p:txBody>
      </p:sp>
      <p:sp>
        <p:nvSpPr>
          <p:cNvPr id="17" name="Search enterprise registry"/>
          <p:cNvSpPr/>
          <p:nvPr/>
        </p:nvSpPr>
        <p:spPr>
          <a:xfrm>
            <a:off x="6263640" y="3840480"/>
            <a:ext cx="0" cy="502920"/>
          </a:xfrm>
          <a:prstGeom prst="line">
            <a:avLst/>
          </a:prstGeom>
          <a:noFill/>
          <a:ln w="22225">
            <a:solidFill>
              <a:srgbClr val="474552"/>
            </a:solidFill>
            <a:prstDash val="solid"/>
            <a:tailEnd type="triangle"/>
          </a:ln>
        </p:spPr>
      </p:sp>
      <p:sp>
        <p:nvSpPr>
          <p:cNvPr id="18" name="Text 16"/>
          <p:cNvSpPr txBox="1"/>
          <p:nvPr/>
        </p:nvSpPr>
        <p:spPr>
          <a:xfrm>
            <a:off x="6355080" y="3858768"/>
            <a:ext cx="1828800" cy="457200"/>
          </a:xfrm>
          <a:prstGeom prst="rect">
            <a:avLst/>
          </a:prstGeom>
          <a:noFill/>
          <a:ln/>
        </p:spPr>
        <p:txBody>
          <a:bodyPr wrap="square" lIns="0" tIns="0" rIns="0" bIns="0" rtlCol="0" anchor="ctr"/>
          <a:lstStyle/>
          <a:p>
            <a:pPr indent="0" marL="0">
              <a:buNone/>
            </a:pPr>
            <a:r>
              <a:rPr lang="en-US" sz="1200" dirty="0">
                <a:solidFill>
                  <a:schemeClr val="accent6"/>
                </a:solidFill>
              </a:rPr>
              <a:t>1  search, referrals</a:t>
            </a:r>
            <a:endParaRPr lang="en-US" sz="1200" dirty="0"/>
          </a:p>
        </p:txBody>
      </p:sp>
      <p:sp>
        <p:nvSpPr>
          <p:cNvPr id="19" name="Enterprise registry"/>
          <p:cNvSpPr/>
          <p:nvPr/>
        </p:nvSpPr>
        <p:spPr>
          <a:xfrm>
            <a:off x="5029200" y="4389120"/>
            <a:ext cx="2468880" cy="777240"/>
          </a:xfrm>
          <a:prstGeom prst="roundRect">
            <a:avLst>
              <a:gd name="adj" fmla="val 16471"/>
            </a:avLst>
          </a:prstGeom>
          <a:solidFill>
            <a:schemeClr val="accent3"/>
          </a:solidFill>
          <a:ln/>
        </p:spPr>
      </p:sp>
      <p:sp>
        <p:nvSpPr>
          <p:cNvPr id="20" name="Text 18"/>
          <p:cNvSpPr txBox="1"/>
          <p:nvPr/>
        </p:nvSpPr>
        <p:spPr>
          <a:xfrm>
            <a:off x="5029200" y="4389120"/>
            <a:ext cx="2468880" cy="777240"/>
          </a:xfrm>
          <a:prstGeom prst="rect">
            <a:avLst/>
          </a:prstGeom>
          <a:noFill/>
          <a:ln/>
        </p:spPr>
        <p:txBody>
          <a:bodyPr wrap="square" lIns="0" tIns="0" rIns="0" bIns="0" rtlCol="0" anchor="ctr"/>
          <a:lstStyle/>
          <a:p>
            <a:pPr algn="ctr" indent="0" marL="0">
              <a:buNone/>
            </a:pPr>
            <a:r>
              <a:rPr lang="en-US" sz="1600" b="1" dirty="0">
                <a:solidFill>
                  <a:schemeClr val="tx1"/>
                </a:solidFill>
              </a:rPr>
              <a:t>Enterprise registry</a:t>
            </a:r>
            <a:endParaRPr lang="en-US" sz="1600" dirty="0"/>
          </a:p>
        </p:txBody>
      </p:sp>
      <p:sp>
        <p:nvSpPr>
          <p:cNvPr id="21" name="Expense result"/>
          <p:cNvSpPr/>
          <p:nvPr/>
        </p:nvSpPr>
        <p:spPr>
          <a:xfrm>
            <a:off x="5029200" y="5349240"/>
            <a:ext cx="2468880" cy="731520"/>
          </a:xfrm>
          <a:prstGeom prst="roundRect">
            <a:avLst>
              <a:gd name="adj" fmla="val 17500"/>
            </a:avLst>
          </a:prstGeom>
          <a:solidFill>
            <a:schemeClr val="bg1"/>
          </a:solidFill>
          <a:ln w="15875">
            <a:solidFill>
              <a:srgbClr val="B6B0D0"/>
            </a:solidFill>
            <a:prstDash val="solid"/>
          </a:ln>
        </p:spPr>
      </p:sp>
      <p:sp>
        <p:nvSpPr>
          <p:cNvPr id="22" name="Text 20"/>
          <p:cNvSpPr txBox="1"/>
          <p:nvPr/>
        </p:nvSpPr>
        <p:spPr>
          <a:xfrm>
            <a:off x="5166360" y="5349240"/>
            <a:ext cx="2240280" cy="731520"/>
          </a:xfrm>
          <a:prstGeom prst="rect">
            <a:avLst/>
          </a:prstGeom>
          <a:noFill/>
          <a:ln/>
        </p:spPr>
        <p:txBody>
          <a:bodyPr wrap="square" lIns="0" tIns="0" rIns="0" bIns="0" rtlCol="0" anchor="ctr"/>
          <a:lstStyle/>
          <a:p>
            <a:pPr indent="0" marL="0">
              <a:buNone/>
            </a:pPr>
            <a:r>
              <a:rPr lang="en-US" sz="1400" b="1" dirty="0">
                <a:solidFill>
                  <a:schemeClr val="tx1"/>
                </a:solidFill>
              </a:rPr>
              <a:t>Corporate Expenses</a:t>
            </a:r>
            <a:endParaRPr lang="en-US" sz="1400" dirty="0"/>
          </a:p>
          <a:p>
            <a:pPr indent="0" marL="0">
              <a:buNone/>
            </a:pPr>
            <a:r>
              <a:rPr lang="en-US" sz="1200" dirty="0">
                <a:solidFill>
                  <a:schemeClr val="accent6"/>
                </a:solidFill>
              </a:rPr>
              <a:t>A2A agent · score 97</a:t>
            </a:r>
            <a:endParaRPr lang="en-US" sz="1400" dirty="0"/>
          </a:p>
        </p:txBody>
      </p:sp>
      <p:sp>
        <p:nvSpPr>
          <p:cNvPr id="23" name="Travel finder"/>
          <p:cNvSpPr/>
          <p:nvPr/>
        </p:nvSpPr>
        <p:spPr>
          <a:xfrm>
            <a:off x="8778240" y="3977640"/>
            <a:ext cx="2862072" cy="685800"/>
          </a:xfrm>
          <a:prstGeom prst="roundRect">
            <a:avLst>
              <a:gd name="adj" fmla="val 18667"/>
            </a:avLst>
          </a:prstGeom>
          <a:solidFill>
            <a:schemeClr val="bg1"/>
          </a:solidFill>
          <a:ln w="25400">
            <a:solidFill>
              <a:srgbClr val="E8601F"/>
            </a:solidFill>
            <a:prstDash val="solid"/>
          </a:ln>
        </p:spPr>
      </p:sp>
      <p:sp>
        <p:nvSpPr>
          <p:cNvPr id="24" name="Text 22"/>
          <p:cNvSpPr txBox="1"/>
          <p:nvPr/>
        </p:nvSpPr>
        <p:spPr>
          <a:xfrm>
            <a:off x="8778240" y="397764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Travel Agent Finder</a:t>
            </a:r>
            <a:endParaRPr lang="en-US" sz="1500" dirty="0"/>
          </a:p>
        </p:txBody>
      </p:sp>
      <p:sp>
        <p:nvSpPr>
          <p:cNvPr id="25" name="Public finder"/>
          <p:cNvSpPr/>
          <p:nvPr/>
        </p:nvSpPr>
        <p:spPr>
          <a:xfrm>
            <a:off x="8778240" y="4846320"/>
            <a:ext cx="2862072" cy="685800"/>
          </a:xfrm>
          <a:prstGeom prst="roundRect">
            <a:avLst>
              <a:gd name="adj" fmla="val 18667"/>
            </a:avLst>
          </a:prstGeom>
          <a:solidFill>
            <a:schemeClr val="bg1"/>
          </a:solidFill>
          <a:ln w="15875">
            <a:solidFill>
              <a:srgbClr val="B6B0D0"/>
            </a:solidFill>
            <a:prstDash val="solid"/>
          </a:ln>
        </p:spPr>
      </p:sp>
      <p:sp>
        <p:nvSpPr>
          <p:cNvPr id="26" name="Text 24"/>
          <p:cNvSpPr txBox="1"/>
          <p:nvPr/>
        </p:nvSpPr>
        <p:spPr>
          <a:xfrm>
            <a:off x="8778240" y="484632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Public Agent Finder</a:t>
            </a:r>
            <a:endParaRPr lang="en-US" sz="1500" dirty="0"/>
          </a:p>
        </p:txBody>
      </p:sp>
      <p:sp>
        <p:nvSpPr>
          <p:cNvPr id="27" name="Referral 1"/>
          <p:cNvSpPr/>
          <p:nvPr/>
        </p:nvSpPr>
        <p:spPr>
          <a:xfrm flipV="1">
            <a:off x="7543800" y="4343400"/>
            <a:ext cx="1188720" cy="320040"/>
          </a:xfrm>
          <a:prstGeom prst="line">
            <a:avLst/>
          </a:prstGeom>
          <a:noFill/>
          <a:ln w="22225">
            <a:solidFill>
              <a:srgbClr val="5E5A6E"/>
            </a:solidFill>
            <a:prstDash val="dash"/>
            <a:tailEnd type="triangle"/>
          </a:ln>
        </p:spPr>
      </p:sp>
      <p:sp>
        <p:nvSpPr>
          <p:cNvPr id="28" name="Referral 2"/>
          <p:cNvSpPr/>
          <p:nvPr/>
        </p:nvSpPr>
        <p:spPr>
          <a:xfrm>
            <a:off x="7543800" y="4846320"/>
            <a:ext cx="1188720" cy="320040"/>
          </a:xfrm>
          <a:prstGeom prst="line">
            <a:avLst/>
          </a:prstGeom>
          <a:noFill/>
          <a:ln w="22225">
            <a:solidFill>
              <a:srgbClr val="5E5A6E"/>
            </a:solidFill>
            <a:prstDash val="dash"/>
            <a:tailEnd type="triangle"/>
          </a:ln>
        </p:spPr>
      </p:sp>
      <p:sp>
        <p:nvSpPr>
          <p:cNvPr id="29" name="Text 27"/>
          <p:cNvSpPr txBox="1"/>
          <p:nvPr/>
        </p:nvSpPr>
        <p:spPr>
          <a:xfrm>
            <a:off x="7589520" y="5321808"/>
            <a:ext cx="1143000" cy="320040"/>
          </a:xfrm>
          <a:prstGeom prst="rect">
            <a:avLst/>
          </a:prstGeom>
          <a:noFill/>
          <a:ln/>
        </p:spPr>
        <p:txBody>
          <a:bodyPr wrap="square" lIns="0" tIns="0" rIns="0" bIns="0" rtlCol="0" anchor="t"/>
          <a:lstStyle/>
          <a:p>
            <a:pPr indent="0" marL="0">
              <a:buNone/>
            </a:pPr>
            <a:r>
              <a:rPr lang="en-US" sz="1200" dirty="0">
                <a:solidFill>
                  <a:schemeClr val="accent6"/>
                </a:solidFill>
              </a:rPr>
              <a:t>2  referrals</a:t>
            </a:r>
            <a:endParaRPr lang="en-US" sz="1200" dirty="0"/>
          </a:p>
        </p:txBody>
      </p:sp>
      <p:sp>
        <p:nvSpPr>
          <p:cNvPr id="30" name="Follow referral"/>
          <p:cNvSpPr/>
          <p:nvPr/>
        </p:nvSpPr>
        <p:spPr>
          <a:xfrm>
            <a:off x="7543800" y="3401568"/>
            <a:ext cx="2651760" cy="530352"/>
          </a:xfrm>
          <a:prstGeom prst="line">
            <a:avLst/>
          </a:prstGeom>
          <a:noFill/>
          <a:ln w="22225">
            <a:solidFill>
              <a:srgbClr val="E8601F"/>
            </a:solidFill>
            <a:prstDash val="solid"/>
            <a:tailEnd type="triangle"/>
          </a:ln>
        </p:spPr>
      </p:sp>
      <p:sp>
        <p:nvSpPr>
          <p:cNvPr id="31" name="Text 29"/>
          <p:cNvSpPr txBox="1"/>
          <p:nvPr/>
        </p:nvSpPr>
        <p:spPr>
          <a:xfrm>
            <a:off x="8778240" y="3017520"/>
            <a:ext cx="2862072" cy="365760"/>
          </a:xfrm>
          <a:prstGeom prst="rect">
            <a:avLst/>
          </a:prstGeom>
          <a:noFill/>
          <a:ln/>
        </p:spPr>
        <p:txBody>
          <a:bodyPr wrap="square" lIns="0" tIns="0" rIns="0" bIns="0" rtlCol="0" anchor="t"/>
          <a:lstStyle/>
          <a:p>
            <a:pPr algn="r" indent="0" marL="0">
              <a:buNone/>
            </a:pPr>
            <a:r>
              <a:rPr lang="en-US" sz="1200" b="1" dirty="0">
                <a:solidFill>
                  <a:schemeClr val="accent2"/>
                </a:solidFill>
              </a:rPr>
              <a:t>3  follow it for flights</a:t>
            </a:r>
            <a:endParaRPr lang="en-US" sz="1200" dirty="0"/>
          </a:p>
        </p:txBody>
      </p:sp>
      <p:sp>
        <p:nvSpPr>
          <p:cNvPr id="32" name="Text 30"/>
          <p:cNvSpPr txBox="1"/>
          <p:nvPr/>
        </p:nvSpPr>
        <p:spPr>
          <a:xfrm>
            <a:off x="8778240" y="5715000"/>
            <a:ext cx="2862072" cy="365760"/>
          </a:xfrm>
          <a:prstGeom prst="rect">
            <a:avLst/>
          </a:prstGeom>
          <a:noFill/>
          <a:ln/>
        </p:spPr>
        <p:txBody>
          <a:bodyPr wrap="square" lIns="0" tIns="0" rIns="0" bIns="0" rtlCol="0" anchor="t"/>
          <a:lstStyle/>
          <a:p>
            <a:pPr algn="r" indent="0" marL="0">
              <a:buNone/>
            </a:pPr>
            <a:r>
              <a:rPr lang="en-US" sz="1200" dirty="0">
                <a:solidFill>
                  <a:schemeClr val="accent6"/>
                </a:solidFill>
              </a:rPr>
              <a:t>4  Invoke each through its own protocol.</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7"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Manifest of public, approved entries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Never shows more than the registry card"/>
          <p:cNvSpPr/>
          <p:nvPr/>
        </p:nvSpPr>
        <p:spPr>
          <a:xfrm>
            <a:off x="6185916" y="1965960"/>
            <a:ext cx="5454396" cy="1920240"/>
          </a:xfrm>
          <a:prstGeom prst="roundRect">
            <a:avLst>
              <a:gd name="adj" fmla="val 6667"/>
            </a:avLst>
          </a:prstGeom>
          <a:solidFill>
            <a:schemeClr val="bg2"/>
          </a:solidFill>
          <a:ln/>
        </p:spPr>
      </p:sp>
      <p:sp>
        <p:nvSpPr>
          <p:cNvPr id="10" name="Never shows more than the registry circle"/>
          <p:cNvSpPr/>
          <p:nvPr/>
        </p:nvSpPr>
        <p:spPr>
          <a:xfrm>
            <a:off x="6460236" y="2240280"/>
            <a:ext cx="640080" cy="640080"/>
          </a:xfrm>
          <a:prstGeom prst="ellipse">
            <a:avLst/>
          </a:prstGeom>
          <a:solidFill>
            <a:schemeClr val="accent5"/>
          </a:solidFill>
          <a:ln/>
        </p:spPr>
      </p:sp>
      <p:pic>
        <p:nvPicPr>
          <p:cNvPr id="11" name="Never shows more than the registry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Never shows more than the registry</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Drafts and rejections reach only their owners. Anonymous search is off unless an admin enables it.</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2026-10-24T03:11:29Z</dcterms:created>
  <dcterms:modified xsi:type="dcterms:W3CDTF">2026-10-24T03:11:29Z</dcterms:modified>
</cp:coreProperties>
</file>