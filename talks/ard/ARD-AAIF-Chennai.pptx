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a5b13da-0480-542f-00ee-aded55422056}">
          <p14:sldIdLst>
            <p14:sldId id="256"/>
            <p14:sldId id="257"/>
          </p14:sldIdLst>
        </p14:section>
        <p14:section name="Why discovery" id="{97c24ec6-ca29-2e3e-a367-ded6d6a35784}">
          <p14:sldIdLst>
            <p14:sldId id="258"/>
            <p14:sldId id="259"/>
            <p14:sldId id="260"/>
          </p14:sldIdLst>
        </p14:section>
        <p14:section name="What ARD is" id="{f3ba84c6-36de-1b7b-379d-b8b328612bd6}">
          <p14:sldIdLst>
            <p14:sldId id="261"/>
            <p14:sldId id="262"/>
            <p14:sldId id="263"/>
            <p14:sldId id="264"/>
            <p14:sldId id="265"/>
            <p14:sldId id="266"/>
            <p14:sldId id="267"/>
            <p14:sldId id="268"/>
          </p14:sldIdLst>
        </p14:section>
        <p14:section name="My implementation" id="{2345baa3-2dc3-c761-88ce-3392fc0b84e9}">
          <p14:sldIdLst>
            <p14:sldId id="269"/>
            <p14:sldId id="270"/>
            <p14:sldId id="271"/>
            <p14:sldId id="272"/>
            <p14:sldId id="273"/>
            <p14:sldId id="274"/>
          </p14:sldIdLst>
        </p14:section>
        <p14:section name="Use cases" id="{8c8acde0-6519-ed1c-e856-601effe251f6}">
          <p14:sldIdLst>
            <p14:sldId id="275"/>
            <p14:sldId id="276"/>
            <p14:sldId id="277"/>
            <p14:sldId id="278"/>
          </p14:sldIdLst>
        </p14:section>
        <p14:section name="Wrap-up" id="{6cd39bb4-06d3-696c-c76b-85df3b72de2b}">
          <p14:sldIdLst>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1A1A1A"/>
                </a:solidFill>
                <a:latin typeface="+mn-lt"/>
              </a:defRPr>
            </a:pPr>
            <a:r>
              <a:rPr sz="1500" b="1" i="0" u="none" strike="noStrike">
                <a:solidFill>
                  <a:srgbClr val="1A1A1A"/>
                </a:solidFill>
                <a:latin typeface="+mn-lt"/>
              </a:rPr>
              <a:t>Search quality on 47 hand-written requests</a:t>
            </a:r>
          </a:p>
        </c:rich>
      </c:tx>
      <c:layout/>
      <c:overlay val="0"/>
    </c:title>
    <c:autoTitleDeleted val="0"/>
    <c:plotArea>
      <c:layout/>
      <c:barChart>
        <c:barDir val="col"/>
        <c:grouping val="clustered"/>
        <c:varyColors val="0"/>
        <c:ser>
          <c:idx val="0"/>
          <c:order val="0"/>
          <c:tx>
            <c:strRef>
              <c:f>Sheet1!$B$1</c:f>
              <c:strCache>
                <c:ptCount val="1"/>
                <c:pt idx="0">
                  <c:v>Ranker alone</c:v>
                </c:pt>
              </c:strCache>
            </c:strRef>
          </c:tx>
          <c:spPr>
            <a:solidFill>
              <a:srgbClr val="E8601F"/>
            </a:solidFill>
            <a:effectLst/>
          </c:spPr>
          <c:invertIfNegative val="0"/>
          <c:dLbls>
            <c:numFmt formatCode="0.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Recall@5</c:v>
                  </c:pt>
                  <c:pt idx="1">
                    <c:v>MRR@10</c:v>
                  </c:pt>
                </c:lvl>
              </c:multiLvlStrCache>
            </c:multiLvlStrRef>
          </c:cat>
          <c:val>
            <c:numRef>
              <c:f>Sheet1!$B$2:$B$3</c:f>
              <c:numCache>
                <c:formatCode>General</c:formatCode>
                <c:ptCount val="2"/>
                <c:pt idx="0">
                  <c:v>0.957</c:v>
                </c:pt>
                <c:pt idx="1">
                  <c:v>0.933</c:v>
                </c:pt>
              </c:numCache>
            </c:numRef>
          </c:val>
        </c:ser>
        <c:ser>
          <c:idx val="1"/>
          <c:order val="1"/>
          <c:tx>
            <c:strRef>
              <c:f>Sheet1!$C$1</c:f>
              <c:strCache>
                <c:ptCount val="1"/>
                <c:pt idx="0">
                  <c:v>End to end (SQL + ranker)</c:v>
                </c:pt>
              </c:strCache>
            </c:strRef>
          </c:tx>
          <c:spPr>
            <a:solidFill>
              <a:srgbClr val="5A4FA0"/>
            </a:solidFill>
            <a:effectLst/>
          </c:spPr>
          <c:invertIfNegative val="0"/>
          <c:dLbls>
            <c:numFmt formatCode="0.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Recall@5</c:v>
                  </c:pt>
                  <c:pt idx="1">
                    <c:v>MRR@10</c:v>
                  </c:pt>
                </c:lvl>
              </c:multiLvlStrCache>
            </c:multiLvlStrRef>
          </c:cat>
          <c:val>
            <c:numRef>
              <c:f>Sheet1!$C$2:$C$3</c:f>
              <c:numCache>
                <c:formatCode>General</c:formatCode>
                <c:ptCount val="2"/>
                <c:pt idx="0">
                  <c:v>0.936</c:v>
                </c:pt>
                <c:pt idx="1">
                  <c:v>0.922</c:v>
                </c:pt>
              </c:numCache>
            </c:numRef>
          </c:val>
        </c:ser>
        <c:ser>
          <c:idx val="2"/>
          <c:order val="2"/>
          <c:tx>
            <c:strRef>
              <c:f>Sheet1!$D$1</c:f>
              <c:strCache>
                <c:ptCount val="1"/>
                <c:pt idx="0">
                  <c:v>CI floor</c:v>
                </c:pt>
              </c:strCache>
            </c:strRef>
          </c:tx>
          <c:spPr>
            <a:solidFill>
              <a:srgbClr val="C9C6D3"/>
            </a:solidFill>
            <a:effectLst/>
          </c:spPr>
          <c:invertIfNegative val="0"/>
          <c:dLbls>
            <c:numFmt formatCode="0.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Recall@5</c:v>
                  </c:pt>
                  <c:pt idx="1">
                    <c:v>MRR@10</c:v>
                  </c:pt>
                </c:lvl>
              </c:multiLvlStrCache>
            </c:multiLvlStrRef>
          </c:cat>
          <c:val>
            <c:numRef>
              <c:f>Sheet1!$D$2:$D$3</c:f>
              <c:numCache>
                <c:formatCode>General</c:formatCode>
                <c:ptCount val="2"/>
                <c:pt idx="0">
                  <c:v>0.9</c:v>
                </c:pt>
                <c:pt idx="1">
                  <c:v>0.85</c:v>
                </c:pt>
              </c:numCache>
            </c:numRef>
          </c:val>
        </c:ser>
        <c:dLbls>
          <c:numFmt formatCode="0.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gapWidth val="70"/>
        <c:overlap val="-8"/>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9E7F0"/>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5A6E"/>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3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I'm Shaan. Today's talk is about Agentic Resource Discovery, or ARD: an open spec for how agents find the right tool, skill or agent at the moment they need it.
The card on the right is the whole idea in one picture: a plain-language request goes in, and ranked resources come out. An A2A agent, an MCP server, a skill, each with a relevance score. The agent didn't have any of them installed beforehand.
I'll cover why we need this, what the spec says, how I implemented it in an open-source project called Observal, and what it unlocks.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word about me: I'm an open-source contributor, and over the last couple of months I implemented ARD in Observal, an open-source registry and observability platform for AI coding agents. So this talk is half spec and half field notes.
Five parts: why agents need discovery at all; what ARD actually specifies; how I implemented it, including what went wrong and what I'd do again; the use cases it unlocks; and how you can try it on your own project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problem. Today an agent can only use the tools someone connected to it ahead of time: the MCP servers in its config file, the skills in its folder.
Meanwhile there are thousands of MCP servers, A2A agents and skills out there, including ones inside your own company. The grey squares are all real capabilities. The agent can't see them, so it either rebuilds something that already exists or tells you it can't help.
The ARD announcement put it nicely: the web was there, but it was dark, until search engines came along.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fix is to connect everything. But most agents choose tools by putting every tool's description into the context window, every turn. With five tools that's fine. With five thousand, the descriptions crowd out the actual task, cost tokens, and make selection worse.
ARD's answer, in section 3.2 of the spec, is to move selection outside the model. A dedicated search service indexes thousands of resources, and the agent only loads the few that match the current task. It's information retrieval rather than prompt stuffing.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line is from R.V. Guha's post introducing ARD. Guha created RSS and schema.org, so he's seen this movie before. Early on, the web was organised in hand-curated directories, and it took search engines to make it usable.
Agentic resources are in the directory era right now: curated lists, marketplaces, config files. ARD is an attempt to give them a search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ARD? It's an open specification announced on 17 June 2026. The current version is 0.91, still marked as a Proposal, Apache-licensed. The authors are Junjie Bu from Google, R.V. Guha, and Shaun Smith from Hugging Face, and it was developed with a long list of companies: Cisco, Databricks, GitHub, GoDaddy, Google, Hugging Face, Microsoft, Nvidia, Salesforce, ServiceNow, Snowflake.
There are already two reference implementations. GitHub's agent finder lets Copilot discover MCP servers, skills and agents at runtime, and Hugging Face's Discover Tool does semantic search across thousands of skills, apps and MCP servers.
It's an open spec on GitHub, and normative changes start as issues, so anyone here can take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ARD sit? Before invocation. The agent asks ARD what exists for the task, gets back ranked candidates, and then calls the chosen one through that resource's own protocol: MCP for an MCP server, A2A for an agent, and so on.
ARD doesn't replace MCP, A2A or Skills. It's an envelope around them, and the spec is explicit about what it leaves to others: authentication is delegated to the resource's protocol, and distribution, whether OCI, npm or git, is infrastructure.
For an AAIF audience that's a nice fit: MCP and AGENTS.md describe how agents talk to tools; ARD is how they find those tools in the first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 ARD works with is the entry: one small JSON-LD document per resource. This one is straight from the spec, a weather MCP server.
Four things are required, shown in coral: an identifier, a display name, a type, which is a media type like application/mcp-server-card+json, and either a URL to the artifact or the artifact inline as data.
The interesting one is representativeQueries, in violet: two to five natural-language requests this resource can serve. That's the signal a registry builds its index from. It's only a SHOULD, but without it your entry is a valid catalogue listing that search simply can't find.
Everything else is optional. And because it's JSON-LD, you can bring your own vocabulary through @context, and those terms become filter dimensions without anyone changing the spec.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entry has a URN identifier: urn:air, then the publisher's domain, an optional namespace, and the resource name. A solo developer's skill on GitHub can be urn:air:github.com:alice-dev:pptx-creator.
Why a URN and not just a URL? Three reasons from Appendix C. It's stable: the URL says where the resource lives today, the URN names it permanently. It's verifiable: the publisher segment must match the identity in the entry's trust manifest, which is ARD's defence against namespace squatting. You can't publish urn:air:google.com anything without an attestation from google.com. And it's globally unique for free, because DNS already guarantees unique domains, so federated catalogues merge without collisions and without a central naming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does a registry find your entry? ARD has a static layer: you publish entries, and registries crawl them, like web pages.
There are five mechanisms. The two highlighted ones are the ones a consumer MUST check: a manifest at /.well-known/ard.json, which is just a JSON document with an entries array, and a link tag with rel=ard. You can also embed the entry as JSON-LD on the page that describes your resource, add an Agentmap line to robots.txt, or publish DNS service-binding records that point at your entries or at a search endpoint.
One practical note: the predecessor spec used /.well-known/ai-catalog.json. Consumers may still check it but don't have to, so publish ard.json.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dynamic layer is registries. A registry ingests entries: web crawling is required, and it can also scan git, npm or OCI registries. Then it serves search.
Every registry must expose the same HTTP REST API, so any client can talk to any registry. POST /search is mandatory: natural-language text plus optional structured filters, returning ranked results with a 0–100 relevance score. Explore returns facet counts, List gives deterministic browsing for portals, and a registry can also wrap search as an MCP tool or A2A skill so it fits naturally into an orchestrator.
On the right is a real request shape: the text, a filter restricting results to A2A agent cards, a federation mode, which is the next slide, and a page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every registry speaks the same REST API, federation is just HTTP. The client chooses how. auto, the default, means the registry queries its upstreams and merges everything into one result set. referrals means it returns its own results plus pointers to other registries the client may query. none means local only.
The spec's own example: someone asks an orchestrator to book a flight to Tokyo and file the expense report. The orchestrator searches the enterprise registry in referrals mode. It finds the internal expense agent with score 97, plus referrals to a public finder and a travel finder. The orchestrator follows the travel referral to find a flight booking agent, then invokes each capability with its own protocol.
This is the DNS-like part: one resolver experience across private and public catalogues.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design decision I really like: relevance and trust are kept apart. The score in a search result is purely how well the entry matches your request, and the spec says in capital letters that it MUST NOT be interpreted as trust, compliance or safety.
Trust lives in an optional trustManifest. ARD only requires one thing of it: the identity must match the publisher domain in the URN. Beyond that it can carry attestations, such as SOC 2 audits, SARIF scan results, SLSA provenance and SCITT transparency receipts, under whatever trust framework you use: SPIFFE, DIDs, your enterprise PKI. Registries are expected to verify it according to the declared framework, and can then filter or rank on it.
Keeping these apart means a highly relevant but unverified resource never looks trustworthy just because it ranked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my part. Observal is an open-source registry and observability platform for AI coding agents. An agent there bundles MCP servers, skills, hooks, prompts and sandboxes. The model was install-first: you build an agent, it gets approved, you pull it into Claude Code or Kiro or Cursor, and then you start your session.
That has exactly the gap from the start of this talk. Mid-task, the assistant has no idea the organisation already approved a security-review skill, so it rebuilds one or says it can't.
ARD fitted cleanly because ARD deliberately doesn't define installation, review or telemetry, and Observal already had all three. So the principle I wrote into the project's first architecture decision record was: ARD says what exists; Observal says how to use it safely.
The PR, #1744, came to 23 commits, 90 files, and about 10.8 thousand lines, 4.3 thousand of them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decision: I didn't touch the existing tables. Agents, MCP servers, skills, hooks, prompts and sandboxes all stay the source of truth for installing, reviewing and ownership.
Instead, one adapter per kind projects each approved version into a neutral shape and writes it into a new read model, discovery_entries. The adapters also derive representative queries from the metadata, flagged as derived so they're never presented as the publisher's own claim.
Everything ARD-facing reads from that table: the well-known manifest, search and list, permanent versioned artifacts with SHA-256 digests, and Observal's own CLI, web page and agent skill.
The projection is one idempotent function, triggered three ways: a database session hook after any lifecycle change, a safety-net cron four times a day, and a background backfill on first boot. No existing API contract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resource got exactly one permanent URN: urn:air, the deployment's domain, the kind as namespace, and the resource's UUID. Two details: I used the UUID, not the human-readable slug, because slugs change on rename and ownership transfer, and ARD wants a stable handle. And the publisher domain is pinned the first time a real domain is configured, so identifiers don't silently change if the deployment moves.
Then the endpoints. Four come from the spec: the well-known manifest (we also serve the older ai-catalog path), search, list, and explore, which honestly answers 501 until facets ship. Two are mine: fetching one complete entry by URN, since the spec has no such operation and our CLI needed one, and permanent artifact URLs that serve the exact bytes of a version with a digest, so the same version always returns the same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search I deliberately avoided new infrastructure. Postgres does what it's good at: visibility, structured filters and a trigram-indexed prefilter, handing back at most five thousand candidates. Then a deterministic Python ranker scores each query word against four fields, with a name match counting most and the description least. Ranking in Python means it behaves identically in SQLite tests and Postgres production, and it can explain itself: every result says which words matched.
I didn't want to guess whether that's good enough, so there's a benchmark in CI: 26 realistic resources and 47 requests written the way developers actually ask. Recall at 5 is 0.96 for the ranker and 0.94 end to end; MRR is 0.93 and 0.92. The grey bars are floors the build enforces, and the rule is they only move up.
The misses are pure synonyms, like PRs versus pull requests. That's where semantic retrieval would help, and the spec explicitly allows registries to use embeddings behind the same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Discovery could easily become a back door around a registry's governance, so I built in four guardrails.
One: score means relevance only, exactly as the spec says. Approval, harness compatibility and availability are separate fields, and policy is a filter before ranking, never a hidden weight.
Two: discovery never shows more than the registry already would. Drafts and rejected items only reach their owners, and anonymous search is off unless an admin turns on the public registry.
Three: search text can contain sensitive things, such as incident details or unreleased product names. I honour the spec's default federation mode, auto, literally, but bounded by an admin allowlist that starts empty. So queries never leave the deployment unless someone decides they should.
Four: text resources like approved skills and prompts load straight into the session. Anything that changes a developer's setup, or can write or delete, still asks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lessons I'd pass on to anyone implementing a young spec.
One: pin it. I vendored the JSON Schema, JSON-LD context, CDDL grammar, OpenAPI file and the official conformance tool, unmodified, at one commit, and run conformance in CI. Updating the spec is then a deliberate, reviewed change, not a surprise.
Two: write the decisions down. The ADR fixed ten decisions up front, like the identifier scheme and the federation default, so reviewers argued about decisions, not code.
Three: project, don't rewrite. Nothing existing broke.
Four: the spec moved while I was building. The well-known path changed from ai-catalog.json to ard.json, the URN prefix from urn:ai to urn:air, and the MCP media type gained '-card'. So accept the old spellings on input, keep the original, and always emit the canonical form.
Five: be honest. The spec says every registry must crawl entry sources. I haven't built that yet, so Observal is an ARD publisher and search endpoint, not yet a full registry, and the ADR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use cases, starting with the one that motivated all of this: the agent searches before it reinvents.
Observal ships an agent skill to every harness it supports, and I rewrote it so that at the start of real work, such as a review, writing tests or docs, or querying a database, the assistant runs observal discover search with the task. It gets ranked candidates with the words that matched, can inspect the best one, and then use it. For a skill, use fetches the exact approved version from its permanent URL and loads it straight into the session.
The output here is simplified, and the resources are examples. Two behaviours matter: an empty result is a valid answer, and the skill tells the agent to retry once with different words before concluding nothing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happens on use depends on what the resource touches, and this is where Observal's governance does the work ARD leaves out.
Skills and prompts are just text, so they're available now: loaded into the current context.
MCP servers, agents and sandboxes change your harness configuration. For those, use writes nothing; it hands back the normal install command, which asks before touching config and takes effect next session.
Hooks are never activated implicitly. And unapproved resources, or ones your harness doesn't support, are refused unless you explicitly override.
Under the hood each harness has verified runtime facts recorded and tested, such as how MCP servers are installed and whether hooks can inject context, so these decisions are based on data, not assumptions.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because every use goes through one place, we know what a session actually relied on.
Each use, whether through discover or a normal install, appends one line to a local capability lock: the URN, exact version and digest, harness, folder and time. When the session's telemetry is uploaded, the uses that fall inside that session's window are attached to it. So in the dashboard you can see which approved resources a session used, with no new tracking channel.
And then the loop closes. If a combination worked, say a security skill, a checklist prompt and the GitHub MCP server, agent init --from-capabilities turns it into a draft agent pinned to those exact versions. Ad-hoc discovery becomes a curated, reviewable asset for the next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out from Observal, here's what ARD enables across the ecosystem.
If you build an MCP server, skill or agent, you publish one ard.json and any ARD registry can find you. No marketplace submission per platform.
Companies can run an internal registry that answers with approved resources first and refers out to public registries for the rest, which is the federation example from earlier.
Coding agents can find tools at runtime instead of at config time; GitHub's agent finder and Hugging Face's Discover Tool are already doing it.
And governed catalogues, like the one I built in Observal, can add approval, visibility and telemetry on top while still speaking the open standard. That's the point Guha made: open ecosystems, not walled catalogues.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take one thing home: you can publish an ARD entry for your own project this week. It's a small JSON file.
Step one, put an ard.json at /.well-known on your domain, with an entries array. Here's a made-up Chennai weather MCP server: the four required fields in coral, and please write good representative queries, because that's what search runs on.
Step two, validate it with the official conformance tool from the ard-spec repository; publisher mode fetches your well-known file and checks it.
Step three, join in. The spec is open on GitHub: issues for normative changes, pull requests welcome for examples, tooling and reference implementations. It's version 0.91, so feedback now really shapes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agents shouldn't be limited to what someone wired up in advance. ARD gives them a search layer: a small entry, a domain-anchored name, one REST API and federation across registries, with trust kept separate from relevance. I showed how I implemented it in an open-source registry, and what that unlocks.
Thank you. Happy to take questions, and the spec and the Observal repository are linked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188720"/>
            <a:ext cx="5760720" cy="320040"/>
          </a:xfrm>
          <a:prstGeom prst="rect">
            <a:avLst/>
          </a:prstGeom>
          <a:noFill/>
          <a:ln/>
        </p:spPr>
        <p:txBody>
          <a:bodyPr wrap="square" rtlCol="0"/>
          <a:lstStyle>
            <a:lvl1pPr indent="0" marL="0">
              <a:buNone/>
              <a:defRPr lang="en-US" sz="1300" b="1" spc="200" kern="0" dirty="0">
                <a:solidFill>
                  <a:schemeClr val="accent2"/>
                </a:solidFill>
              </a:defRPr>
            </a:lvl1pPr>
          </a:lstStyle>
          <a:p>
            <a:pPr indent="0" marL="0">
              <a:buNone/>
            </a:pPr>
            <a:endParaRPr lang="en-US" sz="1300" dirty="0"/>
          </a:p>
        </p:txBody>
      </p:sp>
      <p:sp>
        <p:nvSpPr>
          <p:cNvPr id="3" name="Text 0"/>
          <p:cNvSpPr/>
          <p:nvPr>
            <p:ph idx="101" type="title" hasCustomPrompt="1"/>
          </p:nvPr>
        </p:nvSpPr>
        <p:spPr>
          <a:xfrm>
            <a:off x="548640" y="1600200"/>
            <a:ext cx="5852160" cy="19202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4" name="Text 0"/>
          <p:cNvSpPr/>
          <p:nvPr>
            <p:ph idx="102" type="body" hasCustomPrompt="1"/>
          </p:nvPr>
        </p:nvSpPr>
        <p:spPr>
          <a:xfrm>
            <a:off x="548640" y="3611880"/>
            <a:ext cx="5486400" cy="914400"/>
          </a:xfrm>
          <a:prstGeom prst="rect">
            <a:avLst/>
          </a:prstGeom>
          <a:noFill/>
          <a:ln/>
        </p:spPr>
        <p:txBody>
          <a:bodyPr wrap="square" rtlCol="0"/>
          <a:lstStyle>
            <a:lvl1pPr indent="0" marL="0">
              <a:buNone/>
              <a:defRPr lang="en-US" sz="2000" dirty="0">
                <a:solidFill>
                  <a:schemeClr val="tx2"/>
                </a:solidFill>
              </a:defRPr>
            </a:lvl1pPr>
          </a:lstStyle>
          <a:p>
            <a:pPr indent="0" marL="0">
              <a:buNone/>
            </a:pPr>
            <a:endParaRPr lang="en-US" sz="2000" dirty="0"/>
          </a:p>
        </p:txBody>
      </p:sp>
      <p:sp>
        <p:nvSpPr>
          <p:cNvPr id="5" name="Text 0"/>
          <p:cNvSpPr/>
          <p:nvPr>
            <p:ph idx="103" type="body" hasCustomPrompt="1"/>
          </p:nvPr>
        </p:nvSpPr>
        <p:spPr>
          <a:xfrm>
            <a:off x="548640" y="5074920"/>
            <a:ext cx="5486400" cy="411480"/>
          </a:xfrm>
          <a:prstGeom prst="rect">
            <a:avLst/>
          </a:prstGeom>
          <a:noFill/>
          <a:ln/>
        </p:spPr>
        <p:txBody>
          <a:bodyPr wrap="square" rtlCol="0"/>
          <a:lstStyle>
            <a:lvl1pPr indent="0" marL="0">
              <a:buNone/>
              <a:defRPr lang="en-US" sz="2200" b="1" dirty="0">
                <a:solidFill>
                  <a:schemeClr val="tx1"/>
                </a:solidFill>
              </a:defRPr>
            </a:lvl1pPr>
          </a:lstStyle>
          <a:p>
            <a:pPr indent="0" marL="0">
              <a:buNone/>
            </a:pPr>
            <a:endParaRPr lang="en-US" sz="2200" dirty="0"/>
          </a:p>
        </p:txBody>
      </p:sp>
      <p:sp>
        <p:nvSpPr>
          <p:cNvPr id="6" name="Text 0"/>
          <p:cNvSpPr/>
          <p:nvPr>
            <p:ph idx="104" type="body" hasCustomPrompt="1"/>
          </p:nvPr>
        </p:nvSpPr>
        <p:spPr>
          <a:xfrm>
            <a:off x="548640" y="5486400"/>
            <a:ext cx="5486400" cy="36576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200" kern="0" dirty="0">
                <a:solidFill>
                  <a:schemeClr val="accent2"/>
                </a:solidFill>
              </a:defRPr>
            </a:lvl1pPr>
          </a:lstStyle>
          <a:p>
            <a:pPr indent="0" marL="0">
              <a:buNone/>
            </a:pP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Shaan Narendran  ·  AAIF Chennai Chapter</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1828800"/>
            <a:ext cx="10607040" cy="210312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822960" y="4114800"/>
            <a:ext cx="9692640" cy="1371600"/>
          </a:xfrm>
          <a:prstGeom prst="rect">
            <a:avLst/>
          </a:prstGeom>
          <a:noFill/>
          <a:ln/>
        </p:spPr>
        <p:txBody>
          <a:bodyPr wrap="square" rtlCol="0"/>
          <a:lstStyle>
            <a:lvl1pPr indent="0" marL="0">
              <a:buNone/>
              <a:defRPr lang="en-US" sz="1800" dirty="0">
                <a:solidFill>
                  <a:schemeClr val="tx2"/>
                </a:solidFill>
              </a:defRPr>
            </a:lvl1pPr>
          </a:lstStyle>
          <a:p>
            <a:pPr indent="0" marL="0">
              <a:buNone/>
            </a:pPr>
            <a:endParaRPr lang="en-US" sz="1800" dirty="0"/>
          </a:p>
        </p:txBody>
      </p:sp>
      <p:sp>
        <p:nvSpPr>
          <p:cNvPr id="4"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Shaan Narendran  ·  AAIF Chennai Chapter</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slideLayout" Target="../slideLayouts/slideLayout3.xml"/><Relationship Id="rId1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3.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3.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ilac backdrop circle"/>
          <p:cNvSpPr/>
          <p:nvPr/>
        </p:nvSpPr>
        <p:spPr>
          <a:xfrm>
            <a:off x="6903720" y="-822960"/>
            <a:ext cx="6309360" cy="6309360"/>
          </a:xfrm>
          <a:prstGeom prst="ellipse">
            <a:avLst/>
          </a:prstGeom>
          <a:solidFill>
            <a:schemeClr val="accent3">
              <a:alpha val="45000"/>
            </a:schemeClr>
          </a:solidFill>
          <a:ln/>
        </p:spPr>
      </p:sp>
      <p:sp>
        <p:nvSpPr>
          <p:cNvPr id="3" name="Coral accent dot"/>
          <p:cNvSpPr/>
          <p:nvPr/>
        </p:nvSpPr>
        <p:spPr>
          <a:xfrm>
            <a:off x="10835640" y="5532120"/>
            <a:ext cx="777240" cy="777240"/>
          </a:xfrm>
          <a:prstGeom prst="ellipse">
            <a:avLst/>
          </a:prstGeom>
          <a:solidFill>
            <a:schemeClr val="accent1"/>
          </a:solidFill>
          <a:ln/>
        </p:spPr>
      </p:sp>
      <p:sp>
        <p:nvSpPr>
          <p:cNvPr id="4" name="Text 0"/>
          <p:cNvSpPr/>
          <p:nvPr>
            <p:ph idx="100" type="body" hasCustomPrompt="1"/>
          </p:nvPr>
        </p:nvSpPr>
        <p:spPr>
          <a:xfrm>
            <a:off x="548640" y="1188720"/>
            <a:ext cx="576072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AAIF CHENNAI CHAPTER  ·  24 OCTOBER 2026</a:t>
            </a:r>
            <a:endParaRPr lang="en-US" sz="1300" dirty="0"/>
          </a:p>
        </p:txBody>
      </p:sp>
      <p:sp>
        <p:nvSpPr>
          <p:cNvPr id="5" name="Text 0"/>
          <p:cNvSpPr/>
          <p:nvPr>
            <p:ph idx="101" type="title" hasCustomPrompt="1"/>
          </p:nvPr>
        </p:nvSpPr>
        <p:spPr>
          <a:xfrm>
            <a:off x="548640" y="1600200"/>
            <a:ext cx="5852160" cy="1920240"/>
          </a:xfrm>
          <a:prstGeom prst="rect">
            <a:avLst/>
          </a:prstGeom>
          <a:noFill/>
          <a:ln/>
        </p:spPr>
        <p:txBody>
          <a:bodyPr wrap="square" lIns="0" tIns="0" rIns="0" bIns="0" rtlCol="0" anchor="t"/>
          <a:lstStyle/>
          <a:p>
            <a:pPr algn="l" indent="0" marL="0">
              <a:buNone/>
            </a:pPr>
            <a:r>
              <a:rPr lang="en-US" sz="5400" b="1" dirty="0">
                <a:solidFill>
                  <a:schemeClr val="tx1"/>
                </a:solidFill>
              </a:rPr>
              <a:t>Agentic Resource Discovery</a:t>
            </a:r>
            <a:endParaRPr lang="en-US" sz="5400" dirty="0"/>
          </a:p>
        </p:txBody>
      </p:sp>
      <p:sp>
        <p:nvSpPr>
          <p:cNvPr id="6" name="Text 0"/>
          <p:cNvSpPr/>
          <p:nvPr>
            <p:ph idx="102" type="body" hasCustomPrompt="1"/>
          </p:nvPr>
        </p:nvSpPr>
        <p:spPr>
          <a:xfrm>
            <a:off x="548640" y="3611880"/>
            <a:ext cx="5486400" cy="914400"/>
          </a:xfrm>
          <a:prstGeom prst="rect">
            <a:avLst/>
          </a:prstGeom>
          <a:noFill/>
          <a:ln/>
        </p:spPr>
        <p:txBody>
          <a:bodyPr wrap="square" lIns="0" tIns="0" rIns="0" bIns="0" rtlCol="0" anchor="t"/>
          <a:lstStyle/>
          <a:p>
            <a:pPr indent="0" marL="0">
              <a:buNone/>
            </a:pPr>
            <a:r>
              <a:rPr lang="en-US" sz="2000" dirty="0">
                <a:solidFill>
                  <a:schemeClr val="tx2"/>
                </a:solidFill>
              </a:rPr>
              <a:t>How agents find the right tool, skill or agent at the moment they need it</a:t>
            </a:r>
            <a:endParaRPr lang="en-US" sz="2000" dirty="0"/>
          </a:p>
        </p:txBody>
      </p:sp>
      <p:sp>
        <p:nvSpPr>
          <p:cNvPr id="7" name="Text 0"/>
          <p:cNvSpPr/>
          <p:nvPr>
            <p:ph idx="103" type="body" hasCustomPrompt="1"/>
          </p:nvPr>
        </p:nvSpPr>
        <p:spPr>
          <a:xfrm>
            <a:off x="548640" y="5074920"/>
            <a:ext cx="5486400" cy="411480"/>
          </a:xfrm>
          <a:prstGeom prst="rect">
            <a:avLst/>
          </a:prstGeom>
          <a:noFill/>
          <a:ln/>
        </p:spPr>
        <p:txBody>
          <a:bodyPr wrap="square" lIns="0" tIns="0" rIns="0" bIns="0" rtlCol="0" anchor="t"/>
          <a:lstStyle/>
          <a:p>
            <a:pPr indent="0" marL="0">
              <a:buNone/>
            </a:pPr>
            <a:r>
              <a:rPr lang="en-US" sz="2200" b="1" dirty="0">
                <a:solidFill>
                  <a:schemeClr val="tx1"/>
                </a:solidFill>
              </a:rPr>
              <a:t>Shaan Narendran</a:t>
            </a:r>
            <a:endParaRPr lang="en-US" sz="2200" dirty="0"/>
          </a:p>
        </p:txBody>
      </p:sp>
      <p:sp>
        <p:nvSpPr>
          <p:cNvPr id="8" name="Text 0"/>
          <p:cNvSpPr/>
          <p:nvPr>
            <p:ph idx="104" type="body" hasCustomPrompt="1"/>
          </p:nvPr>
        </p:nvSpPr>
        <p:spPr>
          <a:xfrm>
            <a:off x="548640" y="5486400"/>
            <a:ext cx="5486400" cy="365760"/>
          </a:xfrm>
          <a:prstGeom prst="rect">
            <a:avLst/>
          </a:prstGeom>
          <a:noFill/>
          <a:ln/>
        </p:spPr>
        <p:txBody>
          <a:bodyPr wrap="square" lIns="0" tIns="0" rIns="0" bIns="0" rtlCol="0" anchor="t"/>
          <a:lstStyle/>
          <a:p>
            <a:pPr indent="0" marL="0">
              <a:buNone/>
            </a:pPr>
            <a:r>
              <a:rPr lang="en-US" sz="1600" dirty="0">
                <a:solidFill>
                  <a:schemeClr val="accent6"/>
                </a:solidFill>
              </a:rPr>
              <a:t>Open-source contributor</a:t>
            </a:r>
            <a:endParaRPr lang="en-US" sz="1600" dirty="0"/>
          </a:p>
        </p:txBody>
      </p:sp>
      <p:sp>
        <p:nvSpPr>
          <p:cNvPr id="9" name="Search card"/>
          <p:cNvSpPr/>
          <p:nvPr/>
        </p:nvSpPr>
        <p:spPr>
          <a:xfrm>
            <a:off x="6720840" y="1325880"/>
            <a:ext cx="4709160" cy="3977640"/>
          </a:xfrm>
          <a:prstGeom prst="roundRect">
            <a:avLst>
              <a:gd name="adj" fmla="val 3218"/>
            </a:avLst>
          </a:prstGeom>
          <a:solidFill>
            <a:schemeClr val="bg1"/>
          </a:solidFill>
          <a:ln/>
          <a:effectLst>
            <a:outerShdw sx="100000" sy="100000" kx="0" ky="0" algn="bl" rotWithShape="0" blurRad="127000" dist="38100" dir="5400000">
              <a:srgbClr val="474552">
                <a:alpha val="14000"/>
              </a:srgbClr>
            </a:outerShdw>
          </a:effectLst>
        </p:spPr>
      </p:sp>
      <p:sp>
        <p:nvSpPr>
          <p:cNvPr id="10" name="Search bar"/>
          <p:cNvSpPr/>
          <p:nvPr/>
        </p:nvSpPr>
        <p:spPr>
          <a:xfrm>
            <a:off x="6995160" y="1600200"/>
            <a:ext cx="4160520" cy="566928"/>
          </a:xfrm>
          <a:prstGeom prst="roundRect">
            <a:avLst>
              <a:gd name="adj" fmla="val 50000"/>
            </a:avLst>
          </a:prstGeom>
          <a:solidFill>
            <a:schemeClr val="bg2"/>
          </a:solidFill>
          <a:ln/>
        </p:spPr>
      </p:sp>
      <p:pic>
        <p:nvPicPr>
          <p:cNvPr id="11" name="Search icon" descr="preencoded.png">    </p:cNvPr>
          <p:cNvPicPr>
            <a:picLocks noChangeAspect="1"/>
          </p:cNvPicPr>
          <p:nvPr/>
        </p:nvPicPr>
        <p:blipFill>
          <a:blip r:embed="rId1"/>
          <a:stretch>
            <a:fillRect/>
          </a:stretch>
        </p:blipFill>
        <p:spPr>
          <a:xfrm>
            <a:off x="7196328" y="1737360"/>
            <a:ext cx="292608" cy="292608"/>
          </a:xfrm>
          <a:prstGeom prst="rect">
            <a:avLst/>
          </a:prstGeom>
        </p:spPr>
      </p:pic>
      <p:sp>
        <p:nvSpPr>
          <p:cNvPr id="12" name="Text 9"/>
          <p:cNvSpPr txBox="1"/>
          <p:nvPr/>
        </p:nvSpPr>
        <p:spPr>
          <a:xfrm>
            <a:off x="7635240" y="1600200"/>
            <a:ext cx="3429000" cy="566928"/>
          </a:xfrm>
          <a:prstGeom prst="rect">
            <a:avLst/>
          </a:prstGeom>
          <a:noFill/>
          <a:ln/>
        </p:spPr>
        <p:txBody>
          <a:bodyPr wrap="square" lIns="0" tIns="0" rIns="0" bIns="0" rtlCol="0" anchor="ctr"/>
          <a:lstStyle/>
          <a:p>
            <a:pPr indent="0" marL="0">
              <a:buNone/>
            </a:pPr>
            <a:r>
              <a:rPr lang="en-US" sz="1600" dirty="0">
                <a:solidFill>
                  <a:schemeClr val="tx1"/>
                </a:solidFill>
              </a:rPr>
              <a:t>find me a flight booking agent</a:t>
            </a:r>
            <a:endParaRPr lang="en-US" sz="1600" dirty="0"/>
          </a:p>
        </p:txBody>
      </p:sp>
      <p:sp>
        <p:nvSpPr>
          <p:cNvPr id="13" name="Result 1 circle"/>
          <p:cNvSpPr/>
          <p:nvPr/>
        </p:nvSpPr>
        <p:spPr>
          <a:xfrm>
            <a:off x="7040880" y="2532888"/>
            <a:ext cx="566928" cy="566928"/>
          </a:xfrm>
          <a:prstGeom prst="ellipse">
            <a:avLst/>
          </a:prstGeom>
          <a:solidFill>
            <a:schemeClr val="accent3"/>
          </a:solidFill>
          <a:ln/>
        </p:spPr>
      </p:sp>
      <p:pic>
        <p:nvPicPr>
          <p:cNvPr id="14" name="Result 1 icon" descr="preencoded.png">    </p:cNvPr>
          <p:cNvPicPr>
            <a:picLocks noChangeAspect="1"/>
          </p:cNvPicPr>
          <p:nvPr/>
        </p:nvPicPr>
        <p:blipFill>
          <a:blip r:embed="rId2"/>
          <a:stretch>
            <a:fillRect/>
          </a:stretch>
        </p:blipFill>
        <p:spPr>
          <a:xfrm>
            <a:off x="7182612" y="2674620"/>
            <a:ext cx="283464" cy="283464"/>
          </a:xfrm>
          <a:prstGeom prst="rect">
            <a:avLst/>
          </a:prstGeom>
        </p:spPr>
      </p:pic>
      <p:sp>
        <p:nvSpPr>
          <p:cNvPr id="15" name="Text 11"/>
          <p:cNvSpPr txBox="1"/>
          <p:nvPr/>
        </p:nvSpPr>
        <p:spPr>
          <a:xfrm>
            <a:off x="7818120" y="2514600"/>
            <a:ext cx="2377440" cy="347472"/>
          </a:xfrm>
          <a:prstGeom prst="rect">
            <a:avLst/>
          </a:prstGeom>
          <a:noFill/>
          <a:ln/>
        </p:spPr>
        <p:txBody>
          <a:bodyPr wrap="square" lIns="0" tIns="0" rIns="0" bIns="0" rtlCol="0" anchor="t"/>
          <a:lstStyle/>
          <a:p>
            <a:pPr indent="0" marL="0">
              <a:buNone/>
            </a:pPr>
            <a:r>
              <a:rPr lang="en-US" sz="1800" b="1" dirty="0">
                <a:solidFill>
                  <a:schemeClr val="tx1"/>
                </a:solidFill>
              </a:rPr>
              <a:t>Travel Booker</a:t>
            </a:r>
            <a:endParaRPr lang="en-US" sz="1800" dirty="0"/>
          </a:p>
        </p:txBody>
      </p:sp>
      <p:sp>
        <p:nvSpPr>
          <p:cNvPr id="16" name="Text 12"/>
          <p:cNvSpPr txBox="1"/>
          <p:nvPr/>
        </p:nvSpPr>
        <p:spPr>
          <a:xfrm>
            <a:off x="7818120" y="2862072"/>
            <a:ext cx="2377440" cy="274320"/>
          </a:xfrm>
          <a:prstGeom prst="rect">
            <a:avLst/>
          </a:prstGeom>
          <a:noFill/>
          <a:ln/>
        </p:spPr>
        <p:txBody>
          <a:bodyPr wrap="square" lIns="0" tIns="0" rIns="0" bIns="0" rtlCol="0" anchor="t"/>
          <a:lstStyle/>
          <a:p>
            <a:pPr indent="0" marL="0">
              <a:buNone/>
            </a:pPr>
            <a:r>
              <a:rPr lang="en-US" sz="1400" dirty="0">
                <a:solidFill>
                  <a:schemeClr val="accent6"/>
                </a:solidFill>
              </a:rPr>
              <a:t>A2A agent card</a:t>
            </a:r>
            <a:endParaRPr lang="en-US" sz="1400" dirty="0"/>
          </a:p>
        </p:txBody>
      </p:sp>
      <p:sp>
        <p:nvSpPr>
          <p:cNvPr id="17" name="Text 13"/>
          <p:cNvSpPr txBox="1"/>
          <p:nvPr/>
        </p:nvSpPr>
        <p:spPr>
          <a:xfrm>
            <a:off x="10287000" y="2496312"/>
            <a:ext cx="822960" cy="457200"/>
          </a:xfrm>
          <a:prstGeom prst="rect">
            <a:avLst/>
          </a:prstGeom>
          <a:noFill/>
          <a:ln/>
        </p:spPr>
        <p:txBody>
          <a:bodyPr wrap="square" lIns="0" tIns="0" rIns="0" bIns="0" rtlCol="0" anchor="t"/>
          <a:lstStyle/>
          <a:p>
            <a:pPr algn="r" indent="0" marL="0">
              <a:buNone/>
            </a:pPr>
            <a:r>
              <a:rPr lang="en-US" sz="2800" b="1" dirty="0">
                <a:solidFill>
                  <a:schemeClr val="accent2"/>
                </a:solidFill>
              </a:rPr>
              <a:t>95</a:t>
            </a:r>
            <a:endParaRPr lang="en-US" sz="2800" dirty="0"/>
          </a:p>
        </p:txBody>
      </p:sp>
      <p:sp>
        <p:nvSpPr>
          <p:cNvPr id="18" name="Text 14"/>
          <p:cNvSpPr txBox="1"/>
          <p:nvPr/>
        </p:nvSpPr>
        <p:spPr>
          <a:xfrm>
            <a:off x="10104120" y="2935224"/>
            <a:ext cx="1005840" cy="228600"/>
          </a:xfrm>
          <a:prstGeom prst="rect">
            <a:avLst/>
          </a:prstGeom>
          <a:noFill/>
          <a:ln/>
        </p:spPr>
        <p:txBody>
          <a:bodyPr wrap="square" lIns="0" tIns="0" rIns="0" bIns="0" rtlCol="0" anchor="t"/>
          <a:lstStyle/>
          <a:p>
            <a:pPr algn="r" indent="0" marL="0">
              <a:buNone/>
            </a:pPr>
            <a:r>
              <a:rPr lang="en-US" sz="1100" dirty="0">
                <a:solidFill>
                  <a:schemeClr val="accent6"/>
                </a:solidFill>
              </a:rPr>
              <a:t>relevance</a:t>
            </a:r>
            <a:endParaRPr lang="en-US" sz="1100" dirty="0"/>
          </a:p>
        </p:txBody>
      </p:sp>
      <p:sp>
        <p:nvSpPr>
          <p:cNvPr id="19" name="Result divider 1"/>
          <p:cNvSpPr/>
          <p:nvPr/>
        </p:nvSpPr>
        <p:spPr>
          <a:xfrm>
            <a:off x="6995160" y="3273552"/>
            <a:ext cx="4160520" cy="0"/>
          </a:xfrm>
          <a:prstGeom prst="line">
            <a:avLst/>
          </a:prstGeom>
          <a:noFill/>
          <a:ln w="12700">
            <a:solidFill>
              <a:srgbClr val="E4E1EE"/>
            </a:solidFill>
            <a:prstDash val="solid"/>
          </a:ln>
        </p:spPr>
      </p:sp>
      <p:sp>
        <p:nvSpPr>
          <p:cNvPr id="20" name="Result 2 circle"/>
          <p:cNvSpPr/>
          <p:nvPr/>
        </p:nvSpPr>
        <p:spPr>
          <a:xfrm>
            <a:off x="7040880" y="3447288"/>
            <a:ext cx="566928" cy="566928"/>
          </a:xfrm>
          <a:prstGeom prst="ellipse">
            <a:avLst/>
          </a:prstGeom>
          <a:solidFill>
            <a:schemeClr val="accent3"/>
          </a:solidFill>
          <a:ln/>
        </p:spPr>
      </p:sp>
      <p:pic>
        <p:nvPicPr>
          <p:cNvPr id="21" name="Result 2 icon" descr="preencoded.png">    </p:cNvPr>
          <p:cNvPicPr>
            <a:picLocks noChangeAspect="1"/>
          </p:cNvPicPr>
          <p:nvPr/>
        </p:nvPicPr>
        <p:blipFill>
          <a:blip r:embed="rId3"/>
          <a:stretch>
            <a:fillRect/>
          </a:stretch>
        </p:blipFill>
        <p:spPr>
          <a:xfrm>
            <a:off x="7182612" y="3589020"/>
            <a:ext cx="283464" cy="283464"/>
          </a:xfrm>
          <a:prstGeom prst="rect">
            <a:avLst/>
          </a:prstGeom>
        </p:spPr>
      </p:pic>
      <p:sp>
        <p:nvSpPr>
          <p:cNvPr id="22" name="Text 17"/>
          <p:cNvSpPr txBox="1"/>
          <p:nvPr/>
        </p:nvSpPr>
        <p:spPr>
          <a:xfrm>
            <a:off x="7818120" y="3429000"/>
            <a:ext cx="2377440" cy="347472"/>
          </a:xfrm>
          <a:prstGeom prst="rect">
            <a:avLst/>
          </a:prstGeom>
          <a:noFill/>
          <a:ln/>
        </p:spPr>
        <p:txBody>
          <a:bodyPr wrap="square" lIns="0" tIns="0" rIns="0" bIns="0" rtlCol="0" anchor="t"/>
          <a:lstStyle/>
          <a:p>
            <a:pPr indent="0" marL="0">
              <a:buNone/>
            </a:pPr>
            <a:r>
              <a:rPr lang="en-US" sz="1800" b="1" dirty="0">
                <a:solidFill>
                  <a:schemeClr val="tx1"/>
                </a:solidFill>
              </a:rPr>
              <a:t>Flight Status</a:t>
            </a:r>
            <a:endParaRPr lang="en-US" sz="1800" dirty="0"/>
          </a:p>
        </p:txBody>
      </p:sp>
      <p:sp>
        <p:nvSpPr>
          <p:cNvPr id="23" name="Text 18"/>
          <p:cNvSpPr txBox="1"/>
          <p:nvPr/>
        </p:nvSpPr>
        <p:spPr>
          <a:xfrm>
            <a:off x="7818120" y="3776472"/>
            <a:ext cx="2377440" cy="274320"/>
          </a:xfrm>
          <a:prstGeom prst="rect">
            <a:avLst/>
          </a:prstGeom>
          <a:noFill/>
          <a:ln/>
        </p:spPr>
        <p:txBody>
          <a:bodyPr wrap="square" lIns="0" tIns="0" rIns="0" bIns="0" rtlCol="0" anchor="t"/>
          <a:lstStyle/>
          <a:p>
            <a:pPr indent="0" marL="0">
              <a:buNone/>
            </a:pPr>
            <a:r>
              <a:rPr lang="en-US" sz="1400" dirty="0">
                <a:solidFill>
                  <a:schemeClr val="accent6"/>
                </a:solidFill>
              </a:rPr>
              <a:t>MCP server card</a:t>
            </a:r>
            <a:endParaRPr lang="en-US" sz="1400" dirty="0"/>
          </a:p>
        </p:txBody>
      </p:sp>
      <p:sp>
        <p:nvSpPr>
          <p:cNvPr id="24" name="Text 19"/>
          <p:cNvSpPr txBox="1"/>
          <p:nvPr/>
        </p:nvSpPr>
        <p:spPr>
          <a:xfrm>
            <a:off x="10287000" y="3410712"/>
            <a:ext cx="822960" cy="457200"/>
          </a:xfrm>
          <a:prstGeom prst="rect">
            <a:avLst/>
          </a:prstGeom>
          <a:noFill/>
          <a:ln/>
        </p:spPr>
        <p:txBody>
          <a:bodyPr wrap="square" lIns="0" tIns="0" rIns="0" bIns="0" rtlCol="0" anchor="t"/>
          <a:lstStyle/>
          <a:p>
            <a:pPr algn="r" indent="0" marL="0">
              <a:buNone/>
            </a:pPr>
            <a:r>
              <a:rPr lang="en-US" sz="2800" b="1" dirty="0">
                <a:solidFill>
                  <a:schemeClr val="accent2"/>
                </a:solidFill>
              </a:rPr>
              <a:t>88</a:t>
            </a:r>
            <a:endParaRPr lang="en-US" sz="2800" dirty="0"/>
          </a:p>
        </p:txBody>
      </p:sp>
      <p:sp>
        <p:nvSpPr>
          <p:cNvPr id="25" name="Text 20"/>
          <p:cNvSpPr txBox="1"/>
          <p:nvPr/>
        </p:nvSpPr>
        <p:spPr>
          <a:xfrm>
            <a:off x="10104120" y="3849624"/>
            <a:ext cx="1005840" cy="228600"/>
          </a:xfrm>
          <a:prstGeom prst="rect">
            <a:avLst/>
          </a:prstGeom>
          <a:noFill/>
          <a:ln/>
        </p:spPr>
        <p:txBody>
          <a:bodyPr wrap="square" lIns="0" tIns="0" rIns="0" bIns="0" rtlCol="0" anchor="t"/>
          <a:lstStyle/>
          <a:p>
            <a:pPr algn="r" indent="0" marL="0">
              <a:buNone/>
            </a:pPr>
            <a:r>
              <a:rPr lang="en-US" sz="1100" dirty="0">
                <a:solidFill>
                  <a:schemeClr val="accent6"/>
                </a:solidFill>
              </a:rPr>
              <a:t>relevance</a:t>
            </a:r>
            <a:endParaRPr lang="en-US" sz="1100" dirty="0"/>
          </a:p>
        </p:txBody>
      </p:sp>
      <p:sp>
        <p:nvSpPr>
          <p:cNvPr id="26" name="Result divider 2"/>
          <p:cNvSpPr/>
          <p:nvPr/>
        </p:nvSpPr>
        <p:spPr>
          <a:xfrm>
            <a:off x="6995160" y="4187952"/>
            <a:ext cx="4160520" cy="0"/>
          </a:xfrm>
          <a:prstGeom prst="line">
            <a:avLst/>
          </a:prstGeom>
          <a:noFill/>
          <a:ln w="12700">
            <a:solidFill>
              <a:srgbClr val="E4E1EE"/>
            </a:solidFill>
            <a:prstDash val="solid"/>
          </a:ln>
        </p:spPr>
      </p:sp>
      <p:sp>
        <p:nvSpPr>
          <p:cNvPr id="27" name="Result 3 circle"/>
          <p:cNvSpPr/>
          <p:nvPr/>
        </p:nvSpPr>
        <p:spPr>
          <a:xfrm>
            <a:off x="7040880" y="4361688"/>
            <a:ext cx="566928" cy="566928"/>
          </a:xfrm>
          <a:prstGeom prst="ellipse">
            <a:avLst/>
          </a:prstGeom>
          <a:solidFill>
            <a:schemeClr val="accent3"/>
          </a:solidFill>
          <a:ln/>
        </p:spPr>
      </p:sp>
      <p:pic>
        <p:nvPicPr>
          <p:cNvPr id="28" name="Result 3 icon" descr="preencoded.png">    </p:cNvPr>
          <p:cNvPicPr>
            <a:picLocks noChangeAspect="1"/>
          </p:cNvPicPr>
          <p:nvPr/>
        </p:nvPicPr>
        <p:blipFill>
          <a:blip r:embed="rId4"/>
          <a:stretch>
            <a:fillRect/>
          </a:stretch>
        </p:blipFill>
        <p:spPr>
          <a:xfrm>
            <a:off x="7182612" y="4503420"/>
            <a:ext cx="283464" cy="283464"/>
          </a:xfrm>
          <a:prstGeom prst="rect">
            <a:avLst/>
          </a:prstGeom>
        </p:spPr>
      </p:pic>
      <p:sp>
        <p:nvSpPr>
          <p:cNvPr id="29" name="Text 23"/>
          <p:cNvSpPr txBox="1"/>
          <p:nvPr/>
        </p:nvSpPr>
        <p:spPr>
          <a:xfrm>
            <a:off x="7818120" y="4343400"/>
            <a:ext cx="2377440" cy="347472"/>
          </a:xfrm>
          <a:prstGeom prst="rect">
            <a:avLst/>
          </a:prstGeom>
          <a:noFill/>
          <a:ln/>
        </p:spPr>
        <p:txBody>
          <a:bodyPr wrap="square" lIns="0" tIns="0" rIns="0" bIns="0" rtlCol="0" anchor="t"/>
          <a:lstStyle/>
          <a:p>
            <a:pPr indent="0" marL="0">
              <a:buNone/>
            </a:pPr>
            <a:r>
              <a:rPr lang="en-US" sz="1800" b="1" dirty="0">
                <a:solidFill>
                  <a:schemeClr val="tx1"/>
                </a:solidFill>
              </a:rPr>
              <a:t>trip-planner</a:t>
            </a:r>
            <a:endParaRPr lang="en-US" sz="1800" dirty="0"/>
          </a:p>
        </p:txBody>
      </p:sp>
      <p:sp>
        <p:nvSpPr>
          <p:cNvPr id="30" name="Text 24"/>
          <p:cNvSpPr txBox="1"/>
          <p:nvPr/>
        </p:nvSpPr>
        <p:spPr>
          <a:xfrm>
            <a:off x="7818120" y="4690872"/>
            <a:ext cx="2377440" cy="274320"/>
          </a:xfrm>
          <a:prstGeom prst="rect">
            <a:avLst/>
          </a:prstGeom>
          <a:noFill/>
          <a:ln/>
        </p:spPr>
        <p:txBody>
          <a:bodyPr wrap="square" lIns="0" tIns="0" rIns="0" bIns="0" rtlCol="0" anchor="t"/>
          <a:lstStyle/>
          <a:p>
            <a:pPr indent="0" marL="0">
              <a:buNone/>
            </a:pPr>
            <a:r>
              <a:rPr lang="en-US" sz="1400" dirty="0">
                <a:solidFill>
                  <a:schemeClr val="accent6"/>
                </a:solidFill>
              </a:rPr>
              <a:t>Agent skill</a:t>
            </a:r>
            <a:endParaRPr lang="en-US" sz="1400" dirty="0"/>
          </a:p>
        </p:txBody>
      </p:sp>
      <p:sp>
        <p:nvSpPr>
          <p:cNvPr id="31" name="Text 25"/>
          <p:cNvSpPr txBox="1"/>
          <p:nvPr/>
        </p:nvSpPr>
        <p:spPr>
          <a:xfrm>
            <a:off x="10287000" y="4325112"/>
            <a:ext cx="822960" cy="457200"/>
          </a:xfrm>
          <a:prstGeom prst="rect">
            <a:avLst/>
          </a:prstGeom>
          <a:noFill/>
          <a:ln/>
        </p:spPr>
        <p:txBody>
          <a:bodyPr wrap="square" lIns="0" tIns="0" rIns="0" bIns="0" rtlCol="0" anchor="t"/>
          <a:lstStyle/>
          <a:p>
            <a:pPr algn="r" indent="0" marL="0">
              <a:buNone/>
            </a:pPr>
            <a:r>
              <a:rPr lang="en-US" sz="2800" b="1" dirty="0">
                <a:solidFill>
                  <a:schemeClr val="accent2"/>
                </a:solidFill>
              </a:rPr>
              <a:t>74</a:t>
            </a:r>
            <a:endParaRPr lang="en-US" sz="2800" dirty="0"/>
          </a:p>
        </p:txBody>
      </p:sp>
      <p:sp>
        <p:nvSpPr>
          <p:cNvPr id="32" name="Text 26"/>
          <p:cNvSpPr txBox="1"/>
          <p:nvPr/>
        </p:nvSpPr>
        <p:spPr>
          <a:xfrm>
            <a:off x="10104120" y="4764024"/>
            <a:ext cx="1005840" cy="228600"/>
          </a:xfrm>
          <a:prstGeom prst="rect">
            <a:avLst/>
          </a:prstGeom>
          <a:noFill/>
          <a:ln/>
        </p:spPr>
        <p:txBody>
          <a:bodyPr wrap="square" lIns="0" tIns="0" rIns="0" bIns="0" rtlCol="0" anchor="t"/>
          <a:lstStyle/>
          <a:p>
            <a:pPr algn="r" indent="0" marL="0">
              <a:buNone/>
            </a:pPr>
            <a:r>
              <a:rPr lang="en-US" sz="1100" dirty="0">
                <a:solidFill>
                  <a:schemeClr val="accent6"/>
                </a:solidFill>
              </a:rPr>
              <a:t>relevance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AGENDA</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From “what exists?” to a working implementation</a:t>
            </a:r>
            <a:endParaRPr lang="en-US" sz="3200" dirty="0"/>
          </a:p>
        </p:txBody>
      </p:sp>
      <p:sp>
        <p:nvSpPr>
          <p:cNvPr id="4" name="Speaker card"/>
          <p:cNvSpPr/>
          <p:nvPr/>
        </p:nvSpPr>
        <p:spPr>
          <a:xfrm>
            <a:off x="548640" y="1965960"/>
            <a:ext cx="4160520" cy="4114800"/>
          </a:xfrm>
          <a:prstGeom prst="roundRect">
            <a:avLst>
              <a:gd name="adj" fmla="val 3111"/>
            </a:avLst>
          </a:prstGeom>
          <a:solidFill>
            <a:schemeClr val="bg2"/>
          </a:solidFill>
          <a:ln/>
        </p:spPr>
      </p:sp>
      <p:sp>
        <p:nvSpPr>
          <p:cNvPr id="5" name="Initials circle"/>
          <p:cNvSpPr/>
          <p:nvPr/>
        </p:nvSpPr>
        <p:spPr>
          <a:xfrm>
            <a:off x="868680" y="2286000"/>
            <a:ext cx="1005840" cy="1005840"/>
          </a:xfrm>
          <a:prstGeom prst="ellipse">
            <a:avLst/>
          </a:prstGeom>
          <a:solidFill>
            <a:schemeClr val="accent1"/>
          </a:solidFill>
          <a:ln/>
        </p:spPr>
      </p:sp>
      <p:sp>
        <p:nvSpPr>
          <p:cNvPr id="6" name="Text 4"/>
          <p:cNvSpPr txBox="1"/>
          <p:nvPr/>
        </p:nvSpPr>
        <p:spPr>
          <a:xfrm>
            <a:off x="868680" y="2286000"/>
            <a:ext cx="1005840" cy="1005840"/>
          </a:xfrm>
          <a:prstGeom prst="rect">
            <a:avLst/>
          </a:prstGeom>
          <a:noFill/>
          <a:ln/>
        </p:spPr>
        <p:txBody>
          <a:bodyPr wrap="square" lIns="0" tIns="0" rIns="0" bIns="0" rtlCol="0" anchor="ctr"/>
          <a:lstStyle/>
          <a:p>
            <a:pPr algn="ctr" indent="0" marL="0">
              <a:buNone/>
            </a:pPr>
            <a:r>
              <a:rPr lang="en-US" sz="3000" b="1" dirty="0">
                <a:solidFill>
                  <a:schemeClr val="tx1"/>
                </a:solidFill>
              </a:rPr>
              <a:t>SN</a:t>
            </a:r>
            <a:endParaRPr lang="en-US" sz="3000" dirty="0"/>
          </a:p>
        </p:txBody>
      </p:sp>
      <p:sp>
        <p:nvSpPr>
          <p:cNvPr id="7" name="Text 5"/>
          <p:cNvSpPr txBox="1"/>
          <p:nvPr/>
        </p:nvSpPr>
        <p:spPr>
          <a:xfrm>
            <a:off x="868680" y="3520440"/>
            <a:ext cx="3566160" cy="411480"/>
          </a:xfrm>
          <a:prstGeom prst="rect">
            <a:avLst/>
          </a:prstGeom>
          <a:noFill/>
          <a:ln/>
        </p:spPr>
        <p:txBody>
          <a:bodyPr wrap="square" lIns="0" tIns="0" rIns="0" bIns="0" rtlCol="0" anchor="t"/>
          <a:lstStyle/>
          <a:p>
            <a:pPr indent="0" marL="0">
              <a:buNone/>
            </a:pPr>
            <a:r>
              <a:rPr lang="en-US" sz="2200" b="1" dirty="0">
                <a:solidFill>
                  <a:schemeClr val="tx1"/>
                </a:solidFill>
              </a:rPr>
              <a:t>Shaan Narendran</a:t>
            </a:r>
            <a:endParaRPr lang="en-US" sz="2200" dirty="0"/>
          </a:p>
        </p:txBody>
      </p:sp>
      <p:sp>
        <p:nvSpPr>
          <p:cNvPr id="8" name="Text 6"/>
          <p:cNvSpPr txBox="1"/>
          <p:nvPr/>
        </p:nvSpPr>
        <p:spPr>
          <a:xfrm>
            <a:off x="868680" y="3931920"/>
            <a:ext cx="3566160" cy="347472"/>
          </a:xfrm>
          <a:prstGeom prst="rect">
            <a:avLst/>
          </a:prstGeom>
          <a:noFill/>
          <a:ln/>
        </p:spPr>
        <p:txBody>
          <a:bodyPr wrap="square" lIns="0" tIns="0" rIns="0" bIns="0" rtlCol="0" anchor="t"/>
          <a:lstStyle/>
          <a:p>
            <a:pPr indent="0" marL="0">
              <a:buNone/>
            </a:pPr>
            <a:r>
              <a:rPr lang="en-US" sz="1600" dirty="0">
                <a:solidFill>
                  <a:schemeClr val="accent6"/>
                </a:solidFill>
              </a:rPr>
              <a:t>Open-source contributor</a:t>
            </a:r>
            <a:endParaRPr lang="en-US" sz="1600" dirty="0"/>
          </a:p>
        </p:txBody>
      </p:sp>
      <p:sp>
        <p:nvSpPr>
          <p:cNvPr id="9" name="Text 7"/>
          <p:cNvSpPr txBox="1"/>
          <p:nvPr/>
        </p:nvSpPr>
        <p:spPr>
          <a:xfrm>
            <a:off x="868680" y="4434840"/>
            <a:ext cx="3566160" cy="1005840"/>
          </a:xfrm>
          <a:prstGeom prst="rect">
            <a:avLst/>
          </a:prstGeom>
          <a:noFill/>
          <a:ln/>
        </p:spPr>
        <p:txBody>
          <a:bodyPr wrap="square" lIns="0" tIns="0" rIns="0" bIns="0" rtlCol="0" anchor="t"/>
          <a:lstStyle/>
          <a:p>
            <a:pPr indent="0" marL="0">
              <a:buNone/>
            </a:pPr>
            <a:r>
              <a:rPr lang="en-US" sz="1500" dirty="0">
                <a:solidFill>
                  <a:schemeClr val="tx1"/>
                </a:solidFill>
              </a:rPr>
              <a:t>I built ARD support into Observal, an open-source registry and observability platform for AI coding agents.</a:t>
            </a:r>
            <a:endParaRPr lang="en-US" sz="1500" dirty="0"/>
          </a:p>
        </p:txBody>
      </p:sp>
      <p:sp>
        <p:nvSpPr>
          <p:cNvPr id="10" name="Text 8"/>
          <p:cNvSpPr txBox="1"/>
          <p:nvPr/>
        </p:nvSpPr>
        <p:spPr>
          <a:xfrm>
            <a:off x="868680" y="5532120"/>
            <a:ext cx="3566160" cy="320040"/>
          </a:xfrm>
          <a:prstGeom prst="rect">
            <a:avLst/>
          </a:prstGeom>
          <a:noFill/>
          <a:ln/>
        </p:spPr>
        <p:txBody>
          <a:bodyPr wrap="square" lIns="0" tIns="0" rIns="0" bIns="0" rtlCol="0" anchor="t"/>
          <a:lstStyle/>
          <a:p>
            <a:pPr indent="0" marL="0">
              <a:buNone/>
            </a:pPr>
            <a:r>
              <a:rPr lang="en-US" sz="1400" dirty="0">
                <a:solidFill>
                  <a:schemeClr val="accent2"/>
                </a:solidFill>
                <a:latin typeface="Consolas" pitchFamily="34" charset="0"/>
                <a:ea typeface="Consolas" pitchFamily="34" charset="-122"/>
                <a:cs typeface="Consolas" pitchFamily="34" charset="-120"/>
              </a:rPr>
              <a:t>github.com/ShaanNarendran</a:t>
            </a:r>
            <a:endParaRPr lang="en-US" sz="1400" dirty="0"/>
          </a:p>
        </p:txBody>
      </p:sp>
      <p:sp>
        <p:nvSpPr>
          <p:cNvPr id="11" name="Text 9"/>
          <p:cNvSpPr txBox="1"/>
          <p:nvPr/>
        </p:nvSpPr>
        <p:spPr>
          <a:xfrm>
            <a:off x="5120640" y="1965960"/>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01</a:t>
            </a:r>
            <a:endParaRPr lang="en-US" sz="3000" dirty="0"/>
          </a:p>
        </p:txBody>
      </p:sp>
      <p:sp>
        <p:nvSpPr>
          <p:cNvPr id="12" name="Text 10"/>
          <p:cNvSpPr txBox="1"/>
          <p:nvPr/>
        </p:nvSpPr>
        <p:spPr>
          <a:xfrm>
            <a:off x="5989320" y="1984248"/>
            <a:ext cx="5577840" cy="365760"/>
          </a:xfrm>
          <a:prstGeom prst="rect">
            <a:avLst/>
          </a:prstGeom>
          <a:noFill/>
          <a:ln/>
        </p:spPr>
        <p:txBody>
          <a:bodyPr wrap="square" lIns="0" tIns="0" rIns="0" bIns="0" rtlCol="0" anchor="t"/>
          <a:lstStyle/>
          <a:p>
            <a:pPr indent="0" marL="0">
              <a:buNone/>
            </a:pPr>
            <a:r>
              <a:rPr lang="en-US" sz="2000" b="1" dirty="0">
                <a:solidFill>
                  <a:schemeClr val="tx1"/>
                </a:solidFill>
              </a:rPr>
              <a:t>Why agents need discovery</a:t>
            </a:r>
            <a:endParaRPr lang="en-US" sz="2000" dirty="0"/>
          </a:p>
        </p:txBody>
      </p:sp>
      <p:sp>
        <p:nvSpPr>
          <p:cNvPr id="13" name="Text 11"/>
          <p:cNvSpPr txBox="1"/>
          <p:nvPr/>
        </p:nvSpPr>
        <p:spPr>
          <a:xfrm>
            <a:off x="5989320" y="2350008"/>
            <a:ext cx="5577840" cy="320040"/>
          </a:xfrm>
          <a:prstGeom prst="rect">
            <a:avLst/>
          </a:prstGeom>
          <a:noFill/>
          <a:ln/>
        </p:spPr>
        <p:txBody>
          <a:bodyPr wrap="square" lIns="0" tIns="0" rIns="0" bIns="0" rtlCol="0" anchor="t"/>
          <a:lstStyle/>
          <a:p>
            <a:pPr indent="0" marL="0">
              <a:buNone/>
            </a:pPr>
            <a:r>
              <a:rPr lang="en-US" sz="1500" dirty="0">
                <a:solidFill>
                  <a:schemeClr val="accent6"/>
                </a:solidFill>
              </a:rPr>
              <a:t>Wiring tools up in advance doesn’t scale</a:t>
            </a:r>
            <a:endParaRPr lang="en-US" sz="1500" dirty="0"/>
          </a:p>
        </p:txBody>
      </p:sp>
      <p:sp>
        <p:nvSpPr>
          <p:cNvPr id="14" name="Text 12"/>
          <p:cNvSpPr txBox="1"/>
          <p:nvPr/>
        </p:nvSpPr>
        <p:spPr>
          <a:xfrm>
            <a:off x="5120640" y="2807208"/>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02</a:t>
            </a:r>
            <a:endParaRPr lang="en-US" sz="3000" dirty="0"/>
          </a:p>
        </p:txBody>
      </p:sp>
      <p:sp>
        <p:nvSpPr>
          <p:cNvPr id="15" name="Text 13"/>
          <p:cNvSpPr txBox="1"/>
          <p:nvPr/>
        </p:nvSpPr>
        <p:spPr>
          <a:xfrm>
            <a:off x="5989320" y="2825496"/>
            <a:ext cx="5577840" cy="365760"/>
          </a:xfrm>
          <a:prstGeom prst="rect">
            <a:avLst/>
          </a:prstGeom>
          <a:noFill/>
          <a:ln/>
        </p:spPr>
        <p:txBody>
          <a:bodyPr wrap="square" lIns="0" tIns="0" rIns="0" bIns="0" rtlCol="0" anchor="t"/>
          <a:lstStyle/>
          <a:p>
            <a:pPr indent="0" marL="0">
              <a:buNone/>
            </a:pPr>
            <a:r>
              <a:rPr lang="en-US" sz="2000" b="1" dirty="0">
                <a:solidFill>
                  <a:schemeClr val="tx1"/>
                </a:solidFill>
              </a:rPr>
              <a:t>What ARD is</a:t>
            </a:r>
            <a:endParaRPr lang="en-US" sz="2000" dirty="0"/>
          </a:p>
        </p:txBody>
      </p:sp>
      <p:sp>
        <p:nvSpPr>
          <p:cNvPr id="16" name="Text 14"/>
          <p:cNvSpPr txBox="1"/>
          <p:nvPr/>
        </p:nvSpPr>
        <p:spPr>
          <a:xfrm>
            <a:off x="5989320" y="3191256"/>
            <a:ext cx="5577840" cy="320040"/>
          </a:xfrm>
          <a:prstGeom prst="rect">
            <a:avLst/>
          </a:prstGeom>
          <a:noFill/>
          <a:ln/>
        </p:spPr>
        <p:txBody>
          <a:bodyPr wrap="square" lIns="0" tIns="0" rIns="0" bIns="0" rtlCol="0" anchor="t"/>
          <a:lstStyle/>
          <a:p>
            <a:pPr indent="0" marL="0">
              <a:buNone/>
            </a:pPr>
            <a:r>
              <a:rPr lang="en-US" sz="1500" dirty="0">
                <a:solidFill>
                  <a:schemeClr val="accent6"/>
                </a:solidFill>
              </a:rPr>
              <a:t>Entries, identifiers, publishing, search, federation, trust</a:t>
            </a:r>
            <a:endParaRPr lang="en-US" sz="1500" dirty="0"/>
          </a:p>
        </p:txBody>
      </p:sp>
      <p:sp>
        <p:nvSpPr>
          <p:cNvPr id="17" name="Text 15"/>
          <p:cNvSpPr txBox="1"/>
          <p:nvPr/>
        </p:nvSpPr>
        <p:spPr>
          <a:xfrm>
            <a:off x="5120640" y="3648456"/>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03</a:t>
            </a:r>
            <a:endParaRPr lang="en-US" sz="3000" dirty="0"/>
          </a:p>
        </p:txBody>
      </p:sp>
      <p:sp>
        <p:nvSpPr>
          <p:cNvPr id="18" name="Text 16"/>
          <p:cNvSpPr txBox="1"/>
          <p:nvPr/>
        </p:nvSpPr>
        <p:spPr>
          <a:xfrm>
            <a:off x="5989320" y="3666744"/>
            <a:ext cx="5577840" cy="365760"/>
          </a:xfrm>
          <a:prstGeom prst="rect">
            <a:avLst/>
          </a:prstGeom>
          <a:noFill/>
          <a:ln/>
        </p:spPr>
        <p:txBody>
          <a:bodyPr wrap="square" lIns="0" tIns="0" rIns="0" bIns="0" rtlCol="0" anchor="t"/>
          <a:lstStyle/>
          <a:p>
            <a:pPr indent="0" marL="0">
              <a:buNone/>
            </a:pPr>
            <a:r>
              <a:rPr lang="en-US" sz="2000" b="1" dirty="0">
                <a:solidFill>
                  <a:schemeClr val="tx1"/>
                </a:solidFill>
              </a:rPr>
              <a:t>How I implemented it</a:t>
            </a:r>
            <a:endParaRPr lang="en-US" sz="2000" dirty="0"/>
          </a:p>
        </p:txBody>
      </p:sp>
      <p:sp>
        <p:nvSpPr>
          <p:cNvPr id="19" name="Text 17"/>
          <p:cNvSpPr txBox="1"/>
          <p:nvPr/>
        </p:nvSpPr>
        <p:spPr>
          <a:xfrm>
            <a:off x="5989320" y="4032504"/>
            <a:ext cx="5577840" cy="320040"/>
          </a:xfrm>
          <a:prstGeom prst="rect">
            <a:avLst/>
          </a:prstGeom>
          <a:noFill/>
          <a:ln/>
        </p:spPr>
        <p:txBody>
          <a:bodyPr wrap="square" lIns="0" tIns="0" rIns="0" bIns="0" rtlCol="0" anchor="t"/>
          <a:lstStyle/>
          <a:p>
            <a:pPr indent="0" marL="0">
              <a:buNone/>
            </a:pPr>
            <a:r>
              <a:rPr lang="en-US" sz="1500" dirty="0">
                <a:solidFill>
                  <a:schemeClr val="accent6"/>
                </a:solidFill>
              </a:rPr>
              <a:t>Adding ARD to Observal as an open-source contributor</a:t>
            </a:r>
            <a:endParaRPr lang="en-US" sz="1500" dirty="0"/>
          </a:p>
        </p:txBody>
      </p:sp>
      <p:sp>
        <p:nvSpPr>
          <p:cNvPr id="20" name="Text 18"/>
          <p:cNvSpPr txBox="1"/>
          <p:nvPr/>
        </p:nvSpPr>
        <p:spPr>
          <a:xfrm>
            <a:off x="5120640" y="4489704"/>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04</a:t>
            </a:r>
            <a:endParaRPr lang="en-US" sz="3000" dirty="0"/>
          </a:p>
        </p:txBody>
      </p:sp>
      <p:sp>
        <p:nvSpPr>
          <p:cNvPr id="21" name="Text 19"/>
          <p:cNvSpPr txBox="1"/>
          <p:nvPr/>
        </p:nvSpPr>
        <p:spPr>
          <a:xfrm>
            <a:off x="5989320" y="4507992"/>
            <a:ext cx="5577840" cy="365760"/>
          </a:xfrm>
          <a:prstGeom prst="rect">
            <a:avLst/>
          </a:prstGeom>
          <a:noFill/>
          <a:ln/>
        </p:spPr>
        <p:txBody>
          <a:bodyPr wrap="square" lIns="0" tIns="0" rIns="0" bIns="0" rtlCol="0" anchor="t"/>
          <a:lstStyle/>
          <a:p>
            <a:pPr indent="0" marL="0">
              <a:buNone/>
            </a:pPr>
            <a:r>
              <a:rPr lang="en-US" sz="2000" b="1" dirty="0">
                <a:solidFill>
                  <a:schemeClr val="tx1"/>
                </a:solidFill>
              </a:rPr>
              <a:t>What it unlocks</a:t>
            </a:r>
            <a:endParaRPr lang="en-US" sz="2000" dirty="0"/>
          </a:p>
        </p:txBody>
      </p:sp>
      <p:sp>
        <p:nvSpPr>
          <p:cNvPr id="22" name="Text 20"/>
          <p:cNvSpPr txBox="1"/>
          <p:nvPr/>
        </p:nvSpPr>
        <p:spPr>
          <a:xfrm>
            <a:off x="5989320" y="4873752"/>
            <a:ext cx="5577840" cy="320040"/>
          </a:xfrm>
          <a:prstGeom prst="rect">
            <a:avLst/>
          </a:prstGeom>
          <a:noFill/>
          <a:ln/>
        </p:spPr>
        <p:txBody>
          <a:bodyPr wrap="square" lIns="0" tIns="0" rIns="0" bIns="0" rtlCol="0" anchor="t"/>
          <a:lstStyle/>
          <a:p>
            <a:pPr indent="0" marL="0">
              <a:buNone/>
            </a:pPr>
            <a:r>
              <a:rPr lang="en-US" sz="1500" dirty="0">
                <a:solidFill>
                  <a:schemeClr val="accent6"/>
                </a:solidFill>
              </a:rPr>
              <a:t>Use cases, from one registry to the whole ecosystem</a:t>
            </a:r>
            <a:endParaRPr lang="en-US" sz="1500" dirty="0"/>
          </a:p>
        </p:txBody>
      </p:sp>
      <p:sp>
        <p:nvSpPr>
          <p:cNvPr id="23" name="Text 21"/>
          <p:cNvSpPr txBox="1"/>
          <p:nvPr/>
        </p:nvSpPr>
        <p:spPr>
          <a:xfrm>
            <a:off x="5120640" y="5330952"/>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05</a:t>
            </a:r>
            <a:endParaRPr lang="en-US" sz="3000" dirty="0"/>
          </a:p>
        </p:txBody>
      </p:sp>
      <p:sp>
        <p:nvSpPr>
          <p:cNvPr id="24" name="Text 22"/>
          <p:cNvSpPr txBox="1"/>
          <p:nvPr/>
        </p:nvSpPr>
        <p:spPr>
          <a:xfrm>
            <a:off x="5989320" y="5349240"/>
            <a:ext cx="5577840" cy="365760"/>
          </a:xfrm>
          <a:prstGeom prst="rect">
            <a:avLst/>
          </a:prstGeom>
          <a:noFill/>
          <a:ln/>
        </p:spPr>
        <p:txBody>
          <a:bodyPr wrap="square" lIns="0" tIns="0" rIns="0" bIns="0" rtlCol="0" anchor="t"/>
          <a:lstStyle/>
          <a:p>
            <a:pPr indent="0" marL="0">
              <a:buNone/>
            </a:pPr>
            <a:r>
              <a:rPr lang="en-US" sz="2000" b="1" dirty="0">
                <a:solidFill>
                  <a:schemeClr val="tx1"/>
                </a:solidFill>
              </a:rPr>
              <a:t>Try it yourself</a:t>
            </a:r>
            <a:endParaRPr lang="en-US" sz="2000" dirty="0"/>
          </a:p>
        </p:txBody>
      </p:sp>
      <p:sp>
        <p:nvSpPr>
          <p:cNvPr id="25" name="Text 23"/>
          <p:cNvSpPr txBox="1"/>
          <p:nvPr/>
        </p:nvSpPr>
        <p:spPr>
          <a:xfrm>
            <a:off x="5989320" y="5715000"/>
            <a:ext cx="5577840" cy="320040"/>
          </a:xfrm>
          <a:prstGeom prst="rect">
            <a:avLst/>
          </a:prstGeom>
          <a:noFill/>
          <a:ln/>
        </p:spPr>
        <p:txBody>
          <a:bodyPr wrap="square" lIns="0" tIns="0" rIns="0" bIns="0" rtlCol="0" anchor="t"/>
          <a:lstStyle/>
          <a:p>
            <a:pPr indent="0" marL="0">
              <a:buNone/>
            </a:pPr>
            <a:r>
              <a:rPr lang="en-US" sz="1500" dirty="0">
                <a:solidFill>
                  <a:schemeClr val="accent6"/>
                </a:solidFill>
              </a:rPr>
              <a:t>Publish an entry for your own project</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01  ·  WHY DISCOVERY</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Agents only use what someone wired up in advance</a:t>
            </a:r>
            <a:endParaRPr lang="en-US" sz="3200" dirty="0"/>
          </a:p>
        </p:txBody>
      </p:sp>
      <p:sp>
        <p:nvSpPr>
          <p:cNvPr id="4" name="Agent circle"/>
          <p:cNvSpPr/>
          <p:nvPr/>
        </p:nvSpPr>
        <p:spPr>
          <a:xfrm>
            <a:off x="822960" y="2971800"/>
            <a:ext cx="1371600" cy="1371600"/>
          </a:xfrm>
          <a:prstGeom prst="ellipse">
            <a:avLst/>
          </a:prstGeom>
          <a:solidFill>
            <a:schemeClr val="accent5"/>
          </a:solidFill>
          <a:ln/>
        </p:spPr>
      </p:sp>
      <p:pic>
        <p:nvPicPr>
          <p:cNvPr id="5" name="Agent icon" descr="preencoded.png">    </p:cNvPr>
          <p:cNvPicPr>
            <a:picLocks noChangeAspect="1"/>
          </p:cNvPicPr>
          <p:nvPr/>
        </p:nvPicPr>
        <p:blipFill>
          <a:blip r:embed="rId1"/>
          <a:stretch>
            <a:fillRect/>
          </a:stretch>
        </p:blipFill>
        <p:spPr>
          <a:xfrm>
            <a:off x="1165860" y="3314700"/>
            <a:ext cx="685800" cy="685800"/>
          </a:xfrm>
          <a:prstGeom prst="rect">
            <a:avLst/>
          </a:prstGeom>
        </p:spPr>
      </p:pic>
      <p:sp>
        <p:nvSpPr>
          <p:cNvPr id="6" name="Text 3"/>
          <p:cNvSpPr txBox="1"/>
          <p:nvPr/>
        </p:nvSpPr>
        <p:spPr>
          <a:xfrm>
            <a:off x="548640" y="4434840"/>
            <a:ext cx="1920240" cy="365760"/>
          </a:xfrm>
          <a:prstGeom prst="rect">
            <a:avLst/>
          </a:prstGeom>
          <a:noFill/>
          <a:ln/>
        </p:spPr>
        <p:txBody>
          <a:bodyPr wrap="square" lIns="0" tIns="0" rIns="0" bIns="0" rtlCol="0" anchor="t"/>
          <a:lstStyle/>
          <a:p>
            <a:pPr algn="ctr" indent="0" marL="0">
              <a:buNone/>
            </a:pPr>
            <a:r>
              <a:rPr lang="en-US" sz="1700" b="1" dirty="0">
                <a:solidFill>
                  <a:schemeClr val="tx1"/>
                </a:solidFill>
              </a:rPr>
              <a:t>Your agent</a:t>
            </a:r>
            <a:endParaRPr lang="en-US" sz="1700" dirty="0"/>
          </a:p>
        </p:txBody>
      </p:sp>
      <p:sp>
        <p:nvSpPr>
          <p:cNvPr id="7" name="Resource 0-0"/>
          <p:cNvSpPr/>
          <p:nvPr/>
        </p:nvSpPr>
        <p:spPr>
          <a:xfrm>
            <a:off x="3977640" y="2103120"/>
            <a:ext cx="402336" cy="402336"/>
          </a:xfrm>
          <a:prstGeom prst="roundRect">
            <a:avLst>
              <a:gd name="adj" fmla="val 18182"/>
            </a:avLst>
          </a:prstGeom>
          <a:solidFill>
            <a:schemeClr val="accent3">
              <a:alpha val="55000"/>
            </a:schemeClr>
          </a:solidFill>
          <a:ln/>
        </p:spPr>
      </p:sp>
      <p:sp>
        <p:nvSpPr>
          <p:cNvPr id="8" name="Resource 0-1"/>
          <p:cNvSpPr/>
          <p:nvPr/>
        </p:nvSpPr>
        <p:spPr>
          <a:xfrm>
            <a:off x="4727448" y="2103120"/>
            <a:ext cx="402336" cy="402336"/>
          </a:xfrm>
          <a:prstGeom prst="roundRect">
            <a:avLst>
              <a:gd name="adj" fmla="val 18182"/>
            </a:avLst>
          </a:prstGeom>
          <a:solidFill>
            <a:schemeClr val="accent1"/>
          </a:solidFill>
          <a:ln/>
        </p:spPr>
      </p:sp>
      <p:sp>
        <p:nvSpPr>
          <p:cNvPr id="9" name="Resource 0-2"/>
          <p:cNvSpPr/>
          <p:nvPr/>
        </p:nvSpPr>
        <p:spPr>
          <a:xfrm>
            <a:off x="5477256" y="2103120"/>
            <a:ext cx="402336" cy="402336"/>
          </a:xfrm>
          <a:prstGeom prst="roundRect">
            <a:avLst>
              <a:gd name="adj" fmla="val 18182"/>
            </a:avLst>
          </a:prstGeom>
          <a:solidFill>
            <a:schemeClr val="accent3">
              <a:alpha val="55000"/>
            </a:schemeClr>
          </a:solidFill>
          <a:ln/>
        </p:spPr>
      </p:sp>
      <p:sp>
        <p:nvSpPr>
          <p:cNvPr id="10" name="Resource 0-3"/>
          <p:cNvSpPr/>
          <p:nvPr/>
        </p:nvSpPr>
        <p:spPr>
          <a:xfrm>
            <a:off x="6227064" y="2103120"/>
            <a:ext cx="402336" cy="402336"/>
          </a:xfrm>
          <a:prstGeom prst="roundRect">
            <a:avLst>
              <a:gd name="adj" fmla="val 18182"/>
            </a:avLst>
          </a:prstGeom>
          <a:solidFill>
            <a:schemeClr val="accent3">
              <a:alpha val="55000"/>
            </a:schemeClr>
          </a:solidFill>
          <a:ln/>
        </p:spPr>
      </p:sp>
      <p:sp>
        <p:nvSpPr>
          <p:cNvPr id="11" name="Resource 0-4"/>
          <p:cNvSpPr/>
          <p:nvPr/>
        </p:nvSpPr>
        <p:spPr>
          <a:xfrm>
            <a:off x="6976872" y="2103120"/>
            <a:ext cx="402336" cy="402336"/>
          </a:xfrm>
          <a:prstGeom prst="roundRect">
            <a:avLst>
              <a:gd name="adj" fmla="val 18182"/>
            </a:avLst>
          </a:prstGeom>
          <a:solidFill>
            <a:schemeClr val="accent3">
              <a:alpha val="55000"/>
            </a:schemeClr>
          </a:solidFill>
          <a:ln/>
        </p:spPr>
      </p:sp>
      <p:sp>
        <p:nvSpPr>
          <p:cNvPr id="12" name="Resource 0-5"/>
          <p:cNvSpPr/>
          <p:nvPr/>
        </p:nvSpPr>
        <p:spPr>
          <a:xfrm>
            <a:off x="7726680" y="2103120"/>
            <a:ext cx="402336" cy="402336"/>
          </a:xfrm>
          <a:prstGeom prst="roundRect">
            <a:avLst>
              <a:gd name="adj" fmla="val 18182"/>
            </a:avLst>
          </a:prstGeom>
          <a:solidFill>
            <a:schemeClr val="accent3">
              <a:alpha val="55000"/>
            </a:schemeClr>
          </a:solidFill>
          <a:ln/>
        </p:spPr>
      </p:sp>
      <p:sp>
        <p:nvSpPr>
          <p:cNvPr id="13" name="Resource 0-6"/>
          <p:cNvSpPr/>
          <p:nvPr/>
        </p:nvSpPr>
        <p:spPr>
          <a:xfrm>
            <a:off x="8476488" y="2103120"/>
            <a:ext cx="402336" cy="402336"/>
          </a:xfrm>
          <a:prstGeom prst="roundRect">
            <a:avLst>
              <a:gd name="adj" fmla="val 18182"/>
            </a:avLst>
          </a:prstGeom>
          <a:solidFill>
            <a:schemeClr val="accent3">
              <a:alpha val="55000"/>
            </a:schemeClr>
          </a:solidFill>
          <a:ln/>
        </p:spPr>
      </p:sp>
      <p:sp>
        <p:nvSpPr>
          <p:cNvPr id="14" name="Resource 0-7"/>
          <p:cNvSpPr/>
          <p:nvPr/>
        </p:nvSpPr>
        <p:spPr>
          <a:xfrm>
            <a:off x="9226296" y="2103120"/>
            <a:ext cx="402336" cy="402336"/>
          </a:xfrm>
          <a:prstGeom prst="roundRect">
            <a:avLst>
              <a:gd name="adj" fmla="val 18182"/>
            </a:avLst>
          </a:prstGeom>
          <a:solidFill>
            <a:schemeClr val="accent3">
              <a:alpha val="55000"/>
            </a:schemeClr>
          </a:solidFill>
          <a:ln/>
        </p:spPr>
      </p:sp>
      <p:sp>
        <p:nvSpPr>
          <p:cNvPr id="15" name="Resource 0-8"/>
          <p:cNvSpPr/>
          <p:nvPr/>
        </p:nvSpPr>
        <p:spPr>
          <a:xfrm>
            <a:off x="9976104" y="2103120"/>
            <a:ext cx="402336" cy="402336"/>
          </a:xfrm>
          <a:prstGeom prst="roundRect">
            <a:avLst>
              <a:gd name="adj" fmla="val 18182"/>
            </a:avLst>
          </a:prstGeom>
          <a:solidFill>
            <a:schemeClr val="accent3">
              <a:alpha val="55000"/>
            </a:schemeClr>
          </a:solidFill>
          <a:ln/>
        </p:spPr>
      </p:sp>
      <p:sp>
        <p:nvSpPr>
          <p:cNvPr id="16" name="Resource 0-9"/>
          <p:cNvSpPr/>
          <p:nvPr/>
        </p:nvSpPr>
        <p:spPr>
          <a:xfrm>
            <a:off x="10725912" y="2103120"/>
            <a:ext cx="402336" cy="402336"/>
          </a:xfrm>
          <a:prstGeom prst="roundRect">
            <a:avLst>
              <a:gd name="adj" fmla="val 18182"/>
            </a:avLst>
          </a:prstGeom>
          <a:solidFill>
            <a:schemeClr val="accent3">
              <a:alpha val="55000"/>
            </a:schemeClr>
          </a:solidFill>
          <a:ln/>
        </p:spPr>
      </p:sp>
      <p:sp>
        <p:nvSpPr>
          <p:cNvPr id="17" name="Resource 1-0"/>
          <p:cNvSpPr/>
          <p:nvPr/>
        </p:nvSpPr>
        <p:spPr>
          <a:xfrm>
            <a:off x="3977640" y="2852928"/>
            <a:ext cx="402336" cy="402336"/>
          </a:xfrm>
          <a:prstGeom prst="roundRect">
            <a:avLst>
              <a:gd name="adj" fmla="val 18182"/>
            </a:avLst>
          </a:prstGeom>
          <a:solidFill>
            <a:schemeClr val="accent3">
              <a:alpha val="55000"/>
            </a:schemeClr>
          </a:solidFill>
          <a:ln/>
        </p:spPr>
      </p:sp>
      <p:sp>
        <p:nvSpPr>
          <p:cNvPr id="18" name="Resource 1-1"/>
          <p:cNvSpPr/>
          <p:nvPr/>
        </p:nvSpPr>
        <p:spPr>
          <a:xfrm>
            <a:off x="4727448" y="2852928"/>
            <a:ext cx="402336" cy="402336"/>
          </a:xfrm>
          <a:prstGeom prst="roundRect">
            <a:avLst>
              <a:gd name="adj" fmla="val 18182"/>
            </a:avLst>
          </a:prstGeom>
          <a:solidFill>
            <a:schemeClr val="accent3">
              <a:alpha val="55000"/>
            </a:schemeClr>
          </a:solidFill>
          <a:ln/>
        </p:spPr>
      </p:sp>
      <p:sp>
        <p:nvSpPr>
          <p:cNvPr id="19" name="Resource 1-2"/>
          <p:cNvSpPr/>
          <p:nvPr/>
        </p:nvSpPr>
        <p:spPr>
          <a:xfrm>
            <a:off x="5477256" y="2852928"/>
            <a:ext cx="402336" cy="402336"/>
          </a:xfrm>
          <a:prstGeom prst="roundRect">
            <a:avLst>
              <a:gd name="adj" fmla="val 18182"/>
            </a:avLst>
          </a:prstGeom>
          <a:solidFill>
            <a:schemeClr val="accent3">
              <a:alpha val="55000"/>
            </a:schemeClr>
          </a:solidFill>
          <a:ln/>
        </p:spPr>
      </p:sp>
      <p:sp>
        <p:nvSpPr>
          <p:cNvPr id="20" name="Resource 1-3"/>
          <p:cNvSpPr/>
          <p:nvPr/>
        </p:nvSpPr>
        <p:spPr>
          <a:xfrm>
            <a:off x="6227064" y="2852928"/>
            <a:ext cx="402336" cy="402336"/>
          </a:xfrm>
          <a:prstGeom prst="roundRect">
            <a:avLst>
              <a:gd name="adj" fmla="val 18182"/>
            </a:avLst>
          </a:prstGeom>
          <a:solidFill>
            <a:schemeClr val="accent1"/>
          </a:solidFill>
          <a:ln/>
        </p:spPr>
      </p:sp>
      <p:sp>
        <p:nvSpPr>
          <p:cNvPr id="21" name="Resource 1-4"/>
          <p:cNvSpPr/>
          <p:nvPr/>
        </p:nvSpPr>
        <p:spPr>
          <a:xfrm>
            <a:off x="6976872" y="2852928"/>
            <a:ext cx="402336" cy="402336"/>
          </a:xfrm>
          <a:prstGeom prst="roundRect">
            <a:avLst>
              <a:gd name="adj" fmla="val 18182"/>
            </a:avLst>
          </a:prstGeom>
          <a:solidFill>
            <a:schemeClr val="accent3">
              <a:alpha val="55000"/>
            </a:schemeClr>
          </a:solidFill>
          <a:ln/>
        </p:spPr>
      </p:sp>
      <p:sp>
        <p:nvSpPr>
          <p:cNvPr id="22" name="Resource 1-5"/>
          <p:cNvSpPr/>
          <p:nvPr/>
        </p:nvSpPr>
        <p:spPr>
          <a:xfrm>
            <a:off x="7726680" y="2852928"/>
            <a:ext cx="402336" cy="402336"/>
          </a:xfrm>
          <a:prstGeom prst="roundRect">
            <a:avLst>
              <a:gd name="adj" fmla="val 18182"/>
            </a:avLst>
          </a:prstGeom>
          <a:solidFill>
            <a:schemeClr val="accent3">
              <a:alpha val="55000"/>
            </a:schemeClr>
          </a:solidFill>
          <a:ln/>
        </p:spPr>
      </p:sp>
      <p:sp>
        <p:nvSpPr>
          <p:cNvPr id="23" name="Resource 1-6"/>
          <p:cNvSpPr/>
          <p:nvPr/>
        </p:nvSpPr>
        <p:spPr>
          <a:xfrm>
            <a:off x="8476488" y="2852928"/>
            <a:ext cx="402336" cy="402336"/>
          </a:xfrm>
          <a:prstGeom prst="roundRect">
            <a:avLst>
              <a:gd name="adj" fmla="val 18182"/>
            </a:avLst>
          </a:prstGeom>
          <a:solidFill>
            <a:schemeClr val="accent3">
              <a:alpha val="55000"/>
            </a:schemeClr>
          </a:solidFill>
          <a:ln/>
        </p:spPr>
      </p:sp>
      <p:sp>
        <p:nvSpPr>
          <p:cNvPr id="24" name="Resource 1-7"/>
          <p:cNvSpPr/>
          <p:nvPr/>
        </p:nvSpPr>
        <p:spPr>
          <a:xfrm>
            <a:off x="9226296" y="2852928"/>
            <a:ext cx="402336" cy="402336"/>
          </a:xfrm>
          <a:prstGeom prst="roundRect">
            <a:avLst>
              <a:gd name="adj" fmla="val 18182"/>
            </a:avLst>
          </a:prstGeom>
          <a:solidFill>
            <a:schemeClr val="accent3">
              <a:alpha val="55000"/>
            </a:schemeClr>
          </a:solidFill>
          <a:ln/>
        </p:spPr>
      </p:sp>
      <p:sp>
        <p:nvSpPr>
          <p:cNvPr id="25" name="Resource 1-8"/>
          <p:cNvSpPr/>
          <p:nvPr/>
        </p:nvSpPr>
        <p:spPr>
          <a:xfrm>
            <a:off x="9976104" y="2852928"/>
            <a:ext cx="402336" cy="402336"/>
          </a:xfrm>
          <a:prstGeom prst="roundRect">
            <a:avLst>
              <a:gd name="adj" fmla="val 18182"/>
            </a:avLst>
          </a:prstGeom>
          <a:solidFill>
            <a:schemeClr val="accent3">
              <a:alpha val="55000"/>
            </a:schemeClr>
          </a:solidFill>
          <a:ln/>
        </p:spPr>
      </p:sp>
      <p:sp>
        <p:nvSpPr>
          <p:cNvPr id="26" name="Resource 1-9"/>
          <p:cNvSpPr/>
          <p:nvPr/>
        </p:nvSpPr>
        <p:spPr>
          <a:xfrm>
            <a:off x="10725912" y="2852928"/>
            <a:ext cx="402336" cy="402336"/>
          </a:xfrm>
          <a:prstGeom prst="roundRect">
            <a:avLst>
              <a:gd name="adj" fmla="val 18182"/>
            </a:avLst>
          </a:prstGeom>
          <a:solidFill>
            <a:schemeClr val="accent3">
              <a:alpha val="55000"/>
            </a:schemeClr>
          </a:solidFill>
          <a:ln/>
        </p:spPr>
      </p:sp>
      <p:sp>
        <p:nvSpPr>
          <p:cNvPr id="27" name="Resource 2-0"/>
          <p:cNvSpPr/>
          <p:nvPr/>
        </p:nvSpPr>
        <p:spPr>
          <a:xfrm>
            <a:off x="3977640" y="3602736"/>
            <a:ext cx="402336" cy="402336"/>
          </a:xfrm>
          <a:prstGeom prst="roundRect">
            <a:avLst>
              <a:gd name="adj" fmla="val 18182"/>
            </a:avLst>
          </a:prstGeom>
          <a:solidFill>
            <a:schemeClr val="accent3">
              <a:alpha val="55000"/>
            </a:schemeClr>
          </a:solidFill>
          <a:ln/>
        </p:spPr>
      </p:sp>
      <p:sp>
        <p:nvSpPr>
          <p:cNvPr id="28" name="Resource 2-1"/>
          <p:cNvSpPr/>
          <p:nvPr/>
        </p:nvSpPr>
        <p:spPr>
          <a:xfrm>
            <a:off x="4727448" y="3602736"/>
            <a:ext cx="402336" cy="402336"/>
          </a:xfrm>
          <a:prstGeom prst="roundRect">
            <a:avLst>
              <a:gd name="adj" fmla="val 18182"/>
            </a:avLst>
          </a:prstGeom>
          <a:solidFill>
            <a:schemeClr val="accent3">
              <a:alpha val="55000"/>
            </a:schemeClr>
          </a:solidFill>
          <a:ln/>
        </p:spPr>
      </p:sp>
      <p:sp>
        <p:nvSpPr>
          <p:cNvPr id="29" name="Resource 2-2"/>
          <p:cNvSpPr/>
          <p:nvPr/>
        </p:nvSpPr>
        <p:spPr>
          <a:xfrm>
            <a:off x="5477256" y="3602736"/>
            <a:ext cx="402336" cy="402336"/>
          </a:xfrm>
          <a:prstGeom prst="roundRect">
            <a:avLst>
              <a:gd name="adj" fmla="val 18182"/>
            </a:avLst>
          </a:prstGeom>
          <a:solidFill>
            <a:schemeClr val="accent1"/>
          </a:solidFill>
          <a:ln/>
        </p:spPr>
      </p:sp>
      <p:sp>
        <p:nvSpPr>
          <p:cNvPr id="30" name="Resource 2-3"/>
          <p:cNvSpPr/>
          <p:nvPr/>
        </p:nvSpPr>
        <p:spPr>
          <a:xfrm>
            <a:off x="6227064" y="3602736"/>
            <a:ext cx="402336" cy="402336"/>
          </a:xfrm>
          <a:prstGeom prst="roundRect">
            <a:avLst>
              <a:gd name="adj" fmla="val 18182"/>
            </a:avLst>
          </a:prstGeom>
          <a:solidFill>
            <a:schemeClr val="accent3">
              <a:alpha val="55000"/>
            </a:schemeClr>
          </a:solidFill>
          <a:ln/>
        </p:spPr>
      </p:sp>
      <p:sp>
        <p:nvSpPr>
          <p:cNvPr id="31" name="Resource 2-4"/>
          <p:cNvSpPr/>
          <p:nvPr/>
        </p:nvSpPr>
        <p:spPr>
          <a:xfrm>
            <a:off x="6976872" y="3602736"/>
            <a:ext cx="402336" cy="402336"/>
          </a:xfrm>
          <a:prstGeom prst="roundRect">
            <a:avLst>
              <a:gd name="adj" fmla="val 18182"/>
            </a:avLst>
          </a:prstGeom>
          <a:solidFill>
            <a:schemeClr val="accent3">
              <a:alpha val="55000"/>
            </a:schemeClr>
          </a:solidFill>
          <a:ln/>
        </p:spPr>
      </p:sp>
      <p:sp>
        <p:nvSpPr>
          <p:cNvPr id="32" name="Resource 2-5"/>
          <p:cNvSpPr/>
          <p:nvPr/>
        </p:nvSpPr>
        <p:spPr>
          <a:xfrm>
            <a:off x="7726680" y="3602736"/>
            <a:ext cx="402336" cy="402336"/>
          </a:xfrm>
          <a:prstGeom prst="roundRect">
            <a:avLst>
              <a:gd name="adj" fmla="val 18182"/>
            </a:avLst>
          </a:prstGeom>
          <a:solidFill>
            <a:schemeClr val="accent3">
              <a:alpha val="55000"/>
            </a:schemeClr>
          </a:solidFill>
          <a:ln/>
        </p:spPr>
      </p:sp>
      <p:sp>
        <p:nvSpPr>
          <p:cNvPr id="33" name="Resource 2-6"/>
          <p:cNvSpPr/>
          <p:nvPr/>
        </p:nvSpPr>
        <p:spPr>
          <a:xfrm>
            <a:off x="8476488" y="3602736"/>
            <a:ext cx="402336" cy="402336"/>
          </a:xfrm>
          <a:prstGeom prst="roundRect">
            <a:avLst>
              <a:gd name="adj" fmla="val 18182"/>
            </a:avLst>
          </a:prstGeom>
          <a:solidFill>
            <a:schemeClr val="accent3">
              <a:alpha val="55000"/>
            </a:schemeClr>
          </a:solidFill>
          <a:ln/>
        </p:spPr>
      </p:sp>
      <p:sp>
        <p:nvSpPr>
          <p:cNvPr id="34" name="Resource 2-7"/>
          <p:cNvSpPr/>
          <p:nvPr/>
        </p:nvSpPr>
        <p:spPr>
          <a:xfrm>
            <a:off x="9226296" y="3602736"/>
            <a:ext cx="402336" cy="402336"/>
          </a:xfrm>
          <a:prstGeom prst="roundRect">
            <a:avLst>
              <a:gd name="adj" fmla="val 18182"/>
            </a:avLst>
          </a:prstGeom>
          <a:solidFill>
            <a:schemeClr val="accent3">
              <a:alpha val="55000"/>
            </a:schemeClr>
          </a:solidFill>
          <a:ln/>
        </p:spPr>
      </p:sp>
      <p:sp>
        <p:nvSpPr>
          <p:cNvPr id="35" name="Resource 2-8"/>
          <p:cNvSpPr/>
          <p:nvPr/>
        </p:nvSpPr>
        <p:spPr>
          <a:xfrm>
            <a:off x="9976104" y="3602736"/>
            <a:ext cx="402336" cy="402336"/>
          </a:xfrm>
          <a:prstGeom prst="roundRect">
            <a:avLst>
              <a:gd name="adj" fmla="val 18182"/>
            </a:avLst>
          </a:prstGeom>
          <a:solidFill>
            <a:schemeClr val="accent3">
              <a:alpha val="55000"/>
            </a:schemeClr>
          </a:solidFill>
          <a:ln/>
        </p:spPr>
      </p:sp>
      <p:sp>
        <p:nvSpPr>
          <p:cNvPr id="36" name="Resource 2-9"/>
          <p:cNvSpPr/>
          <p:nvPr/>
        </p:nvSpPr>
        <p:spPr>
          <a:xfrm>
            <a:off x="10725912" y="3602736"/>
            <a:ext cx="402336" cy="402336"/>
          </a:xfrm>
          <a:prstGeom prst="roundRect">
            <a:avLst>
              <a:gd name="adj" fmla="val 18182"/>
            </a:avLst>
          </a:prstGeom>
          <a:solidFill>
            <a:schemeClr val="accent3">
              <a:alpha val="55000"/>
            </a:schemeClr>
          </a:solidFill>
          <a:ln/>
        </p:spPr>
      </p:sp>
      <p:sp>
        <p:nvSpPr>
          <p:cNvPr id="37" name="Resource 3-0"/>
          <p:cNvSpPr/>
          <p:nvPr/>
        </p:nvSpPr>
        <p:spPr>
          <a:xfrm>
            <a:off x="3977640" y="4352544"/>
            <a:ext cx="402336" cy="402336"/>
          </a:xfrm>
          <a:prstGeom prst="roundRect">
            <a:avLst>
              <a:gd name="adj" fmla="val 18182"/>
            </a:avLst>
          </a:prstGeom>
          <a:solidFill>
            <a:schemeClr val="accent3">
              <a:alpha val="55000"/>
            </a:schemeClr>
          </a:solidFill>
          <a:ln/>
        </p:spPr>
      </p:sp>
      <p:sp>
        <p:nvSpPr>
          <p:cNvPr id="38" name="Resource 3-1"/>
          <p:cNvSpPr/>
          <p:nvPr/>
        </p:nvSpPr>
        <p:spPr>
          <a:xfrm>
            <a:off x="4727448" y="4352544"/>
            <a:ext cx="402336" cy="402336"/>
          </a:xfrm>
          <a:prstGeom prst="roundRect">
            <a:avLst>
              <a:gd name="adj" fmla="val 18182"/>
            </a:avLst>
          </a:prstGeom>
          <a:solidFill>
            <a:schemeClr val="accent3">
              <a:alpha val="55000"/>
            </a:schemeClr>
          </a:solidFill>
          <a:ln/>
        </p:spPr>
      </p:sp>
      <p:sp>
        <p:nvSpPr>
          <p:cNvPr id="39" name="Resource 3-2"/>
          <p:cNvSpPr/>
          <p:nvPr/>
        </p:nvSpPr>
        <p:spPr>
          <a:xfrm>
            <a:off x="5477256" y="4352544"/>
            <a:ext cx="402336" cy="402336"/>
          </a:xfrm>
          <a:prstGeom prst="roundRect">
            <a:avLst>
              <a:gd name="adj" fmla="val 18182"/>
            </a:avLst>
          </a:prstGeom>
          <a:solidFill>
            <a:schemeClr val="accent3">
              <a:alpha val="55000"/>
            </a:schemeClr>
          </a:solidFill>
          <a:ln/>
        </p:spPr>
      </p:sp>
      <p:sp>
        <p:nvSpPr>
          <p:cNvPr id="40" name="Resource 3-3"/>
          <p:cNvSpPr/>
          <p:nvPr/>
        </p:nvSpPr>
        <p:spPr>
          <a:xfrm>
            <a:off x="6227064" y="4352544"/>
            <a:ext cx="402336" cy="402336"/>
          </a:xfrm>
          <a:prstGeom prst="roundRect">
            <a:avLst>
              <a:gd name="adj" fmla="val 18182"/>
            </a:avLst>
          </a:prstGeom>
          <a:solidFill>
            <a:schemeClr val="accent3">
              <a:alpha val="55000"/>
            </a:schemeClr>
          </a:solidFill>
          <a:ln/>
        </p:spPr>
      </p:sp>
      <p:sp>
        <p:nvSpPr>
          <p:cNvPr id="41" name="Resource 3-4"/>
          <p:cNvSpPr/>
          <p:nvPr/>
        </p:nvSpPr>
        <p:spPr>
          <a:xfrm>
            <a:off x="6976872" y="4352544"/>
            <a:ext cx="402336" cy="402336"/>
          </a:xfrm>
          <a:prstGeom prst="roundRect">
            <a:avLst>
              <a:gd name="adj" fmla="val 18182"/>
            </a:avLst>
          </a:prstGeom>
          <a:solidFill>
            <a:schemeClr val="accent3">
              <a:alpha val="55000"/>
            </a:schemeClr>
          </a:solidFill>
          <a:ln/>
        </p:spPr>
      </p:sp>
      <p:sp>
        <p:nvSpPr>
          <p:cNvPr id="42" name="Resource 3-5"/>
          <p:cNvSpPr/>
          <p:nvPr/>
        </p:nvSpPr>
        <p:spPr>
          <a:xfrm>
            <a:off x="7726680" y="4352544"/>
            <a:ext cx="402336" cy="402336"/>
          </a:xfrm>
          <a:prstGeom prst="roundRect">
            <a:avLst>
              <a:gd name="adj" fmla="val 18182"/>
            </a:avLst>
          </a:prstGeom>
          <a:solidFill>
            <a:schemeClr val="accent3">
              <a:alpha val="55000"/>
            </a:schemeClr>
          </a:solidFill>
          <a:ln/>
        </p:spPr>
      </p:sp>
      <p:sp>
        <p:nvSpPr>
          <p:cNvPr id="43" name="Resource 3-6"/>
          <p:cNvSpPr/>
          <p:nvPr/>
        </p:nvSpPr>
        <p:spPr>
          <a:xfrm>
            <a:off x="8476488" y="4352544"/>
            <a:ext cx="402336" cy="402336"/>
          </a:xfrm>
          <a:prstGeom prst="roundRect">
            <a:avLst>
              <a:gd name="adj" fmla="val 18182"/>
            </a:avLst>
          </a:prstGeom>
          <a:solidFill>
            <a:schemeClr val="accent3">
              <a:alpha val="55000"/>
            </a:schemeClr>
          </a:solidFill>
          <a:ln/>
        </p:spPr>
      </p:sp>
      <p:sp>
        <p:nvSpPr>
          <p:cNvPr id="44" name="Resource 3-7"/>
          <p:cNvSpPr/>
          <p:nvPr/>
        </p:nvSpPr>
        <p:spPr>
          <a:xfrm>
            <a:off x="9226296" y="4352544"/>
            <a:ext cx="402336" cy="402336"/>
          </a:xfrm>
          <a:prstGeom prst="roundRect">
            <a:avLst>
              <a:gd name="adj" fmla="val 18182"/>
            </a:avLst>
          </a:prstGeom>
          <a:solidFill>
            <a:schemeClr val="accent3">
              <a:alpha val="55000"/>
            </a:schemeClr>
          </a:solidFill>
          <a:ln/>
        </p:spPr>
      </p:sp>
      <p:sp>
        <p:nvSpPr>
          <p:cNvPr id="45" name="Resource 3-8"/>
          <p:cNvSpPr/>
          <p:nvPr/>
        </p:nvSpPr>
        <p:spPr>
          <a:xfrm>
            <a:off x="9976104" y="4352544"/>
            <a:ext cx="402336" cy="402336"/>
          </a:xfrm>
          <a:prstGeom prst="roundRect">
            <a:avLst>
              <a:gd name="adj" fmla="val 18182"/>
            </a:avLst>
          </a:prstGeom>
          <a:solidFill>
            <a:schemeClr val="accent3">
              <a:alpha val="55000"/>
            </a:schemeClr>
          </a:solidFill>
          <a:ln/>
        </p:spPr>
      </p:sp>
      <p:sp>
        <p:nvSpPr>
          <p:cNvPr id="46" name="Resource 3-9"/>
          <p:cNvSpPr/>
          <p:nvPr/>
        </p:nvSpPr>
        <p:spPr>
          <a:xfrm>
            <a:off x="10725912" y="4352544"/>
            <a:ext cx="402336" cy="402336"/>
          </a:xfrm>
          <a:prstGeom prst="roundRect">
            <a:avLst>
              <a:gd name="adj" fmla="val 18182"/>
            </a:avLst>
          </a:prstGeom>
          <a:solidFill>
            <a:schemeClr val="accent3">
              <a:alpha val="55000"/>
            </a:schemeClr>
          </a:solidFill>
          <a:ln/>
        </p:spPr>
      </p:sp>
      <p:sp>
        <p:nvSpPr>
          <p:cNvPr id="47" name="Resource 4-0"/>
          <p:cNvSpPr/>
          <p:nvPr/>
        </p:nvSpPr>
        <p:spPr>
          <a:xfrm>
            <a:off x="3977640" y="5102352"/>
            <a:ext cx="402336" cy="402336"/>
          </a:xfrm>
          <a:prstGeom prst="roundRect">
            <a:avLst>
              <a:gd name="adj" fmla="val 18182"/>
            </a:avLst>
          </a:prstGeom>
          <a:solidFill>
            <a:schemeClr val="accent3">
              <a:alpha val="55000"/>
            </a:schemeClr>
          </a:solidFill>
          <a:ln/>
        </p:spPr>
      </p:sp>
      <p:sp>
        <p:nvSpPr>
          <p:cNvPr id="48" name="Resource 4-1"/>
          <p:cNvSpPr/>
          <p:nvPr/>
        </p:nvSpPr>
        <p:spPr>
          <a:xfrm>
            <a:off x="4727448" y="5102352"/>
            <a:ext cx="402336" cy="402336"/>
          </a:xfrm>
          <a:prstGeom prst="roundRect">
            <a:avLst>
              <a:gd name="adj" fmla="val 18182"/>
            </a:avLst>
          </a:prstGeom>
          <a:solidFill>
            <a:schemeClr val="accent3">
              <a:alpha val="55000"/>
            </a:schemeClr>
          </a:solidFill>
          <a:ln/>
        </p:spPr>
      </p:sp>
      <p:sp>
        <p:nvSpPr>
          <p:cNvPr id="49" name="Resource 4-2"/>
          <p:cNvSpPr/>
          <p:nvPr/>
        </p:nvSpPr>
        <p:spPr>
          <a:xfrm>
            <a:off x="5477256" y="5102352"/>
            <a:ext cx="402336" cy="402336"/>
          </a:xfrm>
          <a:prstGeom prst="roundRect">
            <a:avLst>
              <a:gd name="adj" fmla="val 18182"/>
            </a:avLst>
          </a:prstGeom>
          <a:solidFill>
            <a:schemeClr val="accent3">
              <a:alpha val="55000"/>
            </a:schemeClr>
          </a:solidFill>
          <a:ln/>
        </p:spPr>
      </p:sp>
      <p:sp>
        <p:nvSpPr>
          <p:cNvPr id="50" name="Resource 4-3"/>
          <p:cNvSpPr/>
          <p:nvPr/>
        </p:nvSpPr>
        <p:spPr>
          <a:xfrm>
            <a:off x="6227064" y="5102352"/>
            <a:ext cx="402336" cy="402336"/>
          </a:xfrm>
          <a:prstGeom prst="roundRect">
            <a:avLst>
              <a:gd name="adj" fmla="val 18182"/>
            </a:avLst>
          </a:prstGeom>
          <a:solidFill>
            <a:schemeClr val="accent3">
              <a:alpha val="55000"/>
            </a:schemeClr>
          </a:solidFill>
          <a:ln/>
        </p:spPr>
      </p:sp>
      <p:sp>
        <p:nvSpPr>
          <p:cNvPr id="51" name="Resource 4-4"/>
          <p:cNvSpPr/>
          <p:nvPr/>
        </p:nvSpPr>
        <p:spPr>
          <a:xfrm>
            <a:off x="6976872" y="5102352"/>
            <a:ext cx="402336" cy="402336"/>
          </a:xfrm>
          <a:prstGeom prst="roundRect">
            <a:avLst>
              <a:gd name="adj" fmla="val 18182"/>
            </a:avLst>
          </a:prstGeom>
          <a:solidFill>
            <a:schemeClr val="accent3">
              <a:alpha val="55000"/>
            </a:schemeClr>
          </a:solidFill>
          <a:ln/>
        </p:spPr>
      </p:sp>
      <p:sp>
        <p:nvSpPr>
          <p:cNvPr id="52" name="Resource 4-5"/>
          <p:cNvSpPr/>
          <p:nvPr/>
        </p:nvSpPr>
        <p:spPr>
          <a:xfrm>
            <a:off x="7726680" y="5102352"/>
            <a:ext cx="402336" cy="402336"/>
          </a:xfrm>
          <a:prstGeom prst="roundRect">
            <a:avLst>
              <a:gd name="adj" fmla="val 18182"/>
            </a:avLst>
          </a:prstGeom>
          <a:solidFill>
            <a:schemeClr val="accent3">
              <a:alpha val="55000"/>
            </a:schemeClr>
          </a:solidFill>
          <a:ln/>
        </p:spPr>
      </p:sp>
      <p:sp>
        <p:nvSpPr>
          <p:cNvPr id="53" name="Resource 4-6"/>
          <p:cNvSpPr/>
          <p:nvPr/>
        </p:nvSpPr>
        <p:spPr>
          <a:xfrm>
            <a:off x="8476488" y="5102352"/>
            <a:ext cx="402336" cy="402336"/>
          </a:xfrm>
          <a:prstGeom prst="roundRect">
            <a:avLst>
              <a:gd name="adj" fmla="val 18182"/>
            </a:avLst>
          </a:prstGeom>
          <a:solidFill>
            <a:schemeClr val="accent3">
              <a:alpha val="55000"/>
            </a:schemeClr>
          </a:solidFill>
          <a:ln/>
        </p:spPr>
      </p:sp>
      <p:sp>
        <p:nvSpPr>
          <p:cNvPr id="54" name="Resource 4-7"/>
          <p:cNvSpPr/>
          <p:nvPr/>
        </p:nvSpPr>
        <p:spPr>
          <a:xfrm>
            <a:off x="9226296" y="5102352"/>
            <a:ext cx="402336" cy="402336"/>
          </a:xfrm>
          <a:prstGeom prst="roundRect">
            <a:avLst>
              <a:gd name="adj" fmla="val 18182"/>
            </a:avLst>
          </a:prstGeom>
          <a:solidFill>
            <a:schemeClr val="accent3">
              <a:alpha val="55000"/>
            </a:schemeClr>
          </a:solidFill>
          <a:ln/>
        </p:spPr>
      </p:sp>
      <p:sp>
        <p:nvSpPr>
          <p:cNvPr id="55" name="Resource 4-8"/>
          <p:cNvSpPr/>
          <p:nvPr/>
        </p:nvSpPr>
        <p:spPr>
          <a:xfrm>
            <a:off x="9976104" y="5102352"/>
            <a:ext cx="402336" cy="402336"/>
          </a:xfrm>
          <a:prstGeom prst="roundRect">
            <a:avLst>
              <a:gd name="adj" fmla="val 18182"/>
            </a:avLst>
          </a:prstGeom>
          <a:solidFill>
            <a:schemeClr val="accent3">
              <a:alpha val="55000"/>
            </a:schemeClr>
          </a:solidFill>
          <a:ln/>
        </p:spPr>
      </p:sp>
      <p:sp>
        <p:nvSpPr>
          <p:cNvPr id="56" name="Resource 4-9"/>
          <p:cNvSpPr/>
          <p:nvPr/>
        </p:nvSpPr>
        <p:spPr>
          <a:xfrm>
            <a:off x="10725912" y="5102352"/>
            <a:ext cx="402336" cy="402336"/>
          </a:xfrm>
          <a:prstGeom prst="roundRect">
            <a:avLst>
              <a:gd name="adj" fmla="val 18182"/>
            </a:avLst>
          </a:prstGeom>
          <a:solidFill>
            <a:schemeClr val="accent3">
              <a:alpha val="55000"/>
            </a:schemeClr>
          </a:solidFill>
          <a:ln/>
        </p:spPr>
      </p:sp>
      <p:sp>
        <p:nvSpPr>
          <p:cNvPr id="57" name="Connection 1"/>
          <p:cNvSpPr/>
          <p:nvPr/>
        </p:nvSpPr>
        <p:spPr>
          <a:xfrm flipV="1">
            <a:off x="2240280" y="2304288"/>
            <a:ext cx="2487168" cy="1353312"/>
          </a:xfrm>
          <a:prstGeom prst="line">
            <a:avLst/>
          </a:prstGeom>
          <a:noFill/>
          <a:ln w="25400">
            <a:solidFill>
              <a:srgbClr val="E8601F"/>
            </a:solidFill>
            <a:prstDash val="solid"/>
          </a:ln>
        </p:spPr>
      </p:sp>
      <p:sp>
        <p:nvSpPr>
          <p:cNvPr id="58" name="Connection 2"/>
          <p:cNvSpPr/>
          <p:nvPr/>
        </p:nvSpPr>
        <p:spPr>
          <a:xfrm flipV="1">
            <a:off x="2240280" y="3054096"/>
            <a:ext cx="3986784" cy="603504"/>
          </a:xfrm>
          <a:prstGeom prst="line">
            <a:avLst/>
          </a:prstGeom>
          <a:noFill/>
          <a:ln w="25400">
            <a:solidFill>
              <a:srgbClr val="E8601F"/>
            </a:solidFill>
            <a:prstDash val="solid"/>
          </a:ln>
        </p:spPr>
      </p:sp>
      <p:sp>
        <p:nvSpPr>
          <p:cNvPr id="59" name="Connection 3"/>
          <p:cNvSpPr/>
          <p:nvPr/>
        </p:nvSpPr>
        <p:spPr>
          <a:xfrm>
            <a:off x="2240280" y="3657600"/>
            <a:ext cx="3236976" cy="146304"/>
          </a:xfrm>
          <a:prstGeom prst="line">
            <a:avLst/>
          </a:prstGeom>
          <a:noFill/>
          <a:ln w="25400">
            <a:solidFill>
              <a:srgbClr val="E8601F"/>
            </a:solidFill>
            <a:prstDash val="solid"/>
          </a:ln>
        </p:spPr>
      </p:sp>
      <p:sp>
        <p:nvSpPr>
          <p:cNvPr id="60" name="Legend connected"/>
          <p:cNvSpPr/>
          <p:nvPr/>
        </p:nvSpPr>
        <p:spPr>
          <a:xfrm>
            <a:off x="594360" y="5120640"/>
            <a:ext cx="256032" cy="256032"/>
          </a:xfrm>
          <a:prstGeom prst="roundRect">
            <a:avLst>
              <a:gd name="adj" fmla="val 17857"/>
            </a:avLst>
          </a:prstGeom>
          <a:solidFill>
            <a:schemeClr val="accent1"/>
          </a:solidFill>
          <a:ln/>
        </p:spPr>
      </p:sp>
      <p:sp>
        <p:nvSpPr>
          <p:cNvPr id="61" name="Text 58"/>
          <p:cNvSpPr txBox="1"/>
          <p:nvPr/>
        </p:nvSpPr>
        <p:spPr>
          <a:xfrm>
            <a:off x="960120" y="5074920"/>
            <a:ext cx="2286000" cy="347472"/>
          </a:xfrm>
          <a:prstGeom prst="rect">
            <a:avLst/>
          </a:prstGeom>
          <a:noFill/>
          <a:ln/>
        </p:spPr>
        <p:txBody>
          <a:bodyPr wrap="square" lIns="0" tIns="0" rIns="0" bIns="0" rtlCol="0" anchor="ctr"/>
          <a:lstStyle/>
          <a:p>
            <a:pPr indent="0" marL="0">
              <a:buNone/>
            </a:pPr>
            <a:r>
              <a:rPr lang="en-US" sz="1400" dirty="0">
                <a:solidFill>
                  <a:schemeClr val="tx1"/>
                </a:solidFill>
              </a:rPr>
              <a:t>Connected</a:t>
            </a:r>
            <a:endParaRPr lang="en-US" sz="1400" dirty="0"/>
          </a:p>
        </p:txBody>
      </p:sp>
      <p:sp>
        <p:nvSpPr>
          <p:cNvPr id="62" name="Legend invisible"/>
          <p:cNvSpPr/>
          <p:nvPr/>
        </p:nvSpPr>
        <p:spPr>
          <a:xfrm>
            <a:off x="594360" y="5532120"/>
            <a:ext cx="256032" cy="256032"/>
          </a:xfrm>
          <a:prstGeom prst="roundRect">
            <a:avLst>
              <a:gd name="adj" fmla="val 17857"/>
            </a:avLst>
          </a:prstGeom>
          <a:solidFill>
            <a:schemeClr val="accent3">
              <a:alpha val="55000"/>
            </a:schemeClr>
          </a:solidFill>
          <a:ln/>
        </p:spPr>
      </p:sp>
      <p:sp>
        <p:nvSpPr>
          <p:cNvPr id="63" name="Text 60"/>
          <p:cNvSpPr txBox="1"/>
          <p:nvPr/>
        </p:nvSpPr>
        <p:spPr>
          <a:xfrm>
            <a:off x="960120" y="5486400"/>
            <a:ext cx="2377440" cy="347472"/>
          </a:xfrm>
          <a:prstGeom prst="rect">
            <a:avLst/>
          </a:prstGeom>
          <a:noFill/>
          <a:ln/>
        </p:spPr>
        <p:txBody>
          <a:bodyPr wrap="square" lIns="0" tIns="0" rIns="0" bIns="0" rtlCol="0" anchor="ctr"/>
          <a:lstStyle/>
          <a:p>
            <a:pPr indent="0" marL="0">
              <a:buNone/>
            </a:pPr>
            <a:r>
              <a:rPr lang="en-US" sz="1400" dirty="0">
                <a:solidFill>
                  <a:schemeClr val="tx1"/>
                </a:solidFill>
              </a:rPr>
              <a:t>Exists, but invisible</a:t>
            </a:r>
            <a:endParaRPr lang="en-US" sz="1400" dirty="0"/>
          </a:p>
        </p:txBody>
      </p:sp>
      <p:sp>
        <p:nvSpPr>
          <p:cNvPr id="64" name="Text 61"/>
          <p:cNvSpPr txBox="1"/>
          <p:nvPr/>
        </p:nvSpPr>
        <p:spPr>
          <a:xfrm>
            <a:off x="3977640" y="5897880"/>
            <a:ext cx="7589520" cy="411480"/>
          </a:xfrm>
          <a:prstGeom prst="rect">
            <a:avLst/>
          </a:prstGeom>
          <a:noFill/>
          <a:ln/>
        </p:spPr>
        <p:txBody>
          <a:bodyPr wrap="square" lIns="0" tIns="0" rIns="0" bIns="0" rtlCol="0" anchor="t"/>
          <a:lstStyle/>
          <a:p>
            <a:pPr indent="0" marL="0">
              <a:buNone/>
            </a:pPr>
            <a:r>
              <a:rPr lang="en-US" sz="1500" dirty="0">
                <a:solidFill>
                  <a:schemeClr val="accent6"/>
                </a:solidFill>
              </a:rPr>
              <a:t>Thousands of MCP servers, A2A agents and skills exist. The agent sees only the few it was configured with.</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01  ·  WHY DISCOVERY</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Loading every tool into the prompt doesn’t scale</a:t>
            </a:r>
            <a:endParaRPr lang="en-US" sz="3200" dirty="0"/>
          </a:p>
        </p:txBody>
      </p:sp>
      <p:sp>
        <p:nvSpPr>
          <p:cNvPr id="4" name="Text 2"/>
          <p:cNvSpPr txBox="1"/>
          <p:nvPr/>
        </p:nvSpPr>
        <p:spPr>
          <a:xfrm>
            <a:off x="548640" y="1965960"/>
            <a:ext cx="5394960" cy="365760"/>
          </a:xfrm>
          <a:prstGeom prst="rect">
            <a:avLst/>
          </a:prstGeom>
          <a:noFill/>
          <a:ln/>
        </p:spPr>
        <p:txBody>
          <a:bodyPr wrap="square" lIns="0" tIns="0" rIns="0" bIns="0" rtlCol="0" anchor="t"/>
          <a:lstStyle/>
          <a:p>
            <a:pPr indent="0" marL="0">
              <a:buNone/>
            </a:pPr>
            <a:r>
              <a:rPr lang="en-US" sz="1800" b="1" dirty="0">
                <a:solidFill>
                  <a:schemeClr val="tx1"/>
                </a:solidFill>
              </a:rPr>
              <a:t>Today: everything goes into context</a:t>
            </a:r>
            <a:endParaRPr lang="en-US" sz="1800" dirty="0"/>
          </a:p>
        </p:txBody>
      </p:sp>
      <p:sp>
        <p:nvSpPr>
          <p:cNvPr id="5" name="Context window today"/>
          <p:cNvSpPr/>
          <p:nvPr/>
        </p:nvSpPr>
        <p:spPr>
          <a:xfrm>
            <a:off x="548640" y="2468880"/>
            <a:ext cx="5120640" cy="2971800"/>
          </a:xfrm>
          <a:prstGeom prst="roundRect">
            <a:avLst>
              <a:gd name="adj" fmla="val 2462"/>
            </a:avLst>
          </a:prstGeom>
          <a:solidFill>
            <a:schemeClr val="bg1"/>
          </a:solidFill>
          <a:ln w="15875">
            <a:solidFill>
              <a:srgbClr val="474552"/>
            </a:solidFill>
            <a:prstDash val="solid"/>
          </a:ln>
        </p:spPr>
      </p:sp>
      <p:sp>
        <p:nvSpPr>
          <p:cNvPr id="6" name="Task bar left"/>
          <p:cNvSpPr/>
          <p:nvPr/>
        </p:nvSpPr>
        <p:spPr>
          <a:xfrm>
            <a:off x="777240" y="2651760"/>
            <a:ext cx="4663440" cy="219456"/>
          </a:xfrm>
          <a:prstGeom prst="roundRect">
            <a:avLst>
              <a:gd name="adj" fmla="val 16667"/>
            </a:avLst>
          </a:prstGeom>
          <a:solidFill>
            <a:schemeClr val="accent1"/>
          </a:solidFill>
          <a:ln/>
        </p:spPr>
      </p:sp>
      <p:sp>
        <p:nvSpPr>
          <p:cNvPr id="7" name="Description 1"/>
          <p:cNvSpPr/>
          <p:nvPr/>
        </p:nvSpPr>
        <p:spPr>
          <a:xfrm>
            <a:off x="777240" y="2962656"/>
            <a:ext cx="4663440" cy="201168"/>
          </a:xfrm>
          <a:prstGeom prst="roundRect">
            <a:avLst>
              <a:gd name="adj" fmla="val 18182"/>
            </a:avLst>
          </a:prstGeom>
          <a:solidFill>
            <a:schemeClr val="accent3">
              <a:alpha val="80000"/>
            </a:schemeClr>
          </a:solidFill>
          <a:ln/>
        </p:spPr>
      </p:sp>
      <p:sp>
        <p:nvSpPr>
          <p:cNvPr id="8" name="Description 2"/>
          <p:cNvSpPr/>
          <p:nvPr/>
        </p:nvSpPr>
        <p:spPr>
          <a:xfrm>
            <a:off x="777240" y="3236976"/>
            <a:ext cx="4114800" cy="201168"/>
          </a:xfrm>
          <a:prstGeom prst="roundRect">
            <a:avLst>
              <a:gd name="adj" fmla="val 18182"/>
            </a:avLst>
          </a:prstGeom>
          <a:solidFill>
            <a:schemeClr val="accent3">
              <a:alpha val="80000"/>
            </a:schemeClr>
          </a:solidFill>
          <a:ln/>
        </p:spPr>
      </p:sp>
      <p:sp>
        <p:nvSpPr>
          <p:cNvPr id="9" name="Description 3"/>
          <p:cNvSpPr/>
          <p:nvPr/>
        </p:nvSpPr>
        <p:spPr>
          <a:xfrm>
            <a:off x="777240" y="3511296"/>
            <a:ext cx="3566160" cy="201168"/>
          </a:xfrm>
          <a:prstGeom prst="roundRect">
            <a:avLst>
              <a:gd name="adj" fmla="val 18182"/>
            </a:avLst>
          </a:prstGeom>
          <a:solidFill>
            <a:schemeClr val="accent3">
              <a:alpha val="80000"/>
            </a:schemeClr>
          </a:solidFill>
          <a:ln/>
        </p:spPr>
      </p:sp>
      <p:sp>
        <p:nvSpPr>
          <p:cNvPr id="10" name="Description 4"/>
          <p:cNvSpPr/>
          <p:nvPr/>
        </p:nvSpPr>
        <p:spPr>
          <a:xfrm>
            <a:off x="777240" y="3785616"/>
            <a:ext cx="4663440" cy="201168"/>
          </a:xfrm>
          <a:prstGeom prst="roundRect">
            <a:avLst>
              <a:gd name="adj" fmla="val 18182"/>
            </a:avLst>
          </a:prstGeom>
          <a:solidFill>
            <a:schemeClr val="accent3">
              <a:alpha val="80000"/>
            </a:schemeClr>
          </a:solidFill>
          <a:ln/>
        </p:spPr>
      </p:sp>
      <p:sp>
        <p:nvSpPr>
          <p:cNvPr id="11" name="Description 5"/>
          <p:cNvSpPr/>
          <p:nvPr/>
        </p:nvSpPr>
        <p:spPr>
          <a:xfrm>
            <a:off x="777240" y="4059936"/>
            <a:ext cx="4114800" cy="201168"/>
          </a:xfrm>
          <a:prstGeom prst="roundRect">
            <a:avLst>
              <a:gd name="adj" fmla="val 18182"/>
            </a:avLst>
          </a:prstGeom>
          <a:solidFill>
            <a:schemeClr val="accent3">
              <a:alpha val="80000"/>
            </a:schemeClr>
          </a:solidFill>
          <a:ln/>
        </p:spPr>
      </p:sp>
      <p:sp>
        <p:nvSpPr>
          <p:cNvPr id="12" name="Description 6"/>
          <p:cNvSpPr/>
          <p:nvPr/>
        </p:nvSpPr>
        <p:spPr>
          <a:xfrm>
            <a:off x="777240" y="4334256"/>
            <a:ext cx="3566160" cy="201168"/>
          </a:xfrm>
          <a:prstGeom prst="roundRect">
            <a:avLst>
              <a:gd name="adj" fmla="val 18182"/>
            </a:avLst>
          </a:prstGeom>
          <a:solidFill>
            <a:schemeClr val="accent3">
              <a:alpha val="80000"/>
            </a:schemeClr>
          </a:solidFill>
          <a:ln/>
        </p:spPr>
      </p:sp>
      <p:sp>
        <p:nvSpPr>
          <p:cNvPr id="13" name="Description 7"/>
          <p:cNvSpPr/>
          <p:nvPr/>
        </p:nvSpPr>
        <p:spPr>
          <a:xfrm>
            <a:off x="777240" y="4608576"/>
            <a:ext cx="4663440" cy="201168"/>
          </a:xfrm>
          <a:prstGeom prst="roundRect">
            <a:avLst>
              <a:gd name="adj" fmla="val 18182"/>
            </a:avLst>
          </a:prstGeom>
          <a:solidFill>
            <a:schemeClr val="accent3">
              <a:alpha val="80000"/>
            </a:schemeClr>
          </a:solidFill>
          <a:ln/>
        </p:spPr>
      </p:sp>
      <p:sp>
        <p:nvSpPr>
          <p:cNvPr id="14" name="Description 8"/>
          <p:cNvSpPr/>
          <p:nvPr/>
        </p:nvSpPr>
        <p:spPr>
          <a:xfrm>
            <a:off x="777240" y="4882896"/>
            <a:ext cx="4114800" cy="201168"/>
          </a:xfrm>
          <a:prstGeom prst="roundRect">
            <a:avLst>
              <a:gd name="adj" fmla="val 18182"/>
            </a:avLst>
          </a:prstGeom>
          <a:solidFill>
            <a:schemeClr val="accent3">
              <a:alpha val="80000"/>
            </a:schemeClr>
          </a:solidFill>
          <a:ln/>
        </p:spPr>
      </p:sp>
      <p:sp>
        <p:nvSpPr>
          <p:cNvPr id="15" name="Description 9"/>
          <p:cNvSpPr/>
          <p:nvPr/>
        </p:nvSpPr>
        <p:spPr>
          <a:xfrm>
            <a:off x="777240" y="5157216"/>
            <a:ext cx="3566160" cy="201168"/>
          </a:xfrm>
          <a:prstGeom prst="roundRect">
            <a:avLst>
              <a:gd name="adj" fmla="val 18182"/>
            </a:avLst>
          </a:prstGeom>
          <a:solidFill>
            <a:schemeClr val="accent3">
              <a:alpha val="80000"/>
            </a:schemeClr>
          </a:solidFill>
          <a:ln/>
        </p:spPr>
      </p:sp>
      <p:sp>
        <p:nvSpPr>
          <p:cNvPr id="16" name="Description 10"/>
          <p:cNvSpPr/>
          <p:nvPr/>
        </p:nvSpPr>
        <p:spPr>
          <a:xfrm>
            <a:off x="777240" y="5431536"/>
            <a:ext cx="4663440" cy="201168"/>
          </a:xfrm>
          <a:prstGeom prst="roundRect">
            <a:avLst>
              <a:gd name="adj" fmla="val 18182"/>
            </a:avLst>
          </a:prstGeom>
          <a:solidFill>
            <a:schemeClr val="accent3">
              <a:alpha val="35000"/>
            </a:schemeClr>
          </a:solidFill>
          <a:ln/>
        </p:spPr>
      </p:sp>
      <p:sp>
        <p:nvSpPr>
          <p:cNvPr id="17" name="Text 15"/>
          <p:cNvSpPr txBox="1"/>
          <p:nvPr/>
        </p:nvSpPr>
        <p:spPr>
          <a:xfrm>
            <a:off x="548640" y="5669280"/>
            <a:ext cx="5212080" cy="548640"/>
          </a:xfrm>
          <a:prstGeom prst="rect">
            <a:avLst/>
          </a:prstGeom>
          <a:noFill/>
          <a:ln/>
        </p:spPr>
        <p:txBody>
          <a:bodyPr wrap="square" lIns="0" tIns="0" rIns="0" bIns="0" rtlCol="0" anchor="t"/>
          <a:lstStyle/>
          <a:p>
            <a:pPr indent="0" marL="0">
              <a:buNone/>
            </a:pPr>
            <a:r>
              <a:rPr lang="en-US" sz="1400" dirty="0">
                <a:solidFill>
                  <a:schemeClr val="accent6"/>
                </a:solidFill>
              </a:rPr>
              <a:t>Every connected tool’s description, on every turn. The task gets crowded out.</a:t>
            </a:r>
            <a:endParaRPr lang="en-US" sz="1400" dirty="0"/>
          </a:p>
        </p:txBody>
      </p:sp>
      <p:sp>
        <p:nvSpPr>
          <p:cNvPr id="18" name="Text 16"/>
          <p:cNvSpPr txBox="1"/>
          <p:nvPr/>
        </p:nvSpPr>
        <p:spPr>
          <a:xfrm>
            <a:off x="6263640" y="1965960"/>
            <a:ext cx="5394960" cy="365760"/>
          </a:xfrm>
          <a:prstGeom prst="rect">
            <a:avLst/>
          </a:prstGeom>
          <a:noFill/>
          <a:ln/>
        </p:spPr>
        <p:txBody>
          <a:bodyPr wrap="square" lIns="0" tIns="0" rIns="0" bIns="0" rtlCol="0" anchor="t"/>
          <a:lstStyle/>
          <a:p>
            <a:pPr indent="0" marL="0">
              <a:buNone/>
            </a:pPr>
            <a:r>
              <a:rPr lang="en-US" sz="1800" b="1" dirty="0">
                <a:solidFill>
                  <a:schemeClr val="tx1"/>
                </a:solidFill>
              </a:rPr>
              <a:t>With ARD: search first, load the best few</a:t>
            </a:r>
            <a:endParaRPr lang="en-US" sz="1800" dirty="0"/>
          </a:p>
        </p:txBody>
      </p:sp>
      <p:sp>
        <p:nvSpPr>
          <p:cNvPr id="19" name="Search service"/>
          <p:cNvSpPr/>
          <p:nvPr/>
        </p:nvSpPr>
        <p:spPr>
          <a:xfrm>
            <a:off x="6263640" y="2468880"/>
            <a:ext cx="2240280" cy="2971800"/>
          </a:xfrm>
          <a:prstGeom prst="roundRect">
            <a:avLst>
              <a:gd name="adj" fmla="val 5714"/>
            </a:avLst>
          </a:prstGeom>
          <a:solidFill>
            <a:schemeClr val="bg2"/>
          </a:solidFill>
          <a:ln/>
        </p:spPr>
      </p:sp>
      <p:sp>
        <p:nvSpPr>
          <p:cNvPr id="20" name="Search service circle"/>
          <p:cNvSpPr/>
          <p:nvPr/>
        </p:nvSpPr>
        <p:spPr>
          <a:xfrm>
            <a:off x="6903720" y="2788920"/>
            <a:ext cx="914400" cy="914400"/>
          </a:xfrm>
          <a:prstGeom prst="ellipse">
            <a:avLst/>
          </a:prstGeom>
          <a:solidFill>
            <a:schemeClr val="accent5"/>
          </a:solidFill>
          <a:ln/>
        </p:spPr>
      </p:sp>
      <p:pic>
        <p:nvPicPr>
          <p:cNvPr id="21" name="Search service icon" descr="preencoded.png">    </p:cNvPr>
          <p:cNvPicPr>
            <a:picLocks noChangeAspect="1"/>
          </p:cNvPicPr>
          <p:nvPr/>
        </p:nvPicPr>
        <p:blipFill>
          <a:blip r:embed="rId1"/>
          <a:stretch>
            <a:fillRect/>
          </a:stretch>
        </p:blipFill>
        <p:spPr>
          <a:xfrm>
            <a:off x="7132320" y="3017520"/>
            <a:ext cx="457200" cy="457200"/>
          </a:xfrm>
          <a:prstGeom prst="rect">
            <a:avLst/>
          </a:prstGeom>
        </p:spPr>
      </p:pic>
      <p:sp>
        <p:nvSpPr>
          <p:cNvPr id="22" name="Text 19"/>
          <p:cNvSpPr txBox="1"/>
          <p:nvPr/>
        </p:nvSpPr>
        <p:spPr>
          <a:xfrm>
            <a:off x="6355080" y="3886200"/>
            <a:ext cx="2057400" cy="365760"/>
          </a:xfrm>
          <a:prstGeom prst="rect">
            <a:avLst/>
          </a:prstGeom>
          <a:noFill/>
          <a:ln/>
        </p:spPr>
        <p:txBody>
          <a:bodyPr wrap="square" lIns="0" tIns="0" rIns="0" bIns="0" rtlCol="0" anchor="t"/>
          <a:lstStyle/>
          <a:p>
            <a:pPr algn="ctr" indent="0" marL="0">
              <a:buNone/>
            </a:pPr>
            <a:r>
              <a:rPr lang="en-US" sz="1600" b="1" dirty="0">
                <a:solidFill>
                  <a:schemeClr val="tx1"/>
                </a:solidFill>
              </a:rPr>
              <a:t>Search service</a:t>
            </a:r>
            <a:endParaRPr lang="en-US" sz="1600" dirty="0"/>
          </a:p>
        </p:txBody>
      </p:sp>
      <p:sp>
        <p:nvSpPr>
          <p:cNvPr id="23" name="Text 20"/>
          <p:cNvSpPr txBox="1"/>
          <p:nvPr/>
        </p:nvSpPr>
        <p:spPr>
          <a:xfrm>
            <a:off x="6400800" y="4297680"/>
            <a:ext cx="1965960" cy="685800"/>
          </a:xfrm>
          <a:prstGeom prst="rect">
            <a:avLst/>
          </a:prstGeom>
          <a:noFill/>
          <a:ln/>
        </p:spPr>
        <p:txBody>
          <a:bodyPr wrap="square" lIns="0" tIns="0" rIns="0" bIns="0" rtlCol="0" anchor="t"/>
          <a:lstStyle/>
          <a:p>
            <a:pPr algn="ctr" indent="0" marL="0">
              <a:buNone/>
            </a:pPr>
            <a:r>
              <a:rPr lang="en-US" sz="1300" dirty="0">
                <a:solidFill>
                  <a:schemeClr val="accent6"/>
                </a:solidFill>
              </a:rPr>
              <a:t>1,000s of entries, outside the model</a:t>
            </a:r>
            <a:endParaRPr lang="en-US" sz="1300" dirty="0"/>
          </a:p>
        </p:txBody>
      </p:sp>
      <p:sp>
        <p:nvSpPr>
          <p:cNvPr id="24" name="Search to context"/>
          <p:cNvSpPr/>
          <p:nvPr/>
        </p:nvSpPr>
        <p:spPr>
          <a:xfrm>
            <a:off x="8595360" y="3950208"/>
            <a:ext cx="502920" cy="0"/>
          </a:xfrm>
          <a:prstGeom prst="line">
            <a:avLst/>
          </a:prstGeom>
          <a:noFill/>
          <a:ln w="22225">
            <a:solidFill>
              <a:srgbClr val="474552"/>
            </a:solidFill>
            <a:prstDash val="solid"/>
            <a:tailEnd type="triangle"/>
          </a:ln>
        </p:spPr>
      </p:sp>
      <p:sp>
        <p:nvSpPr>
          <p:cNvPr id="25" name="Context window with ARD"/>
          <p:cNvSpPr/>
          <p:nvPr/>
        </p:nvSpPr>
        <p:spPr>
          <a:xfrm>
            <a:off x="9189720" y="2468880"/>
            <a:ext cx="2450592" cy="2971800"/>
          </a:xfrm>
          <a:prstGeom prst="roundRect">
            <a:avLst>
              <a:gd name="adj" fmla="val 2985"/>
            </a:avLst>
          </a:prstGeom>
          <a:solidFill>
            <a:schemeClr val="bg1"/>
          </a:solidFill>
          <a:ln w="15875">
            <a:solidFill>
              <a:srgbClr val="474552"/>
            </a:solidFill>
            <a:prstDash val="solid"/>
          </a:ln>
        </p:spPr>
      </p:sp>
      <p:sp>
        <p:nvSpPr>
          <p:cNvPr id="26" name="Task bar right"/>
          <p:cNvSpPr/>
          <p:nvPr/>
        </p:nvSpPr>
        <p:spPr>
          <a:xfrm>
            <a:off x="9372600" y="2651760"/>
            <a:ext cx="2084832" cy="219456"/>
          </a:xfrm>
          <a:prstGeom prst="roundRect">
            <a:avLst>
              <a:gd name="adj" fmla="val 16667"/>
            </a:avLst>
          </a:prstGeom>
          <a:solidFill>
            <a:schemeClr val="accent1"/>
          </a:solidFill>
          <a:ln/>
        </p:spPr>
      </p:sp>
      <p:sp>
        <p:nvSpPr>
          <p:cNvPr id="27" name="Top result 1"/>
          <p:cNvSpPr/>
          <p:nvPr/>
        </p:nvSpPr>
        <p:spPr>
          <a:xfrm>
            <a:off x="9372600" y="2962656"/>
            <a:ext cx="2084832" cy="201168"/>
          </a:xfrm>
          <a:prstGeom prst="roundRect">
            <a:avLst>
              <a:gd name="adj" fmla="val 18182"/>
            </a:avLst>
          </a:prstGeom>
          <a:solidFill>
            <a:schemeClr val="accent3"/>
          </a:solidFill>
          <a:ln/>
        </p:spPr>
      </p:sp>
      <p:sp>
        <p:nvSpPr>
          <p:cNvPr id="28" name="Top result 2"/>
          <p:cNvSpPr/>
          <p:nvPr/>
        </p:nvSpPr>
        <p:spPr>
          <a:xfrm>
            <a:off x="9372600" y="3236976"/>
            <a:ext cx="1719072" cy="201168"/>
          </a:xfrm>
          <a:prstGeom prst="roundRect">
            <a:avLst>
              <a:gd name="adj" fmla="val 18182"/>
            </a:avLst>
          </a:prstGeom>
          <a:solidFill>
            <a:schemeClr val="accent3"/>
          </a:solidFill>
          <a:ln/>
        </p:spPr>
      </p:sp>
      <p:sp>
        <p:nvSpPr>
          <p:cNvPr id="29" name="Top result 3"/>
          <p:cNvSpPr/>
          <p:nvPr/>
        </p:nvSpPr>
        <p:spPr>
          <a:xfrm>
            <a:off x="9372600" y="3511296"/>
            <a:ext cx="1353312" cy="201168"/>
          </a:xfrm>
          <a:prstGeom prst="roundRect">
            <a:avLst>
              <a:gd name="adj" fmla="val 18182"/>
            </a:avLst>
          </a:prstGeom>
          <a:solidFill>
            <a:schemeClr val="accent3"/>
          </a:solidFill>
          <a:ln/>
        </p:spPr>
      </p:sp>
      <p:sp>
        <p:nvSpPr>
          <p:cNvPr id="30" name="Text 27"/>
          <p:cNvSpPr txBox="1"/>
          <p:nvPr/>
        </p:nvSpPr>
        <p:spPr>
          <a:xfrm>
            <a:off x="6263640" y="5669280"/>
            <a:ext cx="5394960" cy="548640"/>
          </a:xfrm>
          <a:prstGeom prst="rect">
            <a:avLst/>
          </a:prstGeom>
          <a:noFill/>
          <a:ln/>
        </p:spPr>
        <p:txBody>
          <a:bodyPr wrap="square" lIns="0" tIns="0" rIns="0" bIns="0" rtlCol="0" anchor="t"/>
          <a:lstStyle/>
          <a:p>
            <a:pPr indent="0" marL="0">
              <a:buNone/>
            </a:pPr>
            <a:r>
              <a:rPr lang="en-US" sz="1400" dirty="0">
                <a:solidFill>
                  <a:schemeClr val="accent6"/>
                </a:solidFill>
              </a:rPr>
              <a:t>Only the top results for this task. Lots of room left.</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oral accent dot"/>
          <p:cNvSpPr/>
          <p:nvPr/>
        </p:nvSpPr>
        <p:spPr>
          <a:xfrm>
            <a:off x="10332720" y="411480"/>
            <a:ext cx="1097280" cy="1097280"/>
          </a:xfrm>
          <a:prstGeom prst="ellipse">
            <a:avLst/>
          </a:prstGeom>
          <a:solidFill>
            <a:schemeClr val="accent1"/>
          </a:solidFill>
          <a:ln/>
        </p:spPr>
      </p:sp>
      <p:sp>
        <p:nvSpPr>
          <p:cNvPr id="3" name="Text 0"/>
          <p:cNvSpPr/>
          <p:nvPr>
            <p:ph idx="100" type="title" hasCustomPrompt="1"/>
          </p:nvPr>
        </p:nvSpPr>
        <p:spPr>
          <a:xfrm>
            <a:off x="822960" y="1828800"/>
            <a:ext cx="10607040" cy="2103120"/>
          </a:xfrm>
          <a:prstGeom prst="rect">
            <a:avLst/>
          </a:prstGeom>
          <a:noFill/>
          <a:ln/>
        </p:spPr>
        <p:txBody>
          <a:bodyPr wrap="square" lIns="0" tIns="0" rIns="0" bIns="0" rtlCol="0" anchor="t"/>
          <a:lstStyle/>
          <a:p>
            <a:pPr algn="l" indent="0" marL="0">
              <a:buNone/>
            </a:pPr>
            <a:r>
              <a:rPr lang="en-US" sz="5400" b="1" dirty="0">
                <a:solidFill>
                  <a:schemeClr val="tx1"/>
                </a:solidFill>
              </a:rPr>
              <a:t>“Search engines lit the web up.”</a:t>
            </a:r>
            <a:endParaRPr lang="en-US" sz="5400" dirty="0"/>
          </a:p>
        </p:txBody>
      </p:sp>
      <p:sp>
        <p:nvSpPr>
          <p:cNvPr id="4" name="Text 0"/>
          <p:cNvSpPr/>
          <p:nvPr>
            <p:ph idx="101" type="body" hasCustomPrompt="1"/>
          </p:nvPr>
        </p:nvSpPr>
        <p:spPr>
          <a:xfrm>
            <a:off x="822960" y="4114800"/>
            <a:ext cx="9692640" cy="1371600"/>
          </a:xfrm>
          <a:prstGeom prst="rect">
            <a:avLst/>
          </a:prstGeom>
          <a:noFill/>
          <a:ln/>
        </p:spPr>
        <p:txBody>
          <a:bodyPr wrap="square" lIns="0" tIns="0" rIns="0" bIns="0" rtlCol="0" anchor="t"/>
          <a:lstStyle/>
          <a:p>
            <a:pPr indent="0" marL="0">
              <a:buNone/>
            </a:pPr>
            <a:r>
              <a:rPr lang="en-US" sz="1800" dirty="0">
                <a:solidFill>
                  <a:schemeClr val="tx2"/>
                </a:solidFill>
              </a:rPr>
              <a:t>R.V. Guha, introducing ARD (Microsoft, June 2026)</a:t>
            </a:r>
            <a:endParaRPr lang="en-US" sz="1800" dirty="0"/>
          </a:p>
          <a:p>
            <a:pPr indent="0" marL="0">
              <a:buNone/>
            </a:pPr>
            <a:r>
              <a:rPr lang="en-US" sz="1000" dirty="0">
                <a:solidFill>
                  <a:schemeClr val="tx2"/>
                </a:solidFill>
              </a:rPr>
              <a:t> </a:t>
            </a:r>
            <a:endParaRPr lang="en-US" sz="1800" dirty="0"/>
          </a:p>
          <a:p>
            <a:pPr indent="0" marL="0">
              <a:buNone/>
            </a:pPr>
            <a:r>
              <a:rPr lang="en-US" sz="2200" b="1" dirty="0">
                <a:solidFill>
                  <a:schemeClr val="accent4"/>
                </a:solidFill>
              </a:rPr>
              <a:t>ARD sets out to do the same for MCP servers, A2A agents, skills and APIs.</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ARD is an open spec for describing, publishing and searching agentic resources</a:t>
            </a:r>
            <a:endParaRPr lang="en-US" sz="3200" dirty="0"/>
          </a:p>
        </p:txBody>
      </p:sp>
      <p:sp>
        <p:nvSpPr>
          <p:cNvPr id="4" name="Announced circle"/>
          <p:cNvSpPr/>
          <p:nvPr/>
        </p:nvSpPr>
        <p:spPr>
          <a:xfrm>
            <a:off x="548640" y="2011680"/>
            <a:ext cx="640080" cy="640080"/>
          </a:xfrm>
          <a:prstGeom prst="ellipse">
            <a:avLst/>
          </a:prstGeom>
          <a:solidFill>
            <a:schemeClr val="accent3"/>
          </a:solidFill>
          <a:ln/>
        </p:spPr>
      </p:sp>
      <p:pic>
        <p:nvPicPr>
          <p:cNvPr id="5" name="Announced icon" descr="preencoded.png">    </p:cNvPr>
          <p:cNvPicPr>
            <a:picLocks noChangeAspect="1"/>
          </p:cNvPicPr>
          <p:nvPr/>
        </p:nvPicPr>
        <p:blipFill>
          <a:blip r:embed="rId1"/>
          <a:stretch>
            <a:fillRect/>
          </a:stretch>
        </p:blipFill>
        <p:spPr>
          <a:xfrm>
            <a:off x="708660" y="2171700"/>
            <a:ext cx="320040" cy="320040"/>
          </a:xfrm>
          <a:prstGeom prst="rect">
            <a:avLst/>
          </a:prstGeom>
        </p:spPr>
      </p:pic>
      <p:sp>
        <p:nvSpPr>
          <p:cNvPr id="6" name="Text 3"/>
          <p:cNvSpPr txBox="1"/>
          <p:nvPr/>
        </p:nvSpPr>
        <p:spPr>
          <a:xfrm>
            <a:off x="1371600" y="1993392"/>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ANNOUNCED</a:t>
            </a:r>
            <a:endParaRPr lang="en-US" sz="1200" dirty="0"/>
          </a:p>
        </p:txBody>
      </p:sp>
      <p:sp>
        <p:nvSpPr>
          <p:cNvPr id="7" name="Text 4"/>
          <p:cNvSpPr txBox="1"/>
          <p:nvPr/>
        </p:nvSpPr>
        <p:spPr>
          <a:xfrm>
            <a:off x="1371600" y="2267712"/>
            <a:ext cx="4297680" cy="594360"/>
          </a:xfrm>
          <a:prstGeom prst="rect">
            <a:avLst/>
          </a:prstGeom>
          <a:noFill/>
          <a:ln/>
        </p:spPr>
        <p:txBody>
          <a:bodyPr wrap="square" lIns="0" tIns="0" rIns="0" bIns="0" rtlCol="0" anchor="t"/>
          <a:lstStyle/>
          <a:p>
            <a:pPr indent="0" marL="0">
              <a:buNone/>
            </a:pPr>
            <a:r>
              <a:rPr lang="en-US" sz="1700" b="1" dirty="0">
                <a:solidFill>
                  <a:schemeClr val="tx1"/>
                </a:solidFill>
              </a:rPr>
              <a:t>17 June 2026</a:t>
            </a:r>
            <a:endParaRPr lang="en-US" sz="1700" dirty="0"/>
          </a:p>
        </p:txBody>
      </p:sp>
      <p:sp>
        <p:nvSpPr>
          <p:cNvPr id="8" name="Status circle"/>
          <p:cNvSpPr/>
          <p:nvPr/>
        </p:nvSpPr>
        <p:spPr>
          <a:xfrm>
            <a:off x="548640" y="2999232"/>
            <a:ext cx="640080" cy="640080"/>
          </a:xfrm>
          <a:prstGeom prst="ellipse">
            <a:avLst/>
          </a:prstGeom>
          <a:solidFill>
            <a:schemeClr val="accent3"/>
          </a:solidFill>
          <a:ln/>
        </p:spPr>
      </p:sp>
      <p:pic>
        <p:nvPicPr>
          <p:cNvPr id="9" name="Status icon" descr="preencoded.png">    </p:cNvPr>
          <p:cNvPicPr>
            <a:picLocks noChangeAspect="1"/>
          </p:cNvPicPr>
          <p:nvPr/>
        </p:nvPicPr>
        <p:blipFill>
          <a:blip r:embed="rId2"/>
          <a:stretch>
            <a:fillRect/>
          </a:stretch>
        </p:blipFill>
        <p:spPr>
          <a:xfrm>
            <a:off x="708660" y="3159252"/>
            <a:ext cx="320040" cy="320040"/>
          </a:xfrm>
          <a:prstGeom prst="rect">
            <a:avLst/>
          </a:prstGeom>
        </p:spPr>
      </p:pic>
      <p:sp>
        <p:nvSpPr>
          <p:cNvPr id="10" name="Text 6"/>
          <p:cNvSpPr txBox="1"/>
          <p:nvPr/>
        </p:nvSpPr>
        <p:spPr>
          <a:xfrm>
            <a:off x="1371600" y="2980944"/>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STATUS</a:t>
            </a:r>
            <a:endParaRPr lang="en-US" sz="1200" dirty="0"/>
          </a:p>
        </p:txBody>
      </p:sp>
      <p:sp>
        <p:nvSpPr>
          <p:cNvPr id="11" name="Text 7"/>
          <p:cNvSpPr txBox="1"/>
          <p:nvPr/>
        </p:nvSpPr>
        <p:spPr>
          <a:xfrm>
            <a:off x="1371600" y="3255264"/>
            <a:ext cx="4297680" cy="594360"/>
          </a:xfrm>
          <a:prstGeom prst="rect">
            <a:avLst/>
          </a:prstGeom>
          <a:noFill/>
          <a:ln/>
        </p:spPr>
        <p:txBody>
          <a:bodyPr wrap="square" lIns="0" tIns="0" rIns="0" bIns="0" rtlCol="0" anchor="t"/>
          <a:lstStyle/>
          <a:p>
            <a:pPr indent="0" marL="0">
              <a:buNone/>
            </a:pPr>
            <a:r>
              <a:rPr lang="en-US" sz="1700" b="1" dirty="0">
                <a:solidFill>
                  <a:schemeClr val="tx1"/>
                </a:solidFill>
              </a:rPr>
              <a:t>v0.91 · Proposal · Apache-2.0</a:t>
            </a:r>
            <a:endParaRPr lang="en-US" sz="1700" dirty="0"/>
          </a:p>
        </p:txBody>
      </p:sp>
      <p:sp>
        <p:nvSpPr>
          <p:cNvPr id="12" name="Authors circle"/>
          <p:cNvSpPr/>
          <p:nvPr/>
        </p:nvSpPr>
        <p:spPr>
          <a:xfrm>
            <a:off x="548640" y="3986784"/>
            <a:ext cx="640080" cy="640080"/>
          </a:xfrm>
          <a:prstGeom prst="ellipse">
            <a:avLst/>
          </a:prstGeom>
          <a:solidFill>
            <a:schemeClr val="accent3"/>
          </a:solidFill>
          <a:ln/>
        </p:spPr>
      </p:sp>
      <p:pic>
        <p:nvPicPr>
          <p:cNvPr id="13" name="Authors icon" descr="preencoded.png">    </p:cNvPr>
          <p:cNvPicPr>
            <a:picLocks noChangeAspect="1"/>
          </p:cNvPicPr>
          <p:nvPr/>
        </p:nvPicPr>
        <p:blipFill>
          <a:blip r:embed="rId3"/>
          <a:stretch>
            <a:fillRect/>
          </a:stretch>
        </p:blipFill>
        <p:spPr>
          <a:xfrm>
            <a:off x="708660" y="4146804"/>
            <a:ext cx="320040" cy="320040"/>
          </a:xfrm>
          <a:prstGeom prst="rect">
            <a:avLst/>
          </a:prstGeom>
        </p:spPr>
      </p:pic>
      <p:sp>
        <p:nvSpPr>
          <p:cNvPr id="14" name="Text 9"/>
          <p:cNvSpPr txBox="1"/>
          <p:nvPr/>
        </p:nvSpPr>
        <p:spPr>
          <a:xfrm>
            <a:off x="1371600" y="3968496"/>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AUTHORS</a:t>
            </a:r>
            <a:endParaRPr lang="en-US" sz="1200" dirty="0"/>
          </a:p>
        </p:txBody>
      </p:sp>
      <p:sp>
        <p:nvSpPr>
          <p:cNvPr id="15" name="Text 10"/>
          <p:cNvSpPr txBox="1"/>
          <p:nvPr/>
        </p:nvSpPr>
        <p:spPr>
          <a:xfrm>
            <a:off x="1371600" y="4242816"/>
            <a:ext cx="4297680" cy="594360"/>
          </a:xfrm>
          <a:prstGeom prst="rect">
            <a:avLst/>
          </a:prstGeom>
          <a:noFill/>
          <a:ln/>
        </p:spPr>
        <p:txBody>
          <a:bodyPr wrap="square" lIns="0" tIns="0" rIns="0" bIns="0" rtlCol="0" anchor="t"/>
          <a:lstStyle/>
          <a:p>
            <a:pPr indent="0" marL="0">
              <a:buNone/>
            </a:pPr>
            <a:r>
              <a:rPr lang="en-US" sz="1700" b="1" dirty="0">
                <a:solidFill>
                  <a:schemeClr val="tx1"/>
                </a:solidFill>
              </a:rPr>
              <a:t>Junjie Bu (Google), R.V. Guha, Shaun Smith (Hugging Face)</a:t>
            </a:r>
            <a:endParaRPr lang="en-US" sz="1700" dirty="0"/>
          </a:p>
        </p:txBody>
      </p:sp>
      <p:sp>
        <p:nvSpPr>
          <p:cNvPr id="16" name="Home circle"/>
          <p:cNvSpPr/>
          <p:nvPr/>
        </p:nvSpPr>
        <p:spPr>
          <a:xfrm>
            <a:off x="548640" y="4974336"/>
            <a:ext cx="640080" cy="640080"/>
          </a:xfrm>
          <a:prstGeom prst="ellipse">
            <a:avLst/>
          </a:prstGeom>
          <a:solidFill>
            <a:schemeClr val="accent3"/>
          </a:solidFill>
          <a:ln/>
        </p:spPr>
      </p:sp>
      <p:pic>
        <p:nvPicPr>
          <p:cNvPr id="17" name="Home icon" descr="preencoded.png">    </p:cNvPr>
          <p:cNvPicPr>
            <a:picLocks noChangeAspect="1"/>
          </p:cNvPicPr>
          <p:nvPr/>
        </p:nvPicPr>
        <p:blipFill>
          <a:blip r:embed="rId4"/>
          <a:stretch>
            <a:fillRect/>
          </a:stretch>
        </p:blipFill>
        <p:spPr>
          <a:xfrm>
            <a:off x="708660" y="5134356"/>
            <a:ext cx="320040" cy="320040"/>
          </a:xfrm>
          <a:prstGeom prst="rect">
            <a:avLst/>
          </a:prstGeom>
        </p:spPr>
      </p:pic>
      <p:sp>
        <p:nvSpPr>
          <p:cNvPr id="18" name="Text 12"/>
          <p:cNvSpPr txBox="1"/>
          <p:nvPr/>
        </p:nvSpPr>
        <p:spPr>
          <a:xfrm>
            <a:off x="1371600" y="4956048"/>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HOME</a:t>
            </a:r>
            <a:endParaRPr lang="en-US" sz="1200" dirty="0"/>
          </a:p>
        </p:txBody>
      </p:sp>
      <p:sp>
        <p:nvSpPr>
          <p:cNvPr id="19" name="Text 13"/>
          <p:cNvSpPr txBox="1"/>
          <p:nvPr/>
        </p:nvSpPr>
        <p:spPr>
          <a:xfrm>
            <a:off x="1371600" y="5230368"/>
            <a:ext cx="4297680" cy="594360"/>
          </a:xfrm>
          <a:prstGeom prst="rect">
            <a:avLst/>
          </a:prstGeom>
          <a:noFill/>
          <a:ln/>
        </p:spPr>
        <p:txBody>
          <a:bodyPr wrap="square" lIns="0" tIns="0" rIns="0" bIns="0" rtlCol="0" anchor="t"/>
          <a:lstStyle/>
          <a:p>
            <a:pPr indent="0" marL="0">
              <a:buNone/>
            </a:pPr>
            <a:r>
              <a:rPr lang="en-US" sz="1700" b="1" dirty="0">
                <a:solidFill>
                  <a:schemeClr val="tx1"/>
                </a:solidFill>
              </a:rPr>
              <a:t>github.com/ards-project/ard-spec</a:t>
            </a:r>
            <a:endParaRPr lang="en-US" sz="1700" dirty="0"/>
          </a:p>
        </p:txBody>
      </p:sp>
      <p:sp>
        <p:nvSpPr>
          <p:cNvPr id="20" name="Text 14"/>
          <p:cNvSpPr txBox="1"/>
          <p:nvPr/>
        </p:nvSpPr>
        <p:spPr>
          <a:xfrm>
            <a:off x="6172200" y="1965960"/>
            <a:ext cx="5394960" cy="347472"/>
          </a:xfrm>
          <a:prstGeom prst="rect">
            <a:avLst/>
          </a:prstGeom>
          <a:noFill/>
          <a:ln/>
        </p:spPr>
        <p:txBody>
          <a:bodyPr wrap="square" lIns="0" tIns="0" rIns="0" bIns="0" rtlCol="0" anchor="t"/>
          <a:lstStyle/>
          <a:p>
            <a:pPr indent="0" marL="0">
              <a:buNone/>
            </a:pPr>
            <a:r>
              <a:rPr lang="en-US" sz="1600" b="1" dirty="0">
                <a:solidFill>
                  <a:schemeClr val="tx1"/>
                </a:solidFill>
              </a:rPr>
              <a:t>Developed with</a:t>
            </a:r>
            <a:endParaRPr lang="en-US" sz="1600" dirty="0"/>
          </a:p>
        </p:txBody>
      </p:sp>
      <p:sp>
        <p:nvSpPr>
          <p:cNvPr id="21" name="Partner Cisco"/>
          <p:cNvSpPr/>
          <p:nvPr/>
        </p:nvSpPr>
        <p:spPr>
          <a:xfrm>
            <a:off x="6172200" y="2423160"/>
            <a:ext cx="1280160" cy="384048"/>
          </a:xfrm>
          <a:prstGeom prst="roundRect">
            <a:avLst>
              <a:gd name="adj" fmla="val 50000"/>
            </a:avLst>
          </a:prstGeom>
          <a:solidFill>
            <a:schemeClr val="bg2"/>
          </a:solidFill>
          <a:ln/>
        </p:spPr>
      </p:sp>
      <p:sp>
        <p:nvSpPr>
          <p:cNvPr id="22" name="Text 16"/>
          <p:cNvSpPr txBox="1"/>
          <p:nvPr/>
        </p:nvSpPr>
        <p:spPr>
          <a:xfrm>
            <a:off x="61722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Cisco</a:t>
            </a:r>
            <a:endParaRPr lang="en-US" sz="1300" dirty="0"/>
          </a:p>
        </p:txBody>
      </p:sp>
      <p:sp>
        <p:nvSpPr>
          <p:cNvPr id="23" name="Partner Databricks"/>
          <p:cNvSpPr/>
          <p:nvPr/>
        </p:nvSpPr>
        <p:spPr>
          <a:xfrm>
            <a:off x="7543800" y="2423160"/>
            <a:ext cx="1280160" cy="384048"/>
          </a:xfrm>
          <a:prstGeom prst="roundRect">
            <a:avLst>
              <a:gd name="adj" fmla="val 50000"/>
            </a:avLst>
          </a:prstGeom>
          <a:solidFill>
            <a:schemeClr val="bg2"/>
          </a:solidFill>
          <a:ln/>
        </p:spPr>
      </p:sp>
      <p:sp>
        <p:nvSpPr>
          <p:cNvPr id="24" name="Text 18"/>
          <p:cNvSpPr txBox="1"/>
          <p:nvPr/>
        </p:nvSpPr>
        <p:spPr>
          <a:xfrm>
            <a:off x="75438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Databricks</a:t>
            </a:r>
            <a:endParaRPr lang="en-US" sz="1300" dirty="0"/>
          </a:p>
        </p:txBody>
      </p:sp>
      <p:sp>
        <p:nvSpPr>
          <p:cNvPr id="25" name="Partner GitHub"/>
          <p:cNvSpPr/>
          <p:nvPr/>
        </p:nvSpPr>
        <p:spPr>
          <a:xfrm>
            <a:off x="8915400" y="2423160"/>
            <a:ext cx="1280160" cy="384048"/>
          </a:xfrm>
          <a:prstGeom prst="roundRect">
            <a:avLst>
              <a:gd name="adj" fmla="val 50000"/>
            </a:avLst>
          </a:prstGeom>
          <a:solidFill>
            <a:schemeClr val="bg2"/>
          </a:solidFill>
          <a:ln/>
        </p:spPr>
      </p:sp>
      <p:sp>
        <p:nvSpPr>
          <p:cNvPr id="26" name="Text 20"/>
          <p:cNvSpPr txBox="1"/>
          <p:nvPr/>
        </p:nvSpPr>
        <p:spPr>
          <a:xfrm>
            <a:off x="89154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GitHub</a:t>
            </a:r>
            <a:endParaRPr lang="en-US" sz="1300" dirty="0"/>
          </a:p>
        </p:txBody>
      </p:sp>
      <p:sp>
        <p:nvSpPr>
          <p:cNvPr id="27" name="Partner GoDaddy"/>
          <p:cNvSpPr/>
          <p:nvPr/>
        </p:nvSpPr>
        <p:spPr>
          <a:xfrm>
            <a:off x="10287000" y="2423160"/>
            <a:ext cx="1280160" cy="384048"/>
          </a:xfrm>
          <a:prstGeom prst="roundRect">
            <a:avLst>
              <a:gd name="adj" fmla="val 50000"/>
            </a:avLst>
          </a:prstGeom>
          <a:solidFill>
            <a:schemeClr val="bg2"/>
          </a:solidFill>
          <a:ln/>
        </p:spPr>
      </p:sp>
      <p:sp>
        <p:nvSpPr>
          <p:cNvPr id="28" name="Text 22"/>
          <p:cNvSpPr txBox="1"/>
          <p:nvPr/>
        </p:nvSpPr>
        <p:spPr>
          <a:xfrm>
            <a:off x="102870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GoDaddy</a:t>
            </a:r>
            <a:endParaRPr lang="en-US" sz="1300" dirty="0"/>
          </a:p>
        </p:txBody>
      </p:sp>
      <p:sp>
        <p:nvSpPr>
          <p:cNvPr id="29" name="Partner Google"/>
          <p:cNvSpPr/>
          <p:nvPr/>
        </p:nvSpPr>
        <p:spPr>
          <a:xfrm>
            <a:off x="6172200" y="2926080"/>
            <a:ext cx="1280160" cy="384048"/>
          </a:xfrm>
          <a:prstGeom prst="roundRect">
            <a:avLst>
              <a:gd name="adj" fmla="val 50000"/>
            </a:avLst>
          </a:prstGeom>
          <a:solidFill>
            <a:schemeClr val="bg2"/>
          </a:solidFill>
          <a:ln/>
        </p:spPr>
      </p:sp>
      <p:sp>
        <p:nvSpPr>
          <p:cNvPr id="30" name="Text 24"/>
          <p:cNvSpPr txBox="1"/>
          <p:nvPr/>
        </p:nvSpPr>
        <p:spPr>
          <a:xfrm>
            <a:off x="61722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Google</a:t>
            </a:r>
            <a:endParaRPr lang="en-US" sz="1300" dirty="0"/>
          </a:p>
        </p:txBody>
      </p:sp>
      <p:sp>
        <p:nvSpPr>
          <p:cNvPr id="31" name="Partner Hugging Face"/>
          <p:cNvSpPr/>
          <p:nvPr/>
        </p:nvSpPr>
        <p:spPr>
          <a:xfrm>
            <a:off x="7543800" y="2926080"/>
            <a:ext cx="1280160" cy="384048"/>
          </a:xfrm>
          <a:prstGeom prst="roundRect">
            <a:avLst>
              <a:gd name="adj" fmla="val 50000"/>
            </a:avLst>
          </a:prstGeom>
          <a:solidFill>
            <a:schemeClr val="bg2"/>
          </a:solidFill>
          <a:ln/>
        </p:spPr>
      </p:sp>
      <p:sp>
        <p:nvSpPr>
          <p:cNvPr id="32" name="Text 26"/>
          <p:cNvSpPr txBox="1"/>
          <p:nvPr/>
        </p:nvSpPr>
        <p:spPr>
          <a:xfrm>
            <a:off x="75438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Hugging Face</a:t>
            </a:r>
            <a:endParaRPr lang="en-US" sz="1300" dirty="0"/>
          </a:p>
        </p:txBody>
      </p:sp>
      <p:sp>
        <p:nvSpPr>
          <p:cNvPr id="33" name="Partner Microsoft"/>
          <p:cNvSpPr/>
          <p:nvPr/>
        </p:nvSpPr>
        <p:spPr>
          <a:xfrm>
            <a:off x="8915400" y="2926080"/>
            <a:ext cx="1280160" cy="384048"/>
          </a:xfrm>
          <a:prstGeom prst="roundRect">
            <a:avLst>
              <a:gd name="adj" fmla="val 50000"/>
            </a:avLst>
          </a:prstGeom>
          <a:solidFill>
            <a:schemeClr val="bg2"/>
          </a:solidFill>
          <a:ln/>
        </p:spPr>
      </p:sp>
      <p:sp>
        <p:nvSpPr>
          <p:cNvPr id="34" name="Text 28"/>
          <p:cNvSpPr txBox="1"/>
          <p:nvPr/>
        </p:nvSpPr>
        <p:spPr>
          <a:xfrm>
            <a:off x="89154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Microsoft</a:t>
            </a:r>
            <a:endParaRPr lang="en-US" sz="1300" dirty="0"/>
          </a:p>
        </p:txBody>
      </p:sp>
      <p:sp>
        <p:nvSpPr>
          <p:cNvPr id="35" name="Partner Nvidia"/>
          <p:cNvSpPr/>
          <p:nvPr/>
        </p:nvSpPr>
        <p:spPr>
          <a:xfrm>
            <a:off x="10287000" y="2926080"/>
            <a:ext cx="1280160" cy="384048"/>
          </a:xfrm>
          <a:prstGeom prst="roundRect">
            <a:avLst>
              <a:gd name="adj" fmla="val 50000"/>
            </a:avLst>
          </a:prstGeom>
          <a:solidFill>
            <a:schemeClr val="bg2"/>
          </a:solidFill>
          <a:ln/>
        </p:spPr>
      </p:sp>
      <p:sp>
        <p:nvSpPr>
          <p:cNvPr id="36" name="Text 30"/>
          <p:cNvSpPr txBox="1"/>
          <p:nvPr/>
        </p:nvSpPr>
        <p:spPr>
          <a:xfrm>
            <a:off x="102870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Nvidia</a:t>
            </a:r>
            <a:endParaRPr lang="en-US" sz="1300" dirty="0"/>
          </a:p>
        </p:txBody>
      </p:sp>
      <p:sp>
        <p:nvSpPr>
          <p:cNvPr id="37" name="Partner Salesforce"/>
          <p:cNvSpPr/>
          <p:nvPr/>
        </p:nvSpPr>
        <p:spPr>
          <a:xfrm>
            <a:off x="6172200" y="3429000"/>
            <a:ext cx="1280160" cy="384048"/>
          </a:xfrm>
          <a:prstGeom prst="roundRect">
            <a:avLst>
              <a:gd name="adj" fmla="val 50000"/>
            </a:avLst>
          </a:prstGeom>
          <a:solidFill>
            <a:schemeClr val="bg2"/>
          </a:solidFill>
          <a:ln/>
        </p:spPr>
      </p:sp>
      <p:sp>
        <p:nvSpPr>
          <p:cNvPr id="38" name="Text 32"/>
          <p:cNvSpPr txBox="1"/>
          <p:nvPr/>
        </p:nvSpPr>
        <p:spPr>
          <a:xfrm>
            <a:off x="6172200" y="342900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Salesforce</a:t>
            </a:r>
            <a:endParaRPr lang="en-US" sz="1300" dirty="0"/>
          </a:p>
        </p:txBody>
      </p:sp>
      <p:sp>
        <p:nvSpPr>
          <p:cNvPr id="39" name="Partner ServiceNow"/>
          <p:cNvSpPr/>
          <p:nvPr/>
        </p:nvSpPr>
        <p:spPr>
          <a:xfrm>
            <a:off x="7543800" y="3429000"/>
            <a:ext cx="1280160" cy="384048"/>
          </a:xfrm>
          <a:prstGeom prst="roundRect">
            <a:avLst>
              <a:gd name="adj" fmla="val 50000"/>
            </a:avLst>
          </a:prstGeom>
          <a:solidFill>
            <a:schemeClr val="bg2"/>
          </a:solidFill>
          <a:ln/>
        </p:spPr>
      </p:sp>
      <p:sp>
        <p:nvSpPr>
          <p:cNvPr id="40" name="Text 34"/>
          <p:cNvSpPr txBox="1"/>
          <p:nvPr/>
        </p:nvSpPr>
        <p:spPr>
          <a:xfrm>
            <a:off x="7543800" y="342900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ServiceNow</a:t>
            </a:r>
            <a:endParaRPr lang="en-US" sz="1300" dirty="0"/>
          </a:p>
        </p:txBody>
      </p:sp>
      <p:sp>
        <p:nvSpPr>
          <p:cNvPr id="41" name="Partner Snowflake"/>
          <p:cNvSpPr/>
          <p:nvPr/>
        </p:nvSpPr>
        <p:spPr>
          <a:xfrm>
            <a:off x="8915400" y="3429000"/>
            <a:ext cx="1280160" cy="384048"/>
          </a:xfrm>
          <a:prstGeom prst="roundRect">
            <a:avLst>
              <a:gd name="adj" fmla="val 50000"/>
            </a:avLst>
          </a:prstGeom>
          <a:solidFill>
            <a:schemeClr val="bg2"/>
          </a:solidFill>
          <a:ln/>
        </p:spPr>
      </p:sp>
      <p:sp>
        <p:nvSpPr>
          <p:cNvPr id="42" name="Text 36"/>
          <p:cNvSpPr txBox="1"/>
          <p:nvPr/>
        </p:nvSpPr>
        <p:spPr>
          <a:xfrm>
            <a:off x="8915400" y="342900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Snowflake</a:t>
            </a:r>
            <a:endParaRPr lang="en-US" sz="1300" dirty="0"/>
          </a:p>
        </p:txBody>
      </p:sp>
      <p:sp>
        <p:nvSpPr>
          <p:cNvPr id="43" name="Text 37"/>
          <p:cNvSpPr txBox="1"/>
          <p:nvPr/>
        </p:nvSpPr>
        <p:spPr>
          <a:xfrm>
            <a:off x="6172200" y="4069080"/>
            <a:ext cx="5394960" cy="347472"/>
          </a:xfrm>
          <a:prstGeom prst="rect">
            <a:avLst/>
          </a:prstGeom>
          <a:noFill/>
          <a:ln/>
        </p:spPr>
        <p:txBody>
          <a:bodyPr wrap="square" lIns="0" tIns="0" rIns="0" bIns="0" rtlCol="0" anchor="t"/>
          <a:lstStyle/>
          <a:p>
            <a:pPr indent="0" marL="0">
              <a:buNone/>
            </a:pPr>
            <a:r>
              <a:rPr lang="en-US" sz="1600" b="1" dirty="0">
                <a:solidFill>
                  <a:schemeClr val="tx1"/>
                </a:solidFill>
              </a:rPr>
              <a:t>Reference implementations</a:t>
            </a:r>
            <a:endParaRPr lang="en-US" sz="1600" dirty="0"/>
          </a:p>
        </p:txBody>
      </p:sp>
      <p:sp>
        <p:nvSpPr>
          <p:cNvPr id="44" name="Reference 1"/>
          <p:cNvSpPr/>
          <p:nvPr/>
        </p:nvSpPr>
        <p:spPr>
          <a:xfrm>
            <a:off x="6172200" y="4526280"/>
            <a:ext cx="5468112" cy="685800"/>
          </a:xfrm>
          <a:prstGeom prst="roundRect">
            <a:avLst>
              <a:gd name="adj" fmla="val 18667"/>
            </a:avLst>
          </a:prstGeom>
          <a:solidFill>
            <a:schemeClr val="bg2"/>
          </a:solidFill>
          <a:ln/>
        </p:spPr>
      </p:sp>
      <p:sp>
        <p:nvSpPr>
          <p:cNvPr id="45" name="Text 39"/>
          <p:cNvSpPr txBox="1"/>
          <p:nvPr/>
        </p:nvSpPr>
        <p:spPr>
          <a:xfrm>
            <a:off x="6400800" y="4599432"/>
            <a:ext cx="5029200" cy="292608"/>
          </a:xfrm>
          <a:prstGeom prst="rect">
            <a:avLst/>
          </a:prstGeom>
          <a:noFill/>
          <a:ln/>
        </p:spPr>
        <p:txBody>
          <a:bodyPr wrap="square" lIns="0" tIns="0" rIns="0" bIns="0" rtlCol="0" anchor="t"/>
          <a:lstStyle/>
          <a:p>
            <a:pPr indent="0" marL="0">
              <a:buNone/>
            </a:pPr>
            <a:r>
              <a:rPr lang="en-US" sz="1500" b="1" dirty="0">
                <a:solidFill>
                  <a:schemeClr val="tx1"/>
                </a:solidFill>
              </a:rPr>
              <a:t>GitHub agent finder</a:t>
            </a:r>
            <a:endParaRPr lang="en-US" sz="1500" dirty="0"/>
          </a:p>
        </p:txBody>
      </p:sp>
      <p:sp>
        <p:nvSpPr>
          <p:cNvPr id="46" name="Text 40"/>
          <p:cNvSpPr txBox="1"/>
          <p:nvPr/>
        </p:nvSpPr>
        <p:spPr>
          <a:xfrm>
            <a:off x="6400800" y="4892040"/>
            <a:ext cx="5120640" cy="274320"/>
          </a:xfrm>
          <a:prstGeom prst="rect">
            <a:avLst/>
          </a:prstGeom>
          <a:noFill/>
          <a:ln/>
        </p:spPr>
        <p:txBody>
          <a:bodyPr wrap="square" lIns="0" tIns="0" rIns="0" bIns="0" rtlCol="0" anchor="t"/>
          <a:lstStyle/>
          <a:p>
            <a:pPr indent="0" marL="0">
              <a:buNone/>
            </a:pPr>
            <a:r>
              <a:rPr lang="en-US" sz="1300" dirty="0">
                <a:solidFill>
                  <a:schemeClr val="accent6"/>
                </a:solidFill>
              </a:rPr>
              <a:t>Copilot discovers MCP servers, skills and agents at runtime</a:t>
            </a:r>
            <a:endParaRPr lang="en-US" sz="1300" dirty="0"/>
          </a:p>
        </p:txBody>
      </p:sp>
      <p:sp>
        <p:nvSpPr>
          <p:cNvPr id="47" name="Reference 2"/>
          <p:cNvSpPr/>
          <p:nvPr/>
        </p:nvSpPr>
        <p:spPr>
          <a:xfrm>
            <a:off x="6172200" y="5303520"/>
            <a:ext cx="5468112" cy="685800"/>
          </a:xfrm>
          <a:prstGeom prst="roundRect">
            <a:avLst>
              <a:gd name="adj" fmla="val 18667"/>
            </a:avLst>
          </a:prstGeom>
          <a:solidFill>
            <a:schemeClr val="bg2"/>
          </a:solidFill>
          <a:ln/>
        </p:spPr>
      </p:sp>
      <p:sp>
        <p:nvSpPr>
          <p:cNvPr id="48" name="Text 42"/>
          <p:cNvSpPr txBox="1"/>
          <p:nvPr/>
        </p:nvSpPr>
        <p:spPr>
          <a:xfrm>
            <a:off x="6400800" y="5376672"/>
            <a:ext cx="5029200" cy="292608"/>
          </a:xfrm>
          <a:prstGeom prst="rect">
            <a:avLst/>
          </a:prstGeom>
          <a:noFill/>
          <a:ln/>
        </p:spPr>
        <p:txBody>
          <a:bodyPr wrap="square" lIns="0" tIns="0" rIns="0" bIns="0" rtlCol="0" anchor="t"/>
          <a:lstStyle/>
          <a:p>
            <a:pPr indent="0" marL="0">
              <a:buNone/>
            </a:pPr>
            <a:r>
              <a:rPr lang="en-US" sz="1500" b="1" dirty="0">
                <a:solidFill>
                  <a:schemeClr val="tx1"/>
                </a:solidFill>
              </a:rPr>
              <a:t>Hugging Face Discover Tool</a:t>
            </a:r>
            <a:endParaRPr lang="en-US" sz="1500" dirty="0"/>
          </a:p>
        </p:txBody>
      </p:sp>
      <p:sp>
        <p:nvSpPr>
          <p:cNvPr id="49" name="Text 43"/>
          <p:cNvSpPr txBox="1"/>
          <p:nvPr/>
        </p:nvSpPr>
        <p:spPr>
          <a:xfrm>
            <a:off x="6400800" y="5669280"/>
            <a:ext cx="5120640" cy="274320"/>
          </a:xfrm>
          <a:prstGeom prst="rect">
            <a:avLst/>
          </a:prstGeom>
          <a:noFill/>
          <a:ln/>
        </p:spPr>
        <p:txBody>
          <a:bodyPr wrap="square" lIns="0" tIns="0" rIns="0" bIns="0" rtlCol="0" anchor="t"/>
          <a:lstStyle/>
          <a:p>
            <a:pPr indent="0" marL="0">
              <a:buNone/>
            </a:pPr>
            <a:r>
              <a:rPr lang="en-US" sz="1300" dirty="0">
                <a:solidFill>
                  <a:schemeClr val="accent6"/>
                </a:solidFill>
              </a:rPr>
              <a:t>Semantic search over thousands of skills, apps and MCP servers</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ARD runs before invocation; MCP, A2A and Skills still do the work</a:t>
            </a:r>
            <a:endParaRPr lang="en-US" sz="3200" dirty="0"/>
          </a:p>
        </p:txBody>
      </p:sp>
      <p:sp>
        <p:nvSpPr>
          <p:cNvPr id="4" name="Orchestrator layer"/>
          <p:cNvSpPr/>
          <p:nvPr/>
        </p:nvSpPr>
        <p:spPr>
          <a:xfrm>
            <a:off x="548640" y="2011680"/>
            <a:ext cx="7680960" cy="777240"/>
          </a:xfrm>
          <a:prstGeom prst="roundRect">
            <a:avLst>
              <a:gd name="adj" fmla="val 16471"/>
            </a:avLst>
          </a:prstGeom>
          <a:solidFill>
            <a:schemeClr val="bg2"/>
          </a:solidFill>
          <a:ln/>
        </p:spPr>
      </p:sp>
      <p:pic>
        <p:nvPicPr>
          <p:cNvPr id="5" name="Orchestrator icon" descr="preencoded.png">    </p:cNvPr>
          <p:cNvPicPr>
            <a:picLocks noChangeAspect="1"/>
          </p:cNvPicPr>
          <p:nvPr/>
        </p:nvPicPr>
        <p:blipFill>
          <a:blip r:embed="rId1"/>
          <a:stretch>
            <a:fillRect/>
          </a:stretch>
        </p:blipFill>
        <p:spPr>
          <a:xfrm>
            <a:off x="822960" y="2212848"/>
            <a:ext cx="384048" cy="384048"/>
          </a:xfrm>
          <a:prstGeom prst="rect">
            <a:avLst/>
          </a:prstGeom>
        </p:spPr>
      </p:pic>
      <p:sp>
        <p:nvSpPr>
          <p:cNvPr id="6" name="Text 3"/>
          <p:cNvSpPr txBox="1"/>
          <p:nvPr/>
        </p:nvSpPr>
        <p:spPr>
          <a:xfrm>
            <a:off x="1371600" y="2011680"/>
            <a:ext cx="6675120" cy="777240"/>
          </a:xfrm>
          <a:prstGeom prst="rect">
            <a:avLst/>
          </a:prstGeom>
          <a:noFill/>
          <a:ln/>
        </p:spPr>
        <p:txBody>
          <a:bodyPr wrap="square" lIns="0" tIns="0" rIns="0" bIns="0" rtlCol="0" anchor="ctr"/>
          <a:lstStyle/>
          <a:p>
            <a:pPr indent="0" marL="0">
              <a:buNone/>
            </a:pPr>
            <a:r>
              <a:rPr lang="en-US" sz="1800" b="1" dirty="0">
                <a:solidFill>
                  <a:schemeClr val="tx1"/>
                </a:solidFill>
              </a:rPr>
              <a:t>Agent or orchestrator</a:t>
            </a:r>
            <a:endParaRPr lang="en-US" sz="1800" dirty="0"/>
          </a:p>
        </p:txBody>
      </p:sp>
      <p:sp>
        <p:nvSpPr>
          <p:cNvPr id="7" name="Ask ARD"/>
          <p:cNvSpPr/>
          <p:nvPr/>
        </p:nvSpPr>
        <p:spPr>
          <a:xfrm>
            <a:off x="2194560" y="2834640"/>
            <a:ext cx="0" cy="457200"/>
          </a:xfrm>
          <a:prstGeom prst="line">
            <a:avLst/>
          </a:prstGeom>
          <a:noFill/>
          <a:ln w="22225">
            <a:solidFill>
              <a:srgbClr val="474552"/>
            </a:solidFill>
            <a:prstDash val="solid"/>
            <a:tailEnd type="triangle"/>
          </a:ln>
        </p:spPr>
      </p:sp>
      <p:sp>
        <p:nvSpPr>
          <p:cNvPr id="8" name="Text 5"/>
          <p:cNvSpPr txBox="1"/>
          <p:nvPr/>
        </p:nvSpPr>
        <p:spPr>
          <a:xfrm>
            <a:off x="2377440" y="2852928"/>
            <a:ext cx="5029200" cy="411480"/>
          </a:xfrm>
          <a:prstGeom prst="rect">
            <a:avLst/>
          </a:prstGeom>
          <a:noFill/>
          <a:ln/>
        </p:spPr>
        <p:txBody>
          <a:bodyPr wrap="square" lIns="0" tIns="0" rIns="0" bIns="0" rtlCol="0" anchor="ctr"/>
          <a:lstStyle/>
          <a:p>
            <a:pPr indent="0" marL="0">
              <a:buNone/>
            </a:pPr>
            <a:r>
              <a:rPr lang="en-US" sz="1400" dirty="0">
                <a:solidFill>
                  <a:schemeClr val="accent6"/>
                </a:solidFill>
              </a:rPr>
              <a:t>1  What exists for this task?</a:t>
            </a:r>
            <a:endParaRPr lang="en-US" sz="1400" dirty="0"/>
          </a:p>
        </p:txBody>
      </p:sp>
      <p:sp>
        <p:nvSpPr>
          <p:cNvPr id="9" name="ARD layer"/>
          <p:cNvSpPr/>
          <p:nvPr/>
        </p:nvSpPr>
        <p:spPr>
          <a:xfrm>
            <a:off x="548640" y="3337560"/>
            <a:ext cx="7680960" cy="914400"/>
          </a:xfrm>
          <a:prstGeom prst="roundRect">
            <a:avLst>
              <a:gd name="adj" fmla="val 14000"/>
            </a:avLst>
          </a:prstGeom>
          <a:solidFill>
            <a:schemeClr val="accent1"/>
          </a:solidFill>
          <a:ln/>
        </p:spPr>
      </p:sp>
      <p:sp>
        <p:nvSpPr>
          <p:cNvPr id="10" name="Text 7"/>
          <p:cNvSpPr txBox="1"/>
          <p:nvPr/>
        </p:nvSpPr>
        <p:spPr>
          <a:xfrm>
            <a:off x="822960" y="3337560"/>
            <a:ext cx="7223760" cy="914400"/>
          </a:xfrm>
          <a:prstGeom prst="rect">
            <a:avLst/>
          </a:prstGeom>
          <a:noFill/>
          <a:ln/>
        </p:spPr>
        <p:txBody>
          <a:bodyPr wrap="square" lIns="0" tIns="0" rIns="0" bIns="0" rtlCol="0" anchor="ctr"/>
          <a:lstStyle/>
          <a:p>
            <a:pPr indent="0" marL="0">
              <a:buNone/>
            </a:pPr>
            <a:r>
              <a:rPr lang="en-US" sz="2400" b="1" dirty="0">
                <a:solidFill>
                  <a:schemeClr val="tx1"/>
                </a:solidFill>
              </a:rPr>
              <a:t>ARD</a:t>
            </a:r>
            <a:pPr indent="0" marL="0">
              <a:buNone/>
            </a:pPr>
            <a:r>
              <a:rPr lang="en-US" sz="1800" dirty="0">
                <a:solidFill>
                  <a:schemeClr val="tx1"/>
                </a:solidFill>
              </a:rPr>
              <a:t>     describe  ·  publish  ·  search  ·  federate</a:t>
            </a:r>
            <a:endParaRPr lang="en-US" sz="1600" dirty="0"/>
          </a:p>
        </p:txBody>
      </p:sp>
      <p:sp>
        <p:nvSpPr>
          <p:cNvPr id="11" name="Invoke"/>
          <p:cNvSpPr/>
          <p:nvPr/>
        </p:nvSpPr>
        <p:spPr>
          <a:xfrm>
            <a:off x="5943600" y="4297680"/>
            <a:ext cx="0" cy="457200"/>
          </a:xfrm>
          <a:prstGeom prst="line">
            <a:avLst/>
          </a:prstGeom>
          <a:noFill/>
          <a:ln w="22225">
            <a:solidFill>
              <a:srgbClr val="474552"/>
            </a:solidFill>
            <a:prstDash val="solid"/>
            <a:tailEnd type="triangle"/>
          </a:ln>
        </p:spPr>
      </p:sp>
      <p:sp>
        <p:nvSpPr>
          <p:cNvPr id="12" name="Text 9"/>
          <p:cNvSpPr txBox="1"/>
          <p:nvPr/>
        </p:nvSpPr>
        <p:spPr>
          <a:xfrm>
            <a:off x="2743200" y="4315968"/>
            <a:ext cx="3063240" cy="411480"/>
          </a:xfrm>
          <a:prstGeom prst="rect">
            <a:avLst/>
          </a:prstGeom>
          <a:noFill/>
          <a:ln/>
        </p:spPr>
        <p:txBody>
          <a:bodyPr wrap="square" lIns="0" tIns="0" rIns="0" bIns="0" rtlCol="0" anchor="ctr"/>
          <a:lstStyle/>
          <a:p>
            <a:pPr algn="r" indent="0" marL="0">
              <a:buNone/>
            </a:pPr>
            <a:r>
              <a:rPr lang="en-US" sz="1400" dirty="0">
                <a:solidFill>
                  <a:schemeClr val="accent6"/>
                </a:solidFill>
              </a:rPr>
              <a:t>2  Call it with its own protocol</a:t>
            </a:r>
            <a:endParaRPr lang="en-US" sz="1400" dirty="0"/>
          </a:p>
        </p:txBody>
      </p:sp>
      <p:sp>
        <p:nvSpPr>
          <p:cNvPr id="13" name="MCP servers box"/>
          <p:cNvSpPr/>
          <p:nvPr/>
        </p:nvSpPr>
        <p:spPr>
          <a:xfrm>
            <a:off x="548640" y="4800600"/>
            <a:ext cx="1837944" cy="1234440"/>
          </a:xfrm>
          <a:prstGeom prst="roundRect">
            <a:avLst>
              <a:gd name="adj" fmla="val 10370"/>
            </a:avLst>
          </a:prstGeom>
          <a:solidFill>
            <a:schemeClr val="bg2"/>
          </a:solidFill>
          <a:ln/>
        </p:spPr>
      </p:sp>
      <p:pic>
        <p:nvPicPr>
          <p:cNvPr id="14" name="MCP servers icon" descr="preencoded.png">    </p:cNvPr>
          <p:cNvPicPr>
            <a:picLocks noChangeAspect="1"/>
          </p:cNvPicPr>
          <p:nvPr/>
        </p:nvPicPr>
        <p:blipFill>
          <a:blip r:embed="rId2"/>
          <a:stretch>
            <a:fillRect/>
          </a:stretch>
        </p:blipFill>
        <p:spPr>
          <a:xfrm>
            <a:off x="1261872" y="4956048"/>
            <a:ext cx="411480" cy="411480"/>
          </a:xfrm>
          <a:prstGeom prst="rect">
            <a:avLst/>
          </a:prstGeom>
        </p:spPr>
      </p:pic>
      <p:sp>
        <p:nvSpPr>
          <p:cNvPr id="15" name="Text 11"/>
          <p:cNvSpPr txBox="1"/>
          <p:nvPr/>
        </p:nvSpPr>
        <p:spPr>
          <a:xfrm>
            <a:off x="640080"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MCP servers</a:t>
            </a:r>
            <a:endParaRPr lang="en-US" sz="1500" dirty="0"/>
          </a:p>
        </p:txBody>
      </p:sp>
      <p:sp>
        <p:nvSpPr>
          <p:cNvPr id="16" name="A2A agents box"/>
          <p:cNvSpPr/>
          <p:nvPr/>
        </p:nvSpPr>
        <p:spPr>
          <a:xfrm>
            <a:off x="2496312" y="4800600"/>
            <a:ext cx="1837944" cy="1234440"/>
          </a:xfrm>
          <a:prstGeom prst="roundRect">
            <a:avLst>
              <a:gd name="adj" fmla="val 10370"/>
            </a:avLst>
          </a:prstGeom>
          <a:solidFill>
            <a:schemeClr val="bg2"/>
          </a:solidFill>
          <a:ln/>
        </p:spPr>
      </p:sp>
      <p:pic>
        <p:nvPicPr>
          <p:cNvPr id="17" name="A2A agents icon" descr="preencoded.png">    </p:cNvPr>
          <p:cNvPicPr>
            <a:picLocks noChangeAspect="1"/>
          </p:cNvPicPr>
          <p:nvPr/>
        </p:nvPicPr>
        <p:blipFill>
          <a:blip r:embed="rId3"/>
          <a:stretch>
            <a:fillRect/>
          </a:stretch>
        </p:blipFill>
        <p:spPr>
          <a:xfrm>
            <a:off x="3209544" y="4956048"/>
            <a:ext cx="411480" cy="411480"/>
          </a:xfrm>
          <a:prstGeom prst="rect">
            <a:avLst/>
          </a:prstGeom>
        </p:spPr>
      </p:pic>
      <p:sp>
        <p:nvSpPr>
          <p:cNvPr id="18" name="Text 13"/>
          <p:cNvSpPr txBox="1"/>
          <p:nvPr/>
        </p:nvSpPr>
        <p:spPr>
          <a:xfrm>
            <a:off x="2587752"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A2A agents</a:t>
            </a:r>
            <a:endParaRPr lang="en-US" sz="1500" dirty="0"/>
          </a:p>
        </p:txBody>
      </p:sp>
      <p:sp>
        <p:nvSpPr>
          <p:cNvPr id="19" name="Agent Skills box"/>
          <p:cNvSpPr/>
          <p:nvPr/>
        </p:nvSpPr>
        <p:spPr>
          <a:xfrm>
            <a:off x="4443984" y="4800600"/>
            <a:ext cx="1837944" cy="1234440"/>
          </a:xfrm>
          <a:prstGeom prst="roundRect">
            <a:avLst>
              <a:gd name="adj" fmla="val 10370"/>
            </a:avLst>
          </a:prstGeom>
          <a:solidFill>
            <a:schemeClr val="bg2"/>
          </a:solidFill>
          <a:ln/>
        </p:spPr>
      </p:sp>
      <p:pic>
        <p:nvPicPr>
          <p:cNvPr id="20" name="Agent Skills icon" descr="preencoded.png">    </p:cNvPr>
          <p:cNvPicPr>
            <a:picLocks noChangeAspect="1"/>
          </p:cNvPicPr>
          <p:nvPr/>
        </p:nvPicPr>
        <p:blipFill>
          <a:blip r:embed="rId4"/>
          <a:stretch>
            <a:fillRect/>
          </a:stretch>
        </p:blipFill>
        <p:spPr>
          <a:xfrm>
            <a:off x="5157216" y="4956048"/>
            <a:ext cx="411480" cy="411480"/>
          </a:xfrm>
          <a:prstGeom prst="rect">
            <a:avLst/>
          </a:prstGeom>
        </p:spPr>
      </p:pic>
      <p:sp>
        <p:nvSpPr>
          <p:cNvPr id="21" name="Text 15"/>
          <p:cNvSpPr txBox="1"/>
          <p:nvPr/>
        </p:nvSpPr>
        <p:spPr>
          <a:xfrm>
            <a:off x="4535424"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Agent Skills</a:t>
            </a:r>
            <a:endParaRPr lang="en-US" sz="1500" dirty="0"/>
          </a:p>
        </p:txBody>
      </p:sp>
      <p:sp>
        <p:nvSpPr>
          <p:cNvPr id="22" name="APIs &amp; services box"/>
          <p:cNvSpPr/>
          <p:nvPr/>
        </p:nvSpPr>
        <p:spPr>
          <a:xfrm>
            <a:off x="6391656" y="4800600"/>
            <a:ext cx="1837944" cy="1234440"/>
          </a:xfrm>
          <a:prstGeom prst="roundRect">
            <a:avLst>
              <a:gd name="adj" fmla="val 10370"/>
            </a:avLst>
          </a:prstGeom>
          <a:solidFill>
            <a:schemeClr val="bg2"/>
          </a:solidFill>
          <a:ln/>
        </p:spPr>
      </p:sp>
      <p:pic>
        <p:nvPicPr>
          <p:cNvPr id="23" name="APIs &amp; services icon" descr="preencoded.png">    </p:cNvPr>
          <p:cNvPicPr>
            <a:picLocks noChangeAspect="1"/>
          </p:cNvPicPr>
          <p:nvPr/>
        </p:nvPicPr>
        <p:blipFill>
          <a:blip r:embed="rId5"/>
          <a:stretch>
            <a:fillRect/>
          </a:stretch>
        </p:blipFill>
        <p:spPr>
          <a:xfrm>
            <a:off x="7104888" y="4956048"/>
            <a:ext cx="411480" cy="411480"/>
          </a:xfrm>
          <a:prstGeom prst="rect">
            <a:avLst/>
          </a:prstGeom>
        </p:spPr>
      </p:pic>
      <p:sp>
        <p:nvSpPr>
          <p:cNvPr id="24" name="Text 17"/>
          <p:cNvSpPr txBox="1"/>
          <p:nvPr/>
        </p:nvSpPr>
        <p:spPr>
          <a:xfrm>
            <a:off x="6483096"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APIs &amp; services</a:t>
            </a:r>
            <a:endParaRPr lang="en-US" sz="1500" dirty="0"/>
          </a:p>
        </p:txBody>
      </p:sp>
      <p:sp>
        <p:nvSpPr>
          <p:cNvPr id="25" name="Out of scope card"/>
          <p:cNvSpPr/>
          <p:nvPr/>
        </p:nvSpPr>
        <p:spPr>
          <a:xfrm>
            <a:off x="8641080" y="2011680"/>
            <a:ext cx="2999232" cy="4023360"/>
          </a:xfrm>
          <a:prstGeom prst="roundRect">
            <a:avLst>
              <a:gd name="adj" fmla="val 4268"/>
            </a:avLst>
          </a:prstGeom>
          <a:solidFill>
            <a:schemeClr val="bg1"/>
          </a:solidFill>
          <a:ln w="15875">
            <a:solidFill>
              <a:srgbClr val="B6B0D0"/>
            </a:solidFill>
            <a:prstDash val="solid"/>
          </a:ln>
        </p:spPr>
      </p:sp>
      <p:sp>
        <p:nvSpPr>
          <p:cNvPr id="26" name="Text 19"/>
          <p:cNvSpPr txBox="1"/>
          <p:nvPr/>
        </p:nvSpPr>
        <p:spPr>
          <a:xfrm>
            <a:off x="8915400" y="2240280"/>
            <a:ext cx="2560320" cy="365760"/>
          </a:xfrm>
          <a:prstGeom prst="rect">
            <a:avLst/>
          </a:prstGeom>
          <a:noFill/>
          <a:ln/>
        </p:spPr>
        <p:txBody>
          <a:bodyPr wrap="square" lIns="0" tIns="0" rIns="0" bIns="0" rtlCol="0" anchor="t"/>
          <a:lstStyle/>
          <a:p>
            <a:pPr indent="0" marL="0">
              <a:buNone/>
            </a:pPr>
            <a:r>
              <a:rPr lang="en-US" sz="1800" b="1" dirty="0">
                <a:solidFill>
                  <a:schemeClr val="tx1"/>
                </a:solidFill>
              </a:rPr>
              <a:t>Left to others</a:t>
            </a:r>
            <a:endParaRPr lang="en-US" sz="1800" dirty="0"/>
          </a:p>
        </p:txBody>
      </p:sp>
      <p:sp>
        <p:nvSpPr>
          <p:cNvPr id="27" name="Text 20"/>
          <p:cNvSpPr txBox="1"/>
          <p:nvPr/>
        </p:nvSpPr>
        <p:spPr>
          <a:xfrm>
            <a:off x="8915400" y="2788920"/>
            <a:ext cx="2560320" cy="347472"/>
          </a:xfrm>
          <a:prstGeom prst="rect">
            <a:avLst/>
          </a:prstGeom>
          <a:noFill/>
          <a:ln/>
        </p:spPr>
        <p:txBody>
          <a:bodyPr wrap="square" lIns="0" tIns="0" rIns="0" bIns="0" rtlCol="0" anchor="t"/>
          <a:lstStyle/>
          <a:p>
            <a:pPr indent="0" marL="0">
              <a:buNone/>
            </a:pPr>
            <a:r>
              <a:rPr lang="en-US" sz="1600" b="1" dirty="0">
                <a:solidFill>
                  <a:schemeClr val="accent4"/>
                </a:solidFill>
              </a:rPr>
              <a:t>Authentication</a:t>
            </a:r>
            <a:endParaRPr lang="en-US" sz="1600" dirty="0"/>
          </a:p>
        </p:txBody>
      </p:sp>
      <p:sp>
        <p:nvSpPr>
          <p:cNvPr id="28" name="Text 21"/>
          <p:cNvSpPr txBox="1"/>
          <p:nvPr/>
        </p:nvSpPr>
        <p:spPr>
          <a:xfrm>
            <a:off x="8915400" y="3136392"/>
            <a:ext cx="2560320" cy="548640"/>
          </a:xfrm>
          <a:prstGeom prst="rect">
            <a:avLst/>
          </a:prstGeom>
          <a:noFill/>
          <a:ln/>
        </p:spPr>
        <p:txBody>
          <a:bodyPr wrap="square" lIns="0" tIns="0" rIns="0" bIns="0" rtlCol="0" anchor="t"/>
          <a:lstStyle/>
          <a:p>
            <a:pPr indent="0" marL="0">
              <a:buNone/>
            </a:pPr>
            <a:r>
              <a:rPr lang="en-US" sz="1500" dirty="0">
                <a:solidFill>
                  <a:schemeClr val="accent6"/>
                </a:solidFill>
              </a:rPr>
              <a:t>The resource’s own protocol</a:t>
            </a:r>
            <a:endParaRPr lang="en-US" sz="1500" dirty="0"/>
          </a:p>
        </p:txBody>
      </p:sp>
      <p:sp>
        <p:nvSpPr>
          <p:cNvPr id="29" name="Text 22"/>
          <p:cNvSpPr txBox="1"/>
          <p:nvPr/>
        </p:nvSpPr>
        <p:spPr>
          <a:xfrm>
            <a:off x="8915400" y="3813048"/>
            <a:ext cx="2560320" cy="347472"/>
          </a:xfrm>
          <a:prstGeom prst="rect">
            <a:avLst/>
          </a:prstGeom>
          <a:noFill/>
          <a:ln/>
        </p:spPr>
        <p:txBody>
          <a:bodyPr wrap="square" lIns="0" tIns="0" rIns="0" bIns="0" rtlCol="0" anchor="t"/>
          <a:lstStyle/>
          <a:p>
            <a:pPr indent="0" marL="0">
              <a:buNone/>
            </a:pPr>
            <a:r>
              <a:rPr lang="en-US" sz="1600" b="1" dirty="0">
                <a:solidFill>
                  <a:schemeClr val="accent4"/>
                </a:solidFill>
              </a:rPr>
              <a:t>Distribution</a:t>
            </a:r>
            <a:endParaRPr lang="en-US" sz="1600" dirty="0"/>
          </a:p>
        </p:txBody>
      </p:sp>
      <p:sp>
        <p:nvSpPr>
          <p:cNvPr id="30" name="Text 23"/>
          <p:cNvSpPr txBox="1"/>
          <p:nvPr/>
        </p:nvSpPr>
        <p:spPr>
          <a:xfrm>
            <a:off x="8915400" y="4160520"/>
            <a:ext cx="2560320" cy="548640"/>
          </a:xfrm>
          <a:prstGeom prst="rect">
            <a:avLst/>
          </a:prstGeom>
          <a:noFill/>
          <a:ln/>
        </p:spPr>
        <p:txBody>
          <a:bodyPr wrap="square" lIns="0" tIns="0" rIns="0" bIns="0" rtlCol="0" anchor="t"/>
          <a:lstStyle/>
          <a:p>
            <a:pPr indent="0" marL="0">
              <a:buNone/>
            </a:pPr>
            <a:r>
              <a:rPr lang="en-US" sz="1500" dirty="0">
                <a:solidFill>
                  <a:schemeClr val="accent6"/>
                </a:solidFill>
              </a:rPr>
              <a:t>OCI, npm, git…</a:t>
            </a:r>
            <a:endParaRPr lang="en-US" sz="1500" dirty="0"/>
          </a:p>
        </p:txBody>
      </p:sp>
      <p:sp>
        <p:nvSpPr>
          <p:cNvPr id="31" name="Text 24"/>
          <p:cNvSpPr txBox="1"/>
          <p:nvPr/>
        </p:nvSpPr>
        <p:spPr>
          <a:xfrm>
            <a:off x="8915400" y="4837176"/>
            <a:ext cx="2560320" cy="347472"/>
          </a:xfrm>
          <a:prstGeom prst="rect">
            <a:avLst/>
          </a:prstGeom>
          <a:noFill/>
          <a:ln/>
        </p:spPr>
        <p:txBody>
          <a:bodyPr wrap="square" lIns="0" tIns="0" rIns="0" bIns="0" rtlCol="0" anchor="t"/>
          <a:lstStyle/>
          <a:p>
            <a:pPr indent="0" marL="0">
              <a:buNone/>
            </a:pPr>
            <a:r>
              <a:rPr lang="en-US" sz="1600" b="1" dirty="0">
                <a:solidFill>
                  <a:schemeClr val="accent4"/>
                </a:solidFill>
              </a:rPr>
              <a:t>Invocation</a:t>
            </a:r>
            <a:endParaRPr lang="en-US" sz="1600" dirty="0"/>
          </a:p>
        </p:txBody>
      </p:sp>
      <p:sp>
        <p:nvSpPr>
          <p:cNvPr id="32" name="Text 25"/>
          <p:cNvSpPr txBox="1"/>
          <p:nvPr/>
        </p:nvSpPr>
        <p:spPr>
          <a:xfrm>
            <a:off x="8915400" y="5184648"/>
            <a:ext cx="2560320" cy="548640"/>
          </a:xfrm>
          <a:prstGeom prst="rect">
            <a:avLst/>
          </a:prstGeom>
          <a:noFill/>
          <a:ln/>
        </p:spPr>
        <p:txBody>
          <a:bodyPr wrap="square" lIns="0" tIns="0" rIns="0" bIns="0" rtlCol="0" anchor="t"/>
          <a:lstStyle/>
          <a:p>
            <a:pPr indent="0" marL="0">
              <a:buNone/>
            </a:pPr>
            <a:r>
              <a:rPr lang="en-US" sz="1500" dirty="0">
                <a:solidFill>
                  <a:schemeClr val="accent6"/>
                </a:solidFill>
              </a:rPr>
              <a:t>MCP, A2A, HTTP…</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Each resource is described by one small JSON-LD entry</a:t>
            </a:r>
            <a:endParaRPr lang="en-US" sz="3200" dirty="0"/>
          </a:p>
        </p:txBody>
      </p:sp>
      <p:sp>
        <p:nvSpPr>
          <p:cNvPr id="4" name="Entry JSON"/>
          <p:cNvSpPr/>
          <p:nvPr/>
        </p:nvSpPr>
        <p:spPr>
          <a:xfrm>
            <a:off x="548640" y="1965960"/>
            <a:ext cx="6400800" cy="4114800"/>
          </a:xfrm>
          <a:prstGeom prst="roundRect">
            <a:avLst>
              <a:gd name="adj" fmla="val 3111"/>
            </a:avLst>
          </a:prstGeom>
          <a:solidFill>
            <a:schemeClr val="bg2"/>
          </a:solidFill>
          <a:ln/>
        </p:spPr>
      </p:sp>
      <p:sp>
        <p:nvSpPr>
          <p:cNvPr id="5" name="Text 3"/>
          <p:cNvSpPr txBox="1"/>
          <p:nvPr/>
        </p:nvSpPr>
        <p:spPr>
          <a:xfrm>
            <a:off x="822960" y="2194560"/>
            <a:ext cx="5943600" cy="3749040"/>
          </a:xfrm>
          <a:prstGeom prst="rect">
            <a:avLst/>
          </a:prstGeom>
          <a:noFill/>
          <a:ln/>
        </p:spPr>
        <p:txBody>
          <a:bodyPr wrap="square" lIns="0" tIns="0" rIns="0" bIns="0" rtlCol="0" anchor="t"/>
          <a:lstStyle/>
          <a:p>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"identifier"</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"urn:air:acme.com:server:weather"</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"displayName"</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"Weather Data Node"</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"type"</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"application/mcp-server-card+json"</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"url"</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"https://api.acme.com/mcp/weather.json"</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5A4FA0"/>
                </a:solidFill>
                <a:latin typeface="Consolas" pitchFamily="34" charset="0"/>
                <a:ea typeface="Consolas" pitchFamily="34" charset="-122"/>
                <a:cs typeface="Consolas" pitchFamily="34" charset="-120"/>
              </a:rPr>
              <a:t>  "representativeQueries"</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endParaRPr lang="en-US" sz="1300" dirty="0"/>
          </a:p>
          <a:p>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    "what is the current wind speed in Chicago"</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    "get the 5-day forecast for Seattle"</a:t>
            </a:r>
            <a:endParaRPr lang="en-US" sz="1300" dirty="0"/>
          </a:p>
          <a:p>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endParaRPr lang="en-US" sz="1300" dirty="0"/>
          </a:p>
          <a:p>
            <a:pPr indent="0" marL="0">
              <a:lnSpc>
                <a:spcPct val="125000"/>
              </a:lnSpc>
              <a:buNone/>
            </a:pPr>
            <a:r>
              <a:rPr lang="en-US" sz="1300" dirty="0">
                <a:solidFill>
                  <a:srgbClr val="6E6A7C"/>
                </a:solidFill>
                <a:latin typeface="Consolas" pitchFamily="34" charset="0"/>
                <a:ea typeface="Consolas" pitchFamily="34" charset="-122"/>
                <a:cs typeface="Consolas" pitchFamily="34" charset="-120"/>
              </a:rPr>
              <a:t>  "capabilities"</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["WeatherTool", "ForecastTool"]</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dirty="0">
                <a:solidFill>
                  <a:srgbClr val="6E6A7C"/>
                </a:solidFill>
                <a:latin typeface="Consolas" pitchFamily="34" charset="0"/>
                <a:ea typeface="Consolas" pitchFamily="34" charset="-122"/>
                <a:cs typeface="Consolas" pitchFamily="34" charset="-120"/>
              </a:rPr>
              <a:t>  "description"</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"Weather MCP server for live telemetry."</a:t>
            </a:r>
            <a:endParaRPr lang="en-US" sz="1300" dirty="0"/>
          </a:p>
          <a:p>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p:txBody>
      </p:sp>
      <p:sp>
        <p:nvSpPr>
          <p:cNvPr id="6" name="MUST chip"/>
          <p:cNvSpPr/>
          <p:nvPr/>
        </p:nvSpPr>
        <p:spPr>
          <a:xfrm>
            <a:off x="7269480" y="2002536"/>
            <a:ext cx="1051560" cy="365760"/>
          </a:xfrm>
          <a:prstGeom prst="roundRect">
            <a:avLst>
              <a:gd name="adj" fmla="val 50000"/>
            </a:avLst>
          </a:prstGeom>
          <a:solidFill>
            <a:schemeClr val="accent2"/>
          </a:solidFill>
          <a:ln/>
        </p:spPr>
      </p:sp>
      <p:sp>
        <p:nvSpPr>
          <p:cNvPr id="7" name="Text 5"/>
          <p:cNvSpPr txBox="1"/>
          <p:nvPr/>
        </p:nvSpPr>
        <p:spPr>
          <a:xfrm>
            <a:off x="7269480" y="2002536"/>
            <a:ext cx="1051560" cy="365760"/>
          </a:xfrm>
          <a:prstGeom prst="rect">
            <a:avLst/>
          </a:prstGeom>
          <a:noFill/>
          <a:ln/>
        </p:spPr>
        <p:txBody>
          <a:bodyPr wrap="square" lIns="0" tIns="0" rIns="0" bIns="0" rtlCol="0" anchor="ctr"/>
          <a:lstStyle/>
          <a:p>
            <a:pPr algn="ctr" indent="0" marL="0">
              <a:buNone/>
            </a:pPr>
            <a:r>
              <a:rPr lang="en-US" sz="1300" b="1" dirty="0">
                <a:solidFill>
                  <a:schemeClr val="bg1"/>
                </a:solidFill>
              </a:rPr>
              <a:t>MUST</a:t>
            </a:r>
            <a:endParaRPr lang="en-US" sz="1300" dirty="0"/>
          </a:p>
        </p:txBody>
      </p:sp>
      <p:sp>
        <p:nvSpPr>
          <p:cNvPr id="8" name="Text 6"/>
          <p:cNvSpPr txBox="1"/>
          <p:nvPr/>
        </p:nvSpPr>
        <p:spPr>
          <a:xfrm>
            <a:off x="8503920" y="1965960"/>
            <a:ext cx="3136392" cy="1005840"/>
          </a:xfrm>
          <a:prstGeom prst="rect">
            <a:avLst/>
          </a:prstGeom>
          <a:noFill/>
          <a:ln/>
        </p:spPr>
        <p:txBody>
          <a:bodyPr wrap="square" lIns="0" tIns="0" rIns="0" bIns="0" rtlCol="0" anchor="t"/>
          <a:lstStyle/>
          <a:p>
            <a:pPr indent="0" marL="0">
              <a:buNone/>
            </a:pPr>
            <a:r>
              <a:rPr lang="en-US" sz="1500" dirty="0">
                <a:solidFill>
                  <a:schemeClr val="tx1"/>
                </a:solidFill>
              </a:rPr>
              <a:t>identifier, displayName, type, and exactly one of url or data</a:t>
            </a:r>
            <a:endParaRPr lang="en-US" sz="1500" dirty="0"/>
          </a:p>
        </p:txBody>
      </p:sp>
      <p:sp>
        <p:nvSpPr>
          <p:cNvPr id="9" name="SHOULD chip"/>
          <p:cNvSpPr/>
          <p:nvPr/>
        </p:nvSpPr>
        <p:spPr>
          <a:xfrm>
            <a:off x="7269480" y="3099816"/>
            <a:ext cx="1051560" cy="365760"/>
          </a:xfrm>
          <a:prstGeom prst="roundRect">
            <a:avLst>
              <a:gd name="adj" fmla="val 50000"/>
            </a:avLst>
          </a:prstGeom>
          <a:solidFill>
            <a:schemeClr val="accent4"/>
          </a:solidFill>
          <a:ln/>
        </p:spPr>
      </p:sp>
      <p:sp>
        <p:nvSpPr>
          <p:cNvPr id="10" name="Text 8"/>
          <p:cNvSpPr txBox="1"/>
          <p:nvPr/>
        </p:nvSpPr>
        <p:spPr>
          <a:xfrm>
            <a:off x="7269480" y="3099816"/>
            <a:ext cx="1051560" cy="365760"/>
          </a:xfrm>
          <a:prstGeom prst="rect">
            <a:avLst/>
          </a:prstGeom>
          <a:noFill/>
          <a:ln/>
        </p:spPr>
        <p:txBody>
          <a:bodyPr wrap="square" lIns="0" tIns="0" rIns="0" bIns="0" rtlCol="0" anchor="ctr"/>
          <a:lstStyle/>
          <a:p>
            <a:pPr algn="ctr" indent="0" marL="0">
              <a:buNone/>
            </a:pPr>
            <a:r>
              <a:rPr lang="en-US" sz="1300" b="1" dirty="0">
                <a:solidFill>
                  <a:schemeClr val="bg1"/>
                </a:solidFill>
              </a:rPr>
              <a:t>SHOULD</a:t>
            </a:r>
            <a:endParaRPr lang="en-US" sz="1300" dirty="0"/>
          </a:p>
        </p:txBody>
      </p:sp>
      <p:sp>
        <p:nvSpPr>
          <p:cNvPr id="11" name="Text 9"/>
          <p:cNvSpPr txBox="1"/>
          <p:nvPr/>
        </p:nvSpPr>
        <p:spPr>
          <a:xfrm>
            <a:off x="8503920" y="3063240"/>
            <a:ext cx="3136392" cy="1005840"/>
          </a:xfrm>
          <a:prstGeom prst="rect">
            <a:avLst/>
          </a:prstGeom>
          <a:noFill/>
          <a:ln/>
        </p:spPr>
        <p:txBody>
          <a:bodyPr wrap="square" lIns="0" tIns="0" rIns="0" bIns="0" rtlCol="0" anchor="t"/>
          <a:lstStyle/>
          <a:p>
            <a:pPr indent="0" marL="0">
              <a:buNone/>
            </a:pPr>
            <a:r>
              <a:rPr lang="en-US" sz="1500" dirty="0">
                <a:solidFill>
                  <a:schemeClr val="tx1"/>
                </a:solidFill>
              </a:rPr>
              <a:t>representativeQueries: 2–5 requests it serves. This is what search indexes; leave it out and nobody finds you.</a:t>
            </a:r>
            <a:endParaRPr lang="en-US" sz="1500" dirty="0"/>
          </a:p>
        </p:txBody>
      </p:sp>
      <p:sp>
        <p:nvSpPr>
          <p:cNvPr id="12" name="MAY chip"/>
          <p:cNvSpPr/>
          <p:nvPr/>
        </p:nvSpPr>
        <p:spPr>
          <a:xfrm>
            <a:off x="7269480" y="4197096"/>
            <a:ext cx="1051560" cy="365760"/>
          </a:xfrm>
          <a:prstGeom prst="roundRect">
            <a:avLst>
              <a:gd name="adj" fmla="val 50000"/>
            </a:avLst>
          </a:prstGeom>
          <a:solidFill>
            <a:schemeClr val="accent6"/>
          </a:solidFill>
          <a:ln/>
        </p:spPr>
      </p:sp>
      <p:sp>
        <p:nvSpPr>
          <p:cNvPr id="13" name="Text 11"/>
          <p:cNvSpPr txBox="1"/>
          <p:nvPr/>
        </p:nvSpPr>
        <p:spPr>
          <a:xfrm>
            <a:off x="7269480" y="4197096"/>
            <a:ext cx="1051560" cy="365760"/>
          </a:xfrm>
          <a:prstGeom prst="rect">
            <a:avLst/>
          </a:prstGeom>
          <a:noFill/>
          <a:ln/>
        </p:spPr>
        <p:txBody>
          <a:bodyPr wrap="square" lIns="0" tIns="0" rIns="0" bIns="0" rtlCol="0" anchor="ctr"/>
          <a:lstStyle/>
          <a:p>
            <a:pPr algn="ctr" indent="0" marL="0">
              <a:buNone/>
            </a:pPr>
            <a:r>
              <a:rPr lang="en-US" sz="1300" b="1" dirty="0">
                <a:solidFill>
                  <a:schemeClr val="bg1"/>
                </a:solidFill>
              </a:rPr>
              <a:t>MAY</a:t>
            </a:r>
            <a:endParaRPr lang="en-US" sz="1300" dirty="0"/>
          </a:p>
        </p:txBody>
      </p:sp>
      <p:sp>
        <p:nvSpPr>
          <p:cNvPr id="14" name="Text 12"/>
          <p:cNvSpPr txBox="1"/>
          <p:nvPr/>
        </p:nvSpPr>
        <p:spPr>
          <a:xfrm>
            <a:off x="8503920" y="4160520"/>
            <a:ext cx="3136392" cy="1005840"/>
          </a:xfrm>
          <a:prstGeom prst="rect">
            <a:avLst/>
          </a:prstGeom>
          <a:noFill/>
          <a:ln/>
        </p:spPr>
        <p:txBody>
          <a:bodyPr wrap="square" lIns="0" tIns="0" rIns="0" bIns="0" rtlCol="0" anchor="t"/>
          <a:lstStyle/>
          <a:p>
            <a:pPr indent="0" marL="0">
              <a:buNone/>
            </a:pPr>
            <a:r>
              <a:rPr lang="en-US" sz="1500" dirty="0">
                <a:solidFill>
                  <a:schemeClr val="tx1"/>
                </a:solidFill>
              </a:rPr>
              <a:t>capabilities for fast filtering, plus description, tags, version and trustManifest</a:t>
            </a:r>
            <a:endParaRPr lang="en-US" sz="1500" dirty="0"/>
          </a:p>
        </p:txBody>
      </p:sp>
      <p:sp>
        <p:nvSpPr>
          <p:cNvPr id="15" name="Context note"/>
          <p:cNvSpPr/>
          <p:nvPr/>
        </p:nvSpPr>
        <p:spPr>
          <a:xfrm>
            <a:off x="7269480" y="5257800"/>
            <a:ext cx="4370832" cy="822960"/>
          </a:xfrm>
          <a:prstGeom prst="roundRect">
            <a:avLst>
              <a:gd name="adj" fmla="val 15556"/>
            </a:avLst>
          </a:prstGeom>
          <a:solidFill>
            <a:schemeClr val="bg2"/>
          </a:solidFill>
          <a:ln/>
        </p:spPr>
      </p:sp>
      <p:sp>
        <p:nvSpPr>
          <p:cNvPr id="16" name="Text 14"/>
          <p:cNvSpPr txBox="1"/>
          <p:nvPr/>
        </p:nvSpPr>
        <p:spPr>
          <a:xfrm>
            <a:off x="7498080" y="5257800"/>
            <a:ext cx="3977640" cy="822960"/>
          </a:xfrm>
          <a:prstGeom prst="rect">
            <a:avLst/>
          </a:prstGeom>
          <a:noFill/>
          <a:ln/>
        </p:spPr>
        <p:txBody>
          <a:bodyPr wrap="square" lIns="0" tIns="0" rIns="0" bIns="0" rtlCol="0" anchor="ctr"/>
          <a:lstStyle/>
          <a:p>
            <a:pPr indent="0" marL="0">
              <a:buNone/>
            </a:pPr>
            <a:r>
              <a:rPr lang="en-US" sz="1400" dirty="0">
                <a:solidFill>
                  <a:schemeClr val="tx1"/>
                </a:solidFill>
              </a:rPr>
              <a:t>Add your own vocabulary through @context; new terms become filters with no spec change.</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The identifier names the resource; the URL only says where it lives</a:t>
            </a:r>
            <a:endParaRPr lang="en-US" sz="3200" dirty="0"/>
          </a:p>
        </p:txBody>
      </p:sp>
      <p:sp>
        <p:nvSpPr>
          <p:cNvPr id="4" name="URN segment 1"/>
          <p:cNvSpPr/>
          <p:nvPr/>
        </p:nvSpPr>
        <p:spPr>
          <a:xfrm>
            <a:off x="548640" y="2057400"/>
            <a:ext cx="1554480" cy="731520"/>
          </a:xfrm>
          <a:prstGeom prst="roundRect">
            <a:avLst>
              <a:gd name="adj" fmla="val 12500"/>
            </a:avLst>
          </a:prstGeom>
          <a:solidFill>
            <a:schemeClr val="tx2"/>
          </a:solidFill>
          <a:ln/>
        </p:spPr>
      </p:sp>
      <p:sp>
        <p:nvSpPr>
          <p:cNvPr id="5" name="Text 3"/>
          <p:cNvSpPr txBox="1"/>
          <p:nvPr/>
        </p:nvSpPr>
        <p:spPr>
          <a:xfrm>
            <a:off x="548640" y="2057400"/>
            <a:ext cx="155448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Consolas" pitchFamily="34" charset="0"/>
                <a:ea typeface="Consolas" pitchFamily="34" charset="-122"/>
                <a:cs typeface="Consolas" pitchFamily="34" charset="-120"/>
              </a:rPr>
              <a:t>urn:air</a:t>
            </a:r>
            <a:endParaRPr lang="en-US" sz="2400" dirty="0"/>
          </a:p>
        </p:txBody>
      </p:sp>
      <p:sp>
        <p:nvSpPr>
          <p:cNvPr id="6" name="Text 4"/>
          <p:cNvSpPr txBox="1"/>
          <p:nvPr/>
        </p:nvSpPr>
        <p:spPr>
          <a:xfrm>
            <a:off x="594360" y="2880360"/>
            <a:ext cx="1463040" cy="594360"/>
          </a:xfrm>
          <a:prstGeom prst="rect">
            <a:avLst/>
          </a:prstGeom>
          <a:noFill/>
          <a:ln/>
        </p:spPr>
        <p:txBody>
          <a:bodyPr wrap="square" lIns="0" tIns="0" rIns="0" bIns="0" rtlCol="0" anchor="t"/>
          <a:lstStyle/>
          <a:p>
            <a:pPr indent="0" marL="0">
              <a:buNone/>
            </a:pPr>
            <a:r>
              <a:rPr lang="en-US" sz="1300" dirty="0">
                <a:solidFill>
                  <a:schemeClr val="accent6"/>
                </a:solidFill>
              </a:rPr>
              <a:t>The ARD URN scheme</a:t>
            </a:r>
            <a:endParaRPr lang="en-US" sz="1300" dirty="0"/>
          </a:p>
        </p:txBody>
      </p:sp>
      <p:sp>
        <p:nvSpPr>
          <p:cNvPr id="7" name="Text 5"/>
          <p:cNvSpPr txBox="1"/>
          <p:nvPr/>
        </p:nvSpPr>
        <p:spPr>
          <a:xfrm>
            <a:off x="2103120" y="2057400"/>
            <a:ext cx="2743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Consolas" pitchFamily="34" charset="0"/>
                <a:ea typeface="Consolas" pitchFamily="34" charset="-122"/>
                <a:cs typeface="Consolas" pitchFamily="34" charset="-120"/>
              </a:rPr>
              <a:t>:</a:t>
            </a:r>
            <a:endParaRPr lang="en-US" sz="2600" dirty="0"/>
          </a:p>
        </p:txBody>
      </p:sp>
      <p:sp>
        <p:nvSpPr>
          <p:cNvPr id="8" name="URN segment 2"/>
          <p:cNvSpPr/>
          <p:nvPr/>
        </p:nvSpPr>
        <p:spPr>
          <a:xfrm>
            <a:off x="2377440" y="2057400"/>
            <a:ext cx="2194560" cy="731520"/>
          </a:xfrm>
          <a:prstGeom prst="roundRect">
            <a:avLst>
              <a:gd name="adj" fmla="val 12500"/>
            </a:avLst>
          </a:prstGeom>
          <a:solidFill>
            <a:schemeClr val="accent1"/>
          </a:solidFill>
          <a:ln/>
        </p:spPr>
      </p:sp>
      <p:sp>
        <p:nvSpPr>
          <p:cNvPr id="9" name="Text 7"/>
          <p:cNvSpPr txBox="1"/>
          <p:nvPr/>
        </p:nvSpPr>
        <p:spPr>
          <a:xfrm>
            <a:off x="2377440" y="2057400"/>
            <a:ext cx="2194560" cy="731520"/>
          </a:xfrm>
          <a:prstGeom prst="rect">
            <a:avLst/>
          </a:prstGeom>
          <a:noFill/>
          <a:ln/>
        </p:spPr>
        <p:txBody>
          <a:bodyPr wrap="square" lIns="0" tIns="0" rIns="0" bIns="0" rtlCol="0" anchor="ctr"/>
          <a:lstStyle/>
          <a:p>
            <a:pPr algn="ctr" indent="0" marL="0">
              <a:buNone/>
            </a:pPr>
            <a:r>
              <a:rPr lang="en-US" sz="2400" b="1" dirty="0">
                <a:solidFill>
                  <a:schemeClr val="tx1"/>
                </a:solidFill>
                <a:latin typeface="Consolas" pitchFamily="34" charset="0"/>
                <a:ea typeface="Consolas" pitchFamily="34" charset="-122"/>
                <a:cs typeface="Consolas" pitchFamily="34" charset="-120"/>
              </a:rPr>
              <a:t>acme.com</a:t>
            </a:r>
            <a:endParaRPr lang="en-US" sz="2400" dirty="0"/>
          </a:p>
        </p:txBody>
      </p:sp>
      <p:sp>
        <p:nvSpPr>
          <p:cNvPr id="10" name="Text 8"/>
          <p:cNvSpPr txBox="1"/>
          <p:nvPr/>
        </p:nvSpPr>
        <p:spPr>
          <a:xfrm>
            <a:off x="2423160" y="2880360"/>
            <a:ext cx="2103120" cy="594360"/>
          </a:xfrm>
          <a:prstGeom prst="rect">
            <a:avLst/>
          </a:prstGeom>
          <a:noFill/>
          <a:ln/>
        </p:spPr>
        <p:txBody>
          <a:bodyPr wrap="square" lIns="0" tIns="0" rIns="0" bIns="0" rtlCol="0" anchor="t"/>
          <a:lstStyle/>
          <a:p>
            <a:pPr indent="0" marL="0">
              <a:buNone/>
            </a:pPr>
            <a:r>
              <a:rPr lang="en-US" sz="1300" dirty="0">
                <a:solidFill>
                  <a:schemeClr val="accent6"/>
                </a:solidFill>
              </a:rPr>
              <a:t>Publisher: a real domain, the authority anchor</a:t>
            </a:r>
            <a:endParaRPr lang="en-US" sz="1300" dirty="0"/>
          </a:p>
        </p:txBody>
      </p:sp>
      <p:sp>
        <p:nvSpPr>
          <p:cNvPr id="11" name="Text 9"/>
          <p:cNvSpPr txBox="1"/>
          <p:nvPr/>
        </p:nvSpPr>
        <p:spPr>
          <a:xfrm>
            <a:off x="4572000" y="2057400"/>
            <a:ext cx="2743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Consolas" pitchFamily="34" charset="0"/>
                <a:ea typeface="Consolas" pitchFamily="34" charset="-122"/>
                <a:cs typeface="Consolas" pitchFamily="34" charset="-120"/>
              </a:rPr>
              <a:t>:</a:t>
            </a:r>
            <a:endParaRPr lang="en-US" sz="2600" dirty="0"/>
          </a:p>
        </p:txBody>
      </p:sp>
      <p:sp>
        <p:nvSpPr>
          <p:cNvPr id="12" name="URN segment 3"/>
          <p:cNvSpPr/>
          <p:nvPr/>
        </p:nvSpPr>
        <p:spPr>
          <a:xfrm>
            <a:off x="4846320" y="2057400"/>
            <a:ext cx="1737360" cy="731520"/>
          </a:xfrm>
          <a:prstGeom prst="roundRect">
            <a:avLst>
              <a:gd name="adj" fmla="val 12500"/>
            </a:avLst>
          </a:prstGeom>
          <a:solidFill>
            <a:schemeClr val="accent3"/>
          </a:solidFill>
          <a:ln/>
        </p:spPr>
      </p:sp>
      <p:sp>
        <p:nvSpPr>
          <p:cNvPr id="13" name="Text 11"/>
          <p:cNvSpPr txBox="1"/>
          <p:nvPr/>
        </p:nvSpPr>
        <p:spPr>
          <a:xfrm>
            <a:off x="4846320" y="2057400"/>
            <a:ext cx="1737360" cy="731520"/>
          </a:xfrm>
          <a:prstGeom prst="rect">
            <a:avLst/>
          </a:prstGeom>
          <a:noFill/>
          <a:ln/>
        </p:spPr>
        <p:txBody>
          <a:bodyPr wrap="square" lIns="0" tIns="0" rIns="0" bIns="0" rtlCol="0" anchor="ctr"/>
          <a:lstStyle/>
          <a:p>
            <a:pPr algn="ctr" indent="0" marL="0">
              <a:buNone/>
            </a:pPr>
            <a:r>
              <a:rPr lang="en-US" sz="2400" b="1" dirty="0">
                <a:solidFill>
                  <a:schemeClr val="tx1"/>
                </a:solidFill>
                <a:latin typeface="Consolas" pitchFamily="34" charset="0"/>
                <a:ea typeface="Consolas" pitchFamily="34" charset="-122"/>
                <a:cs typeface="Consolas" pitchFamily="34" charset="-120"/>
              </a:rPr>
              <a:t>server</a:t>
            </a:r>
            <a:endParaRPr lang="en-US" sz="2400" dirty="0"/>
          </a:p>
        </p:txBody>
      </p:sp>
      <p:sp>
        <p:nvSpPr>
          <p:cNvPr id="14" name="Text 12"/>
          <p:cNvSpPr txBox="1"/>
          <p:nvPr/>
        </p:nvSpPr>
        <p:spPr>
          <a:xfrm>
            <a:off x="4892040" y="2880360"/>
            <a:ext cx="1645920" cy="594360"/>
          </a:xfrm>
          <a:prstGeom prst="rect">
            <a:avLst/>
          </a:prstGeom>
          <a:noFill/>
          <a:ln/>
        </p:spPr>
        <p:txBody>
          <a:bodyPr wrap="square" lIns="0" tIns="0" rIns="0" bIns="0" rtlCol="0" anchor="t"/>
          <a:lstStyle/>
          <a:p>
            <a:pPr indent="0" marL="0">
              <a:buNone/>
            </a:pPr>
            <a:r>
              <a:rPr lang="en-US" sz="1300" dirty="0">
                <a:solidFill>
                  <a:schemeClr val="accent6"/>
                </a:solidFill>
              </a:rPr>
              <a:t>Optional namespace</a:t>
            </a:r>
            <a:endParaRPr lang="en-US" sz="1300" dirty="0"/>
          </a:p>
        </p:txBody>
      </p:sp>
      <p:sp>
        <p:nvSpPr>
          <p:cNvPr id="15" name="Text 13"/>
          <p:cNvSpPr txBox="1"/>
          <p:nvPr/>
        </p:nvSpPr>
        <p:spPr>
          <a:xfrm>
            <a:off x="6583680" y="2057400"/>
            <a:ext cx="2743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Consolas" pitchFamily="34" charset="0"/>
                <a:ea typeface="Consolas" pitchFamily="34" charset="-122"/>
                <a:cs typeface="Consolas" pitchFamily="34" charset="-120"/>
              </a:rPr>
              <a:t>:</a:t>
            </a:r>
            <a:endParaRPr lang="en-US" sz="2600" dirty="0"/>
          </a:p>
        </p:txBody>
      </p:sp>
      <p:sp>
        <p:nvSpPr>
          <p:cNvPr id="16" name="URN segment 4"/>
          <p:cNvSpPr/>
          <p:nvPr/>
        </p:nvSpPr>
        <p:spPr>
          <a:xfrm>
            <a:off x="6858000" y="2057400"/>
            <a:ext cx="1920240" cy="731520"/>
          </a:xfrm>
          <a:prstGeom prst="roundRect">
            <a:avLst>
              <a:gd name="adj" fmla="val 12500"/>
            </a:avLst>
          </a:prstGeom>
          <a:solidFill>
            <a:schemeClr val="bg2"/>
          </a:solidFill>
          <a:ln/>
        </p:spPr>
      </p:sp>
      <p:sp>
        <p:nvSpPr>
          <p:cNvPr id="17" name="Text 15"/>
          <p:cNvSpPr txBox="1"/>
          <p:nvPr/>
        </p:nvSpPr>
        <p:spPr>
          <a:xfrm>
            <a:off x="6858000" y="2057400"/>
            <a:ext cx="1920240" cy="731520"/>
          </a:xfrm>
          <a:prstGeom prst="rect">
            <a:avLst/>
          </a:prstGeom>
          <a:noFill/>
          <a:ln/>
        </p:spPr>
        <p:txBody>
          <a:bodyPr wrap="square" lIns="0" tIns="0" rIns="0" bIns="0" rtlCol="0" anchor="ctr"/>
          <a:lstStyle/>
          <a:p>
            <a:pPr algn="ctr" indent="0" marL="0">
              <a:buNone/>
            </a:pPr>
            <a:r>
              <a:rPr lang="en-US" sz="2400" b="1" dirty="0">
                <a:solidFill>
                  <a:schemeClr val="tx1"/>
                </a:solidFill>
                <a:latin typeface="Consolas" pitchFamily="34" charset="0"/>
                <a:ea typeface="Consolas" pitchFamily="34" charset="-122"/>
                <a:cs typeface="Consolas" pitchFamily="34" charset="-120"/>
              </a:rPr>
              <a:t>weather</a:t>
            </a:r>
            <a:endParaRPr lang="en-US" sz="2400" dirty="0"/>
          </a:p>
        </p:txBody>
      </p:sp>
      <p:sp>
        <p:nvSpPr>
          <p:cNvPr id="18" name="Text 16"/>
          <p:cNvSpPr txBox="1"/>
          <p:nvPr/>
        </p:nvSpPr>
        <p:spPr>
          <a:xfrm>
            <a:off x="6903720" y="2880360"/>
            <a:ext cx="1828800" cy="594360"/>
          </a:xfrm>
          <a:prstGeom prst="rect">
            <a:avLst/>
          </a:prstGeom>
          <a:noFill/>
          <a:ln/>
        </p:spPr>
        <p:txBody>
          <a:bodyPr wrap="square" lIns="0" tIns="0" rIns="0" bIns="0" rtlCol="0" anchor="t"/>
          <a:lstStyle/>
          <a:p>
            <a:pPr indent="0" marL="0">
              <a:buNone/>
            </a:pPr>
            <a:r>
              <a:rPr lang="en-US" sz="1300" dirty="0">
                <a:solidFill>
                  <a:schemeClr val="accent6"/>
                </a:solidFill>
              </a:rPr>
              <a:t>Resource name</a:t>
            </a:r>
            <a:endParaRPr lang="en-US" sz="1300" dirty="0"/>
          </a:p>
        </p:txBody>
      </p:sp>
      <p:sp>
        <p:nvSpPr>
          <p:cNvPr id="19" name="Text 17"/>
          <p:cNvSpPr txBox="1"/>
          <p:nvPr/>
        </p:nvSpPr>
        <p:spPr>
          <a:xfrm>
            <a:off x="548640" y="3383280"/>
            <a:ext cx="11091672" cy="365760"/>
          </a:xfrm>
          <a:prstGeom prst="rect">
            <a:avLst/>
          </a:prstGeom>
          <a:noFill/>
          <a:ln/>
        </p:spPr>
        <p:txBody>
          <a:bodyPr wrap="square" lIns="0" tIns="0" rIns="0" bIns="0" rtlCol="0" anchor="t"/>
          <a:lstStyle/>
          <a:p>
            <a:pPr indent="0" marL="0">
              <a:buNone/>
            </a:pPr>
            <a:r>
              <a:rPr lang="en-US" sz="1500" dirty="0">
                <a:solidFill>
                  <a:schemeClr val="accent6"/>
                </a:solidFill>
              </a:rPr>
              <a:t>A solo developer’s skill:   </a:t>
            </a:r>
            <a:pPr indent="0" marL="0">
              <a:buNone/>
            </a:pPr>
            <a:r>
              <a:rPr lang="en-US" sz="1500" b="1" dirty="0">
                <a:solidFill>
                  <a:schemeClr val="tx1"/>
                </a:solidFill>
                <a:latin typeface="Consolas" pitchFamily="34" charset="0"/>
                <a:ea typeface="Consolas" pitchFamily="34" charset="-122"/>
                <a:cs typeface="Consolas" pitchFamily="34" charset="-120"/>
              </a:rPr>
              <a:t>urn:air:github.com:alice-dev:pptx-creator</a:t>
            </a:r>
            <a:endParaRPr lang="en-US" sz="1500" dirty="0"/>
          </a:p>
        </p:txBody>
      </p:sp>
      <p:sp>
        <p:nvSpPr>
          <p:cNvPr id="20" name="Stable card"/>
          <p:cNvSpPr/>
          <p:nvPr/>
        </p:nvSpPr>
        <p:spPr>
          <a:xfrm>
            <a:off x="548640" y="3977640"/>
            <a:ext cx="3575304" cy="2103120"/>
          </a:xfrm>
          <a:prstGeom prst="roundRect">
            <a:avLst>
              <a:gd name="adj" fmla="val 6087"/>
            </a:avLst>
          </a:prstGeom>
          <a:solidFill>
            <a:schemeClr val="bg2"/>
          </a:solidFill>
          <a:ln/>
        </p:spPr>
      </p:sp>
      <p:sp>
        <p:nvSpPr>
          <p:cNvPr id="21" name="Stable circle"/>
          <p:cNvSpPr/>
          <p:nvPr/>
        </p:nvSpPr>
        <p:spPr>
          <a:xfrm>
            <a:off x="822960" y="4160520"/>
            <a:ext cx="594360" cy="594360"/>
          </a:xfrm>
          <a:prstGeom prst="ellipse">
            <a:avLst/>
          </a:prstGeom>
          <a:solidFill>
            <a:schemeClr val="accent5"/>
          </a:solidFill>
          <a:ln/>
        </p:spPr>
      </p:sp>
      <p:pic>
        <p:nvPicPr>
          <p:cNvPr id="22" name="Stable icon" descr="preencoded.png">    </p:cNvPr>
          <p:cNvPicPr>
            <a:picLocks noChangeAspect="1"/>
          </p:cNvPicPr>
          <p:nvPr/>
        </p:nvPicPr>
        <p:blipFill>
          <a:blip r:embed="rId1"/>
          <a:stretch>
            <a:fillRect/>
          </a:stretch>
        </p:blipFill>
        <p:spPr>
          <a:xfrm>
            <a:off x="971550" y="4309110"/>
            <a:ext cx="297180" cy="297180"/>
          </a:xfrm>
          <a:prstGeom prst="rect">
            <a:avLst/>
          </a:prstGeom>
        </p:spPr>
      </p:pic>
      <p:sp>
        <p:nvSpPr>
          <p:cNvPr id="23" name="Text 20"/>
          <p:cNvSpPr txBox="1"/>
          <p:nvPr/>
        </p:nvSpPr>
        <p:spPr>
          <a:xfrm>
            <a:off x="1554480" y="4251960"/>
            <a:ext cx="2377440" cy="411480"/>
          </a:xfrm>
          <a:prstGeom prst="rect">
            <a:avLst/>
          </a:prstGeom>
          <a:noFill/>
          <a:ln/>
        </p:spPr>
        <p:txBody>
          <a:bodyPr wrap="square" lIns="0" tIns="0" rIns="0" bIns="0" rtlCol="0" anchor="ctr"/>
          <a:lstStyle/>
          <a:p>
            <a:pPr indent="0" marL="0">
              <a:buNone/>
            </a:pPr>
            <a:r>
              <a:rPr lang="en-US" sz="1900" b="1" dirty="0">
                <a:solidFill>
                  <a:schemeClr val="tx1"/>
                </a:solidFill>
              </a:rPr>
              <a:t>Stable</a:t>
            </a:r>
            <a:endParaRPr lang="en-US" sz="1900" dirty="0"/>
          </a:p>
        </p:txBody>
      </p:sp>
      <p:sp>
        <p:nvSpPr>
          <p:cNvPr id="24" name="Text 21"/>
          <p:cNvSpPr txBox="1"/>
          <p:nvPr/>
        </p:nvSpPr>
        <p:spPr>
          <a:xfrm>
            <a:off x="822960" y="4892040"/>
            <a:ext cx="3063240" cy="1097280"/>
          </a:xfrm>
          <a:prstGeom prst="rect">
            <a:avLst/>
          </a:prstGeom>
          <a:noFill/>
          <a:ln/>
        </p:spPr>
        <p:txBody>
          <a:bodyPr wrap="square" lIns="0" tIns="0" rIns="0" bIns="0" rtlCol="0" anchor="t"/>
          <a:lstStyle/>
          <a:p>
            <a:pPr indent="0" marL="0">
              <a:buNone/>
            </a:pPr>
            <a:r>
              <a:rPr lang="en-US" sz="1500" dirty="0">
                <a:solidFill>
                  <a:schemeClr val="tx1"/>
                </a:solidFill>
              </a:rPr>
              <a:t>Hosting can move; the name doesn’t. Location lives in url.</a:t>
            </a:r>
            <a:endParaRPr lang="en-US" sz="1500" dirty="0"/>
          </a:p>
        </p:txBody>
      </p:sp>
      <p:sp>
        <p:nvSpPr>
          <p:cNvPr id="25" name="Verifiable card"/>
          <p:cNvSpPr/>
          <p:nvPr/>
        </p:nvSpPr>
        <p:spPr>
          <a:xfrm>
            <a:off x="4306824" y="3977640"/>
            <a:ext cx="3575304" cy="2103120"/>
          </a:xfrm>
          <a:prstGeom prst="roundRect">
            <a:avLst>
              <a:gd name="adj" fmla="val 6087"/>
            </a:avLst>
          </a:prstGeom>
          <a:solidFill>
            <a:schemeClr val="bg2"/>
          </a:solidFill>
          <a:ln/>
        </p:spPr>
      </p:sp>
      <p:sp>
        <p:nvSpPr>
          <p:cNvPr id="26" name="Verifiable circle"/>
          <p:cNvSpPr/>
          <p:nvPr/>
        </p:nvSpPr>
        <p:spPr>
          <a:xfrm>
            <a:off x="4581144" y="4160520"/>
            <a:ext cx="594360" cy="594360"/>
          </a:xfrm>
          <a:prstGeom prst="ellipse">
            <a:avLst/>
          </a:prstGeom>
          <a:solidFill>
            <a:schemeClr val="accent5"/>
          </a:solidFill>
          <a:ln/>
        </p:spPr>
      </p:sp>
      <p:pic>
        <p:nvPicPr>
          <p:cNvPr id="27" name="Verifiable icon" descr="preencoded.png">    </p:cNvPr>
          <p:cNvPicPr>
            <a:picLocks noChangeAspect="1"/>
          </p:cNvPicPr>
          <p:nvPr/>
        </p:nvPicPr>
        <p:blipFill>
          <a:blip r:embed="rId2"/>
          <a:stretch>
            <a:fillRect/>
          </a:stretch>
        </p:blipFill>
        <p:spPr>
          <a:xfrm>
            <a:off x="4729734" y="4309110"/>
            <a:ext cx="297180" cy="297180"/>
          </a:xfrm>
          <a:prstGeom prst="rect">
            <a:avLst/>
          </a:prstGeom>
        </p:spPr>
      </p:pic>
      <p:sp>
        <p:nvSpPr>
          <p:cNvPr id="28" name="Text 24"/>
          <p:cNvSpPr txBox="1"/>
          <p:nvPr/>
        </p:nvSpPr>
        <p:spPr>
          <a:xfrm>
            <a:off x="5312664" y="4251960"/>
            <a:ext cx="2377440" cy="411480"/>
          </a:xfrm>
          <a:prstGeom prst="rect">
            <a:avLst/>
          </a:prstGeom>
          <a:noFill/>
          <a:ln/>
        </p:spPr>
        <p:txBody>
          <a:bodyPr wrap="square" lIns="0" tIns="0" rIns="0" bIns="0" rtlCol="0" anchor="ctr"/>
          <a:lstStyle/>
          <a:p>
            <a:pPr indent="0" marL="0">
              <a:buNone/>
            </a:pPr>
            <a:r>
              <a:rPr lang="en-US" sz="1900" b="1" dirty="0">
                <a:solidFill>
                  <a:schemeClr val="tx1"/>
                </a:solidFill>
              </a:rPr>
              <a:t>Verifiable</a:t>
            </a:r>
            <a:endParaRPr lang="en-US" sz="1900" dirty="0"/>
          </a:p>
        </p:txBody>
      </p:sp>
      <p:sp>
        <p:nvSpPr>
          <p:cNvPr id="29" name="Text 25"/>
          <p:cNvSpPr txBox="1"/>
          <p:nvPr/>
        </p:nvSpPr>
        <p:spPr>
          <a:xfrm>
            <a:off x="4581144" y="4892040"/>
            <a:ext cx="3063240" cy="1097280"/>
          </a:xfrm>
          <a:prstGeom prst="rect">
            <a:avLst/>
          </a:prstGeom>
          <a:noFill/>
          <a:ln/>
        </p:spPr>
        <p:txBody>
          <a:bodyPr wrap="square" lIns="0" tIns="0" rIns="0" bIns="0" rtlCol="0" anchor="t"/>
          <a:lstStyle/>
          <a:p>
            <a:pPr indent="0" marL="0">
              <a:buNone/>
            </a:pPr>
            <a:r>
              <a:rPr lang="en-US" sz="1500" dirty="0">
                <a:solidFill>
                  <a:schemeClr val="tx1"/>
                </a:solidFill>
              </a:rPr>
              <a:t>The publisher domain must match trustManifest.identity, so nobody can squat urn:air:google.com.</a:t>
            </a:r>
            <a:endParaRPr lang="en-US" sz="1500" dirty="0"/>
          </a:p>
        </p:txBody>
      </p:sp>
      <p:sp>
        <p:nvSpPr>
          <p:cNvPr id="30" name="Globally unique card"/>
          <p:cNvSpPr/>
          <p:nvPr/>
        </p:nvSpPr>
        <p:spPr>
          <a:xfrm>
            <a:off x="8065008" y="3977640"/>
            <a:ext cx="3575304" cy="2103120"/>
          </a:xfrm>
          <a:prstGeom prst="roundRect">
            <a:avLst>
              <a:gd name="adj" fmla="val 6087"/>
            </a:avLst>
          </a:prstGeom>
          <a:solidFill>
            <a:schemeClr val="bg2"/>
          </a:solidFill>
          <a:ln/>
        </p:spPr>
      </p:sp>
      <p:sp>
        <p:nvSpPr>
          <p:cNvPr id="31" name="Globally unique circle"/>
          <p:cNvSpPr/>
          <p:nvPr/>
        </p:nvSpPr>
        <p:spPr>
          <a:xfrm>
            <a:off x="8339328" y="4160520"/>
            <a:ext cx="594360" cy="594360"/>
          </a:xfrm>
          <a:prstGeom prst="ellipse">
            <a:avLst/>
          </a:prstGeom>
          <a:solidFill>
            <a:schemeClr val="accent5"/>
          </a:solidFill>
          <a:ln/>
        </p:spPr>
      </p:sp>
      <p:pic>
        <p:nvPicPr>
          <p:cNvPr id="32" name="Globally unique icon" descr="preencoded.png">    </p:cNvPr>
          <p:cNvPicPr>
            <a:picLocks noChangeAspect="1"/>
          </p:cNvPicPr>
          <p:nvPr/>
        </p:nvPicPr>
        <p:blipFill>
          <a:blip r:embed="rId3"/>
          <a:stretch>
            <a:fillRect/>
          </a:stretch>
        </p:blipFill>
        <p:spPr>
          <a:xfrm>
            <a:off x="8487918" y="4309110"/>
            <a:ext cx="297180" cy="297180"/>
          </a:xfrm>
          <a:prstGeom prst="rect">
            <a:avLst/>
          </a:prstGeom>
        </p:spPr>
      </p:pic>
      <p:sp>
        <p:nvSpPr>
          <p:cNvPr id="33" name="Text 28"/>
          <p:cNvSpPr txBox="1"/>
          <p:nvPr/>
        </p:nvSpPr>
        <p:spPr>
          <a:xfrm>
            <a:off x="9070848" y="4251960"/>
            <a:ext cx="2377440" cy="411480"/>
          </a:xfrm>
          <a:prstGeom prst="rect">
            <a:avLst/>
          </a:prstGeom>
          <a:noFill/>
          <a:ln/>
        </p:spPr>
        <p:txBody>
          <a:bodyPr wrap="square" lIns="0" tIns="0" rIns="0" bIns="0" rtlCol="0" anchor="ctr"/>
          <a:lstStyle/>
          <a:p>
            <a:pPr indent="0" marL="0">
              <a:buNone/>
            </a:pPr>
            <a:r>
              <a:rPr lang="en-US" sz="1900" b="1" dirty="0">
                <a:solidFill>
                  <a:schemeClr val="tx1"/>
                </a:solidFill>
              </a:rPr>
              <a:t>Globally unique</a:t>
            </a:r>
            <a:endParaRPr lang="en-US" sz="1900" dirty="0"/>
          </a:p>
        </p:txBody>
      </p:sp>
      <p:sp>
        <p:nvSpPr>
          <p:cNvPr id="34" name="Text 29"/>
          <p:cNvSpPr txBox="1"/>
          <p:nvPr/>
        </p:nvSpPr>
        <p:spPr>
          <a:xfrm>
            <a:off x="8339328" y="4892040"/>
            <a:ext cx="3063240" cy="1097280"/>
          </a:xfrm>
          <a:prstGeom prst="rect">
            <a:avLst/>
          </a:prstGeom>
          <a:noFill/>
          <a:ln/>
        </p:spPr>
        <p:txBody>
          <a:bodyPr wrap="square" lIns="0" tIns="0" rIns="0" bIns="0" rtlCol="0" anchor="t"/>
          <a:lstStyle/>
          <a:p>
            <a:pPr indent="0" marL="0">
              <a:buNone/>
            </a:pPr>
            <a:r>
              <a:rPr lang="en-US" sz="1500" dirty="0">
                <a:solidFill>
                  <a:schemeClr val="tx1"/>
                </a:solidFill>
              </a:rPr>
              <a:t>DNS already makes domains unique. Catalogues merge without collisions or a naming committee.</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Publishers can advertise their entries in five ways</a:t>
            </a:r>
            <a:endParaRPr lang="en-US" sz="3200" dirty="0"/>
          </a:p>
        </p:txBody>
      </p:sp>
      <p:sp>
        <p:nvSpPr>
          <p:cNvPr id="4" name="Publish row 1"/>
          <p:cNvSpPr/>
          <p:nvPr/>
        </p:nvSpPr>
        <p:spPr>
          <a:xfrm>
            <a:off x="548640" y="1965960"/>
            <a:ext cx="11091672" cy="713232"/>
          </a:xfrm>
          <a:prstGeom prst="roundRect">
            <a:avLst>
              <a:gd name="adj" fmla="val 17949"/>
            </a:avLst>
          </a:prstGeom>
          <a:solidFill>
            <a:schemeClr val="bg2"/>
          </a:solidFill>
          <a:ln/>
        </p:spPr>
      </p:sp>
      <p:sp>
        <p:nvSpPr>
          <p:cNvPr id="5" name="Well-known URI circle"/>
          <p:cNvSpPr/>
          <p:nvPr/>
        </p:nvSpPr>
        <p:spPr>
          <a:xfrm>
            <a:off x="731520" y="2066544"/>
            <a:ext cx="512064" cy="512064"/>
          </a:xfrm>
          <a:prstGeom prst="ellipse">
            <a:avLst/>
          </a:prstGeom>
          <a:solidFill>
            <a:schemeClr val="accent5"/>
          </a:solidFill>
          <a:ln/>
        </p:spPr>
      </p:sp>
      <p:pic>
        <p:nvPicPr>
          <p:cNvPr id="6" name="Well-known URI icon" descr="preencoded.png">    </p:cNvPr>
          <p:cNvPicPr>
            <a:picLocks noChangeAspect="1"/>
          </p:cNvPicPr>
          <p:nvPr/>
        </p:nvPicPr>
        <p:blipFill>
          <a:blip r:embed="rId1"/>
          <a:stretch>
            <a:fillRect/>
          </a:stretch>
        </p:blipFill>
        <p:spPr>
          <a:xfrm>
            <a:off x="859536" y="2194560"/>
            <a:ext cx="256032" cy="256032"/>
          </a:xfrm>
          <a:prstGeom prst="rect">
            <a:avLst/>
          </a:prstGeom>
        </p:spPr>
      </p:pic>
      <p:sp>
        <p:nvSpPr>
          <p:cNvPr id="7" name="Text 4"/>
          <p:cNvSpPr txBox="1"/>
          <p:nvPr/>
        </p:nvSpPr>
        <p:spPr>
          <a:xfrm>
            <a:off x="1463040" y="2039112"/>
            <a:ext cx="3108960" cy="329184"/>
          </a:xfrm>
          <a:prstGeom prst="rect">
            <a:avLst/>
          </a:prstGeom>
          <a:noFill/>
          <a:ln/>
        </p:spPr>
        <p:txBody>
          <a:bodyPr wrap="square" lIns="0" tIns="0" rIns="0" bIns="0" rtlCol="0" anchor="t"/>
          <a:lstStyle/>
          <a:p>
            <a:pPr indent="0" marL="0">
              <a:buNone/>
            </a:pPr>
            <a:r>
              <a:rPr lang="en-US" sz="1700" b="1" dirty="0">
                <a:solidFill>
                  <a:schemeClr val="tx1"/>
                </a:solidFill>
              </a:rPr>
              <a:t>Well-known URI</a:t>
            </a:r>
            <a:endParaRPr lang="en-US" sz="1700" dirty="0"/>
          </a:p>
        </p:txBody>
      </p:sp>
      <p:sp>
        <p:nvSpPr>
          <p:cNvPr id="8" name="Text 5"/>
          <p:cNvSpPr txBox="1"/>
          <p:nvPr/>
        </p:nvSpPr>
        <p:spPr>
          <a:xfrm>
            <a:off x="1463040" y="2350008"/>
            <a:ext cx="3291840" cy="274320"/>
          </a:xfrm>
          <a:prstGeom prst="rect">
            <a:avLst/>
          </a:prstGeom>
          <a:noFill/>
          <a:ln/>
        </p:spPr>
        <p:txBody>
          <a:bodyPr wrap="square" lIns="0" tIns="0" rIns="0" bIns="0" rtlCol="0" anchor="t"/>
          <a:lstStyle/>
          <a:p>
            <a:pPr indent="0" marL="0">
              <a:buNone/>
            </a:pPr>
            <a:r>
              <a:rPr lang="en-US" sz="1300" b="1" dirty="0">
                <a:solidFill>
                  <a:schemeClr val="accent2"/>
                </a:solidFill>
              </a:rPr>
              <a:t>Consumers MUST check it</a:t>
            </a:r>
            <a:endParaRPr lang="en-US" sz="1300" dirty="0"/>
          </a:p>
        </p:txBody>
      </p:sp>
      <p:sp>
        <p:nvSpPr>
          <p:cNvPr id="9" name="Text 6"/>
          <p:cNvSpPr txBox="1"/>
          <p:nvPr/>
        </p:nvSpPr>
        <p:spPr>
          <a:xfrm>
            <a:off x="4937760" y="1965960"/>
            <a:ext cx="6537960" cy="713232"/>
          </a:xfrm>
          <a:prstGeom prst="rect">
            <a:avLst/>
          </a:prstGeom>
          <a:noFill/>
          <a:ln/>
        </p:spPr>
        <p:txBody>
          <a:bodyPr wrap="square" lIns="0" tIns="0" rIns="0" bIns="0" rtlCol="0" anchor="ctr"/>
          <a:lstStyle/>
          <a:p>
            <a:pPr indent="0" marL="0">
              <a:buNone/>
            </a:pPr>
            <a:r>
              <a:rPr lang="en-US" sz="1500" dirty="0">
                <a:solidFill>
                  <a:schemeClr val="tx2"/>
                </a:solidFill>
                <a:latin typeface="Consolas" pitchFamily="34" charset="0"/>
                <a:ea typeface="Consolas" pitchFamily="34" charset="-122"/>
                <a:cs typeface="Consolas" pitchFamily="34" charset="-120"/>
              </a:rPr>
              <a:t>https://example.com/.well-known/ard.json</a:t>
            </a:r>
            <a:endParaRPr lang="en-US" sz="1500" dirty="0"/>
          </a:p>
        </p:txBody>
      </p:sp>
      <p:sp>
        <p:nvSpPr>
          <p:cNvPr id="10" name="Publish row 2"/>
          <p:cNvSpPr/>
          <p:nvPr/>
        </p:nvSpPr>
        <p:spPr>
          <a:xfrm>
            <a:off x="548640" y="2788920"/>
            <a:ext cx="11091672" cy="713232"/>
          </a:xfrm>
          <a:prstGeom prst="roundRect">
            <a:avLst>
              <a:gd name="adj" fmla="val 17949"/>
            </a:avLst>
          </a:prstGeom>
          <a:solidFill>
            <a:schemeClr val="bg2"/>
          </a:solidFill>
          <a:ln/>
        </p:spPr>
      </p:sp>
      <p:sp>
        <p:nvSpPr>
          <p:cNvPr id="11" name="HTML link tag circle"/>
          <p:cNvSpPr/>
          <p:nvPr/>
        </p:nvSpPr>
        <p:spPr>
          <a:xfrm>
            <a:off x="731520" y="2889504"/>
            <a:ext cx="512064" cy="512064"/>
          </a:xfrm>
          <a:prstGeom prst="ellipse">
            <a:avLst/>
          </a:prstGeom>
          <a:solidFill>
            <a:schemeClr val="accent5"/>
          </a:solidFill>
          <a:ln/>
        </p:spPr>
      </p:sp>
      <p:pic>
        <p:nvPicPr>
          <p:cNvPr id="12" name="HTML link tag icon" descr="preencoded.png">    </p:cNvPr>
          <p:cNvPicPr>
            <a:picLocks noChangeAspect="1"/>
          </p:cNvPicPr>
          <p:nvPr/>
        </p:nvPicPr>
        <p:blipFill>
          <a:blip r:embed="rId2"/>
          <a:stretch>
            <a:fillRect/>
          </a:stretch>
        </p:blipFill>
        <p:spPr>
          <a:xfrm>
            <a:off x="859536" y="3017520"/>
            <a:ext cx="256032" cy="256032"/>
          </a:xfrm>
          <a:prstGeom prst="rect">
            <a:avLst/>
          </a:prstGeom>
        </p:spPr>
      </p:pic>
      <p:sp>
        <p:nvSpPr>
          <p:cNvPr id="13" name="Text 9"/>
          <p:cNvSpPr txBox="1"/>
          <p:nvPr/>
        </p:nvSpPr>
        <p:spPr>
          <a:xfrm>
            <a:off x="1463040" y="2862072"/>
            <a:ext cx="3108960" cy="329184"/>
          </a:xfrm>
          <a:prstGeom prst="rect">
            <a:avLst/>
          </a:prstGeom>
          <a:noFill/>
          <a:ln/>
        </p:spPr>
        <p:txBody>
          <a:bodyPr wrap="square" lIns="0" tIns="0" rIns="0" bIns="0" rtlCol="0" anchor="t"/>
          <a:lstStyle/>
          <a:p>
            <a:pPr indent="0" marL="0">
              <a:buNone/>
            </a:pPr>
            <a:r>
              <a:rPr lang="en-US" sz="1700" b="1" dirty="0">
                <a:solidFill>
                  <a:schemeClr val="tx1"/>
                </a:solidFill>
              </a:rPr>
              <a:t>HTML link tag</a:t>
            </a:r>
            <a:endParaRPr lang="en-US" sz="1700" dirty="0"/>
          </a:p>
        </p:txBody>
      </p:sp>
      <p:sp>
        <p:nvSpPr>
          <p:cNvPr id="14" name="Text 10"/>
          <p:cNvSpPr txBox="1"/>
          <p:nvPr/>
        </p:nvSpPr>
        <p:spPr>
          <a:xfrm>
            <a:off x="1463040" y="3172968"/>
            <a:ext cx="3291840" cy="274320"/>
          </a:xfrm>
          <a:prstGeom prst="rect">
            <a:avLst/>
          </a:prstGeom>
          <a:noFill/>
          <a:ln/>
        </p:spPr>
        <p:txBody>
          <a:bodyPr wrap="square" lIns="0" tIns="0" rIns="0" bIns="0" rtlCol="0" anchor="t"/>
          <a:lstStyle/>
          <a:p>
            <a:pPr indent="0" marL="0">
              <a:buNone/>
            </a:pPr>
            <a:r>
              <a:rPr lang="en-US" sz="1300" b="1" dirty="0">
                <a:solidFill>
                  <a:schemeClr val="accent2"/>
                </a:solidFill>
              </a:rPr>
              <a:t>Consumers MUST honour it</a:t>
            </a:r>
            <a:endParaRPr lang="en-US" sz="1300" dirty="0"/>
          </a:p>
        </p:txBody>
      </p:sp>
      <p:sp>
        <p:nvSpPr>
          <p:cNvPr id="15" name="Text 11"/>
          <p:cNvSpPr txBox="1"/>
          <p:nvPr/>
        </p:nvSpPr>
        <p:spPr>
          <a:xfrm>
            <a:off x="4937760" y="2788920"/>
            <a:ext cx="6537960" cy="713232"/>
          </a:xfrm>
          <a:prstGeom prst="rect">
            <a:avLst/>
          </a:prstGeom>
          <a:noFill/>
          <a:ln/>
        </p:spPr>
        <p:txBody>
          <a:bodyPr wrap="square" lIns="0" tIns="0" rIns="0" bIns="0" rtlCol="0" anchor="ctr"/>
          <a:lstStyle/>
          <a:p>
            <a:pPr indent="0" marL="0">
              <a:buNone/>
            </a:pPr>
            <a:r>
              <a:rPr lang="en-US" sz="1500" dirty="0">
                <a:solidFill>
                  <a:schemeClr val="tx2"/>
                </a:solidFill>
                <a:latin typeface="Consolas" pitchFamily="34" charset="0"/>
                <a:ea typeface="Consolas" pitchFamily="34" charset="-122"/>
                <a:cs typeface="Consolas" pitchFamily="34" charset="-120"/>
              </a:rPr>
              <a:t>&lt;link rel="ard" href="/entries.json"&gt;</a:t>
            </a:r>
            <a:endParaRPr lang="en-US" sz="1500" dirty="0"/>
          </a:p>
        </p:txBody>
      </p:sp>
      <p:sp>
        <p:nvSpPr>
          <p:cNvPr id="16" name="Publish row 3"/>
          <p:cNvSpPr/>
          <p:nvPr/>
        </p:nvSpPr>
        <p:spPr>
          <a:xfrm>
            <a:off x="548640" y="3611880"/>
            <a:ext cx="11091672" cy="713232"/>
          </a:xfrm>
          <a:prstGeom prst="roundRect">
            <a:avLst>
              <a:gd name="adj" fmla="val 17949"/>
            </a:avLst>
          </a:prstGeom>
          <a:solidFill>
            <a:schemeClr val="bg1"/>
          </a:solidFill>
          <a:ln w="12700">
            <a:solidFill>
              <a:srgbClr val="E4E1EE"/>
            </a:solidFill>
            <a:prstDash val="solid"/>
          </a:ln>
        </p:spPr>
      </p:sp>
      <p:sp>
        <p:nvSpPr>
          <p:cNvPr id="17" name="In-page markup circle"/>
          <p:cNvSpPr/>
          <p:nvPr/>
        </p:nvSpPr>
        <p:spPr>
          <a:xfrm>
            <a:off x="731520" y="3712464"/>
            <a:ext cx="512064" cy="512064"/>
          </a:xfrm>
          <a:prstGeom prst="ellipse">
            <a:avLst/>
          </a:prstGeom>
          <a:solidFill>
            <a:schemeClr val="accent3"/>
          </a:solidFill>
          <a:ln/>
        </p:spPr>
      </p:sp>
      <p:pic>
        <p:nvPicPr>
          <p:cNvPr id="18" name="In-page markup icon" descr="preencoded.png">    </p:cNvPr>
          <p:cNvPicPr>
            <a:picLocks noChangeAspect="1"/>
          </p:cNvPicPr>
          <p:nvPr/>
        </p:nvPicPr>
        <p:blipFill>
          <a:blip r:embed="rId3"/>
          <a:stretch>
            <a:fillRect/>
          </a:stretch>
        </p:blipFill>
        <p:spPr>
          <a:xfrm>
            <a:off x="859536" y="3840480"/>
            <a:ext cx="256032" cy="256032"/>
          </a:xfrm>
          <a:prstGeom prst="rect">
            <a:avLst/>
          </a:prstGeom>
        </p:spPr>
      </p:pic>
      <p:sp>
        <p:nvSpPr>
          <p:cNvPr id="19" name="Text 14"/>
          <p:cNvSpPr txBox="1"/>
          <p:nvPr/>
        </p:nvSpPr>
        <p:spPr>
          <a:xfrm>
            <a:off x="1463040" y="3685032"/>
            <a:ext cx="3108960" cy="329184"/>
          </a:xfrm>
          <a:prstGeom prst="rect">
            <a:avLst/>
          </a:prstGeom>
          <a:noFill/>
          <a:ln/>
        </p:spPr>
        <p:txBody>
          <a:bodyPr wrap="square" lIns="0" tIns="0" rIns="0" bIns="0" rtlCol="0" anchor="t"/>
          <a:lstStyle/>
          <a:p>
            <a:pPr indent="0" marL="0">
              <a:buNone/>
            </a:pPr>
            <a:r>
              <a:rPr lang="en-US" sz="1700" b="1" dirty="0">
                <a:solidFill>
                  <a:schemeClr val="tx1"/>
                </a:solidFill>
              </a:rPr>
              <a:t>In-page markup</a:t>
            </a:r>
            <a:endParaRPr lang="en-US" sz="1700" dirty="0"/>
          </a:p>
        </p:txBody>
      </p:sp>
      <p:sp>
        <p:nvSpPr>
          <p:cNvPr id="20" name="Text 15"/>
          <p:cNvSpPr txBox="1"/>
          <p:nvPr/>
        </p:nvSpPr>
        <p:spPr>
          <a:xfrm>
            <a:off x="1463040" y="3995928"/>
            <a:ext cx="3291840" cy="274320"/>
          </a:xfrm>
          <a:prstGeom prst="rect">
            <a:avLst/>
          </a:prstGeom>
          <a:noFill/>
          <a:ln/>
        </p:spPr>
        <p:txBody>
          <a:bodyPr wrap="square" lIns="0" tIns="0" rIns="0" bIns="0" rtlCol="0" anchor="t"/>
          <a:lstStyle/>
          <a:p>
            <a:pPr indent="0" marL="0">
              <a:buNone/>
            </a:pPr>
            <a:r>
              <a:rPr lang="en-US" sz="1300" dirty="0">
                <a:solidFill>
                  <a:schemeClr val="accent6"/>
                </a:solidFill>
              </a:rPr>
              <a:t>JSON-LD on the resource’s own page</a:t>
            </a:r>
            <a:endParaRPr lang="en-US" sz="1300" dirty="0"/>
          </a:p>
        </p:txBody>
      </p:sp>
      <p:sp>
        <p:nvSpPr>
          <p:cNvPr id="21" name="Text 16"/>
          <p:cNvSpPr txBox="1"/>
          <p:nvPr/>
        </p:nvSpPr>
        <p:spPr>
          <a:xfrm>
            <a:off x="4937760" y="3611880"/>
            <a:ext cx="6537960" cy="713232"/>
          </a:xfrm>
          <a:prstGeom prst="rect">
            <a:avLst/>
          </a:prstGeom>
          <a:noFill/>
          <a:ln/>
        </p:spPr>
        <p:txBody>
          <a:bodyPr wrap="square" lIns="0" tIns="0" rIns="0" bIns="0" rtlCol="0" anchor="ctr"/>
          <a:lstStyle/>
          <a:p>
            <a:pPr indent="0" marL="0">
              <a:buNone/>
            </a:pPr>
            <a:r>
              <a:rPr lang="en-US" sz="1500" dirty="0">
                <a:solidFill>
                  <a:schemeClr val="tx2"/>
                </a:solidFill>
                <a:latin typeface="Consolas" pitchFamily="34" charset="0"/>
                <a:ea typeface="Consolas" pitchFamily="34" charset="-122"/>
                <a:cs typeface="Consolas" pitchFamily="34" charset="-120"/>
              </a:rPr>
              <a:t>&lt;script type="application/ld+json"&gt;</a:t>
            </a:r>
            <a:endParaRPr lang="en-US" sz="1500" dirty="0"/>
          </a:p>
        </p:txBody>
      </p:sp>
      <p:sp>
        <p:nvSpPr>
          <p:cNvPr id="22" name="Publish row 4"/>
          <p:cNvSpPr/>
          <p:nvPr/>
        </p:nvSpPr>
        <p:spPr>
          <a:xfrm>
            <a:off x="548640" y="4434840"/>
            <a:ext cx="11091672" cy="713232"/>
          </a:xfrm>
          <a:prstGeom prst="roundRect">
            <a:avLst>
              <a:gd name="adj" fmla="val 17949"/>
            </a:avLst>
          </a:prstGeom>
          <a:solidFill>
            <a:schemeClr val="bg1"/>
          </a:solidFill>
          <a:ln w="12700">
            <a:solidFill>
              <a:srgbClr val="E4E1EE"/>
            </a:solidFill>
            <a:prstDash val="solid"/>
          </a:ln>
        </p:spPr>
      </p:sp>
      <p:sp>
        <p:nvSpPr>
          <p:cNvPr id="23" name="robots.txt directive circle"/>
          <p:cNvSpPr/>
          <p:nvPr/>
        </p:nvSpPr>
        <p:spPr>
          <a:xfrm>
            <a:off x="731520" y="4535424"/>
            <a:ext cx="512064" cy="512064"/>
          </a:xfrm>
          <a:prstGeom prst="ellipse">
            <a:avLst/>
          </a:prstGeom>
          <a:solidFill>
            <a:schemeClr val="accent3"/>
          </a:solidFill>
          <a:ln/>
        </p:spPr>
      </p:sp>
      <p:pic>
        <p:nvPicPr>
          <p:cNvPr id="24" name="robots.txt directive icon" descr="preencoded.png">    </p:cNvPr>
          <p:cNvPicPr>
            <a:picLocks noChangeAspect="1"/>
          </p:cNvPicPr>
          <p:nvPr/>
        </p:nvPicPr>
        <p:blipFill>
          <a:blip r:embed="rId4"/>
          <a:stretch>
            <a:fillRect/>
          </a:stretch>
        </p:blipFill>
        <p:spPr>
          <a:xfrm>
            <a:off x="859536" y="4663440"/>
            <a:ext cx="256032" cy="256032"/>
          </a:xfrm>
          <a:prstGeom prst="rect">
            <a:avLst/>
          </a:prstGeom>
        </p:spPr>
      </p:pic>
      <p:sp>
        <p:nvSpPr>
          <p:cNvPr id="25" name="Text 19"/>
          <p:cNvSpPr txBox="1"/>
          <p:nvPr/>
        </p:nvSpPr>
        <p:spPr>
          <a:xfrm>
            <a:off x="1463040" y="4507992"/>
            <a:ext cx="3108960" cy="329184"/>
          </a:xfrm>
          <a:prstGeom prst="rect">
            <a:avLst/>
          </a:prstGeom>
          <a:noFill/>
          <a:ln/>
        </p:spPr>
        <p:txBody>
          <a:bodyPr wrap="square" lIns="0" tIns="0" rIns="0" bIns="0" rtlCol="0" anchor="t"/>
          <a:lstStyle/>
          <a:p>
            <a:pPr indent="0" marL="0">
              <a:buNone/>
            </a:pPr>
            <a:r>
              <a:rPr lang="en-US" sz="1700" b="1" dirty="0">
                <a:solidFill>
                  <a:schemeClr val="tx1"/>
                </a:solidFill>
              </a:rPr>
              <a:t>robots.txt directive</a:t>
            </a:r>
            <a:endParaRPr lang="en-US" sz="1700" dirty="0"/>
          </a:p>
        </p:txBody>
      </p:sp>
      <p:sp>
        <p:nvSpPr>
          <p:cNvPr id="26" name="Text 20"/>
          <p:cNvSpPr txBox="1"/>
          <p:nvPr/>
        </p:nvSpPr>
        <p:spPr>
          <a:xfrm>
            <a:off x="1463040" y="4818888"/>
            <a:ext cx="3291840" cy="274320"/>
          </a:xfrm>
          <a:prstGeom prst="rect">
            <a:avLst/>
          </a:prstGeom>
          <a:noFill/>
          <a:ln/>
        </p:spPr>
        <p:txBody>
          <a:bodyPr wrap="square" lIns="0" tIns="0" rIns="0" bIns="0" rtlCol="0" anchor="t"/>
          <a:lstStyle/>
          <a:p>
            <a:pPr indent="0" marL="0">
              <a:buNone/>
            </a:pPr>
            <a:r>
              <a:rPr lang="en-US" sz="1300" dirty="0">
                <a:solidFill>
                  <a:schemeClr val="accent6"/>
                </a:solidFill>
              </a:rPr>
              <a:t>Picked up by crawlers</a:t>
            </a:r>
            <a:endParaRPr lang="en-US" sz="1300" dirty="0"/>
          </a:p>
        </p:txBody>
      </p:sp>
      <p:sp>
        <p:nvSpPr>
          <p:cNvPr id="27" name="Text 21"/>
          <p:cNvSpPr txBox="1"/>
          <p:nvPr/>
        </p:nvSpPr>
        <p:spPr>
          <a:xfrm>
            <a:off x="4937760" y="4434840"/>
            <a:ext cx="6537960" cy="713232"/>
          </a:xfrm>
          <a:prstGeom prst="rect">
            <a:avLst/>
          </a:prstGeom>
          <a:noFill/>
          <a:ln/>
        </p:spPr>
        <p:txBody>
          <a:bodyPr wrap="square" lIns="0" tIns="0" rIns="0" bIns="0" rtlCol="0" anchor="ctr"/>
          <a:lstStyle/>
          <a:p>
            <a:pPr indent="0" marL="0">
              <a:buNone/>
            </a:pPr>
            <a:r>
              <a:rPr lang="en-US" sz="1500" dirty="0">
                <a:solidFill>
                  <a:schemeClr val="tx2"/>
                </a:solidFill>
                <a:latin typeface="Consolas" pitchFamily="34" charset="0"/>
                <a:ea typeface="Consolas" pitchFamily="34" charset="-122"/>
                <a:cs typeface="Consolas" pitchFamily="34" charset="-120"/>
              </a:rPr>
              <a:t>Agentmap: https://example.com/entries.json</a:t>
            </a:r>
            <a:endParaRPr lang="en-US" sz="1500" dirty="0"/>
          </a:p>
        </p:txBody>
      </p:sp>
      <p:sp>
        <p:nvSpPr>
          <p:cNvPr id="28" name="Publish row 5"/>
          <p:cNvSpPr/>
          <p:nvPr/>
        </p:nvSpPr>
        <p:spPr>
          <a:xfrm>
            <a:off x="548640" y="5257800"/>
            <a:ext cx="11091672" cy="713232"/>
          </a:xfrm>
          <a:prstGeom prst="roundRect">
            <a:avLst>
              <a:gd name="adj" fmla="val 17949"/>
            </a:avLst>
          </a:prstGeom>
          <a:solidFill>
            <a:schemeClr val="bg1"/>
          </a:solidFill>
          <a:ln w="12700">
            <a:solidFill>
              <a:srgbClr val="E4E1EE"/>
            </a:solidFill>
            <a:prstDash val="solid"/>
          </a:ln>
        </p:spPr>
      </p:sp>
      <p:sp>
        <p:nvSpPr>
          <p:cNvPr id="29" name="DNS records circle"/>
          <p:cNvSpPr/>
          <p:nvPr/>
        </p:nvSpPr>
        <p:spPr>
          <a:xfrm>
            <a:off x="731520" y="5358384"/>
            <a:ext cx="512064" cy="512064"/>
          </a:xfrm>
          <a:prstGeom prst="ellipse">
            <a:avLst/>
          </a:prstGeom>
          <a:solidFill>
            <a:schemeClr val="accent3"/>
          </a:solidFill>
          <a:ln/>
        </p:spPr>
      </p:sp>
      <p:pic>
        <p:nvPicPr>
          <p:cNvPr id="30" name="DNS records icon" descr="preencoded.png">    </p:cNvPr>
          <p:cNvPicPr>
            <a:picLocks noChangeAspect="1"/>
          </p:cNvPicPr>
          <p:nvPr/>
        </p:nvPicPr>
        <p:blipFill>
          <a:blip r:embed="rId5"/>
          <a:stretch>
            <a:fillRect/>
          </a:stretch>
        </p:blipFill>
        <p:spPr>
          <a:xfrm>
            <a:off x="859536" y="5486400"/>
            <a:ext cx="256032" cy="256032"/>
          </a:xfrm>
          <a:prstGeom prst="rect">
            <a:avLst/>
          </a:prstGeom>
        </p:spPr>
      </p:pic>
      <p:sp>
        <p:nvSpPr>
          <p:cNvPr id="31" name="Text 24"/>
          <p:cNvSpPr txBox="1"/>
          <p:nvPr/>
        </p:nvSpPr>
        <p:spPr>
          <a:xfrm>
            <a:off x="1463040" y="5330952"/>
            <a:ext cx="3108960" cy="329184"/>
          </a:xfrm>
          <a:prstGeom prst="rect">
            <a:avLst/>
          </a:prstGeom>
          <a:noFill/>
          <a:ln/>
        </p:spPr>
        <p:txBody>
          <a:bodyPr wrap="square" lIns="0" tIns="0" rIns="0" bIns="0" rtlCol="0" anchor="t"/>
          <a:lstStyle/>
          <a:p>
            <a:pPr indent="0" marL="0">
              <a:buNone/>
            </a:pPr>
            <a:r>
              <a:rPr lang="en-US" sz="1700" b="1" dirty="0">
                <a:solidFill>
                  <a:schemeClr val="tx1"/>
                </a:solidFill>
              </a:rPr>
              <a:t>DNS records</a:t>
            </a:r>
            <a:endParaRPr lang="en-US" sz="1700" dirty="0"/>
          </a:p>
        </p:txBody>
      </p:sp>
      <p:sp>
        <p:nvSpPr>
          <p:cNvPr id="32" name="Text 25"/>
          <p:cNvSpPr txBox="1"/>
          <p:nvPr/>
        </p:nvSpPr>
        <p:spPr>
          <a:xfrm>
            <a:off x="1463040" y="5641848"/>
            <a:ext cx="3291840" cy="274320"/>
          </a:xfrm>
          <a:prstGeom prst="rect">
            <a:avLst/>
          </a:prstGeom>
          <a:noFill/>
          <a:ln/>
        </p:spPr>
        <p:txBody>
          <a:bodyPr wrap="square" lIns="0" tIns="0" rIns="0" bIns="0" rtlCol="0" anchor="t"/>
          <a:lstStyle/>
          <a:p>
            <a:pPr indent="0" marL="0">
              <a:buNone/>
            </a:pPr>
            <a:r>
              <a:rPr lang="en-US" sz="1300" dirty="0">
                <a:solidFill>
                  <a:schemeClr val="accent6"/>
                </a:solidFill>
              </a:rPr>
              <a:t>Point at entries or a search endpoint</a:t>
            </a:r>
            <a:endParaRPr lang="en-US" sz="1300" dirty="0"/>
          </a:p>
        </p:txBody>
      </p:sp>
      <p:sp>
        <p:nvSpPr>
          <p:cNvPr id="33" name="Text 26"/>
          <p:cNvSpPr txBox="1"/>
          <p:nvPr/>
        </p:nvSpPr>
        <p:spPr>
          <a:xfrm>
            <a:off x="4937760" y="5257800"/>
            <a:ext cx="6537960" cy="713232"/>
          </a:xfrm>
          <a:prstGeom prst="rect">
            <a:avLst/>
          </a:prstGeom>
          <a:noFill/>
          <a:ln/>
        </p:spPr>
        <p:txBody>
          <a:bodyPr wrap="square" lIns="0" tIns="0" rIns="0" bIns="0" rtlCol="0" anchor="ctr"/>
          <a:lstStyle/>
          <a:p>
            <a:pPr indent="0" marL="0">
              <a:buNone/>
            </a:pPr>
            <a:r>
              <a:rPr lang="en-US" sz="1500" dirty="0">
                <a:solidFill>
                  <a:schemeClr val="tx2"/>
                </a:solidFill>
                <a:latin typeface="Consolas" pitchFamily="34" charset="0"/>
                <a:ea typeface="Consolas" pitchFamily="34" charset="-122"/>
                <a:cs typeface="Consolas" pitchFamily="34" charset="-120"/>
              </a:rPr>
              <a:t>_entries._agents.example.com</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Registries crawl entries and all answer the same REST search API</a:t>
            </a:r>
            <a:endParaRPr lang="en-US" sz="3200" dirty="0"/>
          </a:p>
        </p:txBody>
      </p:sp>
      <p:sp>
        <p:nvSpPr>
          <p:cNvPr id="4" name="Publishers box"/>
          <p:cNvSpPr/>
          <p:nvPr/>
        </p:nvSpPr>
        <p:spPr>
          <a:xfrm>
            <a:off x="548640" y="1965960"/>
            <a:ext cx="2514600" cy="1051560"/>
          </a:xfrm>
          <a:prstGeom prst="roundRect">
            <a:avLst>
              <a:gd name="adj" fmla="val 12174"/>
            </a:avLst>
          </a:prstGeom>
          <a:solidFill>
            <a:schemeClr val="bg2"/>
          </a:solidFill>
          <a:ln/>
        </p:spPr>
      </p:sp>
      <p:sp>
        <p:nvSpPr>
          <p:cNvPr id="5" name="Text 3"/>
          <p:cNvSpPr txBox="1"/>
          <p:nvPr/>
        </p:nvSpPr>
        <p:spPr>
          <a:xfrm>
            <a:off x="731520"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Publishers</a:t>
            </a:r>
            <a:endParaRPr lang="en-US" sz="1700" dirty="0"/>
          </a:p>
        </p:txBody>
      </p:sp>
      <p:sp>
        <p:nvSpPr>
          <p:cNvPr id="6" name="Text 4"/>
          <p:cNvSpPr txBox="1"/>
          <p:nvPr/>
        </p:nvSpPr>
        <p:spPr>
          <a:xfrm>
            <a:off x="731520" y="2423160"/>
            <a:ext cx="2240280" cy="548640"/>
          </a:xfrm>
          <a:prstGeom prst="rect">
            <a:avLst/>
          </a:prstGeom>
          <a:noFill/>
          <a:ln/>
        </p:spPr>
        <p:txBody>
          <a:bodyPr wrap="square" lIns="0" tIns="0" rIns="0" bIns="0" rtlCol="0" anchor="t"/>
          <a:lstStyle/>
          <a:p>
            <a:pPr indent="0" marL="0">
              <a:buNone/>
            </a:pPr>
            <a:r>
              <a:rPr lang="en-US" sz="1300" dirty="0">
                <a:solidFill>
                  <a:schemeClr val="accent6"/>
                </a:solidFill>
              </a:rPr>
              <a:t>ard.json, markup, DNS</a:t>
            </a:r>
            <a:endParaRPr lang="en-US" sz="1300" dirty="0"/>
          </a:p>
        </p:txBody>
      </p:sp>
      <p:sp>
        <p:nvSpPr>
          <p:cNvPr id="7" name="Flow arrow 1"/>
          <p:cNvSpPr/>
          <p:nvPr/>
        </p:nvSpPr>
        <p:spPr>
          <a:xfrm>
            <a:off x="3108960" y="2487168"/>
            <a:ext cx="256032" cy="0"/>
          </a:xfrm>
          <a:prstGeom prst="line">
            <a:avLst/>
          </a:prstGeom>
          <a:noFill/>
          <a:ln w="22225">
            <a:solidFill>
              <a:srgbClr val="474552"/>
            </a:solidFill>
            <a:prstDash val="solid"/>
            <a:tailEnd type="triangle"/>
          </a:ln>
        </p:spPr>
      </p:sp>
      <p:sp>
        <p:nvSpPr>
          <p:cNvPr id="8" name="Ingestion box"/>
          <p:cNvSpPr/>
          <p:nvPr/>
        </p:nvSpPr>
        <p:spPr>
          <a:xfrm>
            <a:off x="3410712" y="1965960"/>
            <a:ext cx="2514600" cy="1051560"/>
          </a:xfrm>
          <a:prstGeom prst="roundRect">
            <a:avLst>
              <a:gd name="adj" fmla="val 12174"/>
            </a:avLst>
          </a:prstGeom>
          <a:solidFill>
            <a:schemeClr val="bg2"/>
          </a:solidFill>
          <a:ln/>
        </p:spPr>
      </p:sp>
      <p:sp>
        <p:nvSpPr>
          <p:cNvPr id="9" name="Text 7"/>
          <p:cNvSpPr txBox="1"/>
          <p:nvPr/>
        </p:nvSpPr>
        <p:spPr>
          <a:xfrm>
            <a:off x="3593592"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Ingestion</a:t>
            </a:r>
            <a:endParaRPr lang="en-US" sz="1700" dirty="0"/>
          </a:p>
        </p:txBody>
      </p:sp>
      <p:sp>
        <p:nvSpPr>
          <p:cNvPr id="10" name="Text 8"/>
          <p:cNvSpPr txBox="1"/>
          <p:nvPr/>
        </p:nvSpPr>
        <p:spPr>
          <a:xfrm>
            <a:off x="3593592" y="2423160"/>
            <a:ext cx="2240280" cy="548640"/>
          </a:xfrm>
          <a:prstGeom prst="rect">
            <a:avLst/>
          </a:prstGeom>
          <a:noFill/>
          <a:ln/>
        </p:spPr>
        <p:txBody>
          <a:bodyPr wrap="square" lIns="0" tIns="0" rIns="0" bIns="0" rtlCol="0" anchor="t"/>
          <a:lstStyle/>
          <a:p>
            <a:pPr indent="0" marL="0">
              <a:buNone/>
            </a:pPr>
            <a:r>
              <a:rPr lang="en-US" sz="1300" dirty="0">
                <a:solidFill>
                  <a:schemeClr val="accent6"/>
                </a:solidFill>
              </a:rPr>
              <a:t>Web crawl required; git, npm, OCI optional</a:t>
            </a:r>
            <a:endParaRPr lang="en-US" sz="1300" dirty="0"/>
          </a:p>
        </p:txBody>
      </p:sp>
      <p:sp>
        <p:nvSpPr>
          <p:cNvPr id="11" name="Flow arrow 2"/>
          <p:cNvSpPr/>
          <p:nvPr/>
        </p:nvSpPr>
        <p:spPr>
          <a:xfrm>
            <a:off x="5971032" y="2487168"/>
            <a:ext cx="256032" cy="0"/>
          </a:xfrm>
          <a:prstGeom prst="line">
            <a:avLst/>
          </a:prstGeom>
          <a:noFill/>
          <a:ln w="22225">
            <a:solidFill>
              <a:srgbClr val="474552"/>
            </a:solidFill>
            <a:prstDash val="solid"/>
            <a:tailEnd type="triangle"/>
          </a:ln>
        </p:spPr>
      </p:sp>
      <p:sp>
        <p:nvSpPr>
          <p:cNvPr id="12" name="Registry index box"/>
          <p:cNvSpPr/>
          <p:nvPr/>
        </p:nvSpPr>
        <p:spPr>
          <a:xfrm>
            <a:off x="6272784" y="1965960"/>
            <a:ext cx="2514600" cy="1051560"/>
          </a:xfrm>
          <a:prstGeom prst="roundRect">
            <a:avLst>
              <a:gd name="adj" fmla="val 12174"/>
            </a:avLst>
          </a:prstGeom>
          <a:solidFill>
            <a:schemeClr val="accent1"/>
          </a:solidFill>
          <a:ln/>
        </p:spPr>
      </p:sp>
      <p:sp>
        <p:nvSpPr>
          <p:cNvPr id="13" name="Text 11"/>
          <p:cNvSpPr txBox="1"/>
          <p:nvPr/>
        </p:nvSpPr>
        <p:spPr>
          <a:xfrm>
            <a:off x="6455664"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Registry index</a:t>
            </a:r>
            <a:endParaRPr lang="en-US" sz="1700" dirty="0"/>
          </a:p>
        </p:txBody>
      </p:sp>
      <p:sp>
        <p:nvSpPr>
          <p:cNvPr id="14" name="Text 12"/>
          <p:cNvSpPr txBox="1"/>
          <p:nvPr/>
        </p:nvSpPr>
        <p:spPr>
          <a:xfrm>
            <a:off x="6455664" y="2423160"/>
            <a:ext cx="2240280" cy="548640"/>
          </a:xfrm>
          <a:prstGeom prst="rect">
            <a:avLst/>
          </a:prstGeom>
          <a:noFill/>
          <a:ln/>
        </p:spPr>
        <p:txBody>
          <a:bodyPr wrap="square" lIns="0" tIns="0" rIns="0" bIns="0" rtlCol="0" anchor="t"/>
          <a:lstStyle/>
          <a:p>
            <a:pPr indent="0" marL="0">
              <a:buNone/>
            </a:pPr>
            <a:r>
              <a:rPr lang="en-US" sz="1300" dirty="0">
                <a:solidFill>
                  <a:schemeClr val="tx1"/>
                </a:solidFill>
              </a:rPr>
              <a:t>Entries plus richer signals</a:t>
            </a:r>
            <a:endParaRPr lang="en-US" sz="1300" dirty="0"/>
          </a:p>
        </p:txBody>
      </p:sp>
      <p:sp>
        <p:nvSpPr>
          <p:cNvPr id="15" name="Flow arrow 3"/>
          <p:cNvSpPr/>
          <p:nvPr/>
        </p:nvSpPr>
        <p:spPr>
          <a:xfrm>
            <a:off x="8833104" y="2487168"/>
            <a:ext cx="256032" cy="0"/>
          </a:xfrm>
          <a:prstGeom prst="line">
            <a:avLst/>
          </a:prstGeom>
          <a:noFill/>
          <a:ln w="22225">
            <a:solidFill>
              <a:srgbClr val="474552"/>
            </a:solidFill>
            <a:prstDash val="solid"/>
            <a:tailEnd type="triangle"/>
          </a:ln>
        </p:spPr>
      </p:sp>
      <p:sp>
        <p:nvSpPr>
          <p:cNvPr id="16" name="Clients box"/>
          <p:cNvSpPr/>
          <p:nvPr/>
        </p:nvSpPr>
        <p:spPr>
          <a:xfrm>
            <a:off x="9134856" y="1965960"/>
            <a:ext cx="2514600" cy="1051560"/>
          </a:xfrm>
          <a:prstGeom prst="roundRect">
            <a:avLst>
              <a:gd name="adj" fmla="val 12174"/>
            </a:avLst>
          </a:prstGeom>
          <a:solidFill>
            <a:schemeClr val="bg2"/>
          </a:solidFill>
          <a:ln/>
        </p:spPr>
      </p:sp>
      <p:sp>
        <p:nvSpPr>
          <p:cNvPr id="17" name="Text 15"/>
          <p:cNvSpPr txBox="1"/>
          <p:nvPr/>
        </p:nvSpPr>
        <p:spPr>
          <a:xfrm>
            <a:off x="9317736"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Clients</a:t>
            </a:r>
            <a:endParaRPr lang="en-US" sz="1700" dirty="0"/>
          </a:p>
        </p:txBody>
      </p:sp>
      <p:sp>
        <p:nvSpPr>
          <p:cNvPr id="18" name="Text 16"/>
          <p:cNvSpPr txBox="1"/>
          <p:nvPr/>
        </p:nvSpPr>
        <p:spPr>
          <a:xfrm>
            <a:off x="9317736" y="2423160"/>
            <a:ext cx="2240280" cy="548640"/>
          </a:xfrm>
          <a:prstGeom prst="rect">
            <a:avLst/>
          </a:prstGeom>
          <a:noFill/>
          <a:ln/>
        </p:spPr>
        <p:txBody>
          <a:bodyPr wrap="square" lIns="0" tIns="0" rIns="0" bIns="0" rtlCol="0" anchor="t"/>
          <a:lstStyle/>
          <a:p>
            <a:pPr indent="0" marL="0">
              <a:buNone/>
            </a:pPr>
            <a:r>
              <a:rPr lang="en-US" sz="1300" dirty="0">
                <a:solidFill>
                  <a:schemeClr val="accent6"/>
                </a:solidFill>
              </a:rPr>
              <a:t>Agents, IDEs, orchestrators</a:t>
            </a:r>
            <a:endParaRPr lang="en-US" sz="1300" dirty="0"/>
          </a:p>
        </p:txBody>
      </p:sp>
      <p:sp>
        <p:nvSpPr>
          <p:cNvPr id="19" name="Text 17"/>
          <p:cNvSpPr txBox="1"/>
          <p:nvPr/>
        </p:nvSpPr>
        <p:spPr>
          <a:xfrm>
            <a:off x="548640" y="33375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POST /search</a:t>
            </a:r>
            <a:endParaRPr lang="en-US" sz="1500" dirty="0"/>
          </a:p>
        </p:txBody>
      </p:sp>
      <p:sp>
        <p:nvSpPr>
          <p:cNvPr id="20" name="POST /search level"/>
          <p:cNvSpPr/>
          <p:nvPr/>
        </p:nvSpPr>
        <p:spPr>
          <a:xfrm>
            <a:off x="3246120" y="3447288"/>
            <a:ext cx="777240" cy="329184"/>
          </a:xfrm>
          <a:prstGeom prst="roundRect">
            <a:avLst>
              <a:gd name="adj" fmla="val 50000"/>
            </a:avLst>
          </a:prstGeom>
          <a:solidFill>
            <a:schemeClr val="accent2"/>
          </a:solidFill>
          <a:ln/>
        </p:spPr>
      </p:sp>
      <p:sp>
        <p:nvSpPr>
          <p:cNvPr id="21" name="Text 19"/>
          <p:cNvSpPr txBox="1"/>
          <p:nvPr/>
        </p:nvSpPr>
        <p:spPr>
          <a:xfrm>
            <a:off x="3246120" y="3447288"/>
            <a:ext cx="777240" cy="329184"/>
          </a:xfrm>
          <a:prstGeom prst="rect">
            <a:avLst/>
          </a:prstGeom>
          <a:noFill/>
          <a:ln/>
        </p:spPr>
        <p:txBody>
          <a:bodyPr wrap="square" lIns="0" tIns="0" rIns="0" bIns="0" rtlCol="0" anchor="ctr"/>
          <a:lstStyle/>
          <a:p>
            <a:pPr algn="ctr" indent="0" marL="0">
              <a:buNone/>
            </a:pPr>
            <a:r>
              <a:rPr lang="en-US" sz="1200" b="1" dirty="0">
                <a:solidFill>
                  <a:schemeClr val="bg1"/>
                </a:solidFill>
              </a:rPr>
              <a:t>MUST</a:t>
            </a:r>
            <a:endParaRPr lang="en-US" sz="1200" dirty="0"/>
          </a:p>
        </p:txBody>
      </p:sp>
      <p:sp>
        <p:nvSpPr>
          <p:cNvPr id="22" name="Text 20"/>
          <p:cNvSpPr txBox="1"/>
          <p:nvPr/>
        </p:nvSpPr>
        <p:spPr>
          <a:xfrm>
            <a:off x="4160520" y="33375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Ranked results with relevance scores</a:t>
            </a:r>
            <a:endParaRPr lang="en-US" sz="1400" dirty="0"/>
          </a:p>
        </p:txBody>
      </p:sp>
      <p:sp>
        <p:nvSpPr>
          <p:cNvPr id="23" name="Text 21"/>
          <p:cNvSpPr txBox="1"/>
          <p:nvPr/>
        </p:nvSpPr>
        <p:spPr>
          <a:xfrm>
            <a:off x="548640" y="40233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POST /explore</a:t>
            </a:r>
            <a:endParaRPr lang="en-US" sz="1500" dirty="0"/>
          </a:p>
        </p:txBody>
      </p:sp>
      <p:sp>
        <p:nvSpPr>
          <p:cNvPr id="24" name="POST /explore level"/>
          <p:cNvSpPr/>
          <p:nvPr/>
        </p:nvSpPr>
        <p:spPr>
          <a:xfrm>
            <a:off x="3246120" y="4133088"/>
            <a:ext cx="777240" cy="329184"/>
          </a:xfrm>
          <a:prstGeom prst="roundRect">
            <a:avLst>
              <a:gd name="adj" fmla="val 50000"/>
            </a:avLst>
          </a:prstGeom>
          <a:solidFill>
            <a:schemeClr val="accent3"/>
          </a:solidFill>
          <a:ln/>
        </p:spPr>
      </p:sp>
      <p:sp>
        <p:nvSpPr>
          <p:cNvPr id="25" name="Text 23"/>
          <p:cNvSpPr txBox="1"/>
          <p:nvPr/>
        </p:nvSpPr>
        <p:spPr>
          <a:xfrm>
            <a:off x="3246120" y="4133088"/>
            <a:ext cx="777240" cy="329184"/>
          </a:xfrm>
          <a:prstGeom prst="rect">
            <a:avLst/>
          </a:prstGeom>
          <a:noFill/>
          <a:ln/>
        </p:spPr>
        <p:txBody>
          <a:bodyPr wrap="square" lIns="0" tIns="0" rIns="0" bIns="0" rtlCol="0" anchor="ctr"/>
          <a:lstStyle/>
          <a:p>
            <a:pPr algn="ctr" indent="0" marL="0">
              <a:buNone/>
            </a:pPr>
            <a:r>
              <a:rPr lang="en-US" sz="1200" b="1" dirty="0">
                <a:solidFill>
                  <a:schemeClr val="tx1"/>
                </a:solidFill>
              </a:rPr>
              <a:t>MAY</a:t>
            </a:r>
            <a:endParaRPr lang="en-US" sz="1200" dirty="0"/>
          </a:p>
        </p:txBody>
      </p:sp>
      <p:sp>
        <p:nvSpPr>
          <p:cNvPr id="26" name="Text 24"/>
          <p:cNvSpPr txBox="1"/>
          <p:nvPr/>
        </p:nvSpPr>
        <p:spPr>
          <a:xfrm>
            <a:off x="4160520" y="40233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Facet counts: which types, which publishers</a:t>
            </a:r>
            <a:endParaRPr lang="en-US" sz="1400" dirty="0"/>
          </a:p>
        </p:txBody>
      </p:sp>
      <p:sp>
        <p:nvSpPr>
          <p:cNvPr id="27" name="Text 25"/>
          <p:cNvSpPr txBox="1"/>
          <p:nvPr/>
        </p:nvSpPr>
        <p:spPr>
          <a:xfrm>
            <a:off x="548640" y="47091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GET /agents</a:t>
            </a:r>
            <a:endParaRPr lang="en-US" sz="1500" dirty="0"/>
          </a:p>
        </p:txBody>
      </p:sp>
      <p:sp>
        <p:nvSpPr>
          <p:cNvPr id="28" name="GET /agents level"/>
          <p:cNvSpPr/>
          <p:nvPr/>
        </p:nvSpPr>
        <p:spPr>
          <a:xfrm>
            <a:off x="3246120" y="4818888"/>
            <a:ext cx="777240" cy="329184"/>
          </a:xfrm>
          <a:prstGeom prst="roundRect">
            <a:avLst>
              <a:gd name="adj" fmla="val 50000"/>
            </a:avLst>
          </a:prstGeom>
          <a:solidFill>
            <a:schemeClr val="accent3"/>
          </a:solidFill>
          <a:ln/>
        </p:spPr>
      </p:sp>
      <p:sp>
        <p:nvSpPr>
          <p:cNvPr id="29" name="Text 27"/>
          <p:cNvSpPr txBox="1"/>
          <p:nvPr/>
        </p:nvSpPr>
        <p:spPr>
          <a:xfrm>
            <a:off x="3246120" y="4818888"/>
            <a:ext cx="777240" cy="329184"/>
          </a:xfrm>
          <a:prstGeom prst="rect">
            <a:avLst/>
          </a:prstGeom>
          <a:noFill/>
          <a:ln/>
        </p:spPr>
        <p:txBody>
          <a:bodyPr wrap="square" lIns="0" tIns="0" rIns="0" bIns="0" rtlCol="0" anchor="ctr"/>
          <a:lstStyle/>
          <a:p>
            <a:pPr algn="ctr" indent="0" marL="0">
              <a:buNone/>
            </a:pPr>
            <a:r>
              <a:rPr lang="en-US" sz="1200" b="1" dirty="0">
                <a:solidFill>
                  <a:schemeClr val="tx1"/>
                </a:solidFill>
              </a:rPr>
              <a:t>MAY</a:t>
            </a:r>
            <a:endParaRPr lang="en-US" sz="1200" dirty="0"/>
          </a:p>
        </p:txBody>
      </p:sp>
      <p:sp>
        <p:nvSpPr>
          <p:cNvPr id="30" name="Text 28"/>
          <p:cNvSpPr txBox="1"/>
          <p:nvPr/>
        </p:nvSpPr>
        <p:spPr>
          <a:xfrm>
            <a:off x="4160520" y="47091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Deterministic, cacheable browsing</a:t>
            </a:r>
            <a:endParaRPr lang="en-US" sz="1400" dirty="0"/>
          </a:p>
        </p:txBody>
      </p:sp>
      <p:sp>
        <p:nvSpPr>
          <p:cNvPr id="31" name="Text 29"/>
          <p:cNvSpPr txBox="1"/>
          <p:nvPr/>
        </p:nvSpPr>
        <p:spPr>
          <a:xfrm>
            <a:off x="548640" y="53949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MCP tool / A2A skill</a:t>
            </a:r>
            <a:endParaRPr lang="en-US" sz="1500" dirty="0"/>
          </a:p>
        </p:txBody>
      </p:sp>
      <p:sp>
        <p:nvSpPr>
          <p:cNvPr id="32" name="MCP tool / A2A skill level"/>
          <p:cNvSpPr/>
          <p:nvPr/>
        </p:nvSpPr>
        <p:spPr>
          <a:xfrm>
            <a:off x="3246120" y="5504688"/>
            <a:ext cx="777240" cy="329184"/>
          </a:xfrm>
          <a:prstGeom prst="roundRect">
            <a:avLst>
              <a:gd name="adj" fmla="val 50000"/>
            </a:avLst>
          </a:prstGeom>
          <a:solidFill>
            <a:schemeClr val="accent3"/>
          </a:solidFill>
          <a:ln/>
        </p:spPr>
      </p:sp>
      <p:sp>
        <p:nvSpPr>
          <p:cNvPr id="33" name="Text 31"/>
          <p:cNvSpPr txBox="1"/>
          <p:nvPr/>
        </p:nvSpPr>
        <p:spPr>
          <a:xfrm>
            <a:off x="3246120" y="5504688"/>
            <a:ext cx="777240" cy="329184"/>
          </a:xfrm>
          <a:prstGeom prst="rect">
            <a:avLst/>
          </a:prstGeom>
          <a:noFill/>
          <a:ln/>
        </p:spPr>
        <p:txBody>
          <a:bodyPr wrap="square" lIns="0" tIns="0" rIns="0" bIns="0" rtlCol="0" anchor="ctr"/>
          <a:lstStyle/>
          <a:p>
            <a:pPr algn="ctr" indent="0" marL="0">
              <a:buNone/>
            </a:pPr>
            <a:r>
              <a:rPr lang="en-US" sz="1200" b="1" dirty="0">
                <a:solidFill>
                  <a:schemeClr val="tx1"/>
                </a:solidFill>
              </a:rPr>
              <a:t>MAY</a:t>
            </a:r>
            <a:endParaRPr lang="en-US" sz="1200" dirty="0"/>
          </a:p>
        </p:txBody>
      </p:sp>
      <p:sp>
        <p:nvSpPr>
          <p:cNvPr id="34" name="Text 32"/>
          <p:cNvSpPr txBox="1"/>
          <p:nvPr/>
        </p:nvSpPr>
        <p:spPr>
          <a:xfrm>
            <a:off x="4160520" y="53949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The same search, native to the orchestrator</a:t>
            </a:r>
            <a:endParaRPr lang="en-US" sz="1400" dirty="0"/>
          </a:p>
        </p:txBody>
      </p:sp>
      <p:sp>
        <p:nvSpPr>
          <p:cNvPr id="35" name="Search request"/>
          <p:cNvSpPr/>
          <p:nvPr/>
        </p:nvSpPr>
        <p:spPr>
          <a:xfrm>
            <a:off x="6995160" y="3291840"/>
            <a:ext cx="4645152" cy="2788920"/>
          </a:xfrm>
          <a:prstGeom prst="roundRect">
            <a:avLst>
              <a:gd name="adj" fmla="val 4590"/>
            </a:avLst>
          </a:prstGeom>
          <a:solidFill>
            <a:schemeClr val="bg2"/>
          </a:solidFill>
          <a:ln/>
        </p:spPr>
      </p:sp>
      <p:sp>
        <p:nvSpPr>
          <p:cNvPr id="36" name="Text 34"/>
          <p:cNvSpPr txBox="1"/>
          <p:nvPr/>
        </p:nvSpPr>
        <p:spPr>
          <a:xfrm>
            <a:off x="7269480" y="3520440"/>
            <a:ext cx="4187952" cy="2423160"/>
          </a:xfrm>
          <a:prstGeom prst="rect">
            <a:avLst/>
          </a:prstGeom>
          <a:noFill/>
          <a:ln/>
        </p:spPr>
        <p:txBody>
          <a:bodyPr wrap="square" lIns="0" tIns="0" rIns="0" bIns="0" rtlCol="0" anchor="t"/>
          <a:lstStyle/>
          <a:p>
            <a:pPr indent="0" marL="0">
              <a:lnSpc>
                <a:spcPct val="130000"/>
              </a:lnSpc>
              <a:buNone/>
            </a:pPr>
            <a:r>
              <a:rPr lang="en-US" sz="1200" b="1" dirty="0">
                <a:solidFill>
                  <a:srgbClr val="C2410C"/>
                </a:solidFill>
                <a:latin typeface="Consolas" pitchFamily="34" charset="0"/>
                <a:ea typeface="Consolas" pitchFamily="34" charset="-122"/>
                <a:cs typeface="Consolas" pitchFamily="34" charset="-120"/>
              </a:rPr>
              <a:t>POST /search</a:t>
            </a:r>
            <a:endParaRPr lang="en-US" sz="1200" dirty="0"/>
          </a:p>
          <a:p>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"query"</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"text"</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2D6E3A"/>
                </a:solidFill>
                <a:latin typeface="Consolas" pitchFamily="34" charset="0"/>
                <a:ea typeface="Consolas" pitchFamily="34" charset="-122"/>
                <a:cs typeface="Consolas" pitchFamily="34" charset="-120"/>
              </a:rPr>
              <a:t>"find me a flight booking agent"</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"filter"</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 </a:t>
            </a:r>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"type"</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2D6E3A"/>
                </a:solidFill>
                <a:latin typeface="Consolas" pitchFamily="34" charset="0"/>
                <a:ea typeface="Consolas" pitchFamily="34" charset="-122"/>
                <a:cs typeface="Consolas" pitchFamily="34" charset="-120"/>
              </a:rPr>
              <a:t>      "application/a2a-agent-card+json"</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"federation"</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2D6E3A"/>
                </a:solidFill>
                <a:latin typeface="Consolas" pitchFamily="34" charset="0"/>
                <a:ea typeface="Consolas" pitchFamily="34" charset="-122"/>
                <a:cs typeface="Consolas" pitchFamily="34" charset="-120"/>
              </a:rPr>
              <a:t>"referrals"</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"pageSize"</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9A5B00"/>
                </a:solidFill>
                <a:latin typeface="Consolas" pitchFamily="34" charset="0"/>
                <a:ea typeface="Consolas" pitchFamily="34" charset="-122"/>
                <a:cs typeface="Consolas" pitchFamily="34" charset="-120"/>
              </a:rPr>
              <a:t>5</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Federation lets one search reach many registries</a:t>
            </a:r>
            <a:endParaRPr lang="en-US" sz="3200" dirty="0"/>
          </a:p>
        </p:txBody>
      </p:sp>
      <p:sp>
        <p:nvSpPr>
          <p:cNvPr id="4" name="Mode auto"/>
          <p:cNvSpPr/>
          <p:nvPr/>
        </p:nvSpPr>
        <p:spPr>
          <a:xfrm>
            <a:off x="548640" y="1965960"/>
            <a:ext cx="4023360" cy="1234440"/>
          </a:xfrm>
          <a:prstGeom prst="roundRect">
            <a:avLst>
              <a:gd name="adj" fmla="val 10370"/>
            </a:avLst>
          </a:prstGeom>
          <a:solidFill>
            <a:schemeClr val="bg1"/>
          </a:solidFill>
          <a:ln w="12700">
            <a:solidFill>
              <a:srgbClr val="E4E1EE"/>
            </a:solidFill>
            <a:prstDash val="solid"/>
          </a:ln>
        </p:spPr>
      </p:sp>
      <p:sp>
        <p:nvSpPr>
          <p:cNvPr id="5" name="Text 3"/>
          <p:cNvSpPr txBox="1"/>
          <p:nvPr/>
        </p:nvSpPr>
        <p:spPr>
          <a:xfrm>
            <a:off x="777240" y="2103120"/>
            <a:ext cx="3566160" cy="365760"/>
          </a:xfrm>
          <a:prstGeom prst="rect">
            <a:avLst/>
          </a:prstGeom>
          <a:noFill/>
          <a:ln/>
        </p:spPr>
        <p:txBody>
          <a:bodyPr wrap="square" lIns="0" tIns="0" rIns="0" bIns="0" rtlCol="0" anchor="t"/>
          <a:lstStyle/>
          <a:p>
            <a:pPr indent="0" marL="0">
              <a:buNone/>
            </a:pPr>
            <a:r>
              <a:rPr lang="en-US" sz="1800" b="1" dirty="0">
                <a:solidFill>
                  <a:schemeClr val="accent2"/>
                </a:solidFill>
                <a:latin typeface="Consolas" pitchFamily="34" charset="0"/>
                <a:ea typeface="Consolas" pitchFamily="34" charset="-122"/>
                <a:cs typeface="Consolas" pitchFamily="34" charset="-120"/>
              </a:rPr>
              <a:t>auto</a:t>
            </a:r>
            <a:pPr indent="0" marL="0">
              <a:buNone/>
            </a:pPr>
            <a:r>
              <a:rPr lang="en-US" sz="1200" dirty="0">
                <a:solidFill>
                  <a:schemeClr val="accent6"/>
                </a:solidFill>
              </a:rPr>
              <a:t>   default</a:t>
            </a:r>
            <a:endParaRPr lang="en-US" sz="1800" dirty="0"/>
          </a:p>
        </p:txBody>
      </p:sp>
      <p:sp>
        <p:nvSpPr>
          <p:cNvPr id="6" name="Text 4"/>
          <p:cNvSpPr txBox="1"/>
          <p:nvPr/>
        </p:nvSpPr>
        <p:spPr>
          <a:xfrm>
            <a:off x="777240" y="2496312"/>
            <a:ext cx="3611880" cy="640080"/>
          </a:xfrm>
          <a:prstGeom prst="rect">
            <a:avLst/>
          </a:prstGeom>
          <a:noFill/>
          <a:ln/>
        </p:spPr>
        <p:txBody>
          <a:bodyPr wrap="square" lIns="0" tIns="0" rIns="0" bIns="0" rtlCol="0" anchor="t"/>
          <a:lstStyle/>
          <a:p>
            <a:pPr indent="0" marL="0">
              <a:buNone/>
            </a:pPr>
            <a:r>
              <a:rPr lang="en-US" sz="1400" dirty="0">
                <a:solidFill>
                  <a:schemeClr val="accent6"/>
                </a:solidFill>
              </a:rPr>
              <a:t>The registry queries its upstreams and returns one merged result set.</a:t>
            </a:r>
            <a:endParaRPr lang="en-US" sz="1400" dirty="0"/>
          </a:p>
        </p:txBody>
      </p:sp>
      <p:sp>
        <p:nvSpPr>
          <p:cNvPr id="7" name="Mode referrals"/>
          <p:cNvSpPr/>
          <p:nvPr/>
        </p:nvSpPr>
        <p:spPr>
          <a:xfrm>
            <a:off x="548640" y="3337560"/>
            <a:ext cx="4023360" cy="1234440"/>
          </a:xfrm>
          <a:prstGeom prst="roundRect">
            <a:avLst>
              <a:gd name="adj" fmla="val 10370"/>
            </a:avLst>
          </a:prstGeom>
          <a:solidFill>
            <a:schemeClr val="bg2"/>
          </a:solidFill>
          <a:ln/>
        </p:spPr>
      </p:sp>
      <p:sp>
        <p:nvSpPr>
          <p:cNvPr id="8" name="Text 6"/>
          <p:cNvSpPr txBox="1"/>
          <p:nvPr/>
        </p:nvSpPr>
        <p:spPr>
          <a:xfrm>
            <a:off x="777240" y="3474720"/>
            <a:ext cx="3566160" cy="365760"/>
          </a:xfrm>
          <a:prstGeom prst="rect">
            <a:avLst/>
          </a:prstGeom>
          <a:noFill/>
          <a:ln/>
        </p:spPr>
        <p:txBody>
          <a:bodyPr wrap="square" lIns="0" tIns="0" rIns="0" bIns="0" rtlCol="0" anchor="t"/>
          <a:lstStyle/>
          <a:p>
            <a:pPr indent="0" marL="0">
              <a:buNone/>
            </a:pPr>
            <a:r>
              <a:rPr lang="en-US" sz="1800" b="1" dirty="0">
                <a:solidFill>
                  <a:schemeClr val="accent2"/>
                </a:solidFill>
                <a:latin typeface="Consolas" pitchFamily="34" charset="0"/>
                <a:ea typeface="Consolas" pitchFamily="34" charset="-122"/>
                <a:cs typeface="Consolas" pitchFamily="34" charset="-120"/>
              </a:rPr>
              <a:t>referrals</a:t>
            </a:r>
            <a:endParaRPr lang="en-US" sz="1800" dirty="0"/>
          </a:p>
        </p:txBody>
      </p:sp>
      <p:sp>
        <p:nvSpPr>
          <p:cNvPr id="9" name="Text 7"/>
          <p:cNvSpPr txBox="1"/>
          <p:nvPr/>
        </p:nvSpPr>
        <p:spPr>
          <a:xfrm>
            <a:off x="777240" y="3867912"/>
            <a:ext cx="3611880" cy="640080"/>
          </a:xfrm>
          <a:prstGeom prst="rect">
            <a:avLst/>
          </a:prstGeom>
          <a:noFill/>
          <a:ln/>
        </p:spPr>
        <p:txBody>
          <a:bodyPr wrap="square" lIns="0" tIns="0" rIns="0" bIns="0" rtlCol="0" anchor="t"/>
          <a:lstStyle/>
          <a:p>
            <a:pPr indent="0" marL="0">
              <a:buNone/>
            </a:pPr>
            <a:r>
              <a:rPr lang="en-US" sz="1400" dirty="0">
                <a:solidFill>
                  <a:schemeClr val="accent6"/>
                </a:solidFill>
              </a:rPr>
              <a:t>Returns its own results plus other registries the client may try next.</a:t>
            </a:r>
            <a:endParaRPr lang="en-US" sz="1400" dirty="0"/>
          </a:p>
        </p:txBody>
      </p:sp>
      <p:sp>
        <p:nvSpPr>
          <p:cNvPr id="10" name="Mode none"/>
          <p:cNvSpPr/>
          <p:nvPr/>
        </p:nvSpPr>
        <p:spPr>
          <a:xfrm>
            <a:off x="548640" y="4709160"/>
            <a:ext cx="4023360" cy="1234440"/>
          </a:xfrm>
          <a:prstGeom prst="roundRect">
            <a:avLst>
              <a:gd name="adj" fmla="val 10370"/>
            </a:avLst>
          </a:prstGeom>
          <a:solidFill>
            <a:schemeClr val="bg1"/>
          </a:solidFill>
          <a:ln w="12700">
            <a:solidFill>
              <a:srgbClr val="E4E1EE"/>
            </a:solidFill>
            <a:prstDash val="solid"/>
          </a:ln>
        </p:spPr>
      </p:sp>
      <p:sp>
        <p:nvSpPr>
          <p:cNvPr id="11" name="Text 9"/>
          <p:cNvSpPr txBox="1"/>
          <p:nvPr/>
        </p:nvSpPr>
        <p:spPr>
          <a:xfrm>
            <a:off x="777240" y="4846320"/>
            <a:ext cx="3566160" cy="365760"/>
          </a:xfrm>
          <a:prstGeom prst="rect">
            <a:avLst/>
          </a:prstGeom>
          <a:noFill/>
          <a:ln/>
        </p:spPr>
        <p:txBody>
          <a:bodyPr wrap="square" lIns="0" tIns="0" rIns="0" bIns="0" rtlCol="0" anchor="t"/>
          <a:lstStyle/>
          <a:p>
            <a:pPr indent="0" marL="0">
              <a:buNone/>
            </a:pPr>
            <a:r>
              <a:rPr lang="en-US" sz="1800" b="1" dirty="0">
                <a:solidFill>
                  <a:schemeClr val="accent2"/>
                </a:solidFill>
                <a:latin typeface="Consolas" pitchFamily="34" charset="0"/>
                <a:ea typeface="Consolas" pitchFamily="34" charset="-122"/>
                <a:cs typeface="Consolas" pitchFamily="34" charset="-120"/>
              </a:rPr>
              <a:t>none</a:t>
            </a:r>
            <a:endParaRPr lang="en-US" sz="1800" dirty="0"/>
          </a:p>
        </p:txBody>
      </p:sp>
      <p:sp>
        <p:nvSpPr>
          <p:cNvPr id="12" name="Text 10"/>
          <p:cNvSpPr txBox="1"/>
          <p:nvPr/>
        </p:nvSpPr>
        <p:spPr>
          <a:xfrm>
            <a:off x="777240" y="5239512"/>
            <a:ext cx="3611880" cy="640080"/>
          </a:xfrm>
          <a:prstGeom prst="rect">
            <a:avLst/>
          </a:prstGeom>
          <a:noFill/>
          <a:ln/>
        </p:spPr>
        <p:txBody>
          <a:bodyPr wrap="square" lIns="0" tIns="0" rIns="0" bIns="0" rtlCol="0" anchor="t"/>
          <a:lstStyle/>
          <a:p>
            <a:pPr indent="0" marL="0">
              <a:buNone/>
            </a:pPr>
            <a:r>
              <a:rPr lang="en-US" sz="1400" dirty="0">
                <a:solidFill>
                  <a:schemeClr val="accent6"/>
                </a:solidFill>
              </a:rPr>
              <a:t>Searches only its own index.</a:t>
            </a:r>
            <a:endParaRPr lang="en-US" sz="1400" dirty="0"/>
          </a:p>
        </p:txBody>
      </p:sp>
      <p:sp>
        <p:nvSpPr>
          <p:cNvPr id="13" name="User request"/>
          <p:cNvSpPr/>
          <p:nvPr/>
        </p:nvSpPr>
        <p:spPr>
          <a:xfrm>
            <a:off x="5029200" y="1965960"/>
            <a:ext cx="6611112" cy="731520"/>
          </a:xfrm>
          <a:prstGeom prst="roundRect">
            <a:avLst>
              <a:gd name="adj" fmla="val 17500"/>
            </a:avLst>
          </a:prstGeom>
          <a:solidFill>
            <a:schemeClr val="bg2"/>
          </a:solidFill>
          <a:ln/>
        </p:spPr>
      </p:sp>
      <p:sp>
        <p:nvSpPr>
          <p:cNvPr id="14" name="Text 12"/>
          <p:cNvSpPr txBox="1"/>
          <p:nvPr/>
        </p:nvSpPr>
        <p:spPr>
          <a:xfrm>
            <a:off x="5257800" y="1965960"/>
            <a:ext cx="6217920" cy="731520"/>
          </a:xfrm>
          <a:prstGeom prst="rect">
            <a:avLst/>
          </a:prstGeom>
          <a:noFill/>
          <a:ln/>
        </p:spPr>
        <p:txBody>
          <a:bodyPr wrap="square" lIns="0" tIns="0" rIns="0" bIns="0" rtlCol="0" anchor="ctr"/>
          <a:lstStyle/>
          <a:p>
            <a:pPr indent="0" marL="0">
              <a:buNone/>
            </a:pPr>
            <a:r>
              <a:rPr lang="en-US" sz="1600" i="1" dirty="0">
                <a:solidFill>
                  <a:schemeClr val="tx1"/>
                </a:solidFill>
              </a:rPr>
              <a:t>“Book me a flight to Tokyo and file the travel expense report.”</a:t>
            </a:r>
            <a:endParaRPr lang="en-US" sz="1600" dirty="0"/>
          </a:p>
        </p:txBody>
      </p:sp>
      <p:sp>
        <p:nvSpPr>
          <p:cNvPr id="15" name="Orchestrator"/>
          <p:cNvSpPr/>
          <p:nvPr/>
        </p:nvSpPr>
        <p:spPr>
          <a:xfrm>
            <a:off x="5029200" y="3017520"/>
            <a:ext cx="2468880" cy="777240"/>
          </a:xfrm>
          <a:prstGeom prst="roundRect">
            <a:avLst>
              <a:gd name="adj" fmla="val 16471"/>
            </a:avLst>
          </a:prstGeom>
          <a:solidFill>
            <a:schemeClr val="accent5"/>
          </a:solidFill>
          <a:ln/>
        </p:spPr>
      </p:sp>
      <p:sp>
        <p:nvSpPr>
          <p:cNvPr id="16" name="Text 14"/>
          <p:cNvSpPr txBox="1"/>
          <p:nvPr/>
        </p:nvSpPr>
        <p:spPr>
          <a:xfrm>
            <a:off x="5029200" y="3017520"/>
            <a:ext cx="2468880" cy="777240"/>
          </a:xfrm>
          <a:prstGeom prst="rect">
            <a:avLst/>
          </a:prstGeom>
          <a:noFill/>
          <a:ln/>
        </p:spPr>
        <p:txBody>
          <a:bodyPr wrap="square" lIns="0" tIns="0" rIns="0" bIns="0" rtlCol="0" anchor="ctr"/>
          <a:lstStyle/>
          <a:p>
            <a:pPr algn="ctr" indent="0" marL="0">
              <a:buNone/>
            </a:pPr>
            <a:r>
              <a:rPr lang="en-US" sz="1700" b="1" dirty="0">
                <a:solidFill>
                  <a:schemeClr val="bg1"/>
                </a:solidFill>
              </a:rPr>
              <a:t>Orchestrator</a:t>
            </a:r>
            <a:endParaRPr lang="en-US" sz="1700" dirty="0"/>
          </a:p>
        </p:txBody>
      </p:sp>
      <p:sp>
        <p:nvSpPr>
          <p:cNvPr id="17" name="Search enterprise registry"/>
          <p:cNvSpPr/>
          <p:nvPr/>
        </p:nvSpPr>
        <p:spPr>
          <a:xfrm>
            <a:off x="6263640" y="3840480"/>
            <a:ext cx="0" cy="502920"/>
          </a:xfrm>
          <a:prstGeom prst="line">
            <a:avLst/>
          </a:prstGeom>
          <a:noFill/>
          <a:ln w="22225">
            <a:solidFill>
              <a:srgbClr val="474552"/>
            </a:solidFill>
            <a:prstDash val="solid"/>
            <a:tailEnd type="triangle"/>
          </a:ln>
        </p:spPr>
      </p:sp>
      <p:sp>
        <p:nvSpPr>
          <p:cNvPr id="18" name="Text 16"/>
          <p:cNvSpPr txBox="1"/>
          <p:nvPr/>
        </p:nvSpPr>
        <p:spPr>
          <a:xfrm>
            <a:off x="6355080" y="3858768"/>
            <a:ext cx="1828800" cy="457200"/>
          </a:xfrm>
          <a:prstGeom prst="rect">
            <a:avLst/>
          </a:prstGeom>
          <a:noFill/>
          <a:ln/>
        </p:spPr>
        <p:txBody>
          <a:bodyPr wrap="square" lIns="0" tIns="0" rIns="0" bIns="0" rtlCol="0" anchor="ctr"/>
          <a:lstStyle/>
          <a:p>
            <a:pPr indent="0" marL="0">
              <a:buNone/>
            </a:pPr>
            <a:r>
              <a:rPr lang="en-US" sz="1200" dirty="0">
                <a:solidFill>
                  <a:schemeClr val="accent6"/>
                </a:solidFill>
              </a:rPr>
              <a:t>1  search, referrals</a:t>
            </a:r>
            <a:endParaRPr lang="en-US" sz="1200" dirty="0"/>
          </a:p>
        </p:txBody>
      </p:sp>
      <p:sp>
        <p:nvSpPr>
          <p:cNvPr id="19" name="Enterprise registry"/>
          <p:cNvSpPr/>
          <p:nvPr/>
        </p:nvSpPr>
        <p:spPr>
          <a:xfrm>
            <a:off x="5029200" y="4389120"/>
            <a:ext cx="2468880" cy="777240"/>
          </a:xfrm>
          <a:prstGeom prst="roundRect">
            <a:avLst>
              <a:gd name="adj" fmla="val 16471"/>
            </a:avLst>
          </a:prstGeom>
          <a:solidFill>
            <a:schemeClr val="accent3"/>
          </a:solidFill>
          <a:ln/>
        </p:spPr>
      </p:sp>
      <p:sp>
        <p:nvSpPr>
          <p:cNvPr id="20" name="Text 18"/>
          <p:cNvSpPr txBox="1"/>
          <p:nvPr/>
        </p:nvSpPr>
        <p:spPr>
          <a:xfrm>
            <a:off x="5029200" y="4389120"/>
            <a:ext cx="2468880" cy="777240"/>
          </a:xfrm>
          <a:prstGeom prst="rect">
            <a:avLst/>
          </a:prstGeom>
          <a:noFill/>
          <a:ln/>
        </p:spPr>
        <p:txBody>
          <a:bodyPr wrap="square" lIns="0" tIns="0" rIns="0" bIns="0" rtlCol="0" anchor="ctr"/>
          <a:lstStyle/>
          <a:p>
            <a:pPr algn="ctr" indent="0" marL="0">
              <a:buNone/>
            </a:pPr>
            <a:r>
              <a:rPr lang="en-US" sz="1600" b="1" dirty="0">
                <a:solidFill>
                  <a:schemeClr val="tx1"/>
                </a:solidFill>
              </a:rPr>
              <a:t>Enterprise registry</a:t>
            </a:r>
            <a:endParaRPr lang="en-US" sz="1600" dirty="0"/>
          </a:p>
        </p:txBody>
      </p:sp>
      <p:sp>
        <p:nvSpPr>
          <p:cNvPr id="21" name="Expense result"/>
          <p:cNvSpPr/>
          <p:nvPr/>
        </p:nvSpPr>
        <p:spPr>
          <a:xfrm>
            <a:off x="5029200" y="5349240"/>
            <a:ext cx="2468880" cy="731520"/>
          </a:xfrm>
          <a:prstGeom prst="roundRect">
            <a:avLst>
              <a:gd name="adj" fmla="val 17500"/>
            </a:avLst>
          </a:prstGeom>
          <a:solidFill>
            <a:schemeClr val="bg1"/>
          </a:solidFill>
          <a:ln w="15875">
            <a:solidFill>
              <a:srgbClr val="B6B0D0"/>
            </a:solidFill>
            <a:prstDash val="solid"/>
          </a:ln>
        </p:spPr>
      </p:sp>
      <p:sp>
        <p:nvSpPr>
          <p:cNvPr id="22" name="Text 20"/>
          <p:cNvSpPr txBox="1"/>
          <p:nvPr/>
        </p:nvSpPr>
        <p:spPr>
          <a:xfrm>
            <a:off x="5166360" y="5349240"/>
            <a:ext cx="2240280" cy="731520"/>
          </a:xfrm>
          <a:prstGeom prst="rect">
            <a:avLst/>
          </a:prstGeom>
          <a:noFill/>
          <a:ln/>
        </p:spPr>
        <p:txBody>
          <a:bodyPr wrap="square" lIns="0" tIns="0" rIns="0" bIns="0" rtlCol="0" anchor="ctr"/>
          <a:lstStyle/>
          <a:p>
            <a:pPr indent="0" marL="0">
              <a:buNone/>
            </a:pPr>
            <a:r>
              <a:rPr lang="en-US" sz="1400" b="1" dirty="0">
                <a:solidFill>
                  <a:schemeClr val="tx1"/>
                </a:solidFill>
              </a:rPr>
              <a:t>Corporate Expenses</a:t>
            </a:r>
            <a:endParaRPr lang="en-US" sz="1400" dirty="0"/>
          </a:p>
          <a:p>
            <a:pPr indent="0" marL="0">
              <a:buNone/>
            </a:pPr>
            <a:r>
              <a:rPr lang="en-US" sz="1200" dirty="0">
                <a:solidFill>
                  <a:schemeClr val="accent6"/>
                </a:solidFill>
              </a:rPr>
              <a:t>A2A agent · score 97</a:t>
            </a:r>
            <a:endParaRPr lang="en-US" sz="1400" dirty="0"/>
          </a:p>
        </p:txBody>
      </p:sp>
      <p:sp>
        <p:nvSpPr>
          <p:cNvPr id="23" name="Travel finder"/>
          <p:cNvSpPr/>
          <p:nvPr/>
        </p:nvSpPr>
        <p:spPr>
          <a:xfrm>
            <a:off x="8778240" y="3977640"/>
            <a:ext cx="2862072" cy="685800"/>
          </a:xfrm>
          <a:prstGeom prst="roundRect">
            <a:avLst>
              <a:gd name="adj" fmla="val 18667"/>
            </a:avLst>
          </a:prstGeom>
          <a:solidFill>
            <a:schemeClr val="bg1"/>
          </a:solidFill>
          <a:ln w="25400">
            <a:solidFill>
              <a:srgbClr val="E8601F"/>
            </a:solidFill>
            <a:prstDash val="solid"/>
          </a:ln>
        </p:spPr>
      </p:sp>
      <p:sp>
        <p:nvSpPr>
          <p:cNvPr id="24" name="Text 22"/>
          <p:cNvSpPr txBox="1"/>
          <p:nvPr/>
        </p:nvSpPr>
        <p:spPr>
          <a:xfrm>
            <a:off x="8778240" y="3977640"/>
            <a:ext cx="2862072" cy="685800"/>
          </a:xfrm>
          <a:prstGeom prst="rect">
            <a:avLst/>
          </a:prstGeom>
          <a:noFill/>
          <a:ln/>
        </p:spPr>
        <p:txBody>
          <a:bodyPr wrap="square" lIns="0" tIns="0" rIns="0" bIns="0" rtlCol="0" anchor="ctr"/>
          <a:lstStyle/>
          <a:p>
            <a:pPr algn="ctr" indent="0" marL="0">
              <a:buNone/>
            </a:pPr>
            <a:r>
              <a:rPr lang="en-US" sz="1500" b="1" dirty="0">
                <a:solidFill>
                  <a:schemeClr val="tx1"/>
                </a:solidFill>
              </a:rPr>
              <a:t>Travel Agent Finder</a:t>
            </a:r>
            <a:endParaRPr lang="en-US" sz="1500" dirty="0"/>
          </a:p>
        </p:txBody>
      </p:sp>
      <p:sp>
        <p:nvSpPr>
          <p:cNvPr id="25" name="Public finder"/>
          <p:cNvSpPr/>
          <p:nvPr/>
        </p:nvSpPr>
        <p:spPr>
          <a:xfrm>
            <a:off x="8778240" y="4846320"/>
            <a:ext cx="2862072" cy="685800"/>
          </a:xfrm>
          <a:prstGeom prst="roundRect">
            <a:avLst>
              <a:gd name="adj" fmla="val 18667"/>
            </a:avLst>
          </a:prstGeom>
          <a:solidFill>
            <a:schemeClr val="bg1"/>
          </a:solidFill>
          <a:ln w="15875">
            <a:solidFill>
              <a:srgbClr val="B6B0D0"/>
            </a:solidFill>
            <a:prstDash val="solid"/>
          </a:ln>
        </p:spPr>
      </p:sp>
      <p:sp>
        <p:nvSpPr>
          <p:cNvPr id="26" name="Text 24"/>
          <p:cNvSpPr txBox="1"/>
          <p:nvPr/>
        </p:nvSpPr>
        <p:spPr>
          <a:xfrm>
            <a:off x="8778240" y="4846320"/>
            <a:ext cx="2862072" cy="685800"/>
          </a:xfrm>
          <a:prstGeom prst="rect">
            <a:avLst/>
          </a:prstGeom>
          <a:noFill/>
          <a:ln/>
        </p:spPr>
        <p:txBody>
          <a:bodyPr wrap="square" lIns="0" tIns="0" rIns="0" bIns="0" rtlCol="0" anchor="ctr"/>
          <a:lstStyle/>
          <a:p>
            <a:pPr algn="ctr" indent="0" marL="0">
              <a:buNone/>
            </a:pPr>
            <a:r>
              <a:rPr lang="en-US" sz="1500" b="1" dirty="0">
                <a:solidFill>
                  <a:schemeClr val="tx1"/>
                </a:solidFill>
              </a:rPr>
              <a:t>Public Agent Finder</a:t>
            </a:r>
            <a:endParaRPr lang="en-US" sz="1500" dirty="0"/>
          </a:p>
        </p:txBody>
      </p:sp>
      <p:sp>
        <p:nvSpPr>
          <p:cNvPr id="27" name="Referral 1"/>
          <p:cNvSpPr/>
          <p:nvPr/>
        </p:nvSpPr>
        <p:spPr>
          <a:xfrm flipV="1">
            <a:off x="7543800" y="4343400"/>
            <a:ext cx="1188720" cy="320040"/>
          </a:xfrm>
          <a:prstGeom prst="line">
            <a:avLst/>
          </a:prstGeom>
          <a:noFill/>
          <a:ln w="22225">
            <a:solidFill>
              <a:srgbClr val="5E5A6E"/>
            </a:solidFill>
            <a:prstDash val="dash"/>
            <a:tailEnd type="triangle"/>
          </a:ln>
        </p:spPr>
      </p:sp>
      <p:sp>
        <p:nvSpPr>
          <p:cNvPr id="28" name="Referral 2"/>
          <p:cNvSpPr/>
          <p:nvPr/>
        </p:nvSpPr>
        <p:spPr>
          <a:xfrm>
            <a:off x="7543800" y="4846320"/>
            <a:ext cx="1188720" cy="320040"/>
          </a:xfrm>
          <a:prstGeom prst="line">
            <a:avLst/>
          </a:prstGeom>
          <a:noFill/>
          <a:ln w="22225">
            <a:solidFill>
              <a:srgbClr val="5E5A6E"/>
            </a:solidFill>
            <a:prstDash val="dash"/>
            <a:tailEnd type="triangle"/>
          </a:ln>
        </p:spPr>
      </p:sp>
      <p:sp>
        <p:nvSpPr>
          <p:cNvPr id="29" name="Text 27"/>
          <p:cNvSpPr txBox="1"/>
          <p:nvPr/>
        </p:nvSpPr>
        <p:spPr>
          <a:xfrm>
            <a:off x="7589520" y="5321808"/>
            <a:ext cx="1143000" cy="320040"/>
          </a:xfrm>
          <a:prstGeom prst="rect">
            <a:avLst/>
          </a:prstGeom>
          <a:noFill/>
          <a:ln/>
        </p:spPr>
        <p:txBody>
          <a:bodyPr wrap="square" lIns="0" tIns="0" rIns="0" bIns="0" rtlCol="0" anchor="t"/>
          <a:lstStyle/>
          <a:p>
            <a:pPr indent="0" marL="0">
              <a:buNone/>
            </a:pPr>
            <a:r>
              <a:rPr lang="en-US" sz="1200" dirty="0">
                <a:solidFill>
                  <a:schemeClr val="accent6"/>
                </a:solidFill>
              </a:rPr>
              <a:t>2  referrals</a:t>
            </a:r>
            <a:endParaRPr lang="en-US" sz="1200" dirty="0"/>
          </a:p>
        </p:txBody>
      </p:sp>
      <p:sp>
        <p:nvSpPr>
          <p:cNvPr id="30" name="Follow referral"/>
          <p:cNvSpPr/>
          <p:nvPr/>
        </p:nvSpPr>
        <p:spPr>
          <a:xfrm>
            <a:off x="7543800" y="3401568"/>
            <a:ext cx="2651760" cy="530352"/>
          </a:xfrm>
          <a:prstGeom prst="line">
            <a:avLst/>
          </a:prstGeom>
          <a:noFill/>
          <a:ln w="22225">
            <a:solidFill>
              <a:srgbClr val="E8601F"/>
            </a:solidFill>
            <a:prstDash val="solid"/>
            <a:tailEnd type="triangle"/>
          </a:ln>
        </p:spPr>
      </p:sp>
      <p:sp>
        <p:nvSpPr>
          <p:cNvPr id="31" name="Text 29"/>
          <p:cNvSpPr txBox="1"/>
          <p:nvPr/>
        </p:nvSpPr>
        <p:spPr>
          <a:xfrm>
            <a:off x="8778240" y="3017520"/>
            <a:ext cx="2862072" cy="365760"/>
          </a:xfrm>
          <a:prstGeom prst="rect">
            <a:avLst/>
          </a:prstGeom>
          <a:noFill/>
          <a:ln/>
        </p:spPr>
        <p:txBody>
          <a:bodyPr wrap="square" lIns="0" tIns="0" rIns="0" bIns="0" rtlCol="0" anchor="t"/>
          <a:lstStyle/>
          <a:p>
            <a:pPr algn="r" indent="0" marL="0">
              <a:buNone/>
            </a:pPr>
            <a:r>
              <a:rPr lang="en-US" sz="1200" b="1" dirty="0">
                <a:solidFill>
                  <a:schemeClr val="accent2"/>
                </a:solidFill>
              </a:rPr>
              <a:t>3  follow it for flights</a:t>
            </a:r>
            <a:endParaRPr lang="en-US" sz="1200" dirty="0"/>
          </a:p>
        </p:txBody>
      </p:sp>
      <p:sp>
        <p:nvSpPr>
          <p:cNvPr id="32" name="Text 30"/>
          <p:cNvSpPr txBox="1"/>
          <p:nvPr/>
        </p:nvSpPr>
        <p:spPr>
          <a:xfrm>
            <a:off x="8778240" y="5715000"/>
            <a:ext cx="2862072" cy="365760"/>
          </a:xfrm>
          <a:prstGeom prst="rect">
            <a:avLst/>
          </a:prstGeom>
          <a:noFill/>
          <a:ln/>
        </p:spPr>
        <p:txBody>
          <a:bodyPr wrap="square" lIns="0" tIns="0" rIns="0" bIns="0" rtlCol="0" anchor="t"/>
          <a:lstStyle/>
          <a:p>
            <a:pPr algn="r" indent="0" marL="0">
              <a:buNone/>
            </a:pPr>
            <a:r>
              <a:rPr lang="en-US" sz="1200" dirty="0">
                <a:solidFill>
                  <a:schemeClr val="accent6"/>
                </a:solidFill>
              </a:rPr>
              <a:t>4  Invoke each through its own protocol.</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Relevance and trust are deliberately kept apart</a:t>
            </a:r>
            <a:endParaRPr lang="en-US" sz="3200" dirty="0"/>
          </a:p>
        </p:txBody>
      </p:sp>
      <p:sp>
        <p:nvSpPr>
          <p:cNvPr id="4" name="Score card"/>
          <p:cNvSpPr/>
          <p:nvPr/>
        </p:nvSpPr>
        <p:spPr>
          <a:xfrm>
            <a:off x="548640" y="1965960"/>
            <a:ext cx="4297680" cy="4114800"/>
          </a:xfrm>
          <a:prstGeom prst="roundRect">
            <a:avLst>
              <a:gd name="adj" fmla="val 3111"/>
            </a:avLst>
          </a:prstGeom>
          <a:solidFill>
            <a:schemeClr val="bg2"/>
          </a:solidFill>
          <a:ln/>
        </p:spPr>
      </p:sp>
      <p:sp>
        <p:nvSpPr>
          <p:cNvPr id="5" name="Text 3"/>
          <p:cNvSpPr txBox="1"/>
          <p:nvPr/>
        </p:nvSpPr>
        <p:spPr>
          <a:xfrm>
            <a:off x="822960" y="2194560"/>
            <a:ext cx="3749040" cy="365760"/>
          </a:xfrm>
          <a:prstGeom prst="rect">
            <a:avLst/>
          </a:prstGeom>
          <a:noFill/>
          <a:ln/>
        </p:spPr>
        <p:txBody>
          <a:bodyPr wrap="square" lIns="0" tIns="0" rIns="0" bIns="0" rtlCol="0" anchor="t"/>
          <a:lstStyle/>
          <a:p>
            <a:pPr indent="0" marL="0">
              <a:buNone/>
            </a:pPr>
            <a:r>
              <a:rPr lang="en-US" sz="1800" b="1" dirty="0">
                <a:solidFill>
                  <a:schemeClr val="accent6"/>
                </a:solidFill>
                <a:latin typeface="Consolas" pitchFamily="34" charset="0"/>
                <a:ea typeface="Consolas" pitchFamily="34" charset="-122"/>
                <a:cs typeface="Consolas" pitchFamily="34" charset="-120"/>
              </a:rPr>
              <a:t>score</a:t>
            </a:r>
            <a:endParaRPr lang="en-US" sz="1800" dirty="0"/>
          </a:p>
        </p:txBody>
      </p:sp>
      <p:sp>
        <p:nvSpPr>
          <p:cNvPr id="6" name="Text 4"/>
          <p:cNvSpPr txBox="1"/>
          <p:nvPr/>
        </p:nvSpPr>
        <p:spPr>
          <a:xfrm>
            <a:off x="822960" y="2560320"/>
            <a:ext cx="3749040" cy="1188720"/>
          </a:xfrm>
          <a:prstGeom prst="rect">
            <a:avLst/>
          </a:prstGeom>
          <a:noFill/>
          <a:ln/>
        </p:spPr>
        <p:txBody>
          <a:bodyPr wrap="square" lIns="0" tIns="0" rIns="0" bIns="0" rtlCol="0" anchor="t"/>
          <a:lstStyle/>
          <a:p>
            <a:pPr indent="0" marL="0">
              <a:buNone/>
            </a:pPr>
            <a:r>
              <a:rPr lang="en-US" sz="8000" b="1" dirty="0">
                <a:solidFill>
                  <a:schemeClr val="accent5"/>
                </a:solidFill>
              </a:rPr>
              <a:t>95</a:t>
            </a:r>
            <a:endParaRPr lang="en-US" sz="8000" dirty="0"/>
          </a:p>
        </p:txBody>
      </p:sp>
      <p:sp>
        <p:nvSpPr>
          <p:cNvPr id="7" name="Text 5"/>
          <p:cNvSpPr txBox="1"/>
          <p:nvPr/>
        </p:nvSpPr>
        <p:spPr>
          <a:xfrm>
            <a:off x="822960" y="3886200"/>
            <a:ext cx="3749040" cy="640080"/>
          </a:xfrm>
          <a:prstGeom prst="rect">
            <a:avLst/>
          </a:prstGeom>
          <a:noFill/>
          <a:ln/>
        </p:spPr>
        <p:txBody>
          <a:bodyPr wrap="square" lIns="0" tIns="0" rIns="0" bIns="0" rtlCol="0" anchor="t"/>
          <a:lstStyle/>
          <a:p>
            <a:pPr indent="0" marL="0">
              <a:buNone/>
            </a:pPr>
            <a:r>
              <a:rPr lang="en-US" sz="1600" b="1" dirty="0">
                <a:solidFill>
                  <a:schemeClr val="tx1"/>
                </a:solidFill>
              </a:rPr>
              <a:t>How well the entry matches the request, from 0 to 100.</a:t>
            </a:r>
            <a:endParaRPr lang="en-US" sz="1600" dirty="0"/>
          </a:p>
        </p:txBody>
      </p:sp>
      <p:sp>
        <p:nvSpPr>
          <p:cNvPr id="8" name="Text 6"/>
          <p:cNvSpPr txBox="1"/>
          <p:nvPr/>
        </p:nvSpPr>
        <p:spPr>
          <a:xfrm>
            <a:off x="822960" y="4617720"/>
            <a:ext cx="3749040" cy="914400"/>
          </a:xfrm>
          <a:prstGeom prst="rect">
            <a:avLst/>
          </a:prstGeom>
          <a:noFill/>
          <a:ln/>
        </p:spPr>
        <p:txBody>
          <a:bodyPr wrap="square" lIns="0" tIns="0" rIns="0" bIns="0" rtlCol="0" anchor="t"/>
          <a:lstStyle/>
          <a:p>
            <a:pPr indent="0" marL="0">
              <a:buNone/>
            </a:pPr>
            <a:r>
              <a:rPr lang="en-US" sz="1500" dirty="0">
                <a:solidFill>
                  <a:schemeClr val="accent6"/>
                </a:solidFill>
              </a:rPr>
              <a:t>The spec says it MUST NOT be read as a trust, compliance or safety rating.</a:t>
            </a:r>
            <a:endParaRPr lang="en-US" sz="1500" dirty="0"/>
          </a:p>
        </p:txBody>
      </p:sp>
      <p:sp>
        <p:nvSpPr>
          <p:cNvPr id="9" name="Text 7"/>
          <p:cNvSpPr txBox="1"/>
          <p:nvPr/>
        </p:nvSpPr>
        <p:spPr>
          <a:xfrm>
            <a:off x="5257800" y="1965960"/>
            <a:ext cx="6400800" cy="411480"/>
          </a:xfrm>
          <a:prstGeom prst="rect">
            <a:avLst/>
          </a:prstGeom>
          <a:noFill/>
          <a:ln/>
        </p:spPr>
        <p:txBody>
          <a:bodyPr wrap="square" lIns="0" tIns="0" rIns="0" bIns="0" rtlCol="0" anchor="t"/>
          <a:lstStyle/>
          <a:p>
            <a:pPr indent="0" marL="0">
              <a:buNone/>
            </a:pPr>
            <a:r>
              <a:rPr lang="en-US" sz="1900" b="1" dirty="0">
                <a:solidFill>
                  <a:schemeClr val="accent4"/>
                </a:solidFill>
                <a:latin typeface="Consolas" pitchFamily="34" charset="0"/>
                <a:ea typeface="Consolas" pitchFamily="34" charset="-122"/>
                <a:cs typeface="Consolas" pitchFamily="34" charset="-120"/>
              </a:rPr>
              <a:t>trustManifest</a:t>
            </a:r>
            <a:pPr indent="0" marL="0">
              <a:buNone/>
            </a:pPr>
            <a:r>
              <a:rPr lang="en-US" sz="1900" b="1" dirty="0">
                <a:solidFill>
                  <a:schemeClr val="tx1"/>
                </a:solidFill>
              </a:rPr>
              <a:t>  is where trust lives</a:t>
            </a:r>
            <a:endParaRPr lang="en-US" sz="1900" dirty="0"/>
          </a:p>
        </p:txBody>
      </p:sp>
      <p:sp>
        <p:nvSpPr>
          <p:cNvPr id="10" name="Trust identity"/>
          <p:cNvSpPr/>
          <p:nvPr/>
        </p:nvSpPr>
        <p:spPr>
          <a:xfrm>
            <a:off x="5257800" y="2560320"/>
            <a:ext cx="6382512" cy="1051560"/>
          </a:xfrm>
          <a:prstGeom prst="roundRect">
            <a:avLst>
              <a:gd name="adj" fmla="val 12174"/>
            </a:avLst>
          </a:prstGeom>
          <a:solidFill>
            <a:schemeClr val="bg1"/>
          </a:solidFill>
          <a:ln w="15875">
            <a:solidFill>
              <a:srgbClr val="B6B0D0"/>
            </a:solidFill>
            <a:prstDash val="solid"/>
          </a:ln>
        </p:spPr>
      </p:sp>
      <p:sp>
        <p:nvSpPr>
          <p:cNvPr id="11" name="Text 9"/>
          <p:cNvSpPr txBox="1"/>
          <p:nvPr/>
        </p:nvSpPr>
        <p:spPr>
          <a:xfrm>
            <a:off x="5486400" y="2670048"/>
            <a:ext cx="1828800" cy="365760"/>
          </a:xfrm>
          <a:prstGeom prst="rect">
            <a:avLst/>
          </a:prstGeom>
          <a:noFill/>
          <a:ln/>
        </p:spPr>
        <p:txBody>
          <a:bodyPr wrap="square" lIns="0" tIns="0" rIns="0" bIns="0" rtlCol="0" anchor="t"/>
          <a:lstStyle/>
          <a:p>
            <a:pPr indent="0" marL="0">
              <a:buNone/>
            </a:pPr>
            <a:r>
              <a:rPr lang="en-US" sz="1500" b="1" dirty="0">
                <a:solidFill>
                  <a:schemeClr val="accent4"/>
                </a:solidFill>
                <a:latin typeface="Consolas" pitchFamily="34" charset="0"/>
                <a:ea typeface="Consolas" pitchFamily="34" charset="-122"/>
                <a:cs typeface="Consolas" pitchFamily="34" charset="-120"/>
              </a:rPr>
              <a:t>identity</a:t>
            </a:r>
            <a:endParaRPr lang="en-US" sz="1500" dirty="0"/>
          </a:p>
        </p:txBody>
      </p:sp>
      <p:sp>
        <p:nvSpPr>
          <p:cNvPr id="12" name="Text 10"/>
          <p:cNvSpPr txBox="1"/>
          <p:nvPr/>
        </p:nvSpPr>
        <p:spPr>
          <a:xfrm>
            <a:off x="7406640" y="2651760"/>
            <a:ext cx="4069080" cy="868680"/>
          </a:xfrm>
          <a:prstGeom prst="rect">
            <a:avLst/>
          </a:prstGeom>
          <a:noFill/>
          <a:ln/>
        </p:spPr>
        <p:txBody>
          <a:bodyPr wrap="square" lIns="0" tIns="0" rIns="0" bIns="0" rtlCol="0" anchor="ctr"/>
          <a:lstStyle/>
          <a:p>
            <a:pPr indent="0" marL="0">
              <a:buNone/>
            </a:pPr>
            <a:r>
              <a:rPr lang="en-US" sz="1400" dirty="0">
                <a:solidFill>
                  <a:schemeClr val="tx1"/>
                </a:solidFill>
              </a:rPr>
              <a:t>Must match the URN’s publisher domain. A claim to urn:air:google.com needs an attestation from google.com.</a:t>
            </a:r>
            <a:endParaRPr lang="en-US" sz="1400" dirty="0"/>
          </a:p>
        </p:txBody>
      </p:sp>
      <p:sp>
        <p:nvSpPr>
          <p:cNvPr id="13" name="Trust attestations"/>
          <p:cNvSpPr/>
          <p:nvPr/>
        </p:nvSpPr>
        <p:spPr>
          <a:xfrm>
            <a:off x="5257800" y="3749040"/>
            <a:ext cx="6382512" cy="1051560"/>
          </a:xfrm>
          <a:prstGeom prst="roundRect">
            <a:avLst>
              <a:gd name="adj" fmla="val 12174"/>
            </a:avLst>
          </a:prstGeom>
          <a:solidFill>
            <a:schemeClr val="bg1"/>
          </a:solidFill>
          <a:ln w="15875">
            <a:solidFill>
              <a:srgbClr val="B6B0D0"/>
            </a:solidFill>
            <a:prstDash val="solid"/>
          </a:ln>
        </p:spPr>
      </p:sp>
      <p:sp>
        <p:nvSpPr>
          <p:cNvPr id="14" name="Text 12"/>
          <p:cNvSpPr txBox="1"/>
          <p:nvPr/>
        </p:nvSpPr>
        <p:spPr>
          <a:xfrm>
            <a:off x="5486400" y="3858768"/>
            <a:ext cx="1828800" cy="365760"/>
          </a:xfrm>
          <a:prstGeom prst="rect">
            <a:avLst/>
          </a:prstGeom>
          <a:noFill/>
          <a:ln/>
        </p:spPr>
        <p:txBody>
          <a:bodyPr wrap="square" lIns="0" tIns="0" rIns="0" bIns="0" rtlCol="0" anchor="t"/>
          <a:lstStyle/>
          <a:p>
            <a:pPr indent="0" marL="0">
              <a:buNone/>
            </a:pPr>
            <a:r>
              <a:rPr lang="en-US" sz="1500" b="1" dirty="0">
                <a:solidFill>
                  <a:schemeClr val="accent4"/>
                </a:solidFill>
                <a:latin typeface="Consolas" pitchFamily="34" charset="0"/>
                <a:ea typeface="Consolas" pitchFamily="34" charset="-122"/>
                <a:cs typeface="Consolas" pitchFamily="34" charset="-120"/>
              </a:rPr>
              <a:t>attestations</a:t>
            </a:r>
            <a:endParaRPr lang="en-US" sz="1500" dirty="0"/>
          </a:p>
        </p:txBody>
      </p:sp>
      <p:sp>
        <p:nvSpPr>
          <p:cNvPr id="15" name="Text 13"/>
          <p:cNvSpPr txBox="1"/>
          <p:nvPr/>
        </p:nvSpPr>
        <p:spPr>
          <a:xfrm>
            <a:off x="7406640" y="3840480"/>
            <a:ext cx="4069080" cy="868680"/>
          </a:xfrm>
          <a:prstGeom prst="rect">
            <a:avLst/>
          </a:prstGeom>
          <a:noFill/>
          <a:ln/>
        </p:spPr>
        <p:txBody>
          <a:bodyPr wrap="square" lIns="0" tIns="0" rIns="0" bIns="0" rtlCol="0" anchor="ctr"/>
          <a:lstStyle/>
          <a:p>
            <a:pPr indent="0" marL="0">
              <a:buNone/>
            </a:pPr>
            <a:r>
              <a:rPr lang="en-US" sz="1400" dirty="0">
                <a:solidFill>
                  <a:schemeClr val="tx1"/>
                </a:solidFill>
              </a:rPr>
              <a:t>SOC 2 or HIPAA audits, SARIF security scans, SLSA and in-toto provenance, SCITT receipts, runtime evaluations</a:t>
            </a:r>
            <a:endParaRPr lang="en-US" sz="1400" dirty="0"/>
          </a:p>
        </p:txBody>
      </p:sp>
      <p:sp>
        <p:nvSpPr>
          <p:cNvPr id="16" name="Trust trustSchema"/>
          <p:cNvSpPr/>
          <p:nvPr/>
        </p:nvSpPr>
        <p:spPr>
          <a:xfrm>
            <a:off x="5257800" y="4937760"/>
            <a:ext cx="6382512" cy="1051560"/>
          </a:xfrm>
          <a:prstGeom prst="roundRect">
            <a:avLst>
              <a:gd name="adj" fmla="val 12174"/>
            </a:avLst>
          </a:prstGeom>
          <a:solidFill>
            <a:schemeClr val="bg1"/>
          </a:solidFill>
          <a:ln w="15875">
            <a:solidFill>
              <a:srgbClr val="B6B0D0"/>
            </a:solidFill>
            <a:prstDash val="solid"/>
          </a:ln>
        </p:spPr>
      </p:sp>
      <p:sp>
        <p:nvSpPr>
          <p:cNvPr id="17" name="Text 15"/>
          <p:cNvSpPr txBox="1"/>
          <p:nvPr/>
        </p:nvSpPr>
        <p:spPr>
          <a:xfrm>
            <a:off x="5486400" y="5047488"/>
            <a:ext cx="1828800" cy="365760"/>
          </a:xfrm>
          <a:prstGeom prst="rect">
            <a:avLst/>
          </a:prstGeom>
          <a:noFill/>
          <a:ln/>
        </p:spPr>
        <p:txBody>
          <a:bodyPr wrap="square" lIns="0" tIns="0" rIns="0" bIns="0" rtlCol="0" anchor="t"/>
          <a:lstStyle/>
          <a:p>
            <a:pPr indent="0" marL="0">
              <a:buNone/>
            </a:pPr>
            <a:r>
              <a:rPr lang="en-US" sz="1500" b="1" dirty="0">
                <a:solidFill>
                  <a:schemeClr val="accent4"/>
                </a:solidFill>
                <a:latin typeface="Consolas" pitchFamily="34" charset="0"/>
                <a:ea typeface="Consolas" pitchFamily="34" charset="-122"/>
                <a:cs typeface="Consolas" pitchFamily="34" charset="-120"/>
              </a:rPr>
              <a:t>trustSchema</a:t>
            </a:r>
            <a:endParaRPr lang="en-US" sz="1500" dirty="0"/>
          </a:p>
        </p:txBody>
      </p:sp>
      <p:sp>
        <p:nvSpPr>
          <p:cNvPr id="18" name="Text 16"/>
          <p:cNvSpPr txBox="1"/>
          <p:nvPr/>
        </p:nvSpPr>
        <p:spPr>
          <a:xfrm>
            <a:off x="7406640" y="5029200"/>
            <a:ext cx="4069080" cy="868680"/>
          </a:xfrm>
          <a:prstGeom prst="rect">
            <a:avLst/>
          </a:prstGeom>
          <a:noFill/>
          <a:ln/>
        </p:spPr>
        <p:txBody>
          <a:bodyPr wrap="square" lIns="0" tIns="0" rIns="0" bIns="0" rtlCol="0" anchor="ctr"/>
          <a:lstStyle/>
          <a:p>
            <a:pPr indent="0" marL="0">
              <a:buNone/>
            </a:pPr>
            <a:r>
              <a:rPr lang="en-US" sz="1400" dirty="0">
                <a:solidFill>
                  <a:schemeClr val="tx1"/>
                </a:solidFill>
              </a:rPr>
              <a:t>Any framework (SPIFFE, DIDs, enterprise PKI). Registries verify per the framework the entry declares.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Observal had a registry; ARD gave it a standard front door</a:t>
            </a:r>
            <a:endParaRPr lang="en-US" sz="3200" dirty="0"/>
          </a:p>
        </p:txBody>
      </p:sp>
      <p:sp>
        <p:nvSpPr>
          <p:cNvPr id="4" name="Text 2"/>
          <p:cNvSpPr txBox="1"/>
          <p:nvPr/>
        </p:nvSpPr>
        <p:spPr>
          <a:xfrm>
            <a:off x="548640" y="1965960"/>
            <a:ext cx="6035040" cy="457200"/>
          </a:xfrm>
          <a:prstGeom prst="rect">
            <a:avLst/>
          </a:prstGeom>
          <a:noFill/>
          <a:ln/>
        </p:spPr>
        <p:txBody>
          <a:bodyPr wrap="square" lIns="0" tIns="0" rIns="0" bIns="0" rtlCol="0" anchor="t"/>
          <a:lstStyle/>
          <a:p>
            <a:pPr indent="0" marL="0">
              <a:buNone/>
            </a:pPr>
            <a:r>
              <a:rPr lang="en-US" sz="2400" b="1" dirty="0">
                <a:solidFill>
                  <a:schemeClr val="tx1"/>
                </a:solidFill>
              </a:rPr>
              <a:t>Observal</a:t>
            </a:r>
            <a:endParaRPr lang="en-US" sz="2400" dirty="0"/>
          </a:p>
        </p:txBody>
      </p:sp>
      <p:sp>
        <p:nvSpPr>
          <p:cNvPr id="5" name="Text 3"/>
          <p:cNvSpPr txBox="1"/>
          <p:nvPr/>
        </p:nvSpPr>
        <p:spPr>
          <a:xfrm>
            <a:off x="548640" y="2423160"/>
            <a:ext cx="6309360" cy="365760"/>
          </a:xfrm>
          <a:prstGeom prst="rect">
            <a:avLst/>
          </a:prstGeom>
          <a:noFill/>
          <a:ln/>
        </p:spPr>
        <p:txBody>
          <a:bodyPr wrap="square" lIns="0" tIns="0" rIns="0" bIns="0" rtlCol="0" anchor="t"/>
          <a:lstStyle/>
          <a:p>
            <a:pPr indent="0" marL="0">
              <a:buNone/>
            </a:pPr>
            <a:r>
              <a:rPr lang="en-US" sz="1600" dirty="0">
                <a:solidFill>
                  <a:schemeClr val="accent6"/>
                </a:solidFill>
              </a:rPr>
              <a:t>Open-source registry and observability for AI coding agents</a:t>
            </a:r>
            <a:endParaRPr lang="en-US" sz="1600" dirty="0"/>
          </a:p>
        </p:txBody>
      </p:sp>
      <p:sp>
        <p:nvSpPr>
          <p:cNvPr id="6" name="Context 1 circle"/>
          <p:cNvSpPr/>
          <p:nvPr/>
        </p:nvSpPr>
        <p:spPr>
          <a:xfrm>
            <a:off x="548640" y="2926080"/>
            <a:ext cx="548640" cy="548640"/>
          </a:xfrm>
          <a:prstGeom prst="ellipse">
            <a:avLst/>
          </a:prstGeom>
          <a:solidFill>
            <a:schemeClr val="accent3"/>
          </a:solidFill>
          <a:ln/>
        </p:spPr>
      </p:sp>
      <p:pic>
        <p:nvPicPr>
          <p:cNvPr id="7" name="Context 1 icon" descr="preencoded.png">    </p:cNvPr>
          <p:cNvPicPr>
            <a:picLocks noChangeAspect="1"/>
          </p:cNvPicPr>
          <p:nvPr/>
        </p:nvPicPr>
        <p:blipFill>
          <a:blip r:embed="rId1"/>
          <a:stretch>
            <a:fillRect/>
          </a:stretch>
        </p:blipFill>
        <p:spPr>
          <a:xfrm>
            <a:off x="685800" y="3063240"/>
            <a:ext cx="274320" cy="274320"/>
          </a:xfrm>
          <a:prstGeom prst="rect">
            <a:avLst/>
          </a:prstGeom>
        </p:spPr>
      </p:pic>
      <p:sp>
        <p:nvSpPr>
          <p:cNvPr id="8" name="Text 5"/>
          <p:cNvSpPr txBox="1"/>
          <p:nvPr/>
        </p:nvSpPr>
        <p:spPr>
          <a:xfrm>
            <a:off x="1325880" y="2926080"/>
            <a:ext cx="5303520" cy="548640"/>
          </a:xfrm>
          <a:prstGeom prst="rect">
            <a:avLst/>
          </a:prstGeom>
          <a:noFill/>
          <a:ln/>
        </p:spPr>
        <p:txBody>
          <a:bodyPr wrap="square" lIns="0" tIns="0" rIns="0" bIns="0" rtlCol="0" anchor="ctr"/>
          <a:lstStyle/>
          <a:p>
            <a:pPr indent="0" marL="0">
              <a:buNone/>
            </a:pPr>
            <a:r>
              <a:rPr lang="en-US" sz="1600" dirty="0">
                <a:solidFill>
                  <a:schemeClr val="tx1"/>
                </a:solidFill>
              </a:rPr>
              <a:t>Agents bundle MCP servers, skills, hooks, prompts and sandboxes</a:t>
            </a:r>
            <a:endParaRPr lang="en-US" sz="1600" dirty="0"/>
          </a:p>
        </p:txBody>
      </p:sp>
      <p:sp>
        <p:nvSpPr>
          <p:cNvPr id="9" name="Context 2 circle"/>
          <p:cNvSpPr/>
          <p:nvPr/>
        </p:nvSpPr>
        <p:spPr>
          <a:xfrm>
            <a:off x="548640" y="3639312"/>
            <a:ext cx="548640" cy="548640"/>
          </a:xfrm>
          <a:prstGeom prst="ellipse">
            <a:avLst/>
          </a:prstGeom>
          <a:solidFill>
            <a:schemeClr val="accent3"/>
          </a:solidFill>
          <a:ln/>
        </p:spPr>
      </p:sp>
      <p:pic>
        <p:nvPicPr>
          <p:cNvPr id="10" name="Context 2 icon" descr="preencoded.png">    </p:cNvPr>
          <p:cNvPicPr>
            <a:picLocks noChangeAspect="1"/>
          </p:cNvPicPr>
          <p:nvPr/>
        </p:nvPicPr>
        <p:blipFill>
          <a:blip r:embed="rId2"/>
          <a:stretch>
            <a:fillRect/>
          </a:stretch>
        </p:blipFill>
        <p:spPr>
          <a:xfrm>
            <a:off x="685800" y="3776472"/>
            <a:ext cx="274320" cy="274320"/>
          </a:xfrm>
          <a:prstGeom prst="rect">
            <a:avLst/>
          </a:prstGeom>
        </p:spPr>
      </p:pic>
      <p:sp>
        <p:nvSpPr>
          <p:cNvPr id="11" name="Text 7"/>
          <p:cNvSpPr txBox="1"/>
          <p:nvPr/>
        </p:nvSpPr>
        <p:spPr>
          <a:xfrm>
            <a:off x="1325880" y="3639312"/>
            <a:ext cx="5303520" cy="548640"/>
          </a:xfrm>
          <a:prstGeom prst="rect">
            <a:avLst/>
          </a:prstGeom>
          <a:noFill/>
          <a:ln/>
        </p:spPr>
        <p:txBody>
          <a:bodyPr wrap="square" lIns="0" tIns="0" rIns="0" bIns="0" rtlCol="0" anchor="ctr"/>
          <a:lstStyle/>
          <a:p>
            <a:pPr indent="0" marL="0">
              <a:buNone/>
            </a:pPr>
            <a:r>
              <a:rPr lang="en-US" sz="1600" dirty="0">
                <a:solidFill>
                  <a:schemeClr val="tx1"/>
                </a:solidFill>
              </a:rPr>
              <a:t>Install-first: build, get approved, pull into a harness, then start</a:t>
            </a:r>
            <a:endParaRPr lang="en-US" sz="1600" dirty="0"/>
          </a:p>
        </p:txBody>
      </p:sp>
      <p:sp>
        <p:nvSpPr>
          <p:cNvPr id="12" name="Context 3 circle"/>
          <p:cNvSpPr/>
          <p:nvPr/>
        </p:nvSpPr>
        <p:spPr>
          <a:xfrm>
            <a:off x="548640" y="4352544"/>
            <a:ext cx="548640" cy="548640"/>
          </a:xfrm>
          <a:prstGeom prst="ellipse">
            <a:avLst/>
          </a:prstGeom>
          <a:solidFill>
            <a:schemeClr val="accent5"/>
          </a:solidFill>
          <a:ln/>
        </p:spPr>
      </p:sp>
      <p:pic>
        <p:nvPicPr>
          <p:cNvPr id="13" name="Context 3 icon" descr="preencoded.png">    </p:cNvPr>
          <p:cNvPicPr>
            <a:picLocks noChangeAspect="1"/>
          </p:cNvPicPr>
          <p:nvPr/>
        </p:nvPicPr>
        <p:blipFill>
          <a:blip r:embed="rId3"/>
          <a:stretch>
            <a:fillRect/>
          </a:stretch>
        </p:blipFill>
        <p:spPr>
          <a:xfrm>
            <a:off x="685800" y="4489704"/>
            <a:ext cx="274320" cy="274320"/>
          </a:xfrm>
          <a:prstGeom prst="rect">
            <a:avLst/>
          </a:prstGeom>
        </p:spPr>
      </p:pic>
      <p:sp>
        <p:nvSpPr>
          <p:cNvPr id="14" name="Text 9"/>
          <p:cNvSpPr txBox="1"/>
          <p:nvPr/>
        </p:nvSpPr>
        <p:spPr>
          <a:xfrm>
            <a:off x="1325880" y="4352544"/>
            <a:ext cx="5303520" cy="548640"/>
          </a:xfrm>
          <a:prstGeom prst="rect">
            <a:avLst/>
          </a:prstGeom>
          <a:noFill/>
          <a:ln/>
        </p:spPr>
        <p:txBody>
          <a:bodyPr wrap="square" lIns="0" tIns="0" rIns="0" bIns="0" rtlCol="0" anchor="ctr"/>
          <a:lstStyle/>
          <a:p>
            <a:pPr indent="0" marL="0">
              <a:buNone/>
            </a:pPr>
            <a:r>
              <a:rPr lang="en-US" sz="1600" dirty="0">
                <a:solidFill>
                  <a:schemeClr val="tx1"/>
                </a:solidFill>
              </a:rPr>
              <a:t>The gap: mid-task, an agent can’t see approved resources it wasn’t given</a:t>
            </a:r>
            <a:endParaRPr lang="en-US" sz="1600" dirty="0"/>
          </a:p>
        </p:txBody>
      </p:sp>
      <p:sp>
        <p:nvSpPr>
          <p:cNvPr id="15" name="Principle card"/>
          <p:cNvSpPr/>
          <p:nvPr/>
        </p:nvSpPr>
        <p:spPr>
          <a:xfrm>
            <a:off x="7086600" y="1965960"/>
            <a:ext cx="4553712" cy="2788920"/>
          </a:xfrm>
          <a:prstGeom prst="roundRect">
            <a:avLst>
              <a:gd name="adj" fmla="val 4590"/>
            </a:avLst>
          </a:prstGeom>
          <a:solidFill>
            <a:schemeClr val="bg2"/>
          </a:solidFill>
          <a:ln/>
        </p:spPr>
      </p:sp>
      <p:sp>
        <p:nvSpPr>
          <p:cNvPr id="16" name="Text 11"/>
          <p:cNvSpPr txBox="1"/>
          <p:nvPr/>
        </p:nvSpPr>
        <p:spPr>
          <a:xfrm>
            <a:off x="7406640" y="2240280"/>
            <a:ext cx="4023360" cy="457200"/>
          </a:xfrm>
          <a:prstGeom prst="rect">
            <a:avLst/>
          </a:prstGeom>
          <a:noFill/>
          <a:ln/>
        </p:spPr>
        <p:txBody>
          <a:bodyPr wrap="square" lIns="0" tIns="0" rIns="0" bIns="0" rtlCol="0" anchor="t"/>
          <a:lstStyle/>
          <a:p>
            <a:pPr indent="0" marL="0">
              <a:buNone/>
            </a:pPr>
            <a:r>
              <a:rPr lang="en-US" sz="2400" b="1" dirty="0">
                <a:solidFill>
                  <a:schemeClr val="tx1"/>
                </a:solidFill>
              </a:rPr>
              <a:t>ARD says what exists.</a:t>
            </a:r>
            <a:endParaRPr lang="en-US" sz="2400" dirty="0"/>
          </a:p>
        </p:txBody>
      </p:sp>
      <p:sp>
        <p:nvSpPr>
          <p:cNvPr id="17" name="Text 12"/>
          <p:cNvSpPr txBox="1"/>
          <p:nvPr/>
        </p:nvSpPr>
        <p:spPr>
          <a:xfrm>
            <a:off x="7406640" y="2697480"/>
            <a:ext cx="4023360" cy="914400"/>
          </a:xfrm>
          <a:prstGeom prst="rect">
            <a:avLst/>
          </a:prstGeom>
          <a:noFill/>
          <a:ln/>
        </p:spPr>
        <p:txBody>
          <a:bodyPr wrap="square" lIns="0" tIns="0" rIns="0" bIns="0" rtlCol="0" anchor="t"/>
          <a:lstStyle/>
          <a:p>
            <a:pPr indent="0" marL="0">
              <a:buNone/>
            </a:pPr>
            <a:r>
              <a:rPr lang="en-US" sz="2400" b="1" dirty="0">
                <a:solidFill>
                  <a:schemeClr val="accent2"/>
                </a:solidFill>
              </a:rPr>
              <a:t>Observal says how to use it safely.</a:t>
            </a:r>
            <a:endParaRPr lang="en-US" sz="2400" dirty="0"/>
          </a:p>
        </p:txBody>
      </p:sp>
      <p:sp>
        <p:nvSpPr>
          <p:cNvPr id="18" name="Text 13"/>
          <p:cNvSpPr txBox="1"/>
          <p:nvPr/>
        </p:nvSpPr>
        <p:spPr>
          <a:xfrm>
            <a:off x="7406640" y="3886200"/>
            <a:ext cx="4023360" cy="640080"/>
          </a:xfrm>
          <a:prstGeom prst="rect">
            <a:avLst/>
          </a:prstGeom>
          <a:noFill/>
          <a:ln/>
        </p:spPr>
        <p:txBody>
          <a:bodyPr wrap="square" lIns="0" tIns="0" rIns="0" bIns="0" rtlCol="0" anchor="t"/>
          <a:lstStyle/>
          <a:p>
            <a:pPr indent="0" marL="0">
              <a:buNone/>
            </a:pPr>
            <a:r>
              <a:rPr lang="en-US" sz="1400" dirty="0">
                <a:solidFill>
                  <a:schemeClr val="accent6"/>
                </a:solidFill>
              </a:rPr>
              <a:t>The design principle I wrote into the project’s first ADR</a:t>
            </a:r>
            <a:endParaRPr lang="en-US" sz="1400" dirty="0"/>
          </a:p>
        </p:txBody>
      </p:sp>
      <p:sp>
        <p:nvSpPr>
          <p:cNvPr id="19" name="Text 14"/>
          <p:cNvSpPr txBox="1"/>
          <p:nvPr/>
        </p:nvSpPr>
        <p:spPr>
          <a:xfrm>
            <a:off x="548640" y="5212080"/>
            <a:ext cx="2560320" cy="594360"/>
          </a:xfrm>
          <a:prstGeom prst="rect">
            <a:avLst/>
          </a:prstGeom>
          <a:noFill/>
          <a:ln/>
        </p:spPr>
        <p:txBody>
          <a:bodyPr wrap="square" lIns="0" tIns="0" rIns="0" bIns="0" rtlCol="0" anchor="t"/>
          <a:lstStyle/>
          <a:p>
            <a:pPr indent="0" marL="0">
              <a:buNone/>
            </a:pPr>
            <a:r>
              <a:rPr lang="en-US" sz="3600" b="1" dirty="0">
                <a:solidFill>
                  <a:schemeClr val="accent5"/>
                </a:solidFill>
              </a:rPr>
              <a:t>23</a:t>
            </a:r>
            <a:endParaRPr lang="en-US" sz="3600" dirty="0"/>
          </a:p>
        </p:txBody>
      </p:sp>
      <p:sp>
        <p:nvSpPr>
          <p:cNvPr id="20" name="Text 15"/>
          <p:cNvSpPr txBox="1"/>
          <p:nvPr/>
        </p:nvSpPr>
        <p:spPr>
          <a:xfrm>
            <a:off x="548640" y="5806440"/>
            <a:ext cx="2560320" cy="320040"/>
          </a:xfrm>
          <a:prstGeom prst="rect">
            <a:avLst/>
          </a:prstGeom>
          <a:noFill/>
          <a:ln/>
        </p:spPr>
        <p:txBody>
          <a:bodyPr wrap="square" lIns="0" tIns="0" rIns="0" bIns="0" rtlCol="0" anchor="t"/>
          <a:lstStyle/>
          <a:p>
            <a:pPr indent="0" marL="0">
              <a:buNone/>
            </a:pPr>
            <a:r>
              <a:rPr lang="en-US" sz="1500" dirty="0">
                <a:solidFill>
                  <a:schemeClr val="accent6"/>
                </a:solidFill>
              </a:rPr>
              <a:t>commits</a:t>
            </a:r>
            <a:endParaRPr lang="en-US" sz="1500" dirty="0"/>
          </a:p>
        </p:txBody>
      </p:sp>
      <p:sp>
        <p:nvSpPr>
          <p:cNvPr id="21" name="Text 16"/>
          <p:cNvSpPr txBox="1"/>
          <p:nvPr/>
        </p:nvSpPr>
        <p:spPr>
          <a:xfrm>
            <a:off x="3383280" y="5212080"/>
            <a:ext cx="2560320" cy="594360"/>
          </a:xfrm>
          <a:prstGeom prst="rect">
            <a:avLst/>
          </a:prstGeom>
          <a:noFill/>
          <a:ln/>
        </p:spPr>
        <p:txBody>
          <a:bodyPr wrap="square" lIns="0" tIns="0" rIns="0" bIns="0" rtlCol="0" anchor="t"/>
          <a:lstStyle/>
          <a:p>
            <a:pPr indent="0" marL="0">
              <a:buNone/>
            </a:pPr>
            <a:r>
              <a:rPr lang="en-US" sz="3600" b="1" dirty="0">
                <a:solidFill>
                  <a:schemeClr val="accent5"/>
                </a:solidFill>
              </a:rPr>
              <a:t>90</a:t>
            </a:r>
            <a:endParaRPr lang="en-US" sz="3600" dirty="0"/>
          </a:p>
        </p:txBody>
      </p:sp>
      <p:sp>
        <p:nvSpPr>
          <p:cNvPr id="22" name="Text 17"/>
          <p:cNvSpPr txBox="1"/>
          <p:nvPr/>
        </p:nvSpPr>
        <p:spPr>
          <a:xfrm>
            <a:off x="3383280" y="5806440"/>
            <a:ext cx="2560320" cy="320040"/>
          </a:xfrm>
          <a:prstGeom prst="rect">
            <a:avLst/>
          </a:prstGeom>
          <a:noFill/>
          <a:ln/>
        </p:spPr>
        <p:txBody>
          <a:bodyPr wrap="square" lIns="0" tIns="0" rIns="0" bIns="0" rtlCol="0" anchor="t"/>
          <a:lstStyle/>
          <a:p>
            <a:pPr indent="0" marL="0">
              <a:buNone/>
            </a:pPr>
            <a:r>
              <a:rPr lang="en-US" sz="1500" dirty="0">
                <a:solidFill>
                  <a:schemeClr val="accent6"/>
                </a:solidFill>
              </a:rPr>
              <a:t>files</a:t>
            </a:r>
            <a:endParaRPr lang="en-US" sz="1500" dirty="0"/>
          </a:p>
        </p:txBody>
      </p:sp>
      <p:sp>
        <p:nvSpPr>
          <p:cNvPr id="23" name="Text 18"/>
          <p:cNvSpPr txBox="1"/>
          <p:nvPr/>
        </p:nvSpPr>
        <p:spPr>
          <a:xfrm>
            <a:off x="6217920" y="5212080"/>
            <a:ext cx="2560320" cy="594360"/>
          </a:xfrm>
          <a:prstGeom prst="rect">
            <a:avLst/>
          </a:prstGeom>
          <a:noFill/>
          <a:ln/>
        </p:spPr>
        <p:txBody>
          <a:bodyPr wrap="square" lIns="0" tIns="0" rIns="0" bIns="0" rtlCol="0" anchor="t"/>
          <a:lstStyle/>
          <a:p>
            <a:pPr indent="0" marL="0">
              <a:buNone/>
            </a:pPr>
            <a:r>
              <a:rPr lang="en-US" sz="3600" b="1" dirty="0">
                <a:solidFill>
                  <a:schemeClr val="accent5"/>
                </a:solidFill>
              </a:rPr>
              <a:t>+10.8k</a:t>
            </a:r>
            <a:endParaRPr lang="en-US" sz="3600" dirty="0"/>
          </a:p>
        </p:txBody>
      </p:sp>
      <p:sp>
        <p:nvSpPr>
          <p:cNvPr id="24" name="Text 19"/>
          <p:cNvSpPr txBox="1"/>
          <p:nvPr/>
        </p:nvSpPr>
        <p:spPr>
          <a:xfrm>
            <a:off x="6217920" y="5806440"/>
            <a:ext cx="2560320" cy="320040"/>
          </a:xfrm>
          <a:prstGeom prst="rect">
            <a:avLst/>
          </a:prstGeom>
          <a:noFill/>
          <a:ln/>
        </p:spPr>
        <p:txBody>
          <a:bodyPr wrap="square" lIns="0" tIns="0" rIns="0" bIns="0" rtlCol="0" anchor="t"/>
          <a:lstStyle/>
          <a:p>
            <a:pPr indent="0" marL="0">
              <a:buNone/>
            </a:pPr>
            <a:r>
              <a:rPr lang="en-US" sz="1500" dirty="0">
                <a:solidFill>
                  <a:schemeClr val="accent6"/>
                </a:solidFill>
              </a:rPr>
              <a:t>lines</a:t>
            </a:r>
            <a:endParaRPr lang="en-US" sz="1500" dirty="0"/>
          </a:p>
        </p:txBody>
      </p:sp>
      <p:sp>
        <p:nvSpPr>
          <p:cNvPr id="25" name="Text 20"/>
          <p:cNvSpPr txBox="1"/>
          <p:nvPr/>
        </p:nvSpPr>
        <p:spPr>
          <a:xfrm>
            <a:off x="9052560" y="5212080"/>
            <a:ext cx="2560320" cy="594360"/>
          </a:xfrm>
          <a:prstGeom prst="rect">
            <a:avLst/>
          </a:prstGeom>
          <a:noFill/>
          <a:ln/>
        </p:spPr>
        <p:txBody>
          <a:bodyPr wrap="square" lIns="0" tIns="0" rIns="0" bIns="0" rtlCol="0" anchor="t"/>
          <a:lstStyle/>
          <a:p>
            <a:pPr indent="0" marL="0">
              <a:buNone/>
            </a:pPr>
            <a:r>
              <a:rPr lang="en-US" sz="3600" b="1" dirty="0">
                <a:solidFill>
                  <a:schemeClr val="accent5"/>
                </a:solidFill>
              </a:rPr>
              <a:t>4.3k</a:t>
            </a:r>
            <a:endParaRPr lang="en-US" sz="3600" dirty="0"/>
          </a:p>
        </p:txBody>
      </p:sp>
      <p:sp>
        <p:nvSpPr>
          <p:cNvPr id="26" name="Text 21"/>
          <p:cNvSpPr txBox="1"/>
          <p:nvPr/>
        </p:nvSpPr>
        <p:spPr>
          <a:xfrm>
            <a:off x="9052560" y="5806440"/>
            <a:ext cx="2560320" cy="320040"/>
          </a:xfrm>
          <a:prstGeom prst="rect">
            <a:avLst/>
          </a:prstGeom>
          <a:noFill/>
          <a:ln/>
        </p:spPr>
        <p:txBody>
          <a:bodyPr wrap="square" lIns="0" tIns="0" rIns="0" bIns="0" rtlCol="0" anchor="t"/>
          <a:lstStyle/>
          <a:p>
            <a:pPr indent="0" marL="0">
              <a:buNone/>
            </a:pPr>
            <a:r>
              <a:rPr lang="en-US" sz="1500" dirty="0">
                <a:solidFill>
                  <a:schemeClr val="accent6"/>
                </a:solidFill>
              </a:rPr>
              <a:t>lines of tests</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I added ARD as a projection, not a rewrite</a:t>
            </a:r>
            <a:endParaRPr lang="en-US" sz="3200" dirty="0"/>
          </a:p>
        </p:txBody>
      </p:sp>
      <p:sp>
        <p:nvSpPr>
          <p:cNvPr id="4" name="Native registry"/>
          <p:cNvSpPr/>
          <p:nvPr/>
        </p:nvSpPr>
        <p:spPr>
          <a:xfrm>
            <a:off x="548640" y="1965960"/>
            <a:ext cx="3154680" cy="4114800"/>
          </a:xfrm>
          <a:prstGeom prst="roundRect">
            <a:avLst>
              <a:gd name="adj" fmla="val 4058"/>
            </a:avLst>
          </a:prstGeom>
          <a:solidFill>
            <a:schemeClr val="bg2"/>
          </a:solidFill>
          <a:ln/>
        </p:spPr>
      </p:sp>
      <p:sp>
        <p:nvSpPr>
          <p:cNvPr id="5" name="Native registry circle"/>
          <p:cNvSpPr/>
          <p:nvPr/>
        </p:nvSpPr>
        <p:spPr>
          <a:xfrm>
            <a:off x="777240" y="2176272"/>
            <a:ext cx="502920" cy="502920"/>
          </a:xfrm>
          <a:prstGeom prst="ellipse">
            <a:avLst/>
          </a:prstGeom>
          <a:solidFill>
            <a:schemeClr val="accent3"/>
          </a:solidFill>
          <a:ln/>
        </p:spPr>
      </p:sp>
      <p:pic>
        <p:nvPicPr>
          <p:cNvPr id="6" name="Native registry icon" descr="preencoded.png">    </p:cNvPr>
          <p:cNvPicPr>
            <a:picLocks noChangeAspect="1"/>
          </p:cNvPicPr>
          <p:nvPr/>
        </p:nvPicPr>
        <p:blipFill>
          <a:blip r:embed="rId1"/>
          <a:stretch>
            <a:fillRect/>
          </a:stretch>
        </p:blipFill>
        <p:spPr>
          <a:xfrm>
            <a:off x="902970" y="2302002"/>
            <a:ext cx="251460" cy="251460"/>
          </a:xfrm>
          <a:prstGeom prst="rect">
            <a:avLst/>
          </a:prstGeom>
        </p:spPr>
      </p:pic>
      <p:sp>
        <p:nvSpPr>
          <p:cNvPr id="7" name="Text 4"/>
          <p:cNvSpPr txBox="1"/>
          <p:nvPr/>
        </p:nvSpPr>
        <p:spPr>
          <a:xfrm>
            <a:off x="1417320" y="2176272"/>
            <a:ext cx="2194560" cy="502920"/>
          </a:xfrm>
          <a:prstGeom prst="rect">
            <a:avLst/>
          </a:prstGeom>
          <a:noFill/>
          <a:ln/>
        </p:spPr>
        <p:txBody>
          <a:bodyPr wrap="square" lIns="0" tIns="0" rIns="0" bIns="0" rtlCol="0" anchor="ctr"/>
          <a:lstStyle/>
          <a:p>
            <a:pPr indent="0" marL="0">
              <a:buNone/>
            </a:pPr>
            <a:r>
              <a:rPr lang="en-US" sz="1700" b="1" dirty="0">
                <a:solidFill>
                  <a:schemeClr val="tx1"/>
                </a:solidFill>
              </a:rPr>
              <a:t>Existing registry</a:t>
            </a:r>
            <a:endParaRPr lang="en-US" sz="1700" dirty="0"/>
          </a:p>
        </p:txBody>
      </p:sp>
      <p:pic>
        <p:nvPicPr>
          <p:cNvPr id="8" name="Agents icon" descr="preencoded.png">    </p:cNvPr>
          <p:cNvPicPr>
            <a:picLocks noChangeAspect="1"/>
          </p:cNvPicPr>
          <p:nvPr/>
        </p:nvPicPr>
        <p:blipFill>
          <a:blip r:embed="rId2"/>
          <a:stretch>
            <a:fillRect/>
          </a:stretch>
        </p:blipFill>
        <p:spPr>
          <a:xfrm>
            <a:off x="822960" y="2926080"/>
            <a:ext cx="256032" cy="256032"/>
          </a:xfrm>
          <a:prstGeom prst="rect">
            <a:avLst/>
          </a:prstGeom>
        </p:spPr>
      </p:pic>
      <p:sp>
        <p:nvSpPr>
          <p:cNvPr id="9" name="Text 5"/>
          <p:cNvSpPr txBox="1"/>
          <p:nvPr/>
        </p:nvSpPr>
        <p:spPr>
          <a:xfrm>
            <a:off x="1234440" y="2880360"/>
            <a:ext cx="2194560" cy="347472"/>
          </a:xfrm>
          <a:prstGeom prst="rect">
            <a:avLst/>
          </a:prstGeom>
          <a:noFill/>
          <a:ln/>
        </p:spPr>
        <p:txBody>
          <a:bodyPr wrap="square" lIns="0" tIns="0" rIns="0" bIns="0" rtlCol="0" anchor="ctr"/>
          <a:lstStyle/>
          <a:p>
            <a:pPr indent="0" marL="0">
              <a:buNone/>
            </a:pPr>
            <a:r>
              <a:rPr lang="en-US" sz="1500" dirty="0">
                <a:solidFill>
                  <a:schemeClr val="tx1"/>
                </a:solidFill>
              </a:rPr>
              <a:t>Agents</a:t>
            </a:r>
            <a:endParaRPr lang="en-US" sz="1500" dirty="0"/>
          </a:p>
        </p:txBody>
      </p:sp>
      <p:pic>
        <p:nvPicPr>
          <p:cNvPr id="10" name="MCP servers icon" descr="preencoded.png">    </p:cNvPr>
          <p:cNvPicPr>
            <a:picLocks noChangeAspect="1"/>
          </p:cNvPicPr>
          <p:nvPr/>
        </p:nvPicPr>
        <p:blipFill>
          <a:blip r:embed="rId3"/>
          <a:stretch>
            <a:fillRect/>
          </a:stretch>
        </p:blipFill>
        <p:spPr>
          <a:xfrm>
            <a:off x="822960" y="3328416"/>
            <a:ext cx="256032" cy="256032"/>
          </a:xfrm>
          <a:prstGeom prst="rect">
            <a:avLst/>
          </a:prstGeom>
        </p:spPr>
      </p:pic>
      <p:sp>
        <p:nvSpPr>
          <p:cNvPr id="11" name="Text 6"/>
          <p:cNvSpPr txBox="1"/>
          <p:nvPr/>
        </p:nvSpPr>
        <p:spPr>
          <a:xfrm>
            <a:off x="1234440" y="3282696"/>
            <a:ext cx="2194560" cy="347472"/>
          </a:xfrm>
          <a:prstGeom prst="rect">
            <a:avLst/>
          </a:prstGeom>
          <a:noFill/>
          <a:ln/>
        </p:spPr>
        <p:txBody>
          <a:bodyPr wrap="square" lIns="0" tIns="0" rIns="0" bIns="0" rtlCol="0" anchor="ctr"/>
          <a:lstStyle/>
          <a:p>
            <a:pPr indent="0" marL="0">
              <a:buNone/>
            </a:pPr>
            <a:r>
              <a:rPr lang="en-US" sz="1500" dirty="0">
                <a:solidFill>
                  <a:schemeClr val="tx1"/>
                </a:solidFill>
              </a:rPr>
              <a:t>MCP servers</a:t>
            </a:r>
            <a:endParaRPr lang="en-US" sz="1500" dirty="0"/>
          </a:p>
        </p:txBody>
      </p:sp>
      <p:pic>
        <p:nvPicPr>
          <p:cNvPr id="12" name="Skills icon" descr="preencoded.png">    </p:cNvPr>
          <p:cNvPicPr>
            <a:picLocks noChangeAspect="1"/>
          </p:cNvPicPr>
          <p:nvPr/>
        </p:nvPicPr>
        <p:blipFill>
          <a:blip r:embed="rId4"/>
          <a:stretch>
            <a:fillRect/>
          </a:stretch>
        </p:blipFill>
        <p:spPr>
          <a:xfrm>
            <a:off x="822960" y="3730752"/>
            <a:ext cx="256032" cy="256032"/>
          </a:xfrm>
          <a:prstGeom prst="rect">
            <a:avLst/>
          </a:prstGeom>
        </p:spPr>
      </p:pic>
      <p:sp>
        <p:nvSpPr>
          <p:cNvPr id="13" name="Text 7"/>
          <p:cNvSpPr txBox="1"/>
          <p:nvPr/>
        </p:nvSpPr>
        <p:spPr>
          <a:xfrm>
            <a:off x="1234440" y="3685032"/>
            <a:ext cx="2194560" cy="347472"/>
          </a:xfrm>
          <a:prstGeom prst="rect">
            <a:avLst/>
          </a:prstGeom>
          <a:noFill/>
          <a:ln/>
        </p:spPr>
        <p:txBody>
          <a:bodyPr wrap="square" lIns="0" tIns="0" rIns="0" bIns="0" rtlCol="0" anchor="ctr"/>
          <a:lstStyle/>
          <a:p>
            <a:pPr indent="0" marL="0">
              <a:buNone/>
            </a:pPr>
            <a:r>
              <a:rPr lang="en-US" sz="1500" dirty="0">
                <a:solidFill>
                  <a:schemeClr val="tx1"/>
                </a:solidFill>
              </a:rPr>
              <a:t>Skills</a:t>
            </a:r>
            <a:endParaRPr lang="en-US" sz="1500" dirty="0"/>
          </a:p>
        </p:txBody>
      </p:sp>
      <p:pic>
        <p:nvPicPr>
          <p:cNvPr id="14" name="Hooks icon" descr="preencoded.png">    </p:cNvPr>
          <p:cNvPicPr>
            <a:picLocks noChangeAspect="1"/>
          </p:cNvPicPr>
          <p:nvPr/>
        </p:nvPicPr>
        <p:blipFill>
          <a:blip r:embed="rId5"/>
          <a:stretch>
            <a:fillRect/>
          </a:stretch>
        </p:blipFill>
        <p:spPr>
          <a:xfrm>
            <a:off x="822960" y="4133088"/>
            <a:ext cx="256032" cy="256032"/>
          </a:xfrm>
          <a:prstGeom prst="rect">
            <a:avLst/>
          </a:prstGeom>
        </p:spPr>
      </p:pic>
      <p:sp>
        <p:nvSpPr>
          <p:cNvPr id="15" name="Text 8"/>
          <p:cNvSpPr txBox="1"/>
          <p:nvPr/>
        </p:nvSpPr>
        <p:spPr>
          <a:xfrm>
            <a:off x="1234440" y="4087368"/>
            <a:ext cx="2194560" cy="347472"/>
          </a:xfrm>
          <a:prstGeom prst="rect">
            <a:avLst/>
          </a:prstGeom>
          <a:noFill/>
          <a:ln/>
        </p:spPr>
        <p:txBody>
          <a:bodyPr wrap="square" lIns="0" tIns="0" rIns="0" bIns="0" rtlCol="0" anchor="ctr"/>
          <a:lstStyle/>
          <a:p>
            <a:pPr indent="0" marL="0">
              <a:buNone/>
            </a:pPr>
            <a:r>
              <a:rPr lang="en-US" sz="1500" dirty="0">
                <a:solidFill>
                  <a:schemeClr val="tx1"/>
                </a:solidFill>
              </a:rPr>
              <a:t>Hooks</a:t>
            </a:r>
            <a:endParaRPr lang="en-US" sz="1500" dirty="0"/>
          </a:p>
        </p:txBody>
      </p:sp>
      <p:pic>
        <p:nvPicPr>
          <p:cNvPr id="16" name="Prompts icon" descr="preencoded.png">    </p:cNvPr>
          <p:cNvPicPr>
            <a:picLocks noChangeAspect="1"/>
          </p:cNvPicPr>
          <p:nvPr/>
        </p:nvPicPr>
        <p:blipFill>
          <a:blip r:embed="rId6"/>
          <a:stretch>
            <a:fillRect/>
          </a:stretch>
        </p:blipFill>
        <p:spPr>
          <a:xfrm>
            <a:off x="822960" y="4535424"/>
            <a:ext cx="256032" cy="256032"/>
          </a:xfrm>
          <a:prstGeom prst="rect">
            <a:avLst/>
          </a:prstGeom>
        </p:spPr>
      </p:pic>
      <p:sp>
        <p:nvSpPr>
          <p:cNvPr id="17" name="Text 9"/>
          <p:cNvSpPr txBox="1"/>
          <p:nvPr/>
        </p:nvSpPr>
        <p:spPr>
          <a:xfrm>
            <a:off x="1234440" y="4489704"/>
            <a:ext cx="2194560" cy="347472"/>
          </a:xfrm>
          <a:prstGeom prst="rect">
            <a:avLst/>
          </a:prstGeom>
          <a:noFill/>
          <a:ln/>
        </p:spPr>
        <p:txBody>
          <a:bodyPr wrap="square" lIns="0" tIns="0" rIns="0" bIns="0" rtlCol="0" anchor="ctr"/>
          <a:lstStyle/>
          <a:p>
            <a:pPr indent="0" marL="0">
              <a:buNone/>
            </a:pPr>
            <a:r>
              <a:rPr lang="en-US" sz="1500" dirty="0">
                <a:solidFill>
                  <a:schemeClr val="tx1"/>
                </a:solidFill>
              </a:rPr>
              <a:t>Prompts</a:t>
            </a:r>
            <a:endParaRPr lang="en-US" sz="1500" dirty="0"/>
          </a:p>
        </p:txBody>
      </p:sp>
      <p:pic>
        <p:nvPicPr>
          <p:cNvPr id="18" name="Sandboxes icon" descr="preencoded.png">    </p:cNvPr>
          <p:cNvPicPr>
            <a:picLocks noChangeAspect="1"/>
          </p:cNvPicPr>
          <p:nvPr/>
        </p:nvPicPr>
        <p:blipFill>
          <a:blip r:embed="rId7"/>
          <a:stretch>
            <a:fillRect/>
          </a:stretch>
        </p:blipFill>
        <p:spPr>
          <a:xfrm>
            <a:off x="822960" y="4937760"/>
            <a:ext cx="256032" cy="256032"/>
          </a:xfrm>
          <a:prstGeom prst="rect">
            <a:avLst/>
          </a:prstGeom>
        </p:spPr>
      </p:pic>
      <p:sp>
        <p:nvSpPr>
          <p:cNvPr id="19" name="Text 10"/>
          <p:cNvSpPr txBox="1"/>
          <p:nvPr/>
        </p:nvSpPr>
        <p:spPr>
          <a:xfrm>
            <a:off x="1234440" y="4892040"/>
            <a:ext cx="2194560" cy="347472"/>
          </a:xfrm>
          <a:prstGeom prst="rect">
            <a:avLst/>
          </a:prstGeom>
          <a:noFill/>
          <a:ln/>
        </p:spPr>
        <p:txBody>
          <a:bodyPr wrap="square" lIns="0" tIns="0" rIns="0" bIns="0" rtlCol="0" anchor="ctr"/>
          <a:lstStyle/>
          <a:p>
            <a:pPr indent="0" marL="0">
              <a:buNone/>
            </a:pPr>
            <a:r>
              <a:rPr lang="en-US" sz="1500" dirty="0">
                <a:solidFill>
                  <a:schemeClr val="tx1"/>
                </a:solidFill>
              </a:rPr>
              <a:t>Sandboxes</a:t>
            </a:r>
            <a:endParaRPr lang="en-US" sz="1500" dirty="0"/>
          </a:p>
        </p:txBody>
      </p:sp>
      <p:sp>
        <p:nvSpPr>
          <p:cNvPr id="20" name="Text 11"/>
          <p:cNvSpPr txBox="1"/>
          <p:nvPr/>
        </p:nvSpPr>
        <p:spPr>
          <a:xfrm>
            <a:off x="777240" y="5349240"/>
            <a:ext cx="2743200" cy="640080"/>
          </a:xfrm>
          <a:prstGeom prst="rect">
            <a:avLst/>
          </a:prstGeom>
          <a:noFill/>
          <a:ln/>
        </p:spPr>
        <p:txBody>
          <a:bodyPr wrap="square" lIns="0" tIns="0" rIns="0" bIns="0" rtlCol="0" anchor="t"/>
          <a:lstStyle/>
          <a:p>
            <a:pPr indent="0" marL="0">
              <a:buNone/>
            </a:pPr>
            <a:r>
              <a:rPr lang="en-US" sz="1300" dirty="0">
                <a:solidFill>
                  <a:schemeClr val="accent6"/>
                </a:solidFill>
              </a:rPr>
              <a:t>Still the source of truth for install, review and ownership</a:t>
            </a:r>
            <a:endParaRPr lang="en-US" sz="1300" dirty="0"/>
          </a:p>
        </p:txBody>
      </p:sp>
      <p:sp>
        <p:nvSpPr>
          <p:cNvPr id="21" name="Registry to adapters"/>
          <p:cNvSpPr/>
          <p:nvPr/>
        </p:nvSpPr>
        <p:spPr>
          <a:xfrm>
            <a:off x="3794760" y="4023360"/>
            <a:ext cx="411480" cy="0"/>
          </a:xfrm>
          <a:prstGeom prst="line">
            <a:avLst/>
          </a:prstGeom>
          <a:noFill/>
          <a:ln w="22225">
            <a:solidFill>
              <a:srgbClr val="474552"/>
            </a:solidFill>
            <a:prstDash val="solid"/>
            <a:tailEnd type="triangle"/>
          </a:ln>
        </p:spPr>
      </p:sp>
      <p:sp>
        <p:nvSpPr>
          <p:cNvPr id="22" name="Adapters"/>
          <p:cNvSpPr/>
          <p:nvPr/>
        </p:nvSpPr>
        <p:spPr>
          <a:xfrm>
            <a:off x="4297680" y="1965960"/>
            <a:ext cx="3429000" cy="1783080"/>
          </a:xfrm>
          <a:prstGeom prst="roundRect">
            <a:avLst>
              <a:gd name="adj" fmla="val 7179"/>
            </a:avLst>
          </a:prstGeom>
          <a:solidFill>
            <a:schemeClr val="bg2"/>
          </a:solidFill>
          <a:ln/>
        </p:spPr>
      </p:sp>
      <p:sp>
        <p:nvSpPr>
          <p:cNvPr id="23" name="Text 14"/>
          <p:cNvSpPr txBox="1"/>
          <p:nvPr/>
        </p:nvSpPr>
        <p:spPr>
          <a:xfrm>
            <a:off x="4526280" y="2148840"/>
            <a:ext cx="3017520" cy="365760"/>
          </a:xfrm>
          <a:prstGeom prst="rect">
            <a:avLst/>
          </a:prstGeom>
          <a:noFill/>
          <a:ln/>
        </p:spPr>
        <p:txBody>
          <a:bodyPr wrap="square" lIns="0" tIns="0" rIns="0" bIns="0" rtlCol="0" anchor="t"/>
          <a:lstStyle/>
          <a:p>
            <a:pPr indent="0" marL="0">
              <a:buNone/>
            </a:pPr>
            <a:r>
              <a:rPr lang="en-US" sz="1700" b="1" dirty="0">
                <a:solidFill>
                  <a:schemeClr val="tx1"/>
                </a:solidFill>
              </a:rPr>
              <a:t>One adapter per kind</a:t>
            </a:r>
            <a:endParaRPr lang="en-US" sz="1700" dirty="0"/>
          </a:p>
        </p:txBody>
      </p:sp>
      <p:sp>
        <p:nvSpPr>
          <p:cNvPr id="24" name="Text 15"/>
          <p:cNvSpPr txBox="1"/>
          <p:nvPr/>
        </p:nvSpPr>
        <p:spPr>
          <a:xfrm>
            <a:off x="4526280" y="2560320"/>
            <a:ext cx="3017520" cy="1097280"/>
          </a:xfrm>
          <a:prstGeom prst="rect">
            <a:avLst/>
          </a:prstGeom>
          <a:noFill/>
          <a:ln/>
        </p:spPr>
        <p:txBody>
          <a:bodyPr wrap="square" lIns="0" tIns="0" rIns="0" bIns="0" rtlCol="0" anchor="t"/>
          <a:lstStyle/>
          <a:p>
            <a:pPr indent="0" marL="0">
              <a:buNone/>
            </a:pPr>
            <a:r>
              <a:rPr lang="en-US" sz="1400" dirty="0">
                <a:solidFill>
                  <a:schemeClr val="accent6"/>
                </a:solidFill>
              </a:rPr>
              <a:t>Turns each approved version into a neutral entry and derives representative queries</a:t>
            </a:r>
            <a:endParaRPr lang="en-US" sz="1400" dirty="0"/>
          </a:p>
        </p:txBody>
      </p:sp>
      <p:sp>
        <p:nvSpPr>
          <p:cNvPr id="25" name="Adapters to read model"/>
          <p:cNvSpPr/>
          <p:nvPr/>
        </p:nvSpPr>
        <p:spPr>
          <a:xfrm>
            <a:off x="6012180" y="3794760"/>
            <a:ext cx="0" cy="411480"/>
          </a:xfrm>
          <a:prstGeom prst="line">
            <a:avLst/>
          </a:prstGeom>
          <a:noFill/>
          <a:ln w="22225">
            <a:solidFill>
              <a:srgbClr val="474552"/>
            </a:solidFill>
            <a:prstDash val="solid"/>
            <a:tailEnd type="triangle"/>
          </a:ln>
        </p:spPr>
      </p:sp>
      <p:sp>
        <p:nvSpPr>
          <p:cNvPr id="26" name="discovery_entries"/>
          <p:cNvSpPr/>
          <p:nvPr/>
        </p:nvSpPr>
        <p:spPr>
          <a:xfrm>
            <a:off x="4297680" y="4297680"/>
            <a:ext cx="3429000" cy="1783080"/>
          </a:xfrm>
          <a:prstGeom prst="roundRect">
            <a:avLst>
              <a:gd name="adj" fmla="val 7179"/>
            </a:avLst>
          </a:prstGeom>
          <a:solidFill>
            <a:schemeClr val="accent1"/>
          </a:solidFill>
          <a:ln/>
        </p:spPr>
      </p:sp>
      <p:sp>
        <p:nvSpPr>
          <p:cNvPr id="27" name="Text 18"/>
          <p:cNvSpPr txBox="1"/>
          <p:nvPr/>
        </p:nvSpPr>
        <p:spPr>
          <a:xfrm>
            <a:off x="4526280" y="4480560"/>
            <a:ext cx="3017520" cy="365760"/>
          </a:xfrm>
          <a:prstGeom prst="rect">
            <a:avLst/>
          </a:prstGeom>
          <a:noFill/>
          <a:ln/>
        </p:spPr>
        <p:txBody>
          <a:bodyPr wrap="square" lIns="0" tIns="0" rIns="0" bIns="0" rtlCol="0" anchor="t"/>
          <a:lstStyle/>
          <a:p>
            <a:pPr indent="0" marL="0">
              <a:buNone/>
            </a:pPr>
            <a:r>
              <a:rPr lang="en-US" sz="1700" b="1" dirty="0">
                <a:solidFill>
                  <a:schemeClr val="tx1"/>
                </a:solidFill>
                <a:latin typeface="Consolas" pitchFamily="34" charset="0"/>
                <a:ea typeface="Consolas" pitchFamily="34" charset="-122"/>
                <a:cs typeface="Consolas" pitchFamily="34" charset="-120"/>
              </a:rPr>
              <a:t>discovery_entries</a:t>
            </a:r>
            <a:endParaRPr lang="en-US" sz="1700" dirty="0"/>
          </a:p>
        </p:txBody>
      </p:sp>
      <p:sp>
        <p:nvSpPr>
          <p:cNvPr id="28" name="Text 19"/>
          <p:cNvSpPr txBox="1"/>
          <p:nvPr/>
        </p:nvSpPr>
        <p:spPr>
          <a:xfrm>
            <a:off x="4526280" y="4892040"/>
            <a:ext cx="3017520" cy="1097280"/>
          </a:xfrm>
          <a:prstGeom prst="rect">
            <a:avLst/>
          </a:prstGeom>
          <a:noFill/>
          <a:ln/>
        </p:spPr>
        <p:txBody>
          <a:bodyPr wrap="square" lIns="0" tIns="0" rIns="0" bIns="0" rtlCol="0" anchor="t"/>
          <a:lstStyle/>
          <a:p>
            <a:pPr indent="0" marL="0">
              <a:buNone/>
            </a:pPr>
            <a:r>
              <a:rPr lang="en-US" sz="1400" dirty="0">
                <a:solidFill>
                  <a:schemeClr val="tx1"/>
                </a:solidFill>
              </a:rPr>
              <a:t>A read model: URN, media type, lifecycle, visibility, search text, content hash</a:t>
            </a:r>
            <a:endParaRPr lang="en-US" sz="1400" dirty="0"/>
          </a:p>
        </p:txBody>
      </p:sp>
      <p:sp>
        <p:nvSpPr>
          <p:cNvPr id="29" name="Read model to consumers"/>
          <p:cNvSpPr/>
          <p:nvPr/>
        </p:nvSpPr>
        <p:spPr>
          <a:xfrm>
            <a:off x="7818120" y="4023360"/>
            <a:ext cx="411480" cy="0"/>
          </a:xfrm>
          <a:prstGeom prst="line">
            <a:avLst/>
          </a:prstGeom>
          <a:noFill/>
          <a:ln w="22225">
            <a:solidFill>
              <a:srgbClr val="474552"/>
            </a:solidFill>
            <a:prstDash val="solid"/>
            <a:tailEnd type="triangle"/>
          </a:ln>
        </p:spPr>
      </p:sp>
      <p:sp>
        <p:nvSpPr>
          <p:cNvPr id="30" name="Consumer 1"/>
          <p:cNvSpPr/>
          <p:nvPr/>
        </p:nvSpPr>
        <p:spPr>
          <a:xfrm>
            <a:off x="8321040" y="1965960"/>
            <a:ext cx="3319272" cy="914400"/>
          </a:xfrm>
          <a:prstGeom prst="roundRect">
            <a:avLst>
              <a:gd name="adj" fmla="val 14000"/>
            </a:avLst>
          </a:prstGeom>
          <a:solidFill>
            <a:schemeClr val="bg1"/>
          </a:solidFill>
          <a:ln w="15875">
            <a:solidFill>
              <a:srgbClr val="B6B0D0"/>
            </a:solidFill>
            <a:prstDash val="solid"/>
          </a:ln>
        </p:spPr>
      </p:sp>
      <p:sp>
        <p:nvSpPr>
          <p:cNvPr id="31" name="Consumer 1 circle"/>
          <p:cNvSpPr/>
          <p:nvPr/>
        </p:nvSpPr>
        <p:spPr>
          <a:xfrm>
            <a:off x="8503920" y="2167128"/>
            <a:ext cx="512064" cy="512064"/>
          </a:xfrm>
          <a:prstGeom prst="ellipse">
            <a:avLst/>
          </a:prstGeom>
          <a:solidFill>
            <a:schemeClr val="accent3"/>
          </a:solidFill>
          <a:ln/>
        </p:spPr>
      </p:sp>
      <p:pic>
        <p:nvPicPr>
          <p:cNvPr id="32" name="Consumer 1 icon" descr="preencoded.png">    </p:cNvPr>
          <p:cNvPicPr>
            <a:picLocks noChangeAspect="1"/>
          </p:cNvPicPr>
          <p:nvPr/>
        </p:nvPicPr>
        <p:blipFill>
          <a:blip r:embed="rId8"/>
          <a:stretch>
            <a:fillRect/>
          </a:stretch>
        </p:blipFill>
        <p:spPr>
          <a:xfrm>
            <a:off x="8631936" y="2295144"/>
            <a:ext cx="256032" cy="256032"/>
          </a:xfrm>
          <a:prstGeom prst="rect">
            <a:avLst/>
          </a:prstGeom>
        </p:spPr>
      </p:pic>
      <p:sp>
        <p:nvSpPr>
          <p:cNvPr id="33" name="Text 23"/>
          <p:cNvSpPr txBox="1"/>
          <p:nvPr/>
        </p:nvSpPr>
        <p:spPr>
          <a:xfrm>
            <a:off x="9144000" y="196596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The ard.json manifest</a:t>
            </a:r>
            <a:endParaRPr lang="en-US" sz="1500" dirty="0"/>
          </a:p>
        </p:txBody>
      </p:sp>
      <p:sp>
        <p:nvSpPr>
          <p:cNvPr id="34" name="Consumer 2"/>
          <p:cNvSpPr/>
          <p:nvPr/>
        </p:nvSpPr>
        <p:spPr>
          <a:xfrm>
            <a:off x="8321040" y="3017520"/>
            <a:ext cx="3319272" cy="914400"/>
          </a:xfrm>
          <a:prstGeom prst="roundRect">
            <a:avLst>
              <a:gd name="adj" fmla="val 14000"/>
            </a:avLst>
          </a:prstGeom>
          <a:solidFill>
            <a:schemeClr val="bg1"/>
          </a:solidFill>
          <a:ln w="15875">
            <a:solidFill>
              <a:srgbClr val="B6B0D0"/>
            </a:solidFill>
            <a:prstDash val="solid"/>
          </a:ln>
        </p:spPr>
      </p:sp>
      <p:sp>
        <p:nvSpPr>
          <p:cNvPr id="35" name="Consumer 2 circle"/>
          <p:cNvSpPr/>
          <p:nvPr/>
        </p:nvSpPr>
        <p:spPr>
          <a:xfrm>
            <a:off x="8503920" y="3218688"/>
            <a:ext cx="512064" cy="512064"/>
          </a:xfrm>
          <a:prstGeom prst="ellipse">
            <a:avLst/>
          </a:prstGeom>
          <a:solidFill>
            <a:schemeClr val="accent3"/>
          </a:solidFill>
          <a:ln/>
        </p:spPr>
      </p:sp>
      <p:pic>
        <p:nvPicPr>
          <p:cNvPr id="36" name="Consumer 2 icon" descr="preencoded.png">    </p:cNvPr>
          <p:cNvPicPr>
            <a:picLocks noChangeAspect="1"/>
          </p:cNvPicPr>
          <p:nvPr/>
        </p:nvPicPr>
        <p:blipFill>
          <a:blip r:embed="rId9"/>
          <a:stretch>
            <a:fillRect/>
          </a:stretch>
        </p:blipFill>
        <p:spPr>
          <a:xfrm>
            <a:off x="8631936" y="3346704"/>
            <a:ext cx="256032" cy="256032"/>
          </a:xfrm>
          <a:prstGeom prst="rect">
            <a:avLst/>
          </a:prstGeom>
        </p:spPr>
      </p:pic>
      <p:sp>
        <p:nvSpPr>
          <p:cNvPr id="37" name="Text 26"/>
          <p:cNvSpPr txBox="1"/>
          <p:nvPr/>
        </p:nvSpPr>
        <p:spPr>
          <a:xfrm>
            <a:off x="9144000" y="301752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ARD Search and List</a:t>
            </a:r>
            <a:endParaRPr lang="en-US" sz="1500" dirty="0"/>
          </a:p>
        </p:txBody>
      </p:sp>
      <p:sp>
        <p:nvSpPr>
          <p:cNvPr id="38" name="Consumer 3"/>
          <p:cNvSpPr/>
          <p:nvPr/>
        </p:nvSpPr>
        <p:spPr>
          <a:xfrm>
            <a:off x="8321040" y="4069080"/>
            <a:ext cx="3319272" cy="914400"/>
          </a:xfrm>
          <a:prstGeom prst="roundRect">
            <a:avLst>
              <a:gd name="adj" fmla="val 14000"/>
            </a:avLst>
          </a:prstGeom>
          <a:solidFill>
            <a:schemeClr val="bg1"/>
          </a:solidFill>
          <a:ln w="15875">
            <a:solidFill>
              <a:srgbClr val="B6B0D0"/>
            </a:solidFill>
            <a:prstDash val="solid"/>
          </a:ln>
        </p:spPr>
      </p:sp>
      <p:sp>
        <p:nvSpPr>
          <p:cNvPr id="39" name="Consumer 3 circle"/>
          <p:cNvSpPr/>
          <p:nvPr/>
        </p:nvSpPr>
        <p:spPr>
          <a:xfrm>
            <a:off x="8503920" y="4270248"/>
            <a:ext cx="512064" cy="512064"/>
          </a:xfrm>
          <a:prstGeom prst="ellipse">
            <a:avLst/>
          </a:prstGeom>
          <a:solidFill>
            <a:schemeClr val="accent3"/>
          </a:solidFill>
          <a:ln/>
        </p:spPr>
      </p:sp>
      <p:pic>
        <p:nvPicPr>
          <p:cNvPr id="40" name="Consumer 3 icon" descr="preencoded.png">    </p:cNvPr>
          <p:cNvPicPr>
            <a:picLocks noChangeAspect="1"/>
          </p:cNvPicPr>
          <p:nvPr/>
        </p:nvPicPr>
        <p:blipFill>
          <a:blip r:embed="rId10"/>
          <a:stretch>
            <a:fillRect/>
          </a:stretch>
        </p:blipFill>
        <p:spPr>
          <a:xfrm>
            <a:off x="8631936" y="4398264"/>
            <a:ext cx="256032" cy="256032"/>
          </a:xfrm>
          <a:prstGeom prst="rect">
            <a:avLst/>
          </a:prstGeom>
        </p:spPr>
      </p:pic>
      <p:sp>
        <p:nvSpPr>
          <p:cNvPr id="41" name="Text 29"/>
          <p:cNvSpPr txBox="1"/>
          <p:nvPr/>
        </p:nvSpPr>
        <p:spPr>
          <a:xfrm>
            <a:off x="9144000" y="406908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Versioned artifacts with digests</a:t>
            </a:r>
            <a:endParaRPr lang="en-US" sz="1500" dirty="0"/>
          </a:p>
        </p:txBody>
      </p:sp>
      <p:sp>
        <p:nvSpPr>
          <p:cNvPr id="42" name="Consumer 4"/>
          <p:cNvSpPr/>
          <p:nvPr/>
        </p:nvSpPr>
        <p:spPr>
          <a:xfrm>
            <a:off x="8321040" y="5120640"/>
            <a:ext cx="3319272" cy="914400"/>
          </a:xfrm>
          <a:prstGeom prst="roundRect">
            <a:avLst>
              <a:gd name="adj" fmla="val 14000"/>
            </a:avLst>
          </a:prstGeom>
          <a:solidFill>
            <a:schemeClr val="bg1"/>
          </a:solidFill>
          <a:ln w="15875">
            <a:solidFill>
              <a:srgbClr val="B6B0D0"/>
            </a:solidFill>
            <a:prstDash val="solid"/>
          </a:ln>
        </p:spPr>
      </p:sp>
      <p:sp>
        <p:nvSpPr>
          <p:cNvPr id="43" name="Consumer 4 circle"/>
          <p:cNvSpPr/>
          <p:nvPr/>
        </p:nvSpPr>
        <p:spPr>
          <a:xfrm>
            <a:off x="8503920" y="5321808"/>
            <a:ext cx="512064" cy="512064"/>
          </a:xfrm>
          <a:prstGeom prst="ellipse">
            <a:avLst/>
          </a:prstGeom>
          <a:solidFill>
            <a:schemeClr val="accent3"/>
          </a:solidFill>
          <a:ln/>
        </p:spPr>
      </p:sp>
      <p:pic>
        <p:nvPicPr>
          <p:cNvPr id="44" name="Consumer 4 icon" descr="preencoded.png">    </p:cNvPr>
          <p:cNvPicPr>
            <a:picLocks noChangeAspect="1"/>
          </p:cNvPicPr>
          <p:nvPr/>
        </p:nvPicPr>
        <p:blipFill>
          <a:blip r:embed="rId11"/>
          <a:stretch>
            <a:fillRect/>
          </a:stretch>
        </p:blipFill>
        <p:spPr>
          <a:xfrm>
            <a:off x="8631936" y="5449824"/>
            <a:ext cx="256032" cy="256032"/>
          </a:xfrm>
          <a:prstGeom prst="rect">
            <a:avLst/>
          </a:prstGeom>
        </p:spPr>
      </p:pic>
      <p:sp>
        <p:nvSpPr>
          <p:cNvPr id="45" name="Text 32"/>
          <p:cNvSpPr txBox="1"/>
          <p:nvPr/>
        </p:nvSpPr>
        <p:spPr>
          <a:xfrm>
            <a:off x="9144000" y="512064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CLI, web page, agent skill</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Six endpoints make Observal an ARD publisher and search endpoint</a:t>
            </a:r>
            <a:endParaRPr lang="en-US" sz="3200" dirty="0"/>
          </a:p>
        </p:txBody>
      </p:sp>
      <p:sp>
        <p:nvSpPr>
          <p:cNvPr id="4" name="Observal URN 1"/>
          <p:cNvSpPr/>
          <p:nvPr/>
        </p:nvSpPr>
        <p:spPr>
          <a:xfrm>
            <a:off x="548640" y="1965960"/>
            <a:ext cx="1325880" cy="566928"/>
          </a:xfrm>
          <a:prstGeom prst="roundRect">
            <a:avLst>
              <a:gd name="adj" fmla="val 12903"/>
            </a:avLst>
          </a:prstGeom>
          <a:solidFill>
            <a:schemeClr val="bg2"/>
          </a:solidFill>
          <a:ln/>
        </p:spPr>
      </p:sp>
      <p:sp>
        <p:nvSpPr>
          <p:cNvPr id="5" name="Text 3"/>
          <p:cNvSpPr txBox="1"/>
          <p:nvPr/>
        </p:nvSpPr>
        <p:spPr>
          <a:xfrm>
            <a:off x="548640" y="1965960"/>
            <a:ext cx="132588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urn:air</a:t>
            </a:r>
            <a:endParaRPr lang="en-US" sz="1800" dirty="0"/>
          </a:p>
        </p:txBody>
      </p:sp>
      <p:sp>
        <p:nvSpPr>
          <p:cNvPr id="6" name="Text 4"/>
          <p:cNvSpPr txBox="1"/>
          <p:nvPr/>
        </p:nvSpPr>
        <p:spPr>
          <a:xfrm>
            <a:off x="1874520" y="1965960"/>
            <a:ext cx="228600" cy="566928"/>
          </a:xfrm>
          <a:prstGeom prst="rect">
            <a:avLst/>
          </a:prstGeom>
          <a:noFill/>
          <a:ln/>
        </p:spPr>
        <p:txBody>
          <a:bodyPr wrap="square" lIns="0" tIns="0" rIns="0" bIns="0" rtlCol="0" anchor="ctr"/>
          <a:lstStyle/>
          <a:p>
            <a:pPr algn="ctr" indent="0" marL="0">
              <a:buNone/>
            </a:pPr>
            <a:r>
              <a:rPr lang="en-US" sz="2000" b="1" dirty="0">
                <a:solidFill>
                  <a:schemeClr val="tx1"/>
                </a:solidFill>
                <a:latin typeface="Consolas" pitchFamily="34" charset="0"/>
                <a:ea typeface="Consolas" pitchFamily="34" charset="-122"/>
                <a:cs typeface="Consolas" pitchFamily="34" charset="-120"/>
              </a:rPr>
              <a:t>:</a:t>
            </a:r>
            <a:endParaRPr lang="en-US" sz="2000" dirty="0"/>
          </a:p>
        </p:txBody>
      </p:sp>
      <p:sp>
        <p:nvSpPr>
          <p:cNvPr id="7" name="Observal URN 2"/>
          <p:cNvSpPr/>
          <p:nvPr/>
        </p:nvSpPr>
        <p:spPr>
          <a:xfrm>
            <a:off x="2103120" y="1965960"/>
            <a:ext cx="3017520" cy="566928"/>
          </a:xfrm>
          <a:prstGeom prst="roundRect">
            <a:avLst>
              <a:gd name="adj" fmla="val 12903"/>
            </a:avLst>
          </a:prstGeom>
          <a:solidFill>
            <a:schemeClr val="accent1"/>
          </a:solidFill>
          <a:ln/>
        </p:spPr>
      </p:sp>
      <p:sp>
        <p:nvSpPr>
          <p:cNvPr id="8" name="Text 6"/>
          <p:cNvSpPr txBox="1"/>
          <p:nvPr/>
        </p:nvSpPr>
        <p:spPr>
          <a:xfrm>
            <a:off x="2103120" y="1965960"/>
            <a:ext cx="30175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observal.acme.com</a:t>
            </a:r>
            <a:endParaRPr lang="en-US" sz="1800" dirty="0"/>
          </a:p>
        </p:txBody>
      </p:sp>
      <p:sp>
        <p:nvSpPr>
          <p:cNvPr id="9" name="Text 7"/>
          <p:cNvSpPr txBox="1"/>
          <p:nvPr/>
        </p:nvSpPr>
        <p:spPr>
          <a:xfrm>
            <a:off x="2148840" y="2578608"/>
            <a:ext cx="2971800" cy="320040"/>
          </a:xfrm>
          <a:prstGeom prst="rect">
            <a:avLst/>
          </a:prstGeom>
          <a:noFill/>
          <a:ln/>
        </p:spPr>
        <p:txBody>
          <a:bodyPr wrap="square" lIns="0" tIns="0" rIns="0" bIns="0" rtlCol="0" anchor="t"/>
          <a:lstStyle/>
          <a:p>
            <a:pPr indent="0" marL="0">
              <a:buNone/>
            </a:pPr>
            <a:r>
              <a:rPr lang="en-US" sz="1200" dirty="0">
                <a:solidFill>
                  <a:schemeClr val="accent6"/>
                </a:solidFill>
              </a:rPr>
              <a:t>Publisher domain, pinned once</a:t>
            </a:r>
            <a:endParaRPr lang="en-US" sz="1200" dirty="0"/>
          </a:p>
        </p:txBody>
      </p:sp>
      <p:sp>
        <p:nvSpPr>
          <p:cNvPr id="10" name="Text 8"/>
          <p:cNvSpPr txBox="1"/>
          <p:nvPr/>
        </p:nvSpPr>
        <p:spPr>
          <a:xfrm>
            <a:off x="5120640" y="1965960"/>
            <a:ext cx="228600" cy="566928"/>
          </a:xfrm>
          <a:prstGeom prst="rect">
            <a:avLst/>
          </a:prstGeom>
          <a:noFill/>
          <a:ln/>
        </p:spPr>
        <p:txBody>
          <a:bodyPr wrap="square" lIns="0" tIns="0" rIns="0" bIns="0" rtlCol="0" anchor="ctr"/>
          <a:lstStyle/>
          <a:p>
            <a:pPr algn="ctr" indent="0" marL="0">
              <a:buNone/>
            </a:pPr>
            <a:r>
              <a:rPr lang="en-US" sz="2000" b="1" dirty="0">
                <a:solidFill>
                  <a:schemeClr val="tx1"/>
                </a:solidFill>
                <a:latin typeface="Consolas" pitchFamily="34" charset="0"/>
                <a:ea typeface="Consolas" pitchFamily="34" charset="-122"/>
                <a:cs typeface="Consolas" pitchFamily="34" charset="-120"/>
              </a:rPr>
              <a:t>:</a:t>
            </a:r>
            <a:endParaRPr lang="en-US" sz="2000" dirty="0"/>
          </a:p>
        </p:txBody>
      </p:sp>
      <p:sp>
        <p:nvSpPr>
          <p:cNvPr id="11" name="Observal URN 3"/>
          <p:cNvSpPr/>
          <p:nvPr/>
        </p:nvSpPr>
        <p:spPr>
          <a:xfrm>
            <a:off x="5349240" y="1965960"/>
            <a:ext cx="1097280" cy="566928"/>
          </a:xfrm>
          <a:prstGeom prst="roundRect">
            <a:avLst>
              <a:gd name="adj" fmla="val 12903"/>
            </a:avLst>
          </a:prstGeom>
          <a:solidFill>
            <a:schemeClr val="bg2"/>
          </a:solidFill>
          <a:ln/>
        </p:spPr>
      </p:sp>
      <p:sp>
        <p:nvSpPr>
          <p:cNvPr id="12" name="Text 10"/>
          <p:cNvSpPr txBox="1"/>
          <p:nvPr/>
        </p:nvSpPr>
        <p:spPr>
          <a:xfrm>
            <a:off x="5349240" y="1965960"/>
            <a:ext cx="109728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skill</a:t>
            </a:r>
            <a:endParaRPr lang="en-US" sz="1800" dirty="0"/>
          </a:p>
        </p:txBody>
      </p:sp>
      <p:sp>
        <p:nvSpPr>
          <p:cNvPr id="13" name="Text 11"/>
          <p:cNvSpPr txBox="1"/>
          <p:nvPr/>
        </p:nvSpPr>
        <p:spPr>
          <a:xfrm>
            <a:off x="5394960" y="2578608"/>
            <a:ext cx="1051560" cy="320040"/>
          </a:xfrm>
          <a:prstGeom prst="rect">
            <a:avLst/>
          </a:prstGeom>
          <a:noFill/>
          <a:ln/>
        </p:spPr>
        <p:txBody>
          <a:bodyPr wrap="square" lIns="0" tIns="0" rIns="0" bIns="0" rtlCol="0" anchor="t"/>
          <a:lstStyle/>
          <a:p>
            <a:pPr indent="0" marL="0">
              <a:buNone/>
            </a:pPr>
            <a:r>
              <a:rPr lang="en-US" sz="1200" dirty="0">
                <a:solidFill>
                  <a:schemeClr val="accent6"/>
                </a:solidFill>
              </a:rPr>
              <a:t>Kind</a:t>
            </a:r>
            <a:endParaRPr lang="en-US" sz="1200" dirty="0"/>
          </a:p>
        </p:txBody>
      </p:sp>
      <p:sp>
        <p:nvSpPr>
          <p:cNvPr id="14" name="Text 12"/>
          <p:cNvSpPr txBox="1"/>
          <p:nvPr/>
        </p:nvSpPr>
        <p:spPr>
          <a:xfrm>
            <a:off x="6446520" y="1965960"/>
            <a:ext cx="228600" cy="566928"/>
          </a:xfrm>
          <a:prstGeom prst="rect">
            <a:avLst/>
          </a:prstGeom>
          <a:noFill/>
          <a:ln/>
        </p:spPr>
        <p:txBody>
          <a:bodyPr wrap="square" lIns="0" tIns="0" rIns="0" bIns="0" rtlCol="0" anchor="ctr"/>
          <a:lstStyle/>
          <a:p>
            <a:pPr algn="ctr" indent="0" marL="0">
              <a:buNone/>
            </a:pPr>
            <a:r>
              <a:rPr lang="en-US" sz="2000" b="1" dirty="0">
                <a:solidFill>
                  <a:schemeClr val="tx1"/>
                </a:solidFill>
                <a:latin typeface="Consolas" pitchFamily="34" charset="0"/>
                <a:ea typeface="Consolas" pitchFamily="34" charset="-122"/>
                <a:cs typeface="Consolas" pitchFamily="34" charset="-120"/>
              </a:rPr>
              <a:t>:</a:t>
            </a:r>
            <a:endParaRPr lang="en-US" sz="2000" dirty="0"/>
          </a:p>
        </p:txBody>
      </p:sp>
      <p:sp>
        <p:nvSpPr>
          <p:cNvPr id="15" name="Observal URN 4"/>
          <p:cNvSpPr/>
          <p:nvPr/>
        </p:nvSpPr>
        <p:spPr>
          <a:xfrm>
            <a:off x="6675120" y="1965960"/>
            <a:ext cx="2057400" cy="566928"/>
          </a:xfrm>
          <a:prstGeom prst="roundRect">
            <a:avLst>
              <a:gd name="adj" fmla="val 12903"/>
            </a:avLst>
          </a:prstGeom>
          <a:solidFill>
            <a:schemeClr val="bg2"/>
          </a:solidFill>
          <a:ln/>
        </p:spPr>
      </p:sp>
      <p:sp>
        <p:nvSpPr>
          <p:cNvPr id="16" name="Text 14"/>
          <p:cNvSpPr txBox="1"/>
          <p:nvPr/>
        </p:nvSpPr>
        <p:spPr>
          <a:xfrm>
            <a:off x="6675120" y="1965960"/>
            <a:ext cx="205740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5f2c1a9e-…</a:t>
            </a:r>
            <a:endParaRPr lang="en-US" sz="1800" dirty="0"/>
          </a:p>
        </p:txBody>
      </p:sp>
      <p:sp>
        <p:nvSpPr>
          <p:cNvPr id="17" name="Text 15"/>
          <p:cNvSpPr txBox="1"/>
          <p:nvPr/>
        </p:nvSpPr>
        <p:spPr>
          <a:xfrm>
            <a:off x="6720840" y="2578608"/>
            <a:ext cx="2011680" cy="320040"/>
          </a:xfrm>
          <a:prstGeom prst="rect">
            <a:avLst/>
          </a:prstGeom>
          <a:noFill/>
          <a:ln/>
        </p:spPr>
        <p:txBody>
          <a:bodyPr wrap="square" lIns="0" tIns="0" rIns="0" bIns="0" rtlCol="0" anchor="t"/>
          <a:lstStyle/>
          <a:p>
            <a:pPr indent="0" marL="0">
              <a:buNone/>
            </a:pPr>
            <a:r>
              <a:rPr lang="en-US" sz="1200" dirty="0">
                <a:solidFill>
                  <a:schemeClr val="accent6"/>
                </a:solidFill>
              </a:rPr>
              <a:t>UUID: survives renames</a:t>
            </a:r>
            <a:endParaRPr lang="en-US" sz="1200" dirty="0"/>
          </a:p>
        </p:txBody>
      </p:sp>
      <p:graphicFrame>
        <p:nvGraphicFramePr>
          <p:cNvPr id="17" name="Endpoint table"/>
          <p:cNvGraphicFramePr>
            <a:graphicFrameLocks noGrp="1"/>
          </p:cNvGraphicFramePr>
          <p:nvPr>
            <p:extLst>
              <p:ext uri="{D42A27DB-BD31-4B8C-83A1-F6EECF244321}">
                <p14:modId xmlns:p14="http://schemas.microsoft.com/office/powerpoint/2010/main" val="1579011935"/>
              </p:ext>
            </p:extLst>
          </p:nvPr>
        </p:nvGraphicFramePr>
        <p:xfrm>
          <a:off x="548640" y="3108960"/>
          <a:ext cx="11091672" cy="914400"/>
        </p:xfrm>
        <a:graphic>
          <a:graphicData uri="http://schemas.openxmlformats.org/drawingml/2006/table">
            <a:tbl>
              <a:tblPr/>
              <a:tblGrid>
                <a:gridCol w="4846320"/>
                <a:gridCol w="4937760"/>
                <a:gridCol w="1307592"/>
              </a:tblGrid>
              <a:tr h="420624">
                <a:tc>
                  <a:txBody>
                    <a:bodyPr/>
                    <a:lstStyle/>
                    <a:p>
                      <a:pPr indent="0" marL="0">
                        <a:buNone/>
                      </a:pPr>
                      <a:r>
                        <a:rPr lang="en-US" sz="1400" b="1" dirty="0">
                          <a:solidFill>
                            <a:schemeClr val="tx1"/>
                          </a:solidFill>
                        </a:rPr>
                        <a:t>Endpoint</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accent3"/>
                    </a:solidFill>
                  </a:tcPr>
                </a:tc>
                <a:tc>
                  <a:txBody>
                    <a:bodyPr/>
                    <a:lstStyle/>
                    <a:p>
                      <a:pPr indent="0" marL="0">
                        <a:buNone/>
                      </a:pPr>
                      <a:r>
                        <a:rPr lang="en-US" sz="1400" b="1" dirty="0">
                          <a:solidFill>
                            <a:schemeClr val="tx1"/>
                          </a:solidFill>
                        </a:rPr>
                        <a:t>What it returns</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accent3"/>
                    </a:solidFill>
                  </a:tcPr>
                </a:tc>
                <a:tc>
                  <a:txBody>
                    <a:bodyPr/>
                    <a:lstStyle/>
                    <a:p>
                      <a:pPr indent="0" marL="0">
                        <a:buNone/>
                      </a:pPr>
                      <a:r>
                        <a:rPr lang="en-US" sz="1400" b="1" dirty="0">
                          <a:solidFill>
                            <a:schemeClr val="tx1"/>
                          </a:solidFill>
                        </a:rPr>
                        <a:t>From</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accent3"/>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/.well-known/ard.json</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Manifest of public, approved entries</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POST /api/v1/ard/search</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Ranked search, with the words that matched</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/api/v1/ard/agents</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Deterministic, paginated browse</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POST /api/v1/ard/explore</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Answers 501 until facets ship</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/api/v1/ard/entries/{urn}</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One complete entry by identifier</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2"/>
                          </a:solidFill>
                        </a:rPr>
                        <a:t>Observal</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/api/v1/artifacts/{kind}/{uuid}/{ver}</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Exact bytes + digest, cached as immutable</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2"/>
                          </a:solidFill>
                        </a:rPr>
                        <a:t>Observal</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Search: Postgres narrows, Python ranks, CI checks</a:t>
            </a:r>
            <a:endParaRPr lang="en-US" sz="3200" dirty="0"/>
          </a:p>
        </p:txBody>
      </p:sp>
      <p:sp>
        <p:nvSpPr>
          <p:cNvPr id="4" name="Search step 1"/>
          <p:cNvSpPr/>
          <p:nvPr/>
        </p:nvSpPr>
        <p:spPr>
          <a:xfrm>
            <a:off x="548640" y="2011680"/>
            <a:ext cx="548640" cy="548640"/>
          </a:xfrm>
          <a:prstGeom prst="ellipse">
            <a:avLst/>
          </a:prstGeom>
          <a:solidFill>
            <a:schemeClr val="accent5"/>
          </a:solidFill>
          <a:ln/>
        </p:spPr>
      </p:sp>
      <p:sp>
        <p:nvSpPr>
          <p:cNvPr id="5" name="Text 3"/>
          <p:cNvSpPr txBox="1"/>
          <p:nvPr/>
        </p:nvSpPr>
        <p:spPr>
          <a:xfrm>
            <a:off x="548640" y="201168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6" name="Text 4"/>
          <p:cNvSpPr txBox="1"/>
          <p:nvPr/>
        </p:nvSpPr>
        <p:spPr>
          <a:xfrm>
            <a:off x="1280160" y="1965960"/>
            <a:ext cx="3749040" cy="384048"/>
          </a:xfrm>
          <a:prstGeom prst="rect">
            <a:avLst/>
          </a:prstGeom>
          <a:noFill/>
          <a:ln/>
        </p:spPr>
        <p:txBody>
          <a:bodyPr wrap="square" lIns="0" tIns="0" rIns="0" bIns="0" rtlCol="0" anchor="t"/>
          <a:lstStyle/>
          <a:p>
            <a:pPr indent="0" marL="0">
              <a:buNone/>
            </a:pPr>
            <a:r>
              <a:rPr lang="en-US" sz="1800" b="1" dirty="0">
                <a:solidFill>
                  <a:schemeClr val="tx1"/>
                </a:solidFill>
              </a:rPr>
              <a:t>SQL narrows</a:t>
            </a:r>
            <a:endParaRPr lang="en-US" sz="1800" dirty="0"/>
          </a:p>
        </p:txBody>
      </p:sp>
      <p:sp>
        <p:nvSpPr>
          <p:cNvPr id="7" name="Text 5"/>
          <p:cNvSpPr txBox="1"/>
          <p:nvPr/>
        </p:nvSpPr>
        <p:spPr>
          <a:xfrm>
            <a:off x="1280160" y="2377440"/>
            <a:ext cx="3840480" cy="822960"/>
          </a:xfrm>
          <a:prstGeom prst="rect">
            <a:avLst/>
          </a:prstGeom>
          <a:noFill/>
          <a:ln/>
        </p:spPr>
        <p:txBody>
          <a:bodyPr wrap="square" lIns="0" tIns="0" rIns="0" bIns="0" rtlCol="0" anchor="t"/>
          <a:lstStyle/>
          <a:p>
            <a:pPr indent="0" marL="0">
              <a:buNone/>
            </a:pPr>
            <a:r>
              <a:rPr lang="en-US" sz="1500" dirty="0">
                <a:solidFill>
                  <a:schemeClr val="accent6"/>
                </a:solidFill>
              </a:rPr>
              <a:t>Visibility, filters and a trigram-indexed LIKE: at most 5,000 candidates</a:t>
            </a:r>
            <a:endParaRPr lang="en-US" sz="1500" dirty="0"/>
          </a:p>
        </p:txBody>
      </p:sp>
      <p:sp>
        <p:nvSpPr>
          <p:cNvPr id="8" name="Search step 2"/>
          <p:cNvSpPr/>
          <p:nvPr/>
        </p:nvSpPr>
        <p:spPr>
          <a:xfrm>
            <a:off x="548640" y="3383280"/>
            <a:ext cx="548640" cy="548640"/>
          </a:xfrm>
          <a:prstGeom prst="ellipse">
            <a:avLst/>
          </a:prstGeom>
          <a:solidFill>
            <a:schemeClr val="accent5"/>
          </a:solidFill>
          <a:ln/>
        </p:spPr>
      </p:sp>
      <p:sp>
        <p:nvSpPr>
          <p:cNvPr id="9" name="Text 7"/>
          <p:cNvSpPr txBox="1"/>
          <p:nvPr/>
        </p:nvSpPr>
        <p:spPr>
          <a:xfrm>
            <a:off x="548640" y="338328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0" name="Text 8"/>
          <p:cNvSpPr txBox="1"/>
          <p:nvPr/>
        </p:nvSpPr>
        <p:spPr>
          <a:xfrm>
            <a:off x="1280160" y="3337560"/>
            <a:ext cx="3749040" cy="384048"/>
          </a:xfrm>
          <a:prstGeom prst="rect">
            <a:avLst/>
          </a:prstGeom>
          <a:noFill/>
          <a:ln/>
        </p:spPr>
        <p:txBody>
          <a:bodyPr wrap="square" lIns="0" tIns="0" rIns="0" bIns="0" rtlCol="0" anchor="t"/>
          <a:lstStyle/>
          <a:p>
            <a:pPr indent="0" marL="0">
              <a:buNone/>
            </a:pPr>
            <a:r>
              <a:rPr lang="en-US" sz="1800" b="1" dirty="0">
                <a:solidFill>
                  <a:schemeClr val="tx1"/>
                </a:solidFill>
              </a:rPr>
              <a:t>Python ranks</a:t>
            </a:r>
            <a:endParaRPr lang="en-US" sz="1800" dirty="0"/>
          </a:p>
        </p:txBody>
      </p:sp>
      <p:sp>
        <p:nvSpPr>
          <p:cNvPr id="11" name="Text 9"/>
          <p:cNvSpPr txBox="1"/>
          <p:nvPr/>
        </p:nvSpPr>
        <p:spPr>
          <a:xfrm>
            <a:off x="1280160" y="3749040"/>
            <a:ext cx="3840480" cy="822960"/>
          </a:xfrm>
          <a:prstGeom prst="rect">
            <a:avLst/>
          </a:prstGeom>
          <a:noFill/>
          <a:ln/>
        </p:spPr>
        <p:txBody>
          <a:bodyPr wrap="square" lIns="0" tIns="0" rIns="0" bIns="0" rtlCol="0" anchor="t"/>
          <a:lstStyle/>
          <a:p>
            <a:pPr indent="0" marL="0">
              <a:buNone/>
            </a:pPr>
            <a:r>
              <a:rPr lang="en-US" sz="1500" dirty="0">
                <a:solidFill>
                  <a:schemeClr val="accent6"/>
                </a:solidFill>
              </a:rPr>
              <a:t>Name 1.0 · queries 0.85 · capabilities 0.7 · description 0.5</a:t>
            </a:r>
            <a:endParaRPr lang="en-US" sz="1500" dirty="0"/>
          </a:p>
        </p:txBody>
      </p:sp>
      <p:sp>
        <p:nvSpPr>
          <p:cNvPr id="12" name="Search step 3"/>
          <p:cNvSpPr/>
          <p:nvPr/>
        </p:nvSpPr>
        <p:spPr>
          <a:xfrm>
            <a:off x="548640" y="4754880"/>
            <a:ext cx="548640" cy="548640"/>
          </a:xfrm>
          <a:prstGeom prst="ellipse">
            <a:avLst/>
          </a:prstGeom>
          <a:solidFill>
            <a:schemeClr val="accent5"/>
          </a:solidFill>
          <a:ln/>
        </p:spPr>
      </p:sp>
      <p:sp>
        <p:nvSpPr>
          <p:cNvPr id="13" name="Text 11"/>
          <p:cNvSpPr txBox="1"/>
          <p:nvPr/>
        </p:nvSpPr>
        <p:spPr>
          <a:xfrm>
            <a:off x="548640" y="475488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4" name="Text 12"/>
          <p:cNvSpPr txBox="1"/>
          <p:nvPr/>
        </p:nvSpPr>
        <p:spPr>
          <a:xfrm>
            <a:off x="1280160" y="4709160"/>
            <a:ext cx="3749040" cy="384048"/>
          </a:xfrm>
          <a:prstGeom prst="rect">
            <a:avLst/>
          </a:prstGeom>
          <a:noFill/>
          <a:ln/>
        </p:spPr>
        <p:txBody>
          <a:bodyPr wrap="square" lIns="0" tIns="0" rIns="0" bIns="0" rtlCol="0" anchor="t"/>
          <a:lstStyle/>
          <a:p>
            <a:pPr indent="0" marL="0">
              <a:buNone/>
            </a:pPr>
            <a:r>
              <a:rPr lang="en-US" sz="1800" b="1" dirty="0">
                <a:solidFill>
                  <a:schemeClr val="tx1"/>
                </a:solidFill>
              </a:rPr>
              <a:t>Score explains itself</a:t>
            </a:r>
            <a:endParaRPr lang="en-US" sz="1800" dirty="0"/>
          </a:p>
        </p:txBody>
      </p:sp>
      <p:sp>
        <p:nvSpPr>
          <p:cNvPr id="15" name="Text 13"/>
          <p:cNvSpPr txBox="1"/>
          <p:nvPr/>
        </p:nvSpPr>
        <p:spPr>
          <a:xfrm>
            <a:off x="1280160" y="5120640"/>
            <a:ext cx="3840480" cy="822960"/>
          </a:xfrm>
          <a:prstGeom prst="rect">
            <a:avLst/>
          </a:prstGeom>
          <a:noFill/>
          <a:ln/>
        </p:spPr>
        <p:txBody>
          <a:bodyPr wrap="square" lIns="0" tIns="0" rIns="0" bIns="0" rtlCol="0" anchor="t"/>
          <a:lstStyle/>
          <a:p>
            <a:pPr indent="0" marL="0">
              <a:buNone/>
            </a:pPr>
            <a:r>
              <a:rPr lang="en-US" sz="1500" dirty="0">
                <a:solidFill>
                  <a:schemeClr val="accent6"/>
                </a:solidFill>
              </a:rPr>
              <a:t>0–100 relevance, plus the words that matched</a:t>
            </a:r>
            <a:endParaRPr lang="en-US" sz="1500" dirty="0"/>
          </a:p>
        </p:txBody>
      </p:sp>
      <p:graphicFrame>
        <p:nvGraphicFramePr>
          <p:cNvPr id="16" name="Benchmark chart" descr=""/>
          <p:cNvGraphicFramePr/>
          <p:nvPr/>
        </p:nvGraphicFramePr>
        <p:xfrm>
          <a:off x="5394960" y="1874520"/>
          <a:ext cx="6245352" cy="3611880"/>
        </p:xfrm>
        <a:graphic xmlns:a="http://schemas.openxmlformats.org/drawingml/2006/main">
          <a:graphicData uri="http://schemas.openxmlformats.org/drawingml/2006/chart">
            <c:chart xmlns:c="http://schemas.openxmlformats.org/drawingml/2006/chart" r:id="rId1"/>
          </a:graphicData>
        </a:graphic>
      </p:graphicFrame>
      <p:sp>
        <p:nvSpPr>
          <p:cNvPr id="17" name="Floors note"/>
          <p:cNvSpPr/>
          <p:nvPr/>
        </p:nvSpPr>
        <p:spPr>
          <a:xfrm>
            <a:off x="5394960" y="5577840"/>
            <a:ext cx="6245352" cy="548640"/>
          </a:xfrm>
          <a:prstGeom prst="roundRect">
            <a:avLst>
              <a:gd name="adj" fmla="val 23333"/>
            </a:avLst>
          </a:prstGeom>
          <a:solidFill>
            <a:schemeClr val="bg2"/>
          </a:solidFill>
          <a:ln/>
        </p:spPr>
      </p:sp>
      <p:sp>
        <p:nvSpPr>
          <p:cNvPr id="18" name="Text 15"/>
          <p:cNvSpPr txBox="1"/>
          <p:nvPr/>
        </p:nvSpPr>
        <p:spPr>
          <a:xfrm>
            <a:off x="5577840" y="5577840"/>
            <a:ext cx="5943600" cy="548640"/>
          </a:xfrm>
          <a:prstGeom prst="rect">
            <a:avLst/>
          </a:prstGeom>
          <a:noFill/>
          <a:ln/>
        </p:spPr>
        <p:txBody>
          <a:bodyPr wrap="square" lIns="0" tIns="0" rIns="0" bIns="0" rtlCol="0" anchor="ctr"/>
          <a:lstStyle/>
          <a:p>
            <a:pPr indent="0" marL="0">
              <a:buNone/>
            </a:pPr>
            <a:r>
              <a:rPr lang="en-US" sz="1400" dirty="0">
                <a:solidFill>
                  <a:schemeClr val="tx1"/>
                </a:solidFill>
              </a:rPr>
              <a:t>Floors only move up. Known misses: synonyms like “PRs”.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Guardrails keep discovery from bypassing governance</a:t>
            </a:r>
            <a:endParaRPr lang="en-US" sz="3200" dirty="0"/>
          </a:p>
        </p:txBody>
      </p:sp>
      <p:sp>
        <p:nvSpPr>
          <p:cNvPr id="4" name="Score means relevance only card"/>
          <p:cNvSpPr/>
          <p:nvPr/>
        </p:nvSpPr>
        <p:spPr>
          <a:xfrm>
            <a:off x="548640" y="1965960"/>
            <a:ext cx="5454396" cy="1920240"/>
          </a:xfrm>
          <a:prstGeom prst="roundRect">
            <a:avLst>
              <a:gd name="adj" fmla="val 6667"/>
            </a:avLst>
          </a:prstGeom>
          <a:solidFill>
            <a:schemeClr val="bg2"/>
          </a:solidFill>
          <a:ln/>
        </p:spPr>
      </p:sp>
      <p:sp>
        <p:nvSpPr>
          <p:cNvPr id="5" name="Score means relevance only circle"/>
          <p:cNvSpPr/>
          <p:nvPr/>
        </p:nvSpPr>
        <p:spPr>
          <a:xfrm>
            <a:off x="822960" y="2240280"/>
            <a:ext cx="640080" cy="640080"/>
          </a:xfrm>
          <a:prstGeom prst="ellipse">
            <a:avLst/>
          </a:prstGeom>
          <a:solidFill>
            <a:schemeClr val="accent5"/>
          </a:solidFill>
          <a:ln/>
        </p:spPr>
      </p:sp>
      <p:pic>
        <p:nvPicPr>
          <p:cNvPr id="6" name="Score means relevance only icon" descr="preencoded.png">    </p:cNvPr>
          <p:cNvPicPr>
            <a:picLocks noChangeAspect="1"/>
          </p:cNvPicPr>
          <p:nvPr/>
        </p:nvPicPr>
        <p:blipFill>
          <a:blip r:embed="rId1"/>
          <a:stretch>
            <a:fillRect/>
          </a:stretch>
        </p:blipFill>
        <p:spPr>
          <a:xfrm>
            <a:off x="982980" y="2400300"/>
            <a:ext cx="320040" cy="320040"/>
          </a:xfrm>
          <a:prstGeom prst="rect">
            <a:avLst/>
          </a:prstGeom>
        </p:spPr>
      </p:pic>
      <p:sp>
        <p:nvSpPr>
          <p:cNvPr id="7" name="Text 4"/>
          <p:cNvSpPr txBox="1"/>
          <p:nvPr/>
        </p:nvSpPr>
        <p:spPr>
          <a:xfrm>
            <a:off x="1691640"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Score means relevance only</a:t>
            </a:r>
            <a:endParaRPr lang="en-US" sz="1800" dirty="0"/>
          </a:p>
        </p:txBody>
      </p:sp>
      <p:sp>
        <p:nvSpPr>
          <p:cNvPr id="8" name="Text 5"/>
          <p:cNvSpPr txBox="1"/>
          <p:nvPr/>
        </p:nvSpPr>
        <p:spPr>
          <a:xfrm>
            <a:off x="1691640"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Approval, harness support and availability come back as separate fields. Policy filters run before ranking.</a:t>
            </a:r>
            <a:endParaRPr lang="en-US" sz="1500" dirty="0"/>
          </a:p>
        </p:txBody>
      </p:sp>
      <p:sp>
        <p:nvSpPr>
          <p:cNvPr id="9" name="Never shows more than the registry card"/>
          <p:cNvSpPr/>
          <p:nvPr/>
        </p:nvSpPr>
        <p:spPr>
          <a:xfrm>
            <a:off x="6185916" y="1965960"/>
            <a:ext cx="5454396" cy="1920240"/>
          </a:xfrm>
          <a:prstGeom prst="roundRect">
            <a:avLst>
              <a:gd name="adj" fmla="val 6667"/>
            </a:avLst>
          </a:prstGeom>
          <a:solidFill>
            <a:schemeClr val="bg2"/>
          </a:solidFill>
          <a:ln/>
        </p:spPr>
      </p:sp>
      <p:sp>
        <p:nvSpPr>
          <p:cNvPr id="10" name="Never shows more than the registry circle"/>
          <p:cNvSpPr/>
          <p:nvPr/>
        </p:nvSpPr>
        <p:spPr>
          <a:xfrm>
            <a:off x="6460236" y="2240280"/>
            <a:ext cx="640080" cy="640080"/>
          </a:xfrm>
          <a:prstGeom prst="ellipse">
            <a:avLst/>
          </a:prstGeom>
          <a:solidFill>
            <a:schemeClr val="accent5"/>
          </a:solidFill>
          <a:ln/>
        </p:spPr>
      </p:sp>
      <p:pic>
        <p:nvPicPr>
          <p:cNvPr id="11" name="Never shows more than the registry icon" descr="preencoded.png">    </p:cNvPr>
          <p:cNvPicPr>
            <a:picLocks noChangeAspect="1"/>
          </p:cNvPicPr>
          <p:nvPr/>
        </p:nvPicPr>
        <p:blipFill>
          <a:blip r:embed="rId2"/>
          <a:stretch>
            <a:fillRect/>
          </a:stretch>
        </p:blipFill>
        <p:spPr>
          <a:xfrm>
            <a:off x="6620256" y="2400300"/>
            <a:ext cx="320040" cy="320040"/>
          </a:xfrm>
          <a:prstGeom prst="rect">
            <a:avLst/>
          </a:prstGeom>
        </p:spPr>
      </p:pic>
      <p:sp>
        <p:nvSpPr>
          <p:cNvPr id="12" name="Text 8"/>
          <p:cNvSpPr txBox="1"/>
          <p:nvPr/>
        </p:nvSpPr>
        <p:spPr>
          <a:xfrm>
            <a:off x="7328916"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Never shows more than the registry</a:t>
            </a:r>
            <a:endParaRPr lang="en-US" sz="1800" dirty="0"/>
          </a:p>
        </p:txBody>
      </p:sp>
      <p:sp>
        <p:nvSpPr>
          <p:cNvPr id="13" name="Text 9"/>
          <p:cNvSpPr txBox="1"/>
          <p:nvPr/>
        </p:nvSpPr>
        <p:spPr>
          <a:xfrm>
            <a:off x="7328916"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Drafts and rejections reach only their owners. Anonymous search is off unless an admin enables it.</a:t>
            </a:r>
            <a:endParaRPr lang="en-US" sz="1500" dirty="0"/>
          </a:p>
        </p:txBody>
      </p:sp>
      <p:sp>
        <p:nvSpPr>
          <p:cNvPr id="14" name="Search text stays home card"/>
          <p:cNvSpPr/>
          <p:nvPr/>
        </p:nvSpPr>
        <p:spPr>
          <a:xfrm>
            <a:off x="548640" y="4069080"/>
            <a:ext cx="5454396" cy="1920240"/>
          </a:xfrm>
          <a:prstGeom prst="roundRect">
            <a:avLst>
              <a:gd name="adj" fmla="val 6667"/>
            </a:avLst>
          </a:prstGeom>
          <a:solidFill>
            <a:schemeClr val="bg2"/>
          </a:solidFill>
          <a:ln/>
        </p:spPr>
      </p:sp>
      <p:sp>
        <p:nvSpPr>
          <p:cNvPr id="15" name="Search text stays home circle"/>
          <p:cNvSpPr/>
          <p:nvPr/>
        </p:nvSpPr>
        <p:spPr>
          <a:xfrm>
            <a:off x="822960" y="4343400"/>
            <a:ext cx="640080" cy="640080"/>
          </a:xfrm>
          <a:prstGeom prst="ellipse">
            <a:avLst/>
          </a:prstGeom>
          <a:solidFill>
            <a:schemeClr val="accent5"/>
          </a:solidFill>
          <a:ln/>
        </p:spPr>
      </p:sp>
      <p:pic>
        <p:nvPicPr>
          <p:cNvPr id="16" name="Search text stays home icon" descr="preencoded.png">    </p:cNvPr>
          <p:cNvPicPr>
            <a:picLocks noChangeAspect="1"/>
          </p:cNvPicPr>
          <p:nvPr/>
        </p:nvPicPr>
        <p:blipFill>
          <a:blip r:embed="rId3"/>
          <a:stretch>
            <a:fillRect/>
          </a:stretch>
        </p:blipFill>
        <p:spPr>
          <a:xfrm>
            <a:off x="982980" y="4503420"/>
            <a:ext cx="320040" cy="320040"/>
          </a:xfrm>
          <a:prstGeom prst="rect">
            <a:avLst/>
          </a:prstGeom>
        </p:spPr>
      </p:pic>
      <p:sp>
        <p:nvSpPr>
          <p:cNvPr id="17" name="Text 12"/>
          <p:cNvSpPr txBox="1"/>
          <p:nvPr/>
        </p:nvSpPr>
        <p:spPr>
          <a:xfrm>
            <a:off x="1691640"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Search text stays home</a:t>
            </a:r>
            <a:endParaRPr lang="en-US" sz="1800" dirty="0"/>
          </a:p>
        </p:txBody>
      </p:sp>
      <p:sp>
        <p:nvSpPr>
          <p:cNvPr id="18" name="Text 13"/>
          <p:cNvSpPr txBox="1"/>
          <p:nvPr/>
        </p:nvSpPr>
        <p:spPr>
          <a:xfrm>
            <a:off x="1691640"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Federation honours the spec default, auto, but only to upstreams an admin allowlists. The list starts empty.</a:t>
            </a:r>
            <a:endParaRPr lang="en-US" sz="1500" dirty="0"/>
          </a:p>
        </p:txBody>
      </p:sp>
      <p:sp>
        <p:nvSpPr>
          <p:cNvPr id="19" name="Read freely, write with consent card"/>
          <p:cNvSpPr/>
          <p:nvPr/>
        </p:nvSpPr>
        <p:spPr>
          <a:xfrm>
            <a:off x="6185916" y="4069080"/>
            <a:ext cx="5454396" cy="1920240"/>
          </a:xfrm>
          <a:prstGeom prst="roundRect">
            <a:avLst>
              <a:gd name="adj" fmla="val 6667"/>
            </a:avLst>
          </a:prstGeom>
          <a:solidFill>
            <a:schemeClr val="bg2"/>
          </a:solidFill>
          <a:ln/>
        </p:spPr>
      </p:sp>
      <p:sp>
        <p:nvSpPr>
          <p:cNvPr id="20" name="Read freely, write with consent circle"/>
          <p:cNvSpPr/>
          <p:nvPr/>
        </p:nvSpPr>
        <p:spPr>
          <a:xfrm>
            <a:off x="6460236" y="4343400"/>
            <a:ext cx="640080" cy="640080"/>
          </a:xfrm>
          <a:prstGeom prst="ellipse">
            <a:avLst/>
          </a:prstGeom>
          <a:solidFill>
            <a:schemeClr val="accent5"/>
          </a:solidFill>
          <a:ln/>
        </p:spPr>
      </p:sp>
      <p:pic>
        <p:nvPicPr>
          <p:cNvPr id="21" name="Read freely, write with consent icon" descr="preencoded.png">    </p:cNvPr>
          <p:cNvPicPr>
            <a:picLocks noChangeAspect="1"/>
          </p:cNvPicPr>
          <p:nvPr/>
        </p:nvPicPr>
        <p:blipFill>
          <a:blip r:embed="rId4"/>
          <a:stretch>
            <a:fillRect/>
          </a:stretch>
        </p:blipFill>
        <p:spPr>
          <a:xfrm>
            <a:off x="6620256" y="4503420"/>
            <a:ext cx="320040" cy="320040"/>
          </a:xfrm>
          <a:prstGeom prst="rect">
            <a:avLst/>
          </a:prstGeom>
        </p:spPr>
      </p:pic>
      <p:sp>
        <p:nvSpPr>
          <p:cNvPr id="22" name="Text 16"/>
          <p:cNvSpPr txBox="1"/>
          <p:nvPr/>
        </p:nvSpPr>
        <p:spPr>
          <a:xfrm>
            <a:off x="7328916"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Read freely, write with consent</a:t>
            </a:r>
            <a:endParaRPr lang="en-US" sz="1800" dirty="0"/>
          </a:p>
        </p:txBody>
      </p:sp>
      <p:sp>
        <p:nvSpPr>
          <p:cNvPr id="23" name="Text 17"/>
          <p:cNvSpPr txBox="1"/>
          <p:nvPr/>
        </p:nvSpPr>
        <p:spPr>
          <a:xfrm>
            <a:off x="7328916"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Approved skills and prompts load immediately. Anything that changes a setup goes through an install that asks first.</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What I learned implementing a moving draft spec</a:t>
            </a:r>
            <a:endParaRPr lang="en-US" sz="3200" dirty="0"/>
          </a:p>
        </p:txBody>
      </p:sp>
      <p:sp>
        <p:nvSpPr>
          <p:cNvPr id="4" name="Text 2"/>
          <p:cNvSpPr txBox="1"/>
          <p:nvPr/>
        </p:nvSpPr>
        <p:spPr>
          <a:xfrm>
            <a:off x="548640" y="1965960"/>
            <a:ext cx="777240" cy="640080"/>
          </a:xfrm>
          <a:prstGeom prst="rect">
            <a:avLst/>
          </a:prstGeom>
          <a:noFill/>
          <a:ln/>
        </p:spPr>
        <p:txBody>
          <a:bodyPr wrap="square" lIns="0" tIns="0" rIns="0" bIns="0" rtlCol="0" anchor="t"/>
          <a:lstStyle/>
          <a:p>
            <a:pPr indent="0" marL="0">
              <a:buNone/>
            </a:pPr>
            <a:r>
              <a:rPr lang="en-US" sz="2800" b="1" dirty="0">
                <a:solidFill>
                  <a:schemeClr val="accent5"/>
                </a:solidFill>
              </a:rPr>
              <a:t>01</a:t>
            </a:r>
            <a:endParaRPr lang="en-US" sz="2800" dirty="0"/>
          </a:p>
        </p:txBody>
      </p:sp>
      <p:sp>
        <p:nvSpPr>
          <p:cNvPr id="5" name="Text 3"/>
          <p:cNvSpPr txBox="1"/>
          <p:nvPr/>
        </p:nvSpPr>
        <p:spPr>
          <a:xfrm>
            <a:off x="1371600" y="1984248"/>
            <a:ext cx="3931920" cy="640080"/>
          </a:xfrm>
          <a:prstGeom prst="rect">
            <a:avLst/>
          </a:prstGeom>
          <a:noFill/>
          <a:ln/>
        </p:spPr>
        <p:txBody>
          <a:bodyPr wrap="square" lIns="0" tIns="0" rIns="0" bIns="0" rtlCol="0" anchor="t"/>
          <a:lstStyle/>
          <a:p>
            <a:pPr indent="0" marL="0">
              <a:buNone/>
            </a:pPr>
            <a:r>
              <a:rPr lang="en-US" sz="1800" b="1" dirty="0">
                <a:solidFill>
                  <a:schemeClr val="tx1"/>
                </a:solidFill>
              </a:rPr>
              <a:t>Pin the spec and vendor it</a:t>
            </a:r>
            <a:endParaRPr lang="en-US" sz="1800" dirty="0"/>
          </a:p>
        </p:txBody>
      </p:sp>
      <p:sp>
        <p:nvSpPr>
          <p:cNvPr id="6" name="Text 4"/>
          <p:cNvSpPr txBox="1"/>
          <p:nvPr/>
        </p:nvSpPr>
        <p:spPr>
          <a:xfrm>
            <a:off x="5394960" y="1984248"/>
            <a:ext cx="6245352" cy="685800"/>
          </a:xfrm>
          <a:prstGeom prst="rect">
            <a:avLst/>
          </a:prstGeom>
          <a:noFill/>
          <a:ln/>
        </p:spPr>
        <p:txBody>
          <a:bodyPr wrap="square" lIns="0" tIns="0" rIns="0" bIns="0" rtlCol="0" anchor="t"/>
          <a:lstStyle/>
          <a:p>
            <a:pPr indent="0" marL="0">
              <a:buNone/>
            </a:pPr>
            <a:r>
              <a:rPr lang="en-US" sz="1500" dirty="0">
                <a:solidFill>
                  <a:schemeClr val="tx2"/>
                </a:solidFill>
              </a:rPr>
              <a:t>Schemas and the official conformance tool, byte for byte at one commit, run in CI</a:t>
            </a:r>
            <a:endParaRPr lang="en-US" sz="1500" dirty="0"/>
          </a:p>
        </p:txBody>
      </p:sp>
      <p:sp>
        <p:nvSpPr>
          <p:cNvPr id="7" name="Lesson divider 1"/>
          <p:cNvSpPr/>
          <p:nvPr/>
        </p:nvSpPr>
        <p:spPr>
          <a:xfrm>
            <a:off x="548640" y="2734056"/>
            <a:ext cx="11091672" cy="0"/>
          </a:xfrm>
          <a:prstGeom prst="line">
            <a:avLst/>
          </a:prstGeom>
          <a:noFill/>
          <a:ln w="12700">
            <a:solidFill>
              <a:srgbClr val="E4E1EE"/>
            </a:solidFill>
            <a:prstDash val="solid"/>
          </a:ln>
        </p:spPr>
      </p:sp>
      <p:sp>
        <p:nvSpPr>
          <p:cNvPr id="8" name="Text 6"/>
          <p:cNvSpPr txBox="1"/>
          <p:nvPr/>
        </p:nvSpPr>
        <p:spPr>
          <a:xfrm>
            <a:off x="548640" y="2807208"/>
            <a:ext cx="777240" cy="640080"/>
          </a:xfrm>
          <a:prstGeom prst="rect">
            <a:avLst/>
          </a:prstGeom>
          <a:noFill/>
          <a:ln/>
        </p:spPr>
        <p:txBody>
          <a:bodyPr wrap="square" lIns="0" tIns="0" rIns="0" bIns="0" rtlCol="0" anchor="t"/>
          <a:lstStyle/>
          <a:p>
            <a:pPr indent="0" marL="0">
              <a:buNone/>
            </a:pPr>
            <a:r>
              <a:rPr lang="en-US" sz="2800" b="1" dirty="0">
                <a:solidFill>
                  <a:schemeClr val="accent5"/>
                </a:solidFill>
              </a:rPr>
              <a:t>02</a:t>
            </a:r>
            <a:endParaRPr lang="en-US" sz="2800" dirty="0"/>
          </a:p>
        </p:txBody>
      </p:sp>
      <p:sp>
        <p:nvSpPr>
          <p:cNvPr id="9" name="Text 7"/>
          <p:cNvSpPr txBox="1"/>
          <p:nvPr/>
        </p:nvSpPr>
        <p:spPr>
          <a:xfrm>
            <a:off x="1371600" y="2825496"/>
            <a:ext cx="3931920" cy="640080"/>
          </a:xfrm>
          <a:prstGeom prst="rect">
            <a:avLst/>
          </a:prstGeom>
          <a:noFill/>
          <a:ln/>
        </p:spPr>
        <p:txBody>
          <a:bodyPr wrap="square" lIns="0" tIns="0" rIns="0" bIns="0" rtlCol="0" anchor="t"/>
          <a:lstStyle/>
          <a:p>
            <a:pPr indent="0" marL="0">
              <a:buNone/>
            </a:pPr>
            <a:r>
              <a:rPr lang="en-US" sz="1800" b="1" dirty="0">
                <a:solidFill>
                  <a:schemeClr val="tx1"/>
                </a:solidFill>
              </a:rPr>
              <a:t>Write the decisions down</a:t>
            </a:r>
            <a:endParaRPr lang="en-US" sz="1800" dirty="0"/>
          </a:p>
        </p:txBody>
      </p:sp>
      <p:sp>
        <p:nvSpPr>
          <p:cNvPr id="10" name="Text 8"/>
          <p:cNvSpPr txBox="1"/>
          <p:nvPr/>
        </p:nvSpPr>
        <p:spPr>
          <a:xfrm>
            <a:off x="5394960" y="2825496"/>
            <a:ext cx="6245352" cy="685800"/>
          </a:xfrm>
          <a:prstGeom prst="rect">
            <a:avLst/>
          </a:prstGeom>
          <a:noFill/>
          <a:ln/>
        </p:spPr>
        <p:txBody>
          <a:bodyPr wrap="square" lIns="0" tIns="0" rIns="0" bIns="0" rtlCol="0" anchor="t"/>
          <a:lstStyle/>
          <a:p>
            <a:pPr indent="0" marL="0">
              <a:buNone/>
            </a:pPr>
            <a:r>
              <a:rPr lang="en-US" sz="1500" dirty="0">
                <a:solidFill>
                  <a:schemeClr val="tx2"/>
                </a:solidFill>
              </a:rPr>
              <a:t>An ADR with ten decisions: identifiers, visibility, federation default, deferrals</a:t>
            </a:r>
            <a:endParaRPr lang="en-US" sz="1500" dirty="0"/>
          </a:p>
        </p:txBody>
      </p:sp>
      <p:sp>
        <p:nvSpPr>
          <p:cNvPr id="11" name="Lesson divider 2"/>
          <p:cNvSpPr/>
          <p:nvPr/>
        </p:nvSpPr>
        <p:spPr>
          <a:xfrm>
            <a:off x="548640" y="3575304"/>
            <a:ext cx="11091672" cy="0"/>
          </a:xfrm>
          <a:prstGeom prst="line">
            <a:avLst/>
          </a:prstGeom>
          <a:noFill/>
          <a:ln w="12700">
            <a:solidFill>
              <a:srgbClr val="E4E1EE"/>
            </a:solidFill>
            <a:prstDash val="solid"/>
          </a:ln>
        </p:spPr>
      </p:sp>
      <p:sp>
        <p:nvSpPr>
          <p:cNvPr id="12" name="Text 10"/>
          <p:cNvSpPr txBox="1"/>
          <p:nvPr/>
        </p:nvSpPr>
        <p:spPr>
          <a:xfrm>
            <a:off x="548640" y="3648456"/>
            <a:ext cx="777240" cy="640080"/>
          </a:xfrm>
          <a:prstGeom prst="rect">
            <a:avLst/>
          </a:prstGeom>
          <a:noFill/>
          <a:ln/>
        </p:spPr>
        <p:txBody>
          <a:bodyPr wrap="square" lIns="0" tIns="0" rIns="0" bIns="0" rtlCol="0" anchor="t"/>
          <a:lstStyle/>
          <a:p>
            <a:pPr indent="0" marL="0">
              <a:buNone/>
            </a:pPr>
            <a:r>
              <a:rPr lang="en-US" sz="2800" b="1" dirty="0">
                <a:solidFill>
                  <a:schemeClr val="accent5"/>
                </a:solidFill>
              </a:rPr>
              <a:t>03</a:t>
            </a:r>
            <a:endParaRPr lang="en-US" sz="2800" dirty="0"/>
          </a:p>
        </p:txBody>
      </p:sp>
      <p:sp>
        <p:nvSpPr>
          <p:cNvPr id="13" name="Text 11"/>
          <p:cNvSpPr txBox="1"/>
          <p:nvPr/>
        </p:nvSpPr>
        <p:spPr>
          <a:xfrm>
            <a:off x="1371600" y="3666744"/>
            <a:ext cx="3931920" cy="640080"/>
          </a:xfrm>
          <a:prstGeom prst="rect">
            <a:avLst/>
          </a:prstGeom>
          <a:noFill/>
          <a:ln/>
        </p:spPr>
        <p:txBody>
          <a:bodyPr wrap="square" lIns="0" tIns="0" rIns="0" bIns="0" rtlCol="0" anchor="t"/>
          <a:lstStyle/>
          <a:p>
            <a:pPr indent="0" marL="0">
              <a:buNone/>
            </a:pPr>
            <a:r>
              <a:rPr lang="en-US" sz="1800" b="1" dirty="0">
                <a:solidFill>
                  <a:schemeClr val="tx1"/>
                </a:solidFill>
              </a:rPr>
              <a:t>Project, don’t rewrite</a:t>
            </a:r>
            <a:endParaRPr lang="en-US" sz="1800" dirty="0"/>
          </a:p>
        </p:txBody>
      </p:sp>
      <p:sp>
        <p:nvSpPr>
          <p:cNvPr id="14" name="Text 12"/>
          <p:cNvSpPr txBox="1"/>
          <p:nvPr/>
        </p:nvSpPr>
        <p:spPr>
          <a:xfrm>
            <a:off x="5394960" y="3666744"/>
            <a:ext cx="6245352" cy="685800"/>
          </a:xfrm>
          <a:prstGeom prst="rect">
            <a:avLst/>
          </a:prstGeom>
          <a:noFill/>
          <a:ln/>
        </p:spPr>
        <p:txBody>
          <a:bodyPr wrap="square" lIns="0" tIns="0" rIns="0" bIns="0" rtlCol="0" anchor="t"/>
          <a:lstStyle/>
          <a:p>
            <a:pPr indent="0" marL="0">
              <a:buNone/>
            </a:pPr>
            <a:r>
              <a:rPr lang="en-US" sz="1500" dirty="0">
                <a:solidFill>
                  <a:schemeClr val="tx2"/>
                </a:solidFill>
              </a:rPr>
              <a:t>Native tables stay authoritative; one idempotent function keeps the index fresh</a:t>
            </a:r>
            <a:endParaRPr lang="en-US" sz="1500" dirty="0"/>
          </a:p>
        </p:txBody>
      </p:sp>
      <p:sp>
        <p:nvSpPr>
          <p:cNvPr id="15" name="Lesson divider 3"/>
          <p:cNvSpPr/>
          <p:nvPr/>
        </p:nvSpPr>
        <p:spPr>
          <a:xfrm>
            <a:off x="548640" y="4416552"/>
            <a:ext cx="11091672" cy="0"/>
          </a:xfrm>
          <a:prstGeom prst="line">
            <a:avLst/>
          </a:prstGeom>
          <a:noFill/>
          <a:ln w="12700">
            <a:solidFill>
              <a:srgbClr val="E4E1EE"/>
            </a:solidFill>
            <a:prstDash val="solid"/>
          </a:ln>
        </p:spPr>
      </p:sp>
      <p:sp>
        <p:nvSpPr>
          <p:cNvPr id="16" name="Text 14"/>
          <p:cNvSpPr txBox="1"/>
          <p:nvPr/>
        </p:nvSpPr>
        <p:spPr>
          <a:xfrm>
            <a:off x="548640" y="4489704"/>
            <a:ext cx="777240" cy="640080"/>
          </a:xfrm>
          <a:prstGeom prst="rect">
            <a:avLst/>
          </a:prstGeom>
          <a:noFill/>
          <a:ln/>
        </p:spPr>
        <p:txBody>
          <a:bodyPr wrap="square" lIns="0" tIns="0" rIns="0" bIns="0" rtlCol="0" anchor="t"/>
          <a:lstStyle/>
          <a:p>
            <a:pPr indent="0" marL="0">
              <a:buNone/>
            </a:pPr>
            <a:r>
              <a:rPr lang="en-US" sz="2800" b="1" dirty="0">
                <a:solidFill>
                  <a:schemeClr val="accent5"/>
                </a:solidFill>
              </a:rPr>
              <a:t>04</a:t>
            </a:r>
            <a:endParaRPr lang="en-US" sz="2800" dirty="0"/>
          </a:p>
        </p:txBody>
      </p:sp>
      <p:sp>
        <p:nvSpPr>
          <p:cNvPr id="17" name="Text 15"/>
          <p:cNvSpPr txBox="1"/>
          <p:nvPr/>
        </p:nvSpPr>
        <p:spPr>
          <a:xfrm>
            <a:off x="1371600" y="4507992"/>
            <a:ext cx="3931920" cy="640080"/>
          </a:xfrm>
          <a:prstGeom prst="rect">
            <a:avLst/>
          </a:prstGeom>
          <a:noFill/>
          <a:ln/>
        </p:spPr>
        <p:txBody>
          <a:bodyPr wrap="square" lIns="0" tIns="0" rIns="0" bIns="0" rtlCol="0" anchor="t"/>
          <a:lstStyle/>
          <a:p>
            <a:pPr indent="0" marL="0">
              <a:buNone/>
            </a:pPr>
            <a:r>
              <a:rPr lang="en-US" sz="1800" b="1" dirty="0">
                <a:solidFill>
                  <a:schemeClr val="tx1"/>
                </a:solidFill>
              </a:rPr>
              <a:t>Accept old spellings, emit new ones</a:t>
            </a:r>
            <a:endParaRPr lang="en-US" sz="1800" dirty="0"/>
          </a:p>
        </p:txBody>
      </p:sp>
      <p:sp>
        <p:nvSpPr>
          <p:cNvPr id="18" name="Text 16"/>
          <p:cNvSpPr txBox="1"/>
          <p:nvPr/>
        </p:nvSpPr>
        <p:spPr>
          <a:xfrm>
            <a:off x="5394960" y="4507992"/>
            <a:ext cx="6245352" cy="685800"/>
          </a:xfrm>
          <a:prstGeom prst="rect">
            <a:avLst/>
          </a:prstGeom>
          <a:noFill/>
          <a:ln/>
        </p:spPr>
        <p:txBody>
          <a:bodyPr wrap="square" lIns="0" tIns="0" rIns="0" bIns="0" rtlCol="0" anchor="t"/>
          <a:lstStyle/>
          <a:p>
            <a:pPr indent="0" marL="0">
              <a:buNone/>
            </a:pPr>
            <a:r>
              <a:rPr lang="en-US" sz="1400" dirty="0">
                <a:solidFill>
                  <a:schemeClr val="tx2"/>
                </a:solidFill>
                <a:latin typeface="Consolas" pitchFamily="34" charset="0"/>
                <a:ea typeface="Consolas" pitchFamily="34" charset="-122"/>
                <a:cs typeface="Consolas" pitchFamily="34" charset="-120"/>
              </a:rPr>
              <a:t>ai-catalog.json → ard.json,  urn:ai → urn:air</a:t>
            </a:r>
            <a:endParaRPr lang="en-US" sz="1400" dirty="0"/>
          </a:p>
          <a:p>
            <a:pPr indent="0" marL="0">
              <a:buNone/>
            </a:pPr>
            <a:r>
              <a:rPr lang="en-US" sz="1400" dirty="0">
                <a:solidFill>
                  <a:schemeClr val="tx2"/>
                </a:solidFill>
                <a:latin typeface="Consolas" pitchFamily="34" charset="0"/>
                <a:ea typeface="Consolas" pitchFamily="34" charset="-122"/>
                <a:cs typeface="Consolas" pitchFamily="34" charset="-120"/>
              </a:rPr>
              <a:t>mcp-server+json → mcp-server-card+json</a:t>
            </a:r>
            <a:endParaRPr lang="en-US" sz="1400" dirty="0"/>
          </a:p>
        </p:txBody>
      </p:sp>
      <p:sp>
        <p:nvSpPr>
          <p:cNvPr id="19" name="Lesson divider 4"/>
          <p:cNvSpPr/>
          <p:nvPr/>
        </p:nvSpPr>
        <p:spPr>
          <a:xfrm>
            <a:off x="548640" y="5257800"/>
            <a:ext cx="11091672" cy="0"/>
          </a:xfrm>
          <a:prstGeom prst="line">
            <a:avLst/>
          </a:prstGeom>
          <a:noFill/>
          <a:ln w="12700">
            <a:solidFill>
              <a:srgbClr val="E4E1EE"/>
            </a:solidFill>
            <a:prstDash val="solid"/>
          </a:ln>
        </p:spPr>
      </p:sp>
      <p:sp>
        <p:nvSpPr>
          <p:cNvPr id="20" name="Text 18"/>
          <p:cNvSpPr txBox="1"/>
          <p:nvPr/>
        </p:nvSpPr>
        <p:spPr>
          <a:xfrm>
            <a:off x="548640" y="5330952"/>
            <a:ext cx="777240" cy="640080"/>
          </a:xfrm>
          <a:prstGeom prst="rect">
            <a:avLst/>
          </a:prstGeom>
          <a:noFill/>
          <a:ln/>
        </p:spPr>
        <p:txBody>
          <a:bodyPr wrap="square" lIns="0" tIns="0" rIns="0" bIns="0" rtlCol="0" anchor="t"/>
          <a:lstStyle/>
          <a:p>
            <a:pPr indent="0" marL="0">
              <a:buNone/>
            </a:pPr>
            <a:r>
              <a:rPr lang="en-US" sz="2800" b="1" dirty="0">
                <a:solidFill>
                  <a:schemeClr val="accent5"/>
                </a:solidFill>
              </a:rPr>
              <a:t>05</a:t>
            </a:r>
            <a:endParaRPr lang="en-US" sz="2800" dirty="0"/>
          </a:p>
        </p:txBody>
      </p:sp>
      <p:sp>
        <p:nvSpPr>
          <p:cNvPr id="21" name="Text 19"/>
          <p:cNvSpPr txBox="1"/>
          <p:nvPr/>
        </p:nvSpPr>
        <p:spPr>
          <a:xfrm>
            <a:off x="1371600" y="5349240"/>
            <a:ext cx="3931920" cy="640080"/>
          </a:xfrm>
          <a:prstGeom prst="rect">
            <a:avLst/>
          </a:prstGeom>
          <a:noFill/>
          <a:ln/>
        </p:spPr>
        <p:txBody>
          <a:bodyPr wrap="square" lIns="0" tIns="0" rIns="0" bIns="0" rtlCol="0" anchor="t"/>
          <a:lstStyle/>
          <a:p>
            <a:pPr indent="0" marL="0">
              <a:buNone/>
            </a:pPr>
            <a:r>
              <a:rPr lang="en-US" sz="1800" b="1" dirty="0">
                <a:solidFill>
                  <a:schemeClr val="tx1"/>
                </a:solidFill>
              </a:rPr>
              <a:t>Be honest about conformance</a:t>
            </a:r>
            <a:endParaRPr lang="en-US" sz="1800" dirty="0"/>
          </a:p>
        </p:txBody>
      </p:sp>
      <p:sp>
        <p:nvSpPr>
          <p:cNvPr id="22" name="Text 20"/>
          <p:cNvSpPr txBox="1"/>
          <p:nvPr/>
        </p:nvSpPr>
        <p:spPr>
          <a:xfrm>
            <a:off x="5394960" y="5349240"/>
            <a:ext cx="6245352" cy="685800"/>
          </a:xfrm>
          <a:prstGeom prst="rect">
            <a:avLst/>
          </a:prstGeom>
          <a:noFill/>
          <a:ln/>
        </p:spPr>
        <p:txBody>
          <a:bodyPr wrap="square" lIns="0" tIns="0" rIns="0" bIns="0" rtlCol="0" anchor="t"/>
          <a:lstStyle/>
          <a:p>
            <a:pPr indent="0" marL="0">
              <a:buNone/>
            </a:pPr>
            <a:r>
              <a:rPr lang="en-US" sz="1500" dirty="0">
                <a:solidFill>
                  <a:schemeClr val="tx2"/>
                </a:solidFill>
              </a:rPr>
              <a:t>No crawling yet, so it’s a publisher and search endpoint, not a full registry</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Agents search the registry before they reinvent</a:t>
            </a:r>
            <a:endParaRPr lang="en-US" sz="3200" dirty="0"/>
          </a:p>
        </p:txBody>
      </p:sp>
      <p:sp>
        <p:nvSpPr>
          <p:cNvPr id="4" name="Terminal"/>
          <p:cNvSpPr/>
          <p:nvPr/>
        </p:nvSpPr>
        <p:spPr>
          <a:xfrm>
            <a:off x="548640" y="1965960"/>
            <a:ext cx="6720840" cy="4114800"/>
          </a:xfrm>
          <a:prstGeom prst="roundRect">
            <a:avLst>
              <a:gd name="adj" fmla="val 3111"/>
            </a:avLst>
          </a:prstGeom>
          <a:solidFill>
            <a:schemeClr val="bg1"/>
          </a:solidFill>
          <a:ln w="15875">
            <a:solidFill>
              <a:srgbClr val="B6B0D0"/>
            </a:solidFill>
            <a:prstDash val="solid"/>
          </a:ln>
          <a:effectLst>
            <a:outerShdw sx="100000" sy="100000" kx="0" ky="0" algn="bl" rotWithShape="0" blurRad="127000" dist="38100" dir="5400000">
              <a:srgbClr val="474552">
                <a:alpha val="14000"/>
              </a:srgbClr>
            </a:outerShdw>
          </a:effectLst>
        </p:spPr>
      </p:sp>
      <p:sp>
        <p:nvSpPr>
          <p:cNvPr id="5" name="Terminal dot 1"/>
          <p:cNvSpPr/>
          <p:nvPr/>
        </p:nvSpPr>
        <p:spPr>
          <a:xfrm>
            <a:off x="777240" y="2148840"/>
            <a:ext cx="137160" cy="137160"/>
          </a:xfrm>
          <a:prstGeom prst="ellipse">
            <a:avLst/>
          </a:prstGeom>
          <a:solidFill>
            <a:srgbClr val="E8601F"/>
          </a:solidFill>
          <a:ln/>
        </p:spPr>
      </p:sp>
      <p:sp>
        <p:nvSpPr>
          <p:cNvPr id="6" name="Terminal dot 2"/>
          <p:cNvSpPr/>
          <p:nvPr/>
        </p:nvSpPr>
        <p:spPr>
          <a:xfrm>
            <a:off x="1033272" y="2148840"/>
            <a:ext cx="137160" cy="137160"/>
          </a:xfrm>
          <a:prstGeom prst="ellipse">
            <a:avLst/>
          </a:prstGeom>
          <a:solidFill>
            <a:srgbClr val="B6B0D0"/>
          </a:solidFill>
          <a:ln/>
        </p:spPr>
      </p:sp>
      <p:sp>
        <p:nvSpPr>
          <p:cNvPr id="7" name="Terminal dot 3"/>
          <p:cNvSpPr/>
          <p:nvPr/>
        </p:nvSpPr>
        <p:spPr>
          <a:xfrm>
            <a:off x="1289304" y="2148840"/>
            <a:ext cx="137160" cy="137160"/>
          </a:xfrm>
          <a:prstGeom prst="ellipse">
            <a:avLst/>
          </a:prstGeom>
          <a:solidFill>
            <a:srgbClr val="474552"/>
          </a:solidFill>
          <a:ln/>
        </p:spPr>
      </p:sp>
      <p:sp>
        <p:nvSpPr>
          <p:cNvPr id="8" name="Text 6"/>
          <p:cNvSpPr txBox="1"/>
          <p:nvPr/>
        </p:nvSpPr>
        <p:spPr>
          <a:xfrm>
            <a:off x="822960" y="2468880"/>
            <a:ext cx="6309360" cy="3474720"/>
          </a:xfrm>
          <a:prstGeom prst="rect">
            <a:avLst/>
          </a:prstGeom>
          <a:noFill/>
          <a:ln/>
        </p:spPr>
        <p:txBody>
          <a:bodyPr wrap="square" lIns="0" tIns="0" rIns="0" bIns="0" rtlCol="0" anchor="t"/>
          <a:lstStyle/>
          <a:p>
            <a:pPr indent="0" marL="0">
              <a:lnSpc>
                <a:spcPct val="145000"/>
              </a:lnSpc>
              <a:buNone/>
            </a:pPr>
            <a:r>
              <a:rPr lang="en-US" sz="1250" b="1" dirty="0">
                <a:solidFill>
                  <a:srgbClr val="C2410C"/>
                </a:solidFill>
                <a:latin typeface="Consolas" pitchFamily="34" charset="0"/>
                <a:ea typeface="Consolas" pitchFamily="34" charset="-122"/>
                <a:cs typeface="Consolas" pitchFamily="34" charset="-120"/>
              </a:rPr>
              <a:t>$ </a:t>
            </a:r>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observal discover search 'review a pull request for auth bugs'</a:t>
            </a:r>
            <a:endParaRPr lang="en-US" sz="1250" dirty="0"/>
          </a:p>
          <a:p>
            <a:pPr indent="0" marL="0">
              <a:lnSpc>
                <a:spcPct val="145000"/>
              </a:lnSpc>
              <a:buNone/>
            </a:pPr>
            <a:r>
              <a:rPr lang="en-US" sz="1250" dirty="0">
                <a:solidFill>
                  <a:schemeClr val="tx1"/>
                </a:solidFill>
                <a:latin typeface="Consolas" pitchFamily="34" charset="0"/>
                <a:ea typeface="Consolas" pitchFamily="34" charset="-122"/>
                <a:cs typeface="Consolas" pitchFamily="34" charset="-120"/>
              </a:rPr>
              <a:t> </a:t>
            </a:r>
            <a:endParaRPr lang="en-US" sz="1250" dirty="0"/>
          </a:p>
          <a:p>
            <a:pPr indent="0" marL="0">
              <a:lnSpc>
                <a:spcPct val="145000"/>
              </a:lnSpc>
              <a:buNone/>
            </a:pPr>
            <a:r>
              <a:rPr lang="en-US" sz="1250" dirty="0">
                <a:solidFill>
                  <a:srgbClr val="6E6A7C"/>
                </a:solidFill>
                <a:latin typeface="Consolas" pitchFamily="34" charset="0"/>
                <a:ea typeface="Consolas" pitchFamily="34" charset="-122"/>
                <a:cs typeface="Consolas" pitchFamily="34" charset="-120"/>
              </a:rPr>
              <a:t> #  Kind    Resource            Match  Use</a:t>
            </a:r>
            <a:endParaRPr lang="en-US" sz="1250" dirty="0"/>
          </a:p>
          <a:p>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1  skill   Security Review        92  </a:t>
            </a:r>
            <a:pPr indent="0" marL="0">
              <a:lnSpc>
                <a:spcPct val="145000"/>
              </a:lnSpc>
              <a:buNone/>
            </a:pPr>
            <a:r>
              <a:rPr lang="en-US" sz="1250" b="1" dirty="0">
                <a:solidFill>
                  <a:srgbClr val="2D6E3A"/>
                </a:solidFill>
                <a:latin typeface="Consolas" pitchFamily="34" charset="0"/>
                <a:ea typeface="Consolas" pitchFamily="34" charset="-122"/>
                <a:cs typeface="Consolas" pitchFamily="34" charset="-120"/>
              </a:rPr>
              <a:t>now</a:t>
            </a:r>
            <a:endParaRPr lang="en-US" sz="1250" dirty="0"/>
          </a:p>
          <a:p>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2  prompt  OWASP Checklist        81  </a:t>
            </a:r>
            <a:pPr indent="0" marL="0">
              <a:lnSpc>
                <a:spcPct val="145000"/>
              </a:lnSpc>
              <a:buNone/>
            </a:pPr>
            <a:r>
              <a:rPr lang="en-US" sz="1250" b="1" dirty="0">
                <a:solidFill>
                  <a:srgbClr val="2D6E3A"/>
                </a:solidFill>
                <a:latin typeface="Consolas" pitchFamily="34" charset="0"/>
                <a:ea typeface="Consolas" pitchFamily="34" charset="-122"/>
                <a:cs typeface="Consolas" pitchFamily="34" charset="-120"/>
              </a:rPr>
              <a:t>now</a:t>
            </a:r>
            <a:endParaRPr lang="en-US" sz="1250" dirty="0"/>
          </a:p>
          <a:p>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3  mcp     github                 64  </a:t>
            </a:r>
            <a:pPr indent="0" marL="0">
              <a:lnSpc>
                <a:spcPct val="145000"/>
              </a:lnSpc>
              <a:buNone/>
            </a:pPr>
            <a:r>
              <a:rPr lang="en-US" sz="1250" b="1" dirty="0">
                <a:solidFill>
                  <a:srgbClr val="C2410C"/>
                </a:solidFill>
                <a:latin typeface="Consolas" pitchFamily="34" charset="0"/>
                <a:ea typeface="Consolas" pitchFamily="34" charset="-122"/>
                <a:cs typeface="Consolas" pitchFamily="34" charset="-120"/>
              </a:rPr>
              <a:t>next-session</a:t>
            </a:r>
            <a:endParaRPr lang="en-US" sz="1250" dirty="0"/>
          </a:p>
          <a:p>
            <a:pPr indent="0" marL="0">
              <a:lnSpc>
                <a:spcPct val="145000"/>
              </a:lnSpc>
              <a:buNone/>
            </a:pPr>
            <a:r>
              <a:rPr lang="en-US" sz="1250" dirty="0">
                <a:solidFill>
                  <a:schemeClr val="tx1"/>
                </a:solidFill>
                <a:latin typeface="Consolas" pitchFamily="34" charset="0"/>
                <a:ea typeface="Consolas" pitchFamily="34" charset="-122"/>
                <a:cs typeface="Consolas" pitchFamily="34" charset="-120"/>
              </a:rPr>
              <a:t> </a:t>
            </a:r>
            <a:endParaRPr lang="en-US" sz="1250" dirty="0"/>
          </a:p>
          <a:p>
            <a:pPr indent="0" marL="0">
              <a:lnSpc>
                <a:spcPct val="145000"/>
              </a:lnSpc>
              <a:buNone/>
            </a:pPr>
            <a:r>
              <a:rPr lang="en-US" sz="1250" b="1" dirty="0">
                <a:solidFill>
                  <a:srgbClr val="C2410C"/>
                </a:solidFill>
                <a:latin typeface="Consolas" pitchFamily="34" charset="0"/>
                <a:ea typeface="Consolas" pitchFamily="34" charset="-122"/>
                <a:cs typeface="Consolas" pitchFamily="34" charset="-120"/>
              </a:rPr>
              <a:t>$ </a:t>
            </a:r>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observal discover use urn:air:observal.acme.com:skill:5f2c…</a:t>
            </a:r>
            <a:endParaRPr lang="en-US" sz="1250" dirty="0"/>
          </a:p>
          <a:p>
            <a:pPr indent="0" marL="0">
              <a:lnSpc>
                <a:spcPct val="145000"/>
              </a:lnSpc>
              <a:buNone/>
            </a:pPr>
            <a:r>
              <a:rPr lang="en-US" sz="1250" b="1" dirty="0">
                <a:solidFill>
                  <a:srgbClr val="2D6E3A"/>
                </a:solidFill>
                <a:latin typeface="Consolas" pitchFamily="34" charset="0"/>
                <a:ea typeface="Consolas" pitchFamily="34" charset="-122"/>
                <a:cs typeface="Consolas" pitchFamily="34" charset="-120"/>
              </a:rPr>
              <a:t>✓ Loaded </a:t>
            </a:r>
            <a:pPr indent="0" marL="0">
              <a:lnSpc>
                <a:spcPct val="145000"/>
              </a:lnSpc>
              <a:buNone/>
            </a:pPr>
            <a:r>
              <a:rPr lang="en-US" sz="1250" b="1" dirty="0">
                <a:solidFill>
                  <a:srgbClr val="383A42"/>
                </a:solidFill>
                <a:latin typeface="Consolas" pitchFamily="34" charset="0"/>
                <a:ea typeface="Consolas" pitchFamily="34" charset="-122"/>
                <a:cs typeface="Consolas" pitchFamily="34" charset="-120"/>
              </a:rPr>
              <a:t>Security Review</a:t>
            </a:r>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1.2.0 (skill)</a:t>
            </a:r>
            <a:endParaRPr lang="en-US" sz="1250" dirty="0"/>
          </a:p>
          <a:p>
            <a:pPr indent="0" marL="0">
              <a:lnSpc>
                <a:spcPct val="145000"/>
              </a:lnSpc>
              <a:buNone/>
            </a:pPr>
            <a:r>
              <a:rPr lang="en-US" sz="1250" dirty="0">
                <a:solidFill>
                  <a:srgbClr val="6E6A7C"/>
                </a:solidFill>
                <a:latin typeface="Consolas" pitchFamily="34" charset="0"/>
                <a:ea typeface="Consolas" pitchFamily="34" charset="-122"/>
                <a:cs typeface="Consolas" pitchFamily="34" charset="-120"/>
              </a:rPr>
              <a:t>Recorded in the capability lock for claude-code</a:t>
            </a:r>
            <a:endParaRPr lang="en-US" sz="1250" dirty="0"/>
          </a:p>
        </p:txBody>
      </p:sp>
      <p:sp>
        <p:nvSpPr>
          <p:cNvPr id="9" name="Use case step 1"/>
          <p:cNvSpPr/>
          <p:nvPr/>
        </p:nvSpPr>
        <p:spPr>
          <a:xfrm>
            <a:off x="7589520" y="1965960"/>
            <a:ext cx="548640" cy="548640"/>
          </a:xfrm>
          <a:prstGeom prst="ellipse">
            <a:avLst/>
          </a:prstGeom>
          <a:solidFill>
            <a:schemeClr val="accent5"/>
          </a:solidFill>
          <a:ln/>
        </p:spPr>
      </p:sp>
      <p:sp>
        <p:nvSpPr>
          <p:cNvPr id="10" name="Text 8"/>
          <p:cNvSpPr txBox="1"/>
          <p:nvPr/>
        </p:nvSpPr>
        <p:spPr>
          <a:xfrm>
            <a:off x="7589520" y="196596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11" name="Text 9"/>
          <p:cNvSpPr txBox="1"/>
          <p:nvPr/>
        </p:nvSpPr>
        <p:spPr>
          <a:xfrm>
            <a:off x="8321040" y="1947672"/>
            <a:ext cx="3291840" cy="365760"/>
          </a:xfrm>
          <a:prstGeom prst="rect">
            <a:avLst/>
          </a:prstGeom>
          <a:noFill/>
          <a:ln/>
        </p:spPr>
        <p:txBody>
          <a:bodyPr wrap="square" lIns="0" tIns="0" rIns="0" bIns="0" rtlCol="0" anchor="t"/>
          <a:lstStyle/>
          <a:p>
            <a:pPr indent="0" marL="0">
              <a:buNone/>
            </a:pPr>
            <a:r>
              <a:rPr lang="en-US" sz="1800" b="1" dirty="0">
                <a:solidFill>
                  <a:schemeClr val="tx1"/>
                </a:solidFill>
              </a:rPr>
              <a:t>Search</a:t>
            </a:r>
            <a:endParaRPr lang="en-US" sz="1800" dirty="0"/>
          </a:p>
        </p:txBody>
      </p:sp>
      <p:sp>
        <p:nvSpPr>
          <p:cNvPr id="12" name="Text 10"/>
          <p:cNvSpPr txBox="1"/>
          <p:nvPr/>
        </p:nvSpPr>
        <p:spPr>
          <a:xfrm>
            <a:off x="8321040" y="2313432"/>
            <a:ext cx="3291840" cy="594360"/>
          </a:xfrm>
          <a:prstGeom prst="rect">
            <a:avLst/>
          </a:prstGeom>
          <a:noFill/>
          <a:ln/>
        </p:spPr>
        <p:txBody>
          <a:bodyPr wrap="square" lIns="0" tIns="0" rIns="0" bIns="0" rtlCol="0" anchor="t"/>
          <a:lstStyle/>
          <a:p>
            <a:pPr indent="0" marL="0">
              <a:buNone/>
            </a:pPr>
            <a:r>
              <a:rPr lang="en-US" sz="1400" dirty="0">
                <a:solidFill>
                  <a:schemeClr val="accent6"/>
                </a:solidFill>
              </a:rPr>
              <a:t>Ranked candidates, each with the words that matched</a:t>
            </a:r>
            <a:endParaRPr lang="en-US" sz="1400" dirty="0"/>
          </a:p>
        </p:txBody>
      </p:sp>
      <p:sp>
        <p:nvSpPr>
          <p:cNvPr id="13" name="Use case step 2"/>
          <p:cNvSpPr/>
          <p:nvPr/>
        </p:nvSpPr>
        <p:spPr>
          <a:xfrm>
            <a:off x="7589520" y="2971800"/>
            <a:ext cx="548640" cy="548640"/>
          </a:xfrm>
          <a:prstGeom prst="ellipse">
            <a:avLst/>
          </a:prstGeom>
          <a:solidFill>
            <a:schemeClr val="accent5"/>
          </a:solidFill>
          <a:ln/>
        </p:spPr>
      </p:sp>
      <p:sp>
        <p:nvSpPr>
          <p:cNvPr id="14" name="Text 12"/>
          <p:cNvSpPr txBox="1"/>
          <p:nvPr/>
        </p:nvSpPr>
        <p:spPr>
          <a:xfrm>
            <a:off x="7589520" y="297180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5" name="Text 13"/>
          <p:cNvSpPr txBox="1"/>
          <p:nvPr/>
        </p:nvSpPr>
        <p:spPr>
          <a:xfrm>
            <a:off x="8321040" y="2953512"/>
            <a:ext cx="3291840" cy="365760"/>
          </a:xfrm>
          <a:prstGeom prst="rect">
            <a:avLst/>
          </a:prstGeom>
          <a:noFill/>
          <a:ln/>
        </p:spPr>
        <p:txBody>
          <a:bodyPr wrap="square" lIns="0" tIns="0" rIns="0" bIns="0" rtlCol="0" anchor="t"/>
          <a:lstStyle/>
          <a:p>
            <a:pPr indent="0" marL="0">
              <a:buNone/>
            </a:pPr>
            <a:r>
              <a:rPr lang="en-US" sz="1800" b="1" dirty="0">
                <a:solidFill>
                  <a:schemeClr val="tx1"/>
                </a:solidFill>
              </a:rPr>
              <a:t>Inspect</a:t>
            </a:r>
            <a:endParaRPr lang="en-US" sz="1800" dirty="0"/>
          </a:p>
        </p:txBody>
      </p:sp>
      <p:sp>
        <p:nvSpPr>
          <p:cNvPr id="16" name="Text 14"/>
          <p:cNvSpPr txBox="1"/>
          <p:nvPr/>
        </p:nvSpPr>
        <p:spPr>
          <a:xfrm>
            <a:off x="8321040" y="3319272"/>
            <a:ext cx="3291840" cy="594360"/>
          </a:xfrm>
          <a:prstGeom prst="rect">
            <a:avLst/>
          </a:prstGeom>
          <a:noFill/>
          <a:ln/>
        </p:spPr>
        <p:txBody>
          <a:bodyPr wrap="square" lIns="0" tIns="0" rIns="0" bIns="0" rtlCol="0" anchor="t"/>
          <a:lstStyle/>
          <a:p>
            <a:pPr indent="0" marL="0">
              <a:buNone/>
            </a:pPr>
            <a:r>
              <a:rPr lang="en-US" sz="1400" dirty="0">
                <a:solidFill>
                  <a:schemeClr val="accent6"/>
                </a:solidFill>
              </a:rPr>
              <a:t>What it’s for, which harnesses, the exact artifact and digest</a:t>
            </a:r>
            <a:endParaRPr lang="en-US" sz="1400" dirty="0"/>
          </a:p>
        </p:txBody>
      </p:sp>
      <p:sp>
        <p:nvSpPr>
          <p:cNvPr id="17" name="Use case step 3"/>
          <p:cNvSpPr/>
          <p:nvPr/>
        </p:nvSpPr>
        <p:spPr>
          <a:xfrm>
            <a:off x="7589520" y="3977640"/>
            <a:ext cx="548640" cy="548640"/>
          </a:xfrm>
          <a:prstGeom prst="ellipse">
            <a:avLst/>
          </a:prstGeom>
          <a:solidFill>
            <a:schemeClr val="accent5"/>
          </a:solidFill>
          <a:ln/>
        </p:spPr>
      </p:sp>
      <p:sp>
        <p:nvSpPr>
          <p:cNvPr id="18" name="Text 16"/>
          <p:cNvSpPr txBox="1"/>
          <p:nvPr/>
        </p:nvSpPr>
        <p:spPr>
          <a:xfrm>
            <a:off x="7589520" y="397764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9" name="Text 17"/>
          <p:cNvSpPr txBox="1"/>
          <p:nvPr/>
        </p:nvSpPr>
        <p:spPr>
          <a:xfrm>
            <a:off x="8321040" y="3959352"/>
            <a:ext cx="3291840" cy="365760"/>
          </a:xfrm>
          <a:prstGeom prst="rect">
            <a:avLst/>
          </a:prstGeom>
          <a:noFill/>
          <a:ln/>
        </p:spPr>
        <p:txBody>
          <a:bodyPr wrap="square" lIns="0" tIns="0" rIns="0" bIns="0" rtlCol="0" anchor="t"/>
          <a:lstStyle/>
          <a:p>
            <a:pPr indent="0" marL="0">
              <a:buNone/>
            </a:pPr>
            <a:r>
              <a:rPr lang="en-US" sz="1800" b="1" dirty="0">
                <a:solidFill>
                  <a:schemeClr val="tx1"/>
                </a:solidFill>
              </a:rPr>
              <a:t>Use</a:t>
            </a:r>
            <a:endParaRPr lang="en-US" sz="1800" dirty="0"/>
          </a:p>
        </p:txBody>
      </p:sp>
      <p:sp>
        <p:nvSpPr>
          <p:cNvPr id="20" name="Text 18"/>
          <p:cNvSpPr txBox="1"/>
          <p:nvPr/>
        </p:nvSpPr>
        <p:spPr>
          <a:xfrm>
            <a:off x="8321040" y="4325112"/>
            <a:ext cx="3291840" cy="594360"/>
          </a:xfrm>
          <a:prstGeom prst="rect">
            <a:avLst/>
          </a:prstGeom>
          <a:noFill/>
          <a:ln/>
        </p:spPr>
        <p:txBody>
          <a:bodyPr wrap="square" lIns="0" tIns="0" rIns="0" bIns="0" rtlCol="0" anchor="t"/>
          <a:lstStyle/>
          <a:p>
            <a:pPr indent="0" marL="0">
              <a:buNone/>
            </a:pPr>
            <a:r>
              <a:rPr lang="en-US" sz="1400" dirty="0">
                <a:solidFill>
                  <a:schemeClr val="accent6"/>
                </a:solidFill>
              </a:rPr>
              <a:t>Load it into this session and record that it was used</a:t>
            </a:r>
            <a:endParaRPr lang="en-US" sz="1400" dirty="0"/>
          </a:p>
        </p:txBody>
      </p:sp>
      <p:sp>
        <p:nvSpPr>
          <p:cNvPr id="21" name="Skill trigger note"/>
          <p:cNvSpPr/>
          <p:nvPr/>
        </p:nvSpPr>
        <p:spPr>
          <a:xfrm>
            <a:off x="7589520" y="5029200"/>
            <a:ext cx="4050792" cy="1051560"/>
          </a:xfrm>
          <a:prstGeom prst="roundRect">
            <a:avLst>
              <a:gd name="adj" fmla="val 12174"/>
            </a:avLst>
          </a:prstGeom>
          <a:solidFill>
            <a:schemeClr val="bg2"/>
          </a:solidFill>
          <a:ln/>
        </p:spPr>
      </p:sp>
      <p:sp>
        <p:nvSpPr>
          <p:cNvPr id="22" name="Text 20"/>
          <p:cNvSpPr txBox="1"/>
          <p:nvPr/>
        </p:nvSpPr>
        <p:spPr>
          <a:xfrm>
            <a:off x="7818120" y="5029200"/>
            <a:ext cx="3657600" cy="1051560"/>
          </a:xfrm>
          <a:prstGeom prst="rect">
            <a:avLst/>
          </a:prstGeom>
          <a:noFill/>
          <a:ln/>
        </p:spPr>
        <p:txBody>
          <a:bodyPr wrap="square" lIns="0" tIns="0" rIns="0" bIns="0" rtlCol="0" anchor="ctr"/>
          <a:lstStyle/>
          <a:p>
            <a:pPr indent="0" marL="0">
              <a:buNone/>
            </a:pPr>
            <a:r>
              <a:rPr lang="en-US" sz="1400" dirty="0">
                <a:solidFill>
                  <a:schemeClr val="tx1"/>
                </a:solidFill>
              </a:rPr>
              <a:t>A bundled agent skill tells Claude Code, Cursor, Kiro, Pi and others to search first.</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Text loads into the session now; anything that changes your setup asks first</a:t>
            </a:r>
            <a:endParaRPr lang="en-US" sz="3200" dirty="0"/>
          </a:p>
        </p:txBody>
      </p:sp>
      <p:sp>
        <p:nvSpPr>
          <p:cNvPr id="4" name="Available now card"/>
          <p:cNvSpPr/>
          <p:nvPr/>
        </p:nvSpPr>
        <p:spPr>
          <a:xfrm>
            <a:off x="548640" y="1965960"/>
            <a:ext cx="3575304" cy="3108960"/>
          </a:xfrm>
          <a:prstGeom prst="roundRect">
            <a:avLst>
              <a:gd name="adj" fmla="val 4118"/>
            </a:avLst>
          </a:prstGeom>
          <a:solidFill>
            <a:schemeClr val="bg2"/>
          </a:solidFill>
          <a:ln/>
        </p:spPr>
      </p:sp>
      <p:sp>
        <p:nvSpPr>
          <p:cNvPr id="5" name="Available now chip"/>
          <p:cNvSpPr/>
          <p:nvPr/>
        </p:nvSpPr>
        <p:spPr>
          <a:xfrm>
            <a:off x="822960" y="2194560"/>
            <a:ext cx="2103120" cy="438912"/>
          </a:xfrm>
          <a:prstGeom prst="roundRect">
            <a:avLst>
              <a:gd name="adj" fmla="val 50000"/>
            </a:avLst>
          </a:prstGeom>
          <a:solidFill>
            <a:schemeClr val="accent5"/>
          </a:solidFill>
          <a:ln/>
        </p:spPr>
      </p:sp>
      <p:sp>
        <p:nvSpPr>
          <p:cNvPr id="6" name="Text 4"/>
          <p:cNvSpPr txBox="1"/>
          <p:nvPr/>
        </p:nvSpPr>
        <p:spPr>
          <a:xfrm>
            <a:off x="822960" y="2194560"/>
            <a:ext cx="2103120" cy="438912"/>
          </a:xfrm>
          <a:prstGeom prst="rect">
            <a:avLst/>
          </a:prstGeom>
          <a:noFill/>
          <a:ln/>
        </p:spPr>
        <p:txBody>
          <a:bodyPr wrap="square" lIns="0" tIns="0" rIns="0" bIns="0" rtlCol="0" anchor="ctr"/>
          <a:lstStyle/>
          <a:p>
            <a:pPr algn="ctr" indent="0" marL="0">
              <a:buNone/>
            </a:pPr>
            <a:r>
              <a:rPr lang="en-US" sz="1500" b="1" dirty="0">
                <a:solidFill>
                  <a:schemeClr val="bg1"/>
                </a:solidFill>
              </a:rPr>
              <a:t>Available now</a:t>
            </a:r>
            <a:endParaRPr lang="en-US" sz="1500" dirty="0"/>
          </a:p>
        </p:txBody>
      </p:sp>
      <p:pic>
        <p:nvPicPr>
          <p:cNvPr id="7" name="Available now skill icon" descr="preencoded.png">    </p:cNvPr>
          <p:cNvPicPr>
            <a:picLocks noChangeAspect="1"/>
          </p:cNvPicPr>
          <p:nvPr/>
        </p:nvPicPr>
        <p:blipFill>
          <a:blip r:embed="rId1"/>
          <a:stretch>
            <a:fillRect/>
          </a:stretch>
        </p:blipFill>
        <p:spPr>
          <a:xfrm>
            <a:off x="822960" y="2880360"/>
            <a:ext cx="384048" cy="384048"/>
          </a:xfrm>
          <a:prstGeom prst="rect">
            <a:avLst/>
          </a:prstGeom>
        </p:spPr>
      </p:pic>
      <p:pic>
        <p:nvPicPr>
          <p:cNvPr id="8" name="Available now prompt icon" descr="preencoded.png">    </p:cNvPr>
          <p:cNvPicPr>
            <a:picLocks noChangeAspect="1"/>
          </p:cNvPicPr>
          <p:nvPr/>
        </p:nvPicPr>
        <p:blipFill>
          <a:blip r:embed="rId2"/>
          <a:stretch>
            <a:fillRect/>
          </a:stretch>
        </p:blipFill>
        <p:spPr>
          <a:xfrm>
            <a:off x="1371600" y="2880360"/>
            <a:ext cx="384048" cy="384048"/>
          </a:xfrm>
          <a:prstGeom prst="rect">
            <a:avLst/>
          </a:prstGeom>
        </p:spPr>
      </p:pic>
      <p:sp>
        <p:nvSpPr>
          <p:cNvPr id="9" name="Text 5"/>
          <p:cNvSpPr txBox="1"/>
          <p:nvPr/>
        </p:nvSpPr>
        <p:spPr>
          <a:xfrm>
            <a:off x="822960" y="3429000"/>
            <a:ext cx="3108960" cy="365760"/>
          </a:xfrm>
          <a:prstGeom prst="rect">
            <a:avLst/>
          </a:prstGeom>
          <a:noFill/>
          <a:ln/>
        </p:spPr>
        <p:txBody>
          <a:bodyPr wrap="square" lIns="0" tIns="0" rIns="0" bIns="0" rtlCol="0" anchor="t"/>
          <a:lstStyle/>
          <a:p>
            <a:pPr indent="0" marL="0">
              <a:buNone/>
            </a:pPr>
            <a:r>
              <a:rPr lang="en-US" sz="1700" b="1" dirty="0">
                <a:solidFill>
                  <a:schemeClr val="tx1"/>
                </a:solidFill>
              </a:rPr>
              <a:t>Skills · Prompts</a:t>
            </a:r>
            <a:endParaRPr lang="en-US" sz="1700" dirty="0"/>
          </a:p>
        </p:txBody>
      </p:sp>
      <p:sp>
        <p:nvSpPr>
          <p:cNvPr id="10" name="Text 6"/>
          <p:cNvSpPr txBox="1"/>
          <p:nvPr/>
        </p:nvSpPr>
        <p:spPr>
          <a:xfrm>
            <a:off x="822960" y="3840480"/>
            <a:ext cx="3063240" cy="1143000"/>
          </a:xfrm>
          <a:prstGeom prst="rect">
            <a:avLst/>
          </a:prstGeom>
          <a:noFill/>
          <a:ln/>
        </p:spPr>
        <p:txBody>
          <a:bodyPr wrap="square" lIns="0" tIns="0" rIns="0" bIns="0" rtlCol="0" anchor="t"/>
          <a:lstStyle/>
          <a:p>
            <a:pPr indent="0" marL="0">
              <a:buNone/>
            </a:pPr>
            <a:r>
              <a:rPr lang="en-US" sz="1500" dirty="0">
                <a:solidFill>
                  <a:schemeClr val="tx2"/>
                </a:solidFill>
              </a:rPr>
              <a:t>The exact approved version is fetched from its permanent URL and loaded into context.</a:t>
            </a:r>
            <a:endParaRPr lang="en-US" sz="1500" dirty="0"/>
          </a:p>
        </p:txBody>
      </p:sp>
      <p:sp>
        <p:nvSpPr>
          <p:cNvPr id="11" name="Next session card"/>
          <p:cNvSpPr/>
          <p:nvPr/>
        </p:nvSpPr>
        <p:spPr>
          <a:xfrm>
            <a:off x="4306824" y="1965960"/>
            <a:ext cx="3575304" cy="3108960"/>
          </a:xfrm>
          <a:prstGeom prst="roundRect">
            <a:avLst>
              <a:gd name="adj" fmla="val 4118"/>
            </a:avLst>
          </a:prstGeom>
          <a:solidFill>
            <a:schemeClr val="bg2"/>
          </a:solidFill>
          <a:ln/>
        </p:spPr>
      </p:sp>
      <p:sp>
        <p:nvSpPr>
          <p:cNvPr id="12" name="Next session chip"/>
          <p:cNvSpPr/>
          <p:nvPr/>
        </p:nvSpPr>
        <p:spPr>
          <a:xfrm>
            <a:off x="4581144" y="2194560"/>
            <a:ext cx="2103120" cy="438912"/>
          </a:xfrm>
          <a:prstGeom prst="roundRect">
            <a:avLst>
              <a:gd name="adj" fmla="val 50000"/>
            </a:avLst>
          </a:prstGeom>
          <a:solidFill>
            <a:schemeClr val="accent4"/>
          </a:solidFill>
          <a:ln/>
        </p:spPr>
      </p:sp>
      <p:sp>
        <p:nvSpPr>
          <p:cNvPr id="13" name="Text 9"/>
          <p:cNvSpPr txBox="1"/>
          <p:nvPr/>
        </p:nvSpPr>
        <p:spPr>
          <a:xfrm>
            <a:off x="4581144" y="2194560"/>
            <a:ext cx="2103120" cy="438912"/>
          </a:xfrm>
          <a:prstGeom prst="rect">
            <a:avLst/>
          </a:prstGeom>
          <a:noFill/>
          <a:ln/>
        </p:spPr>
        <p:txBody>
          <a:bodyPr wrap="square" lIns="0" tIns="0" rIns="0" bIns="0" rtlCol="0" anchor="ctr"/>
          <a:lstStyle/>
          <a:p>
            <a:pPr algn="ctr" indent="0" marL="0">
              <a:buNone/>
            </a:pPr>
            <a:r>
              <a:rPr lang="en-US" sz="1500" b="1" dirty="0">
                <a:solidFill>
                  <a:schemeClr val="bg1"/>
                </a:solidFill>
              </a:rPr>
              <a:t>Next session</a:t>
            </a:r>
            <a:endParaRPr lang="en-US" sz="1500" dirty="0"/>
          </a:p>
        </p:txBody>
      </p:sp>
      <p:pic>
        <p:nvPicPr>
          <p:cNvPr id="14" name="Next session mcp icon" descr="preencoded.png">    </p:cNvPr>
          <p:cNvPicPr>
            <a:picLocks noChangeAspect="1"/>
          </p:cNvPicPr>
          <p:nvPr/>
        </p:nvPicPr>
        <p:blipFill>
          <a:blip r:embed="rId3"/>
          <a:stretch>
            <a:fillRect/>
          </a:stretch>
        </p:blipFill>
        <p:spPr>
          <a:xfrm>
            <a:off x="4581144" y="2880360"/>
            <a:ext cx="384048" cy="384048"/>
          </a:xfrm>
          <a:prstGeom prst="rect">
            <a:avLst/>
          </a:prstGeom>
        </p:spPr>
      </p:pic>
      <p:pic>
        <p:nvPicPr>
          <p:cNvPr id="15" name="Next session agent icon" descr="preencoded.png">    </p:cNvPr>
          <p:cNvPicPr>
            <a:picLocks noChangeAspect="1"/>
          </p:cNvPicPr>
          <p:nvPr/>
        </p:nvPicPr>
        <p:blipFill>
          <a:blip r:embed="rId4"/>
          <a:stretch>
            <a:fillRect/>
          </a:stretch>
        </p:blipFill>
        <p:spPr>
          <a:xfrm>
            <a:off x="5129784" y="2880360"/>
            <a:ext cx="384048" cy="384048"/>
          </a:xfrm>
          <a:prstGeom prst="rect">
            <a:avLst/>
          </a:prstGeom>
        </p:spPr>
      </p:pic>
      <p:pic>
        <p:nvPicPr>
          <p:cNvPr id="16" name="Next session sandbox icon" descr="preencoded.png">    </p:cNvPr>
          <p:cNvPicPr>
            <a:picLocks noChangeAspect="1"/>
          </p:cNvPicPr>
          <p:nvPr/>
        </p:nvPicPr>
        <p:blipFill>
          <a:blip r:embed="rId5"/>
          <a:stretch>
            <a:fillRect/>
          </a:stretch>
        </p:blipFill>
        <p:spPr>
          <a:xfrm>
            <a:off x="5678424" y="2880360"/>
            <a:ext cx="384048" cy="384048"/>
          </a:xfrm>
          <a:prstGeom prst="rect">
            <a:avLst/>
          </a:prstGeom>
        </p:spPr>
      </p:pic>
      <p:sp>
        <p:nvSpPr>
          <p:cNvPr id="17" name="Text 10"/>
          <p:cNvSpPr txBox="1"/>
          <p:nvPr/>
        </p:nvSpPr>
        <p:spPr>
          <a:xfrm>
            <a:off x="4581144" y="3429000"/>
            <a:ext cx="3108960" cy="365760"/>
          </a:xfrm>
          <a:prstGeom prst="rect">
            <a:avLst/>
          </a:prstGeom>
          <a:noFill/>
          <a:ln/>
        </p:spPr>
        <p:txBody>
          <a:bodyPr wrap="square" lIns="0" tIns="0" rIns="0" bIns="0" rtlCol="0" anchor="t"/>
          <a:lstStyle/>
          <a:p>
            <a:pPr indent="0" marL="0">
              <a:buNone/>
            </a:pPr>
            <a:r>
              <a:rPr lang="en-US" sz="1700" b="1" dirty="0">
                <a:solidFill>
                  <a:schemeClr val="tx1"/>
                </a:solidFill>
              </a:rPr>
              <a:t>MCP · Agents · Sandboxes</a:t>
            </a:r>
            <a:endParaRPr lang="en-US" sz="1700" dirty="0"/>
          </a:p>
        </p:txBody>
      </p:sp>
      <p:sp>
        <p:nvSpPr>
          <p:cNvPr id="18" name="Text 11"/>
          <p:cNvSpPr txBox="1"/>
          <p:nvPr/>
        </p:nvSpPr>
        <p:spPr>
          <a:xfrm>
            <a:off x="4581144" y="3840480"/>
            <a:ext cx="3063240" cy="1143000"/>
          </a:xfrm>
          <a:prstGeom prst="rect">
            <a:avLst/>
          </a:prstGeom>
          <a:noFill/>
          <a:ln/>
        </p:spPr>
        <p:txBody>
          <a:bodyPr wrap="square" lIns="0" tIns="0" rIns="0" bIns="0" rtlCol="0" anchor="t"/>
          <a:lstStyle/>
          <a:p>
            <a:pPr indent="0" marL="0">
              <a:buNone/>
            </a:pPr>
            <a:r>
              <a:rPr lang="en-US" sz="1500" dirty="0">
                <a:solidFill>
                  <a:schemeClr val="tx2"/>
                </a:solidFill>
              </a:rPr>
              <a:t>Nothing is written. You get the install command, which confirms first and applies after a restart.</a:t>
            </a:r>
            <a:endParaRPr lang="en-US" sz="1500" dirty="0"/>
          </a:p>
        </p:txBody>
      </p:sp>
      <p:sp>
        <p:nvSpPr>
          <p:cNvPr id="19" name="Explicit install card"/>
          <p:cNvSpPr/>
          <p:nvPr/>
        </p:nvSpPr>
        <p:spPr>
          <a:xfrm>
            <a:off x="8065008" y="1965960"/>
            <a:ext cx="3575304" cy="3108960"/>
          </a:xfrm>
          <a:prstGeom prst="roundRect">
            <a:avLst>
              <a:gd name="adj" fmla="val 4118"/>
            </a:avLst>
          </a:prstGeom>
          <a:solidFill>
            <a:schemeClr val="bg2"/>
          </a:solidFill>
          <a:ln/>
        </p:spPr>
      </p:sp>
      <p:sp>
        <p:nvSpPr>
          <p:cNvPr id="20" name="Explicit install chip"/>
          <p:cNvSpPr/>
          <p:nvPr/>
        </p:nvSpPr>
        <p:spPr>
          <a:xfrm>
            <a:off x="8339328" y="2194560"/>
            <a:ext cx="2103120" cy="438912"/>
          </a:xfrm>
          <a:prstGeom prst="roundRect">
            <a:avLst>
              <a:gd name="adj" fmla="val 50000"/>
            </a:avLst>
          </a:prstGeom>
          <a:solidFill>
            <a:schemeClr val="accent3"/>
          </a:solidFill>
          <a:ln/>
        </p:spPr>
      </p:sp>
      <p:sp>
        <p:nvSpPr>
          <p:cNvPr id="21" name="Text 14"/>
          <p:cNvSpPr txBox="1"/>
          <p:nvPr/>
        </p:nvSpPr>
        <p:spPr>
          <a:xfrm>
            <a:off x="8339328" y="2194560"/>
            <a:ext cx="2103120" cy="438912"/>
          </a:xfrm>
          <a:prstGeom prst="rect">
            <a:avLst/>
          </a:prstGeom>
          <a:noFill/>
          <a:ln/>
        </p:spPr>
        <p:txBody>
          <a:bodyPr wrap="square" lIns="0" tIns="0" rIns="0" bIns="0" rtlCol="0" anchor="ctr"/>
          <a:lstStyle/>
          <a:p>
            <a:pPr algn="ctr" indent="0" marL="0">
              <a:buNone/>
            </a:pPr>
            <a:r>
              <a:rPr lang="en-US" sz="1500" b="1" dirty="0">
                <a:solidFill>
                  <a:schemeClr val="tx1"/>
                </a:solidFill>
              </a:rPr>
              <a:t>Explicit install</a:t>
            </a:r>
            <a:endParaRPr lang="en-US" sz="1500" dirty="0"/>
          </a:p>
        </p:txBody>
      </p:sp>
      <p:pic>
        <p:nvPicPr>
          <p:cNvPr id="22" name="Explicit install hook icon" descr="preencoded.png">    </p:cNvPr>
          <p:cNvPicPr>
            <a:picLocks noChangeAspect="1"/>
          </p:cNvPicPr>
          <p:nvPr/>
        </p:nvPicPr>
        <p:blipFill>
          <a:blip r:embed="rId6"/>
          <a:stretch>
            <a:fillRect/>
          </a:stretch>
        </p:blipFill>
        <p:spPr>
          <a:xfrm>
            <a:off x="8339328" y="2880360"/>
            <a:ext cx="384048" cy="384048"/>
          </a:xfrm>
          <a:prstGeom prst="rect">
            <a:avLst/>
          </a:prstGeom>
        </p:spPr>
      </p:pic>
      <p:sp>
        <p:nvSpPr>
          <p:cNvPr id="23" name="Text 15"/>
          <p:cNvSpPr txBox="1"/>
          <p:nvPr/>
        </p:nvSpPr>
        <p:spPr>
          <a:xfrm>
            <a:off x="8339328" y="3429000"/>
            <a:ext cx="3108960" cy="365760"/>
          </a:xfrm>
          <a:prstGeom prst="rect">
            <a:avLst/>
          </a:prstGeom>
          <a:noFill/>
          <a:ln/>
        </p:spPr>
        <p:txBody>
          <a:bodyPr wrap="square" lIns="0" tIns="0" rIns="0" bIns="0" rtlCol="0" anchor="t"/>
          <a:lstStyle/>
          <a:p>
            <a:pPr indent="0" marL="0">
              <a:buNone/>
            </a:pPr>
            <a:r>
              <a:rPr lang="en-US" sz="1700" b="1" dirty="0">
                <a:solidFill>
                  <a:schemeClr val="tx1"/>
                </a:solidFill>
              </a:rPr>
              <a:t>Hooks</a:t>
            </a:r>
            <a:endParaRPr lang="en-US" sz="1700" dirty="0"/>
          </a:p>
        </p:txBody>
      </p:sp>
      <p:sp>
        <p:nvSpPr>
          <p:cNvPr id="24" name="Text 16"/>
          <p:cNvSpPr txBox="1"/>
          <p:nvPr/>
        </p:nvSpPr>
        <p:spPr>
          <a:xfrm>
            <a:off x="8339328" y="3840480"/>
            <a:ext cx="3063240" cy="1143000"/>
          </a:xfrm>
          <a:prstGeom prst="rect">
            <a:avLst/>
          </a:prstGeom>
          <a:noFill/>
          <a:ln/>
        </p:spPr>
        <p:txBody>
          <a:bodyPr wrap="square" lIns="0" tIns="0" rIns="0" bIns="0" rtlCol="0" anchor="t"/>
          <a:lstStyle/>
          <a:p>
            <a:pPr indent="0" marL="0">
              <a:buNone/>
            </a:pPr>
            <a:r>
              <a:rPr lang="en-US" sz="1500" dirty="0">
                <a:solidFill>
                  <a:schemeClr val="tx2"/>
                </a:solidFill>
              </a:rPr>
              <a:t>Never activated implicitly. Always a deliberate, confirmed install.</a:t>
            </a:r>
            <a:endParaRPr lang="en-US" sz="1500" dirty="0"/>
          </a:p>
        </p:txBody>
      </p:sp>
      <p:sp>
        <p:nvSpPr>
          <p:cNvPr id="25" name="Refusals strip"/>
          <p:cNvSpPr/>
          <p:nvPr/>
        </p:nvSpPr>
        <p:spPr>
          <a:xfrm>
            <a:off x="548640" y="5257800"/>
            <a:ext cx="11091672" cy="822960"/>
          </a:xfrm>
          <a:prstGeom prst="roundRect">
            <a:avLst>
              <a:gd name="adj" fmla="val 15556"/>
            </a:avLst>
          </a:prstGeom>
          <a:solidFill>
            <a:schemeClr val="bg1"/>
          </a:solidFill>
          <a:ln w="15875">
            <a:solidFill>
              <a:srgbClr val="B6B0D0"/>
            </a:solidFill>
            <a:prstDash val="solid"/>
          </a:ln>
        </p:spPr>
      </p:sp>
      <p:sp>
        <p:nvSpPr>
          <p:cNvPr id="26" name="Refusals circle"/>
          <p:cNvSpPr/>
          <p:nvPr/>
        </p:nvSpPr>
        <p:spPr>
          <a:xfrm>
            <a:off x="731520" y="5413248"/>
            <a:ext cx="512064" cy="512064"/>
          </a:xfrm>
          <a:prstGeom prst="ellipse">
            <a:avLst/>
          </a:prstGeom>
          <a:solidFill>
            <a:schemeClr val="accent5"/>
          </a:solidFill>
          <a:ln/>
        </p:spPr>
      </p:sp>
      <p:pic>
        <p:nvPicPr>
          <p:cNvPr id="27" name="Refusals icon" descr="preencoded.png">    </p:cNvPr>
          <p:cNvPicPr>
            <a:picLocks noChangeAspect="1"/>
          </p:cNvPicPr>
          <p:nvPr/>
        </p:nvPicPr>
        <p:blipFill>
          <a:blip r:embed="rId7"/>
          <a:stretch>
            <a:fillRect/>
          </a:stretch>
        </p:blipFill>
        <p:spPr>
          <a:xfrm>
            <a:off x="859536" y="5541264"/>
            <a:ext cx="256032" cy="256032"/>
          </a:xfrm>
          <a:prstGeom prst="rect">
            <a:avLst/>
          </a:prstGeom>
        </p:spPr>
      </p:pic>
      <p:sp>
        <p:nvSpPr>
          <p:cNvPr id="28" name="Text 19"/>
          <p:cNvSpPr txBox="1"/>
          <p:nvPr/>
        </p:nvSpPr>
        <p:spPr>
          <a:xfrm>
            <a:off x="1463040" y="5257800"/>
            <a:ext cx="9966960" cy="822960"/>
          </a:xfrm>
          <a:prstGeom prst="rect">
            <a:avLst/>
          </a:prstGeom>
          <a:noFill/>
          <a:ln/>
        </p:spPr>
        <p:txBody>
          <a:bodyPr wrap="square" lIns="0" tIns="0" rIns="0" bIns="0" rtlCol="0" anchor="ctr"/>
          <a:lstStyle/>
          <a:p>
            <a:pPr indent="0" marL="0">
              <a:buNone/>
            </a:pPr>
            <a:r>
              <a:rPr lang="en-US" sz="1500" dirty="0">
                <a:solidFill>
                  <a:schemeClr val="tx1"/>
                </a:solidFill>
              </a:rPr>
              <a:t>Unapproved resources are refused unless you pass --yes, and so is anything your harness doesn’t support.</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Every use is recorded, so a session that worked can become an agent</a:t>
            </a:r>
            <a:endParaRPr lang="en-US" sz="3200" dirty="0"/>
          </a:p>
        </p:txBody>
      </p:sp>
      <p:sp>
        <p:nvSpPr>
          <p:cNvPr id="4" name="Use circle"/>
          <p:cNvSpPr/>
          <p:nvPr/>
        </p:nvSpPr>
        <p:spPr>
          <a:xfrm>
            <a:off x="1417320" y="2011680"/>
            <a:ext cx="914400" cy="914400"/>
          </a:xfrm>
          <a:prstGeom prst="ellipse">
            <a:avLst/>
          </a:prstGeom>
          <a:solidFill>
            <a:schemeClr val="accent3"/>
          </a:solidFill>
          <a:ln/>
        </p:spPr>
      </p:sp>
      <p:pic>
        <p:nvPicPr>
          <p:cNvPr id="5" name="Use icon" descr="preencoded.png">    </p:cNvPr>
          <p:cNvPicPr>
            <a:picLocks noChangeAspect="1"/>
          </p:cNvPicPr>
          <p:nvPr/>
        </p:nvPicPr>
        <p:blipFill>
          <a:blip r:embed="rId1"/>
          <a:stretch>
            <a:fillRect/>
          </a:stretch>
        </p:blipFill>
        <p:spPr>
          <a:xfrm>
            <a:off x="1645920" y="2240280"/>
            <a:ext cx="457200" cy="457200"/>
          </a:xfrm>
          <a:prstGeom prst="rect">
            <a:avLst/>
          </a:prstGeom>
        </p:spPr>
      </p:pic>
      <p:sp>
        <p:nvSpPr>
          <p:cNvPr id="6" name="Text 3"/>
          <p:cNvSpPr txBox="1"/>
          <p:nvPr/>
        </p:nvSpPr>
        <p:spPr>
          <a:xfrm>
            <a:off x="54864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Use</a:t>
            </a:r>
            <a:endParaRPr lang="en-US" sz="1800" dirty="0"/>
          </a:p>
        </p:txBody>
      </p:sp>
      <p:sp>
        <p:nvSpPr>
          <p:cNvPr id="7" name="Text 4"/>
          <p:cNvSpPr txBox="1"/>
          <p:nvPr/>
        </p:nvSpPr>
        <p:spPr>
          <a:xfrm>
            <a:off x="68580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discover use, or a normal install</a:t>
            </a:r>
            <a:endParaRPr lang="en-US" sz="1400" dirty="0"/>
          </a:p>
        </p:txBody>
      </p:sp>
      <p:sp>
        <p:nvSpPr>
          <p:cNvPr id="8" name="Flow arrow 1"/>
          <p:cNvSpPr/>
          <p:nvPr/>
        </p:nvSpPr>
        <p:spPr>
          <a:xfrm>
            <a:off x="2468880" y="2468880"/>
            <a:ext cx="1691640" cy="0"/>
          </a:xfrm>
          <a:prstGeom prst="line">
            <a:avLst/>
          </a:prstGeom>
          <a:noFill/>
          <a:ln w="22225">
            <a:solidFill>
              <a:srgbClr val="474552"/>
            </a:solidFill>
            <a:prstDash val="solid"/>
            <a:tailEnd type="triangle"/>
          </a:ln>
        </p:spPr>
      </p:sp>
      <p:sp>
        <p:nvSpPr>
          <p:cNvPr id="9" name="Capability lock circle"/>
          <p:cNvSpPr/>
          <p:nvPr/>
        </p:nvSpPr>
        <p:spPr>
          <a:xfrm>
            <a:off x="4251960" y="2011680"/>
            <a:ext cx="914400" cy="914400"/>
          </a:xfrm>
          <a:prstGeom prst="ellipse">
            <a:avLst/>
          </a:prstGeom>
          <a:solidFill>
            <a:schemeClr val="accent3"/>
          </a:solidFill>
          <a:ln/>
        </p:spPr>
      </p:sp>
      <p:pic>
        <p:nvPicPr>
          <p:cNvPr id="10" name="Capability lock icon" descr="preencoded.png">    </p:cNvPr>
          <p:cNvPicPr>
            <a:picLocks noChangeAspect="1"/>
          </p:cNvPicPr>
          <p:nvPr/>
        </p:nvPicPr>
        <p:blipFill>
          <a:blip r:embed="rId2"/>
          <a:stretch>
            <a:fillRect/>
          </a:stretch>
        </p:blipFill>
        <p:spPr>
          <a:xfrm>
            <a:off x="4480560" y="2240280"/>
            <a:ext cx="457200" cy="457200"/>
          </a:xfrm>
          <a:prstGeom prst="rect">
            <a:avLst/>
          </a:prstGeom>
        </p:spPr>
      </p:pic>
      <p:sp>
        <p:nvSpPr>
          <p:cNvPr id="11" name="Text 7"/>
          <p:cNvSpPr txBox="1"/>
          <p:nvPr/>
        </p:nvSpPr>
        <p:spPr>
          <a:xfrm>
            <a:off x="338328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Capability lock</a:t>
            </a:r>
            <a:endParaRPr lang="en-US" sz="1800" dirty="0"/>
          </a:p>
        </p:txBody>
      </p:sp>
      <p:sp>
        <p:nvSpPr>
          <p:cNvPr id="12" name="Text 8"/>
          <p:cNvSpPr txBox="1"/>
          <p:nvPr/>
        </p:nvSpPr>
        <p:spPr>
          <a:xfrm>
            <a:off x="352044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One local line: URN, version, digest, harness, folder, time</a:t>
            </a:r>
            <a:endParaRPr lang="en-US" sz="1400" dirty="0"/>
          </a:p>
        </p:txBody>
      </p:sp>
      <p:sp>
        <p:nvSpPr>
          <p:cNvPr id="13" name="Flow arrow 2"/>
          <p:cNvSpPr/>
          <p:nvPr/>
        </p:nvSpPr>
        <p:spPr>
          <a:xfrm>
            <a:off x="5303520" y="2468880"/>
            <a:ext cx="1691640" cy="0"/>
          </a:xfrm>
          <a:prstGeom prst="line">
            <a:avLst/>
          </a:prstGeom>
          <a:noFill/>
          <a:ln w="22225">
            <a:solidFill>
              <a:srgbClr val="474552"/>
            </a:solidFill>
            <a:prstDash val="solid"/>
            <a:tailEnd type="triangle"/>
          </a:ln>
        </p:spPr>
      </p:sp>
      <p:sp>
        <p:nvSpPr>
          <p:cNvPr id="14" name="Session telemetry circle"/>
          <p:cNvSpPr/>
          <p:nvPr/>
        </p:nvSpPr>
        <p:spPr>
          <a:xfrm>
            <a:off x="7086600" y="2011680"/>
            <a:ext cx="914400" cy="914400"/>
          </a:xfrm>
          <a:prstGeom prst="ellipse">
            <a:avLst/>
          </a:prstGeom>
          <a:solidFill>
            <a:schemeClr val="accent3"/>
          </a:solidFill>
          <a:ln/>
        </p:spPr>
      </p:sp>
      <p:pic>
        <p:nvPicPr>
          <p:cNvPr id="15" name="Session telemetry icon" descr="preencoded.png">    </p:cNvPr>
          <p:cNvPicPr>
            <a:picLocks noChangeAspect="1"/>
          </p:cNvPicPr>
          <p:nvPr/>
        </p:nvPicPr>
        <p:blipFill>
          <a:blip r:embed="rId3"/>
          <a:stretch>
            <a:fillRect/>
          </a:stretch>
        </p:blipFill>
        <p:spPr>
          <a:xfrm>
            <a:off x="7315200" y="2240280"/>
            <a:ext cx="457200" cy="457200"/>
          </a:xfrm>
          <a:prstGeom prst="rect">
            <a:avLst/>
          </a:prstGeom>
        </p:spPr>
      </p:pic>
      <p:sp>
        <p:nvSpPr>
          <p:cNvPr id="16" name="Text 11"/>
          <p:cNvSpPr txBox="1"/>
          <p:nvPr/>
        </p:nvSpPr>
        <p:spPr>
          <a:xfrm>
            <a:off x="621792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Session telemetry</a:t>
            </a:r>
            <a:endParaRPr lang="en-US" sz="1800" dirty="0"/>
          </a:p>
        </p:txBody>
      </p:sp>
      <p:sp>
        <p:nvSpPr>
          <p:cNvPr id="17" name="Text 12"/>
          <p:cNvSpPr txBox="1"/>
          <p:nvPr/>
        </p:nvSpPr>
        <p:spPr>
          <a:xfrm>
            <a:off x="635508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Uploads attach the uses that fall inside the session</a:t>
            </a:r>
            <a:endParaRPr lang="en-US" sz="1400" dirty="0"/>
          </a:p>
        </p:txBody>
      </p:sp>
      <p:sp>
        <p:nvSpPr>
          <p:cNvPr id="18" name="Flow arrow 3"/>
          <p:cNvSpPr/>
          <p:nvPr/>
        </p:nvSpPr>
        <p:spPr>
          <a:xfrm>
            <a:off x="8138160" y="2468880"/>
            <a:ext cx="1691640" cy="0"/>
          </a:xfrm>
          <a:prstGeom prst="line">
            <a:avLst/>
          </a:prstGeom>
          <a:noFill/>
          <a:ln w="22225">
            <a:solidFill>
              <a:srgbClr val="474552"/>
            </a:solidFill>
            <a:prstDash val="solid"/>
            <a:tailEnd type="triangle"/>
          </a:ln>
        </p:spPr>
      </p:sp>
      <p:sp>
        <p:nvSpPr>
          <p:cNvPr id="19" name="New agent circle"/>
          <p:cNvSpPr/>
          <p:nvPr/>
        </p:nvSpPr>
        <p:spPr>
          <a:xfrm>
            <a:off x="9921240" y="2011680"/>
            <a:ext cx="914400" cy="914400"/>
          </a:xfrm>
          <a:prstGeom prst="ellipse">
            <a:avLst/>
          </a:prstGeom>
          <a:solidFill>
            <a:schemeClr val="accent5"/>
          </a:solidFill>
          <a:ln/>
        </p:spPr>
      </p:sp>
      <p:pic>
        <p:nvPicPr>
          <p:cNvPr id="20" name="New agent icon" descr="preencoded.png">    </p:cNvPr>
          <p:cNvPicPr>
            <a:picLocks noChangeAspect="1"/>
          </p:cNvPicPr>
          <p:nvPr/>
        </p:nvPicPr>
        <p:blipFill>
          <a:blip r:embed="rId4"/>
          <a:stretch>
            <a:fillRect/>
          </a:stretch>
        </p:blipFill>
        <p:spPr>
          <a:xfrm>
            <a:off x="10149840" y="2240280"/>
            <a:ext cx="457200" cy="457200"/>
          </a:xfrm>
          <a:prstGeom prst="rect">
            <a:avLst/>
          </a:prstGeom>
        </p:spPr>
      </p:pic>
      <p:sp>
        <p:nvSpPr>
          <p:cNvPr id="21" name="Text 15"/>
          <p:cNvSpPr txBox="1"/>
          <p:nvPr/>
        </p:nvSpPr>
        <p:spPr>
          <a:xfrm>
            <a:off x="905256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New agent</a:t>
            </a:r>
            <a:endParaRPr lang="en-US" sz="1800" dirty="0"/>
          </a:p>
        </p:txBody>
      </p:sp>
      <p:sp>
        <p:nvSpPr>
          <p:cNvPr id="22" name="Text 16"/>
          <p:cNvSpPr txBox="1"/>
          <p:nvPr/>
        </p:nvSpPr>
        <p:spPr>
          <a:xfrm>
            <a:off x="918972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Save the combination that worked as a reusable agent</a:t>
            </a:r>
            <a:endParaRPr lang="en-US" sz="1400" dirty="0"/>
          </a:p>
        </p:txBody>
      </p:sp>
      <p:sp>
        <p:nvSpPr>
          <p:cNvPr id="23" name="Command pill"/>
          <p:cNvSpPr/>
          <p:nvPr/>
        </p:nvSpPr>
        <p:spPr>
          <a:xfrm>
            <a:off x="548640" y="4754880"/>
            <a:ext cx="11091672" cy="868680"/>
          </a:xfrm>
          <a:prstGeom prst="roundRect">
            <a:avLst>
              <a:gd name="adj" fmla="val 49474"/>
            </a:avLst>
          </a:prstGeom>
          <a:solidFill>
            <a:schemeClr val="bg2"/>
          </a:solidFill>
          <a:ln/>
        </p:spPr>
      </p:sp>
      <p:sp>
        <p:nvSpPr>
          <p:cNvPr id="24" name="Text 18"/>
          <p:cNvSpPr txBox="1"/>
          <p:nvPr/>
        </p:nvSpPr>
        <p:spPr>
          <a:xfrm>
            <a:off x="914400" y="4754880"/>
            <a:ext cx="10424160" cy="868680"/>
          </a:xfrm>
          <a:prstGeom prst="rect">
            <a:avLst/>
          </a:prstGeom>
          <a:noFill/>
          <a:ln/>
        </p:spPr>
        <p:txBody>
          <a:bodyPr wrap="square" lIns="0" tIns="0" rIns="0" bIns="0" rtlCol="0" anchor="ctr"/>
          <a:lstStyle/>
          <a:p>
            <a:pPr indent="0" marL="0">
              <a:buNone/>
            </a:pPr>
            <a:r>
              <a:rPr lang="en-US" sz="2000" b="1" dirty="0">
                <a:solidFill>
                  <a:srgbClr val="C2410C"/>
                </a:solidFill>
                <a:latin typeface="Consolas" pitchFamily="34" charset="0"/>
                <a:ea typeface="Consolas" pitchFamily="34" charset="-122"/>
                <a:cs typeface="Consolas" pitchFamily="34" charset="-120"/>
              </a:rPr>
              <a:t>$ </a:t>
            </a:r>
            <a:pPr indent="0" marL="0">
              <a:buNone/>
            </a:pPr>
            <a:r>
              <a:rPr lang="en-US" sz="2000" dirty="0">
                <a:solidFill>
                  <a:srgbClr val="383A42"/>
                </a:solidFill>
                <a:latin typeface="Consolas" pitchFamily="34" charset="0"/>
                <a:ea typeface="Consolas" pitchFamily="34" charset="-122"/>
                <a:cs typeface="Consolas" pitchFamily="34" charset="-120"/>
              </a:rPr>
              <a:t>observal agent init </a:t>
            </a:r>
            <a:pPr indent="0" marL="0">
              <a:buNone/>
            </a:pPr>
            <a:r>
              <a:rPr lang="en-US" sz="2000" b="1" dirty="0">
                <a:solidFill>
                  <a:srgbClr val="C2410C"/>
                </a:solidFill>
                <a:latin typeface="Consolas" pitchFamily="34" charset="0"/>
                <a:ea typeface="Consolas" pitchFamily="34" charset="-122"/>
                <a:cs typeface="Consolas" pitchFamily="34" charset="-120"/>
              </a:rPr>
              <a:t>--from-capabilities</a:t>
            </a:r>
            <a:pPr indent="0" marL="0">
              <a:buNone/>
            </a:pPr>
            <a:r>
              <a:rPr lang="en-US" sz="2000" dirty="0">
                <a:solidFill>
                  <a:srgbClr val="383A42"/>
                </a:solidFill>
                <a:latin typeface="Consolas" pitchFamily="34" charset="0"/>
                <a:ea typeface="Consolas" pitchFamily="34" charset="-122"/>
                <a:cs typeface="Consolas" pitchFamily="34" charset="-120"/>
              </a:rPr>
              <a:t> --name pr-review-flow</a:t>
            </a:r>
            <a:endParaRPr lang="en-US" sz="2000" dirty="0"/>
          </a:p>
        </p:txBody>
      </p:sp>
      <p:sp>
        <p:nvSpPr>
          <p:cNvPr id="25" name="Text 19"/>
          <p:cNvSpPr txBox="1"/>
          <p:nvPr/>
        </p:nvSpPr>
        <p:spPr>
          <a:xfrm>
            <a:off x="548640" y="5760720"/>
            <a:ext cx="11091672" cy="365760"/>
          </a:xfrm>
          <a:prstGeom prst="rect">
            <a:avLst/>
          </a:prstGeom>
          <a:noFill/>
          <a:ln/>
        </p:spPr>
        <p:txBody>
          <a:bodyPr wrap="square" lIns="0" tIns="0" rIns="0" bIns="0" rtlCol="0" anchor="t"/>
          <a:lstStyle/>
          <a:p>
            <a:pPr indent="0" marL="0">
              <a:buNone/>
            </a:pPr>
            <a:r>
              <a:rPr lang="en-US" sz="1400" dirty="0">
                <a:solidFill>
                  <a:schemeClr val="accent6"/>
                </a:solidFill>
              </a:rPr>
              <a:t>No new tracking channel, nothing secret stored, and local records are pruned after 30 days.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Beyond one registry: findable everywhere</a:t>
            </a:r>
            <a:endParaRPr lang="en-US" sz="3200" dirty="0"/>
          </a:p>
        </p:txBody>
      </p:sp>
      <p:sp>
        <p:nvSpPr>
          <p:cNvPr id="4" name="Publish once, be found anywhere card"/>
          <p:cNvSpPr/>
          <p:nvPr/>
        </p:nvSpPr>
        <p:spPr>
          <a:xfrm>
            <a:off x="548640" y="1965960"/>
            <a:ext cx="5454396" cy="1920240"/>
          </a:xfrm>
          <a:prstGeom prst="roundRect">
            <a:avLst>
              <a:gd name="adj" fmla="val 6667"/>
            </a:avLst>
          </a:prstGeom>
          <a:solidFill>
            <a:schemeClr val="bg2"/>
          </a:solidFill>
          <a:ln/>
        </p:spPr>
      </p:sp>
      <p:sp>
        <p:nvSpPr>
          <p:cNvPr id="5" name="Publish once, be found anywhere circle"/>
          <p:cNvSpPr/>
          <p:nvPr/>
        </p:nvSpPr>
        <p:spPr>
          <a:xfrm>
            <a:off x="822960" y="2240280"/>
            <a:ext cx="640080" cy="640080"/>
          </a:xfrm>
          <a:prstGeom prst="ellipse">
            <a:avLst/>
          </a:prstGeom>
          <a:solidFill>
            <a:schemeClr val="accent5"/>
          </a:solidFill>
          <a:ln/>
        </p:spPr>
      </p:sp>
      <p:pic>
        <p:nvPicPr>
          <p:cNvPr id="6" name="Publish once, be found anywhere icon" descr="preencoded.png">    </p:cNvPr>
          <p:cNvPicPr>
            <a:picLocks noChangeAspect="1"/>
          </p:cNvPicPr>
          <p:nvPr/>
        </p:nvPicPr>
        <p:blipFill>
          <a:blip r:embed="rId1"/>
          <a:stretch>
            <a:fillRect/>
          </a:stretch>
        </p:blipFill>
        <p:spPr>
          <a:xfrm>
            <a:off x="982980" y="2400300"/>
            <a:ext cx="320040" cy="320040"/>
          </a:xfrm>
          <a:prstGeom prst="rect">
            <a:avLst/>
          </a:prstGeom>
        </p:spPr>
      </p:pic>
      <p:sp>
        <p:nvSpPr>
          <p:cNvPr id="7" name="Text 4"/>
          <p:cNvSpPr txBox="1"/>
          <p:nvPr/>
        </p:nvSpPr>
        <p:spPr>
          <a:xfrm>
            <a:off x="1691640"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Publish once, be found anywhere</a:t>
            </a:r>
            <a:endParaRPr lang="en-US" sz="1800" dirty="0"/>
          </a:p>
        </p:txBody>
      </p:sp>
      <p:sp>
        <p:nvSpPr>
          <p:cNvPr id="8" name="Text 5"/>
          <p:cNvSpPr txBox="1"/>
          <p:nvPr/>
        </p:nvSpPr>
        <p:spPr>
          <a:xfrm>
            <a:off x="1691640"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Host /.well-known/ard.json for your MCP server, skill or agent, and any ARD registry can crawl it.</a:t>
            </a:r>
            <a:endParaRPr lang="en-US" sz="1500" dirty="0"/>
          </a:p>
        </p:txBody>
      </p:sp>
      <p:sp>
        <p:nvSpPr>
          <p:cNvPr id="9" name="Company first, public as fallback card"/>
          <p:cNvSpPr/>
          <p:nvPr/>
        </p:nvSpPr>
        <p:spPr>
          <a:xfrm>
            <a:off x="6185916" y="1965960"/>
            <a:ext cx="5454396" cy="1920240"/>
          </a:xfrm>
          <a:prstGeom prst="roundRect">
            <a:avLst>
              <a:gd name="adj" fmla="val 6667"/>
            </a:avLst>
          </a:prstGeom>
          <a:solidFill>
            <a:schemeClr val="bg1"/>
          </a:solidFill>
          <a:ln w="15875">
            <a:solidFill>
              <a:srgbClr val="B6B0D0"/>
            </a:solidFill>
            <a:prstDash val="solid"/>
          </a:ln>
        </p:spPr>
      </p:sp>
      <p:sp>
        <p:nvSpPr>
          <p:cNvPr id="10" name="Company first, public as fallback circle"/>
          <p:cNvSpPr/>
          <p:nvPr/>
        </p:nvSpPr>
        <p:spPr>
          <a:xfrm>
            <a:off x="6460236" y="2240280"/>
            <a:ext cx="640080" cy="640080"/>
          </a:xfrm>
          <a:prstGeom prst="ellipse">
            <a:avLst/>
          </a:prstGeom>
          <a:solidFill>
            <a:schemeClr val="accent3"/>
          </a:solidFill>
          <a:ln/>
        </p:spPr>
      </p:sp>
      <p:pic>
        <p:nvPicPr>
          <p:cNvPr id="11" name="Company first, public as fallback icon" descr="preencoded.png">    </p:cNvPr>
          <p:cNvPicPr>
            <a:picLocks noChangeAspect="1"/>
          </p:cNvPicPr>
          <p:nvPr/>
        </p:nvPicPr>
        <p:blipFill>
          <a:blip r:embed="rId2"/>
          <a:stretch>
            <a:fillRect/>
          </a:stretch>
        </p:blipFill>
        <p:spPr>
          <a:xfrm>
            <a:off x="6620256" y="2400300"/>
            <a:ext cx="320040" cy="320040"/>
          </a:xfrm>
          <a:prstGeom prst="rect">
            <a:avLst/>
          </a:prstGeom>
        </p:spPr>
      </p:pic>
      <p:sp>
        <p:nvSpPr>
          <p:cNvPr id="12" name="Text 8"/>
          <p:cNvSpPr txBox="1"/>
          <p:nvPr/>
        </p:nvSpPr>
        <p:spPr>
          <a:xfrm>
            <a:off x="7328916"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Company first, public as fallback</a:t>
            </a:r>
            <a:endParaRPr lang="en-US" sz="1800" dirty="0"/>
          </a:p>
        </p:txBody>
      </p:sp>
      <p:sp>
        <p:nvSpPr>
          <p:cNvPr id="13" name="Text 9"/>
          <p:cNvSpPr txBox="1"/>
          <p:nvPr/>
        </p:nvSpPr>
        <p:spPr>
          <a:xfrm>
            <a:off x="7328916"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An internal registry answers with approved resources and refers to public ones for the rest.</a:t>
            </a:r>
            <a:endParaRPr lang="en-US" sz="1500" dirty="0"/>
          </a:p>
        </p:txBody>
      </p:sp>
      <p:sp>
        <p:nvSpPr>
          <p:cNvPr id="14" name="Agents that find tools at runtime card"/>
          <p:cNvSpPr/>
          <p:nvPr/>
        </p:nvSpPr>
        <p:spPr>
          <a:xfrm>
            <a:off x="548640" y="4069080"/>
            <a:ext cx="5454396" cy="1920240"/>
          </a:xfrm>
          <a:prstGeom prst="roundRect">
            <a:avLst>
              <a:gd name="adj" fmla="val 6667"/>
            </a:avLst>
          </a:prstGeom>
          <a:solidFill>
            <a:schemeClr val="bg1"/>
          </a:solidFill>
          <a:ln w="15875">
            <a:solidFill>
              <a:srgbClr val="B6B0D0"/>
            </a:solidFill>
            <a:prstDash val="solid"/>
          </a:ln>
        </p:spPr>
      </p:sp>
      <p:sp>
        <p:nvSpPr>
          <p:cNvPr id="15" name="Agents that find tools at runtime circle"/>
          <p:cNvSpPr/>
          <p:nvPr/>
        </p:nvSpPr>
        <p:spPr>
          <a:xfrm>
            <a:off x="822960" y="4343400"/>
            <a:ext cx="640080" cy="640080"/>
          </a:xfrm>
          <a:prstGeom prst="ellipse">
            <a:avLst/>
          </a:prstGeom>
          <a:solidFill>
            <a:schemeClr val="accent3"/>
          </a:solidFill>
          <a:ln/>
        </p:spPr>
      </p:sp>
      <p:pic>
        <p:nvPicPr>
          <p:cNvPr id="16" name="Agents that find tools at runtime icon" descr="preencoded.png">    </p:cNvPr>
          <p:cNvPicPr>
            <a:picLocks noChangeAspect="1"/>
          </p:cNvPicPr>
          <p:nvPr/>
        </p:nvPicPr>
        <p:blipFill>
          <a:blip r:embed="rId3"/>
          <a:stretch>
            <a:fillRect/>
          </a:stretch>
        </p:blipFill>
        <p:spPr>
          <a:xfrm>
            <a:off x="982980" y="4503420"/>
            <a:ext cx="320040" cy="320040"/>
          </a:xfrm>
          <a:prstGeom prst="rect">
            <a:avLst/>
          </a:prstGeom>
        </p:spPr>
      </p:pic>
      <p:sp>
        <p:nvSpPr>
          <p:cNvPr id="17" name="Text 12"/>
          <p:cNvSpPr txBox="1"/>
          <p:nvPr/>
        </p:nvSpPr>
        <p:spPr>
          <a:xfrm>
            <a:off x="1691640"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Agents that find tools at runtime</a:t>
            </a:r>
            <a:endParaRPr lang="en-US" sz="1800" dirty="0"/>
          </a:p>
        </p:txBody>
      </p:sp>
      <p:sp>
        <p:nvSpPr>
          <p:cNvPr id="18" name="Text 13"/>
          <p:cNvSpPr txBox="1"/>
          <p:nvPr/>
        </p:nvSpPr>
        <p:spPr>
          <a:xfrm>
            <a:off x="1691640"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GitHub’s agent finder and Hugging Face’s Discover Tool already do this.</a:t>
            </a:r>
            <a:endParaRPr lang="en-US" sz="1500" dirty="0"/>
          </a:p>
        </p:txBody>
      </p:sp>
      <p:sp>
        <p:nvSpPr>
          <p:cNvPr id="19" name="Governed catalogues, open standard card"/>
          <p:cNvSpPr/>
          <p:nvPr/>
        </p:nvSpPr>
        <p:spPr>
          <a:xfrm>
            <a:off x="6185916" y="4069080"/>
            <a:ext cx="5454396" cy="1920240"/>
          </a:xfrm>
          <a:prstGeom prst="roundRect">
            <a:avLst>
              <a:gd name="adj" fmla="val 6667"/>
            </a:avLst>
          </a:prstGeom>
          <a:solidFill>
            <a:schemeClr val="bg1"/>
          </a:solidFill>
          <a:ln w="15875">
            <a:solidFill>
              <a:srgbClr val="B6B0D0"/>
            </a:solidFill>
            <a:prstDash val="solid"/>
          </a:ln>
        </p:spPr>
      </p:sp>
      <p:sp>
        <p:nvSpPr>
          <p:cNvPr id="20" name="Governed catalogues, open standard circle"/>
          <p:cNvSpPr/>
          <p:nvPr/>
        </p:nvSpPr>
        <p:spPr>
          <a:xfrm>
            <a:off x="6460236" y="4343400"/>
            <a:ext cx="640080" cy="640080"/>
          </a:xfrm>
          <a:prstGeom prst="ellipse">
            <a:avLst/>
          </a:prstGeom>
          <a:solidFill>
            <a:schemeClr val="accent3"/>
          </a:solidFill>
          <a:ln/>
        </p:spPr>
      </p:sp>
      <p:pic>
        <p:nvPicPr>
          <p:cNvPr id="21" name="Governed catalogues, open standard icon" descr="preencoded.png">    </p:cNvPr>
          <p:cNvPicPr>
            <a:picLocks noChangeAspect="1"/>
          </p:cNvPicPr>
          <p:nvPr/>
        </p:nvPicPr>
        <p:blipFill>
          <a:blip r:embed="rId4"/>
          <a:stretch>
            <a:fillRect/>
          </a:stretch>
        </p:blipFill>
        <p:spPr>
          <a:xfrm>
            <a:off x="6620256" y="4503420"/>
            <a:ext cx="320040" cy="320040"/>
          </a:xfrm>
          <a:prstGeom prst="rect">
            <a:avLst/>
          </a:prstGeom>
        </p:spPr>
      </p:pic>
      <p:sp>
        <p:nvSpPr>
          <p:cNvPr id="22" name="Text 16"/>
          <p:cNvSpPr txBox="1"/>
          <p:nvPr/>
        </p:nvSpPr>
        <p:spPr>
          <a:xfrm>
            <a:off x="7328916"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Governed catalogues, open standard</a:t>
            </a:r>
            <a:endParaRPr lang="en-US" sz="1800" dirty="0"/>
          </a:p>
        </p:txBody>
      </p:sp>
      <p:sp>
        <p:nvSpPr>
          <p:cNvPr id="23" name="Text 17"/>
          <p:cNvSpPr txBox="1"/>
          <p:nvPr/>
        </p:nvSpPr>
        <p:spPr>
          <a:xfrm>
            <a:off x="7328916"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Registries like Observal add approval, visibility and telemetry without leaving the standard.</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05  ·  TRY IT YOURSELF</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Publish an ARD entry for your own project this week</a:t>
            </a:r>
            <a:endParaRPr lang="en-US" sz="3200" dirty="0"/>
          </a:p>
        </p:txBody>
      </p:sp>
      <p:sp>
        <p:nvSpPr>
          <p:cNvPr id="4" name="Text 2"/>
          <p:cNvSpPr txBox="1"/>
          <p:nvPr/>
        </p:nvSpPr>
        <p:spPr>
          <a:xfrm>
            <a:off x="548640" y="1965960"/>
            <a:ext cx="6583680" cy="365760"/>
          </a:xfrm>
          <a:prstGeom prst="rect">
            <a:avLst/>
          </a:prstGeom>
          <a:noFill/>
          <a:ln/>
        </p:spPr>
        <p:txBody>
          <a:bodyPr wrap="square" lIns="0" tIns="0" rIns="0" bIns="0" rtlCol="0" anchor="t"/>
          <a:lstStyle/>
          <a:p>
            <a:pPr indent="0" marL="0">
              <a:buNone/>
            </a:pPr>
            <a:r>
              <a:rPr lang="en-US" sz="1700" b="1" dirty="0">
                <a:solidFill>
                  <a:schemeClr val="tx1"/>
                </a:solidFill>
              </a:rPr>
              <a:t>1  Publish  /.well-known/ard.json</a:t>
            </a:r>
            <a:endParaRPr lang="en-US" sz="1700" dirty="0"/>
          </a:p>
        </p:txBody>
      </p:sp>
      <p:sp>
        <p:nvSpPr>
          <p:cNvPr id="5" name="ard.json example"/>
          <p:cNvSpPr/>
          <p:nvPr/>
        </p:nvSpPr>
        <p:spPr>
          <a:xfrm>
            <a:off x="548640" y="2423160"/>
            <a:ext cx="6583680" cy="3657600"/>
          </a:xfrm>
          <a:prstGeom prst="roundRect">
            <a:avLst>
              <a:gd name="adj" fmla="val 3500"/>
            </a:avLst>
          </a:prstGeom>
          <a:solidFill>
            <a:schemeClr val="bg2"/>
          </a:solidFill>
          <a:ln/>
        </p:spPr>
      </p:sp>
      <p:sp>
        <p:nvSpPr>
          <p:cNvPr id="6" name="Text 4"/>
          <p:cNvSpPr txBox="1"/>
          <p:nvPr/>
        </p:nvSpPr>
        <p:spPr>
          <a:xfrm>
            <a:off x="822960" y="2651760"/>
            <a:ext cx="6126480" cy="3291840"/>
          </a:xfrm>
          <a:prstGeom prst="rect">
            <a:avLst/>
          </a:prstGeom>
          <a:noFill/>
          <a:ln/>
        </p:spPr>
        <p:txBody>
          <a:bodyPr wrap="square" lIns="0" tIns="0" rIns="0" bIns="0" rtlCol="0" anchor="t"/>
          <a:lstStyle/>
          <a:p>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5A4FA0"/>
                </a:solidFill>
                <a:latin typeface="Consolas" pitchFamily="34" charset="0"/>
                <a:ea typeface="Consolas" pitchFamily="34" charset="-122"/>
                <a:cs typeface="Consolas" pitchFamily="34" charset="-120"/>
              </a:rPr>
              <a:t>"entries"</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"identifier"</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"urn:air:yourdomain.dev:mcp:weather"</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"displayName"</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"Chennai Weather"</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"type"</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"application/mcp-server-card+json"</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"url"</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"https://yourdomain.dev/mcp/weather.json"</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5A4FA0"/>
                </a:solidFill>
                <a:latin typeface="Consolas" pitchFamily="34" charset="0"/>
                <a:ea typeface="Consolas" pitchFamily="34" charset="-122"/>
                <a:cs typeface="Consolas" pitchFamily="34" charset="-120"/>
              </a:rPr>
              <a:t>    "representativeQueries"</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endParaRPr lang="en-US" sz="1250" dirty="0"/>
          </a:p>
          <a:p>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      "will it rain in Chennai tomorrow"</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      "current humidity in Chennai"</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endParaRPr lang="en-US" sz="1250" dirty="0"/>
          </a:p>
        </p:txBody>
      </p:sp>
      <p:sp>
        <p:nvSpPr>
          <p:cNvPr id="7" name="Text 5"/>
          <p:cNvSpPr txBox="1"/>
          <p:nvPr/>
        </p:nvSpPr>
        <p:spPr>
          <a:xfrm>
            <a:off x="7498080" y="1965960"/>
            <a:ext cx="4114800" cy="365760"/>
          </a:xfrm>
          <a:prstGeom prst="rect">
            <a:avLst/>
          </a:prstGeom>
          <a:noFill/>
          <a:ln/>
        </p:spPr>
        <p:txBody>
          <a:bodyPr wrap="square" lIns="0" tIns="0" rIns="0" bIns="0" rtlCol="0" anchor="t"/>
          <a:lstStyle/>
          <a:p>
            <a:pPr indent="0" marL="0">
              <a:buNone/>
            </a:pPr>
            <a:r>
              <a:rPr lang="en-US" sz="1700" b="1" dirty="0">
                <a:solidFill>
                  <a:schemeClr val="tx1"/>
                </a:solidFill>
              </a:rPr>
              <a:t>2  Validate it</a:t>
            </a:r>
            <a:endParaRPr lang="en-US" sz="1700" dirty="0"/>
          </a:p>
        </p:txBody>
      </p:sp>
      <p:sp>
        <p:nvSpPr>
          <p:cNvPr id="8" name="Validate command"/>
          <p:cNvSpPr/>
          <p:nvPr/>
        </p:nvSpPr>
        <p:spPr>
          <a:xfrm>
            <a:off x="7498080" y="2423160"/>
            <a:ext cx="4142232" cy="1280160"/>
          </a:xfrm>
          <a:prstGeom prst="roundRect">
            <a:avLst>
              <a:gd name="adj" fmla="val 10000"/>
            </a:avLst>
          </a:prstGeom>
          <a:solidFill>
            <a:schemeClr val="bg2"/>
          </a:solidFill>
          <a:ln/>
        </p:spPr>
      </p:sp>
      <p:sp>
        <p:nvSpPr>
          <p:cNvPr id="9" name="Text 7"/>
          <p:cNvSpPr txBox="1"/>
          <p:nvPr/>
        </p:nvSpPr>
        <p:spPr>
          <a:xfrm>
            <a:off x="7726680" y="2606040"/>
            <a:ext cx="3794760" cy="914400"/>
          </a:xfrm>
          <a:prstGeom prst="rect">
            <a:avLst/>
          </a:prstGeom>
          <a:noFill/>
          <a:ln/>
        </p:spPr>
        <p:txBody>
          <a:bodyPr wrap="square" lIns="0" tIns="0" rIns="0" bIns="0" rtlCol="0" anchor="t"/>
          <a:lstStyle/>
          <a:p>
            <a:pPr indent="0" marL="0">
              <a:lnSpc>
                <a:spcPct val="130000"/>
              </a:lnSpc>
              <a:buNone/>
            </a:pPr>
            <a:r>
              <a:rPr lang="en-US" sz="1300" b="1" dirty="0">
                <a:solidFill>
                  <a:srgbClr val="C2410C"/>
                </a:solidFill>
                <a:latin typeface="Consolas" pitchFamily="34" charset="0"/>
                <a:ea typeface="Consolas" pitchFamily="34" charset="-122"/>
                <a:cs typeface="Consolas" pitchFamily="34" charset="-120"/>
              </a:rPr>
              <a:t>$ </a:t>
            </a:r>
            <a:pPr indent="0" marL="0">
              <a:lnSpc>
                <a:spcPct val="130000"/>
              </a:lnSpc>
              <a:buNone/>
            </a:pPr>
            <a:r>
              <a:rPr lang="en-US" sz="1300" dirty="0">
                <a:solidFill>
                  <a:srgbClr val="383A42"/>
                </a:solidFill>
                <a:latin typeface="Consolas" pitchFamily="34" charset="0"/>
                <a:ea typeface="Consolas" pitchFamily="34" charset="-122"/>
                <a:cs typeface="Consolas" pitchFamily="34" charset="-120"/>
              </a:rPr>
              <a:t>conformance-test \</a:t>
            </a:r>
            <a:endParaRPr lang="en-US" sz="1300" dirty="0"/>
          </a:p>
          <a:p>
            <a:pPr indent="0" marL="0">
              <a:lnSpc>
                <a:spcPct val="130000"/>
              </a:lnSpc>
              <a:buNone/>
            </a:pPr>
            <a:r>
              <a:rPr lang="en-US" sz="1300" dirty="0">
                <a:solidFill>
                  <a:srgbClr val="383A42"/>
                </a:solidFill>
                <a:latin typeface="Consolas" pitchFamily="34" charset="0"/>
                <a:ea typeface="Consolas" pitchFamily="34" charset="-122"/>
                <a:cs typeface="Consolas" pitchFamily="34" charset="-120"/>
              </a:rPr>
              <a:t>    publisher yourdomain.dev</a:t>
            </a:r>
            <a:endParaRPr lang="en-US" sz="1300" dirty="0"/>
          </a:p>
        </p:txBody>
      </p:sp>
      <p:sp>
        <p:nvSpPr>
          <p:cNvPr id="10" name="Text 8"/>
          <p:cNvSpPr txBox="1"/>
          <p:nvPr/>
        </p:nvSpPr>
        <p:spPr>
          <a:xfrm>
            <a:off x="7498080" y="3767328"/>
            <a:ext cx="4142232" cy="320040"/>
          </a:xfrm>
          <a:prstGeom prst="rect">
            <a:avLst/>
          </a:prstGeom>
          <a:noFill/>
          <a:ln/>
        </p:spPr>
        <p:txBody>
          <a:bodyPr wrap="square" lIns="0" tIns="0" rIns="0" bIns="0" rtlCol="0" anchor="t"/>
          <a:lstStyle/>
          <a:p>
            <a:pPr indent="0" marL="0">
              <a:buNone/>
            </a:pPr>
            <a:r>
              <a:rPr lang="en-US" sz="1200" dirty="0">
                <a:solidFill>
                  <a:schemeClr val="accent6"/>
                </a:solidFill>
              </a:rPr>
              <a:t>From the ard-spec repo’s conformance folder</a:t>
            </a:r>
            <a:endParaRPr lang="en-US" sz="1200" dirty="0"/>
          </a:p>
        </p:txBody>
      </p:sp>
      <p:sp>
        <p:nvSpPr>
          <p:cNvPr id="11" name="Text 9"/>
          <p:cNvSpPr txBox="1"/>
          <p:nvPr/>
        </p:nvSpPr>
        <p:spPr>
          <a:xfrm>
            <a:off x="7498080" y="4251960"/>
            <a:ext cx="4114800" cy="365760"/>
          </a:xfrm>
          <a:prstGeom prst="rect">
            <a:avLst/>
          </a:prstGeom>
          <a:noFill/>
          <a:ln/>
        </p:spPr>
        <p:txBody>
          <a:bodyPr wrap="square" lIns="0" tIns="0" rIns="0" bIns="0" rtlCol="0" anchor="t"/>
          <a:lstStyle/>
          <a:p>
            <a:pPr indent="0" marL="0">
              <a:buNone/>
            </a:pPr>
            <a:r>
              <a:rPr lang="en-US" sz="1700" b="1" dirty="0">
                <a:solidFill>
                  <a:schemeClr val="tx1"/>
                </a:solidFill>
              </a:rPr>
              <a:t>3  Join in</a:t>
            </a:r>
            <a:endParaRPr lang="en-US" sz="1700" dirty="0"/>
          </a:p>
        </p:txBody>
      </p:sp>
      <p:sp>
        <p:nvSpPr>
          <p:cNvPr id="12" name="Join card"/>
          <p:cNvSpPr/>
          <p:nvPr/>
        </p:nvSpPr>
        <p:spPr>
          <a:xfrm>
            <a:off x="7498080" y="4709160"/>
            <a:ext cx="4142232" cy="1371600"/>
          </a:xfrm>
          <a:prstGeom prst="roundRect">
            <a:avLst>
              <a:gd name="adj" fmla="val 9333"/>
            </a:avLst>
          </a:prstGeom>
          <a:solidFill>
            <a:schemeClr val="bg2"/>
          </a:solidFill>
          <a:ln/>
        </p:spPr>
      </p:sp>
      <p:sp>
        <p:nvSpPr>
          <p:cNvPr id="13" name="Text 11"/>
          <p:cNvSpPr txBox="1"/>
          <p:nvPr/>
        </p:nvSpPr>
        <p:spPr>
          <a:xfrm>
            <a:off x="7726680" y="4800600"/>
            <a:ext cx="3794760" cy="1188720"/>
          </a:xfrm>
          <a:prstGeom prst="rect">
            <a:avLst/>
          </a:prstGeom>
          <a:noFill/>
          <a:ln/>
        </p:spPr>
        <p:txBody>
          <a:bodyPr wrap="square" lIns="0" tIns="0" rIns="0" bIns="0" rtlCol="0" anchor="t"/>
          <a:lstStyle/>
          <a:p>
            <a:pPr indent="0" marL="0">
              <a:buNone/>
            </a:pPr>
            <a:r>
              <a:rPr lang="en-US" sz="1400" b="1" dirty="0">
                <a:solidFill>
                  <a:schemeClr val="accent2"/>
                </a:solidFill>
                <a:latin typeface="Consolas" pitchFamily="34" charset="0"/>
                <a:ea typeface="Consolas" pitchFamily="34" charset="-122"/>
                <a:cs typeface="Consolas" pitchFamily="34" charset="-120"/>
              </a:rPr>
              <a:t>github.com/ards-project/ard-spec</a:t>
            </a:r>
            <a:endParaRPr lang="en-US" sz="1400" dirty="0"/>
          </a:p>
          <a:p>
            <a:pPr indent="0" marL="0">
              <a:buNone/>
            </a:pPr>
            <a:r>
              <a:rPr lang="en-US" sz="1400" dirty="0">
                <a:solidFill>
                  <a:schemeClr val="tx2"/>
                </a:solidFill>
              </a:rPr>
              <a:t>Issues for spec changes. PRs welcome for examples, tooling and implementations.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Lilac accent circle"/>
          <p:cNvSpPr/>
          <p:nvPr/>
        </p:nvSpPr>
        <p:spPr>
          <a:xfrm>
            <a:off x="8778240" y="3291840"/>
            <a:ext cx="4206240" cy="4206240"/>
          </a:xfrm>
          <a:prstGeom prst="ellipse">
            <a:avLst/>
          </a:prstGeom>
          <a:solidFill>
            <a:schemeClr val="accent3">
              <a:alpha val="55000"/>
            </a:schemeClr>
          </a:solidFill>
          <a:ln/>
        </p:spPr>
      </p:sp>
      <p:sp>
        <p:nvSpPr>
          <p:cNvPr id="3" name="Coral accent dot"/>
          <p:cNvSpPr/>
          <p:nvPr/>
        </p:nvSpPr>
        <p:spPr>
          <a:xfrm>
            <a:off x="10058400" y="640080"/>
            <a:ext cx="1280160" cy="1280160"/>
          </a:xfrm>
          <a:prstGeom prst="ellipse">
            <a:avLst/>
          </a:prstGeom>
          <a:solidFill>
            <a:schemeClr val="accent1"/>
          </a:solidFill>
          <a:ln/>
        </p:spPr>
      </p:sp>
      <p:sp>
        <p:nvSpPr>
          <p:cNvPr id="4" name="Text 0"/>
          <p:cNvSpPr/>
          <p:nvPr>
            <p:ph idx="100" type="title" hasCustomPrompt="1"/>
          </p:nvPr>
        </p:nvSpPr>
        <p:spPr>
          <a:xfrm>
            <a:off x="822960" y="1828800"/>
            <a:ext cx="10607040" cy="2103120"/>
          </a:xfrm>
          <a:prstGeom prst="rect">
            <a:avLst/>
          </a:prstGeom>
          <a:noFill/>
          <a:ln/>
        </p:spPr>
        <p:txBody>
          <a:bodyPr wrap="square" lIns="0" tIns="0" rIns="0" bIns="0" rtlCol="0" anchor="t"/>
          <a:lstStyle/>
          <a:p>
            <a:pPr algn="l" indent="0" marL="0">
              <a:buNone/>
            </a:pPr>
            <a:r>
              <a:rPr lang="en-US" sz="5400" b="1" dirty="0">
                <a:solidFill>
                  <a:schemeClr val="tx1"/>
                </a:solidFill>
              </a:rPr>
              <a:t>Thank you!</a:t>
            </a:r>
            <a:endParaRPr lang="en-US" sz="5400" dirty="0"/>
          </a:p>
          <a:p>
            <a:pPr algn="l" indent="0" marL="0">
              <a:buNone/>
            </a:pPr>
            <a:r>
              <a:rPr lang="en-US" sz="5400" b="1" dirty="0">
                <a:solidFill>
                  <a:schemeClr val="accent2"/>
                </a:solidFill>
              </a:rPr>
              <a:t>Questions?</a:t>
            </a:r>
            <a:endParaRPr lang="en-US" sz="5400" dirty="0"/>
          </a:p>
        </p:txBody>
      </p:sp>
      <p:sp>
        <p:nvSpPr>
          <p:cNvPr id="5" name="Text 0"/>
          <p:cNvSpPr/>
          <p:nvPr>
            <p:ph idx="101" type="body" hasCustomPrompt="1"/>
          </p:nvPr>
        </p:nvSpPr>
        <p:spPr>
          <a:xfrm>
            <a:off x="822960" y="4114800"/>
            <a:ext cx="9692640" cy="1371600"/>
          </a:xfrm>
          <a:prstGeom prst="rect">
            <a:avLst/>
          </a:prstGeom>
          <a:noFill/>
          <a:ln/>
        </p:spPr>
        <p:txBody>
          <a:bodyPr wrap="square" lIns="0" tIns="0" rIns="0" bIns="0" rtlCol="0" anchor="t"/>
          <a:lstStyle/>
          <a:p>
            <a:pPr indent="0" marL="0">
              <a:buNone/>
            </a:pPr>
            <a:r>
              <a:rPr lang="en-US" sz="1800" b="1" dirty="0">
                <a:solidFill>
                  <a:schemeClr val="tx1"/>
                </a:solidFill>
              </a:rPr>
              <a:t>Shaan Narendran  ·  github.com/ShaanNarendran</a:t>
            </a:r>
            <a:endParaRPr lang="en-US" sz="1800" dirty="0"/>
          </a:p>
          <a:p>
            <a:pPr indent="0" marL="0">
              <a:buNone/>
            </a:pPr>
            <a:r>
              <a:rPr lang="en-US" sz="1800" dirty="0">
                <a:solidFill>
                  <a:schemeClr val="tx2"/>
                </a:solidFill>
                <a:latin typeface="Consolas" pitchFamily="34" charset="0"/>
                <a:ea typeface="Consolas" pitchFamily="34" charset="-122"/>
                <a:cs typeface="Consolas" pitchFamily="34" charset="-120"/>
              </a:rPr>
              <a:t>agenticresourcediscovery.org/spec</a:t>
            </a:r>
            <a:endParaRPr lang="en-US" sz="1800" dirty="0"/>
          </a:p>
          <a:p>
            <a:pPr indent="0" marL="0">
              <a:buNone/>
            </a:pPr>
            <a:r>
              <a:rPr lang="en-US" sz="1800" dirty="0">
                <a:solidFill>
                  <a:schemeClr val="tx2"/>
                </a:solidFill>
                <a:latin typeface="Consolas" pitchFamily="34" charset="0"/>
                <a:ea typeface="Consolas" pitchFamily="34" charset="-122"/>
                <a:cs typeface="Consolas" pitchFamily="34" charset="-120"/>
              </a:rPr>
              <a:t>github.com/Observal/Observal</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AAIF Chennai ARD">
  <a:themeElements>
    <a:clrScheme name="AAIF Chennai ARD">
      <a:dk1>
        <a:srgbClr val="1A1A1A"/>
      </a:dk1>
      <a:lt1>
        <a:srgbClr val="FFFFFF"/>
      </a:lt1>
      <a:dk2>
        <a:srgbClr val="474552"/>
      </a:dk2>
      <a:lt2>
        <a:srgbClr val="F1EFF7"/>
      </a:lt2>
      <a:accent1>
        <a:srgbClr val="FF702D"/>
      </a:accent1>
      <a:accent2>
        <a:srgbClr val="C2410C"/>
      </a:accent2>
      <a:accent3>
        <a:srgbClr val="B6B0D0"/>
      </a:accent3>
      <a:accent4>
        <a:srgbClr val="5A4FA0"/>
      </a:accent4>
      <a:accent5>
        <a:srgbClr val="E8601F"/>
      </a:accent5>
      <a:accent6>
        <a:srgbClr val="5E5A6E"/>
      </a:accent6>
      <a:hlink>
        <a:srgbClr val="C2410C"/>
      </a:hlink>
      <a:folHlink>
        <a:srgbClr val="5A4FA0"/>
      </a:folHlink>
    </a:clrScheme>
    <a:fontScheme name="AAIF Chennai ARD">
      <a:majorFont>
        <a:latin typeface="Instrument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strument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Resource Discovery</dc:title>
  <dc:subject>What ARD is, how I implemented it in Observal, and what it unlocks</dc:subject>
  <dc:creator>Shaan Narendran</dc:creator>
  <cp:lastModifiedBy>Shaan Narendran</cp:lastModifiedBy>
  <cp:revision>1</cp:revision>
  <dcterms:created xsi:type="dcterms:W3CDTF">2026-10-23T16:53:32Z</dcterms:created>
  <dcterms:modified xsi:type="dcterms:W3CDTF">2026-10-23T16:53:32Z</dcterms:modified>
</cp:coreProperties>
</file>