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9f8bc50-78f2-9502-2037-a2d7d0ac4d36}">
          <p14:sldIdLst>
            <p14:sldId id="256"/>
            <p14:sldId id="257"/>
          </p14:sldIdLst>
        </p14:section>
        <p14:section name="Why discovery" id="{bf649128-0058-8918-e22e-d1d496908560}">
          <p14:sldIdLst>
            <p14:sldId id="258"/>
            <p14:sldId id="259"/>
            <p14:sldId id="260"/>
          </p14:sldIdLst>
        </p14:section>
        <p14:section name="What ARD is" id="{f21693c2-c41c-bc54-191f-ab3c30f032df}">
          <p14:sldIdLst>
            <p14:sldId id="261"/>
            <p14:sldId id="262"/>
            <p14:sldId id="263"/>
            <p14:sldId id="264"/>
            <p14:sldId id="265"/>
            <p14:sldId id="266"/>
            <p14:sldId id="267"/>
            <p14:sldId id="268"/>
            <p14:sldId id="269"/>
          </p14:sldIdLst>
        </p14:section>
        <p14:section name="My implementation" id="{064c2d56-4547-6e52-c120-21ea2a270d2c}">
          <p14:sldIdLst>
            <p14:sldId id="270"/>
            <p14:sldId id="271"/>
            <p14:sldId id="272"/>
            <p14:sldId id="273"/>
            <p14:sldId id="274"/>
            <p14:sldId id="275"/>
          </p14:sldIdLst>
        </p14:section>
        <p14:section name="Use cases" id="{735f9f6e-7578-b9b1-f198-e3a7706fe889}">
          <p14:sldIdLst>
            <p14:sldId id="276"/>
            <p14:sldId id="277"/>
            <p14:sldId id="278"/>
            <p14:sldId id="279"/>
          </p14:sldIdLst>
        </p14:section>
        <p14:section name="Wrap-up" id="{d4866a53-6e17-8c43-04dc-da2c60bacbf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and what I learned,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which brings me to this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"Search engines lit the web up." · 0:30
That's R.V. Guha, introducing ARD in June. Guha helped create RSS and schema.org, so he's seen this pattern before.
Early on, the web lived in hand-curated directories, and search engines made it usable. Agentic resources are in that directory era right now: curated lists, marketplaces, config files. ARD is a search layer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as the ID? Because a URL answers "where is it right now?", and an identifier needs to answer "what is it, and who stands behind it?" Three reasons.
[Card 1] Stable. Think of a person's name versus their home address. If Acme moves its weather server to a new host, a URL-based ID would break every registry and every saved config. With a URN, the name stays the same and only the url field changes.
[Card 2] Verifiable. Anyone can publish a JSON file claiming to be Google's official Gmail agent. ARD ties the name to a domain: an entry named urn:air:google.com-anything must carry proof issued by google.com in its trust manifest. Same idea as HTTPS: you only get a certificate for google.com if you control google.com. No proof, and a registry that checks rejects it.
[Card 3] Unique without a referee. When registries merge results, two publishers will both call something "weather". Instead of a central body handing out names, ARD reuses DNS: only one organisation owns acme.com, so everything under urn:air:acme.com is theirs. If you've written Java, it's the same trick as com.acme package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Five ways to publish · 1:00
How do registries find your entry? There's a static layer that works a lot like publishing web pages.
There are five mechanisms. [Top two rows] These two are the ones consumers must check: a manifest at /.well-known/ard.json, which is just JSON with an entries array, and a link tag with rel="ard" in your HTML.
[Other rows] You can also embed the entry as JSON-LD on the resource's own page, add an Agentmap line to robots.txt, or publish DNS records that point at your entries or at a search endpoint.
One tip: older articles mention ai-catalog.json. That's the predecessor.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Registries and one REST search API · 1:00
The dynamic layer is registries.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Federation: three modes · 1:00
With many registries around, a natural question is: does my search only see one of them? Federation answers that. A registry is itself an ARD entry, so registries can find each other like any other resource. And because they all speak the same search API, one registry can simply ask another over HTTP.
The client chooses how far a search goes, with one field in the request. [Card 1] auto, the default: the registry asks other registries on your behalf and merges everything into one list. [Card 2] referrals: the registry gives you its own answers plus "you could also try these registries", and you decide. [Card 3] none: only this registry's own index; your query goes nowhere else.
[Bottom] If you know DNS: auto is like a resolver that does the whole lookup for you; referrals is a server saying "I don't know, but ask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Federation, step by step · 1:15
Here's the spec's own example. Read it top to bottom. [Top] The user asks: book me a flight to Tokyo and file the travel expense report.
[Step 1] The orchestrator, which is the user's agent, searches the company's internal registry in referrals mode.
[Step 2] The company registry answers: here's our internal expenses agent, a strong match at 97, and here are two other registries you could try for the rest.
[Step 3] The orchestrator picks the travel finder and asks it only about the flight. Notice what it doesn't send: anything about the expense report. That stays inside the company. That's the point of referrals: the agent decides where each part of its question goes.
[Step 4] The travel finder returns a flight booking agent.
[Step 5] Now the orchestrator has both agents and calls each one through its own protocol. ARD's job ended at step 4: it finds things; it doesn't run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
[Numbers] The pull request came to 23 commits and 90 files, about ten thousand lines, more than four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Postgres narrows, Python ranks, CI checks · 1:00
For search, I avoided new infrastructure. [Step 1] Postgres narrows: visibility rules, filters and a trigram-indexed text match, giving at most five thousand candidates. [Step 2] Python ranks: each query word is scored against the name, the representative queries, the capabilities and the description, in that order of weight. [Step 3] And every result explains itself with the words that matched.
[Chart] I didn't want to guess whether that's good enough, so there's a benchmark in CI: 47 requests written the way developers actually ask. Recall at 5 is 0.96 for the ranker and 0.94 end to end. The grey bars are floors: drop below them and the build fails, and the rule is that floors only go up.
The misses are synonyms, like "PRs" versus "pull requests".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Guardrails · 1:00
Discovery could easily become a back door around a registry's rules, so I built in four guardrails.
[Top left] Score means relevance only, as the spec says. Approval and harness support are separate fields, and policy filters run before ranking.
[Top right] Discovery is scoped to you. A signed-in user only discovers their own listings and the teamspaces they belong to, not everyone else's public listings, and drafts only reach their owners. My first version mirrored the registry's browse rules; I tightened it in a follow-up because search is a much stronger way to surface things than browsing. Anonymous search is off unless an admin turns it on.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What I learned · 1:15
Five lessons from implementing a spec that was still moving.
One: pin it. I vendored the schemas and the official conformance tool at one commit and run them in CI, so updating the spec is a reviewed change, not a surprise.
Two: write decisions down. An ADR with ten decisions meant reviewers debated choices, not code.
Three: project, don't rewrite. Nothing existing broke.
Four: the spec changed while I was building. The well-known path, the URN prefix and the MCP media type all got new names. So accept the old spellings on input and always emit the new ones.
Five: be honest about conformance. The spec says registries must crawl, and I haven't built crawling yet, so Observal is a publisher and search endpoint, not a full registry, and the docs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3.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3.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card"/>
          <p:cNvSpPr/>
          <p:nvPr/>
        </p:nvSpPr>
        <p:spPr>
          <a:xfrm>
            <a:off x="548640" y="1965960"/>
            <a:ext cx="3575304" cy="3063240"/>
          </a:xfrm>
          <a:prstGeom prst="roundRect">
            <a:avLst>
              <a:gd name="adj" fmla="val 4179"/>
            </a:avLst>
          </a:prstGeom>
          <a:solidFill>
            <a:schemeClr val="bg2"/>
          </a:solidFill>
          <a:ln/>
        </p:spPr>
      </p:sp>
      <p:sp>
        <p:nvSpPr>
          <p:cNvPr id="5" name="Text 3"/>
          <p:cNvSpPr txBox="1"/>
          <p:nvPr/>
        </p:nvSpPr>
        <p:spPr>
          <a:xfrm>
            <a:off x="822960"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auto</a:t>
            </a:r>
            <a:endParaRPr lang="en-US" sz="2400" dirty="0"/>
          </a:p>
        </p:txBody>
      </p:sp>
      <p:sp>
        <p:nvSpPr>
          <p:cNvPr id="6" name="Default chip"/>
          <p:cNvSpPr/>
          <p:nvPr/>
        </p:nvSpPr>
        <p:spPr>
          <a:xfrm>
            <a:off x="2926080" y="2240280"/>
            <a:ext cx="914400" cy="292608"/>
          </a:xfrm>
          <a:prstGeom prst="roundRect">
            <a:avLst>
              <a:gd name="adj" fmla="val 50000"/>
            </a:avLst>
          </a:prstGeom>
          <a:solidFill>
            <a:schemeClr val="accent3"/>
          </a:solidFill>
          <a:ln/>
        </p:spPr>
      </p:sp>
      <p:sp>
        <p:nvSpPr>
          <p:cNvPr id="7" name="Text 5"/>
          <p:cNvSpPr txBox="1"/>
          <p:nvPr/>
        </p:nvSpPr>
        <p:spPr>
          <a:xfrm>
            <a:off x="2926080" y="2240280"/>
            <a:ext cx="914400" cy="292608"/>
          </a:xfrm>
          <a:prstGeom prst="rect">
            <a:avLst/>
          </a:prstGeom>
          <a:noFill/>
          <a:ln/>
        </p:spPr>
        <p:txBody>
          <a:bodyPr wrap="square" lIns="0" tIns="0" rIns="0" bIns="0" rtlCol="0" anchor="ctr"/>
          <a:lstStyle/>
          <a:p>
            <a:pPr algn="ctr" indent="0" marL="0">
              <a:buNone/>
            </a:pPr>
            <a:r>
              <a:rPr lang="en-US" sz="1200" b="1" dirty="0">
                <a:solidFill>
                  <a:schemeClr val="tx1"/>
                </a:solidFill>
              </a:rPr>
              <a:t>default</a:t>
            </a:r>
            <a:endParaRPr lang="en-US" sz="1200" dirty="0"/>
          </a:p>
        </p:txBody>
      </p:sp>
      <p:sp>
        <p:nvSpPr>
          <p:cNvPr id="8" name="Text 6"/>
          <p:cNvSpPr txBox="1"/>
          <p:nvPr/>
        </p:nvSpPr>
        <p:spPr>
          <a:xfrm>
            <a:off x="822960"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asks other registries for you and merges everything into one list.</a:t>
            </a:r>
            <a:endParaRPr lang="en-US" sz="1600" dirty="0"/>
          </a:p>
        </p:txBody>
      </p:sp>
      <p:sp>
        <p:nvSpPr>
          <p:cNvPr id="9" name="Text 7"/>
          <p:cNvSpPr txBox="1"/>
          <p:nvPr/>
        </p:nvSpPr>
        <p:spPr>
          <a:xfrm>
            <a:off x="822960"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other registries → one merged list</a:t>
            </a:r>
            <a:endParaRPr lang="en-US" sz="1300" dirty="0"/>
          </a:p>
        </p:txBody>
      </p:sp>
      <p:sp>
        <p:nvSpPr>
          <p:cNvPr id="10" name="Text 8"/>
          <p:cNvSpPr txBox="1"/>
          <p:nvPr/>
        </p:nvSpPr>
        <p:spPr>
          <a:xfrm>
            <a:off x="822960"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simple clients</a:t>
            </a:r>
            <a:endParaRPr lang="en-US" sz="1300" dirty="0"/>
          </a:p>
        </p:txBody>
      </p:sp>
      <p:sp>
        <p:nvSpPr>
          <p:cNvPr id="11" name="Mode referrals card"/>
          <p:cNvSpPr/>
          <p:nvPr/>
        </p:nvSpPr>
        <p:spPr>
          <a:xfrm>
            <a:off x="4306824" y="1965960"/>
            <a:ext cx="3575304" cy="3063240"/>
          </a:xfrm>
          <a:prstGeom prst="roundRect">
            <a:avLst>
              <a:gd name="adj" fmla="val 4179"/>
            </a:avLst>
          </a:prstGeom>
          <a:solidFill>
            <a:schemeClr val="bg2"/>
          </a:solidFill>
          <a:ln/>
        </p:spPr>
      </p:sp>
      <p:sp>
        <p:nvSpPr>
          <p:cNvPr id="12" name="Text 10"/>
          <p:cNvSpPr txBox="1"/>
          <p:nvPr/>
        </p:nvSpPr>
        <p:spPr>
          <a:xfrm>
            <a:off x="4581144"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referrals</a:t>
            </a:r>
            <a:endParaRPr lang="en-US" sz="2400" dirty="0"/>
          </a:p>
        </p:txBody>
      </p:sp>
      <p:sp>
        <p:nvSpPr>
          <p:cNvPr id="13" name="Text 11"/>
          <p:cNvSpPr txBox="1"/>
          <p:nvPr/>
        </p:nvSpPr>
        <p:spPr>
          <a:xfrm>
            <a:off x="4581144"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The registry answers, then suggests other registries to try. You decide whether to ask them.</a:t>
            </a:r>
            <a:endParaRPr lang="en-US" sz="1600" dirty="0"/>
          </a:p>
        </p:txBody>
      </p:sp>
      <p:sp>
        <p:nvSpPr>
          <p:cNvPr id="14" name="Text 12"/>
          <p:cNvSpPr txBox="1"/>
          <p:nvPr/>
        </p:nvSpPr>
        <p:spPr>
          <a:xfrm>
            <a:off x="4581144"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answers + “try these” → you choose</a:t>
            </a:r>
            <a:endParaRPr lang="en-US" sz="1300" dirty="0"/>
          </a:p>
        </p:txBody>
      </p:sp>
      <p:sp>
        <p:nvSpPr>
          <p:cNvPr id="15" name="Text 13"/>
          <p:cNvSpPr txBox="1"/>
          <p:nvPr/>
        </p:nvSpPr>
        <p:spPr>
          <a:xfrm>
            <a:off x="4581144"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control over where your query goes</a:t>
            </a:r>
            <a:endParaRPr lang="en-US" sz="1300" dirty="0"/>
          </a:p>
        </p:txBody>
      </p:sp>
      <p:sp>
        <p:nvSpPr>
          <p:cNvPr id="16" name="Mode none card"/>
          <p:cNvSpPr/>
          <p:nvPr/>
        </p:nvSpPr>
        <p:spPr>
          <a:xfrm>
            <a:off x="8065008" y="1965960"/>
            <a:ext cx="3575304" cy="3063240"/>
          </a:xfrm>
          <a:prstGeom prst="roundRect">
            <a:avLst>
              <a:gd name="adj" fmla="val 4179"/>
            </a:avLst>
          </a:prstGeom>
          <a:solidFill>
            <a:schemeClr val="bg2"/>
          </a:solidFill>
          <a:ln/>
        </p:spPr>
      </p:sp>
      <p:sp>
        <p:nvSpPr>
          <p:cNvPr id="17" name="Text 15"/>
          <p:cNvSpPr txBox="1"/>
          <p:nvPr/>
        </p:nvSpPr>
        <p:spPr>
          <a:xfrm>
            <a:off x="8339328" y="2148840"/>
            <a:ext cx="2194560" cy="457200"/>
          </a:xfrm>
          <a:prstGeom prst="rect">
            <a:avLst/>
          </a:prstGeom>
          <a:noFill/>
          <a:ln/>
        </p:spPr>
        <p:txBody>
          <a:bodyPr wrap="square" lIns="0" tIns="0" rIns="0" bIns="0" rtlCol="0" anchor="ctr"/>
          <a:lstStyle/>
          <a:p>
            <a:pPr indent="0" marL="0">
              <a:buNone/>
            </a:pPr>
            <a:r>
              <a:rPr lang="en-US" sz="2400" b="1" dirty="0">
                <a:solidFill>
                  <a:schemeClr val="accent2"/>
                </a:solidFill>
                <a:latin typeface="Consolas" pitchFamily="34" charset="0"/>
                <a:ea typeface="Consolas" pitchFamily="34" charset="-122"/>
                <a:cs typeface="Consolas" pitchFamily="34" charset="-120"/>
              </a:rPr>
              <a:t>none</a:t>
            </a:r>
            <a:endParaRPr lang="en-US" sz="2400" dirty="0"/>
          </a:p>
        </p:txBody>
      </p:sp>
      <p:sp>
        <p:nvSpPr>
          <p:cNvPr id="18" name="Text 16"/>
          <p:cNvSpPr txBox="1"/>
          <p:nvPr/>
        </p:nvSpPr>
        <p:spPr>
          <a:xfrm>
            <a:off x="8339328" y="2743200"/>
            <a:ext cx="3063240" cy="1051560"/>
          </a:xfrm>
          <a:prstGeom prst="rect">
            <a:avLst/>
          </a:prstGeom>
          <a:noFill/>
          <a:ln/>
        </p:spPr>
        <p:txBody>
          <a:bodyPr wrap="square" lIns="0" tIns="0" rIns="0" bIns="0" rtlCol="0" anchor="t"/>
          <a:lstStyle/>
          <a:p>
            <a:pPr indent="0" marL="0">
              <a:buNone/>
            </a:pPr>
            <a:r>
              <a:rPr lang="en-US" sz="1600" dirty="0">
                <a:solidFill>
                  <a:schemeClr val="tx1"/>
                </a:solidFill>
              </a:rPr>
              <a:t>Only this registry’s own index. Your query goes nowhere else.</a:t>
            </a:r>
            <a:endParaRPr lang="en-US" sz="1600" dirty="0"/>
          </a:p>
        </p:txBody>
      </p:sp>
      <p:sp>
        <p:nvSpPr>
          <p:cNvPr id="19" name="Text 17"/>
          <p:cNvSpPr txBox="1"/>
          <p:nvPr/>
        </p:nvSpPr>
        <p:spPr>
          <a:xfrm>
            <a:off x="8339328" y="3840480"/>
            <a:ext cx="3063240" cy="548640"/>
          </a:xfrm>
          <a:prstGeom prst="rect">
            <a:avLst/>
          </a:prstGeom>
          <a:noFill/>
          <a:ln/>
        </p:spPr>
        <p:txBody>
          <a:bodyPr wrap="square" lIns="0" tIns="0" rIns="0" bIns="0" rtlCol="0" anchor="t"/>
          <a:lstStyle/>
          <a:p>
            <a:pPr indent="0" marL="0">
              <a:buNone/>
            </a:pPr>
            <a:r>
              <a:rPr lang="en-US" sz="1300" b="1" dirty="0">
                <a:solidFill>
                  <a:schemeClr val="accent4"/>
                </a:solidFill>
              </a:rPr>
              <a:t>you → registry → its own answers</a:t>
            </a:r>
            <a:endParaRPr lang="en-US" sz="1300" dirty="0"/>
          </a:p>
        </p:txBody>
      </p:sp>
      <p:sp>
        <p:nvSpPr>
          <p:cNvPr id="20" name="Text 18"/>
          <p:cNvSpPr txBox="1"/>
          <p:nvPr/>
        </p:nvSpPr>
        <p:spPr>
          <a:xfrm>
            <a:off x="8339328" y="4434840"/>
            <a:ext cx="3063240" cy="411480"/>
          </a:xfrm>
          <a:prstGeom prst="rect">
            <a:avLst/>
          </a:prstGeom>
          <a:noFill/>
          <a:ln/>
        </p:spPr>
        <p:txBody>
          <a:bodyPr wrap="square" lIns="0" tIns="0" rIns="0" bIns="0" rtlCol="0" anchor="t"/>
          <a:lstStyle/>
          <a:p>
            <a:pPr indent="0" marL="0">
              <a:buNone/>
            </a:pPr>
            <a:r>
              <a:rPr lang="en-US" sz="1300" dirty="0">
                <a:solidFill>
                  <a:schemeClr val="accent6"/>
                </a:solidFill>
              </a:rPr>
              <a:t>Good for: speed and privacy</a:t>
            </a:r>
            <a:endParaRPr lang="en-US" sz="1300" dirty="0"/>
          </a:p>
        </p:txBody>
      </p:sp>
      <p:sp>
        <p:nvSpPr>
          <p:cNvPr id="21" name="DNS analogy"/>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2" name="DNS analogy circle"/>
          <p:cNvSpPr/>
          <p:nvPr/>
        </p:nvSpPr>
        <p:spPr>
          <a:xfrm>
            <a:off x="731520" y="5413248"/>
            <a:ext cx="512064" cy="512064"/>
          </a:xfrm>
          <a:prstGeom prst="ellipse">
            <a:avLst/>
          </a:prstGeom>
          <a:solidFill>
            <a:schemeClr val="accent5"/>
          </a:solidFill>
          <a:ln/>
        </p:spPr>
      </p:sp>
      <p:pic>
        <p:nvPicPr>
          <p:cNvPr id="23" name="DNS analogy icon" descr="preencoded.png">    </p:cNvPr>
          <p:cNvPicPr>
            <a:picLocks noChangeAspect="1"/>
          </p:cNvPicPr>
          <p:nvPr/>
        </p:nvPicPr>
        <p:blipFill>
          <a:blip r:embed="rId1"/>
          <a:stretch>
            <a:fillRect/>
          </a:stretch>
        </p:blipFill>
        <p:spPr>
          <a:xfrm>
            <a:off x="859536" y="5541264"/>
            <a:ext cx="256032" cy="256032"/>
          </a:xfrm>
          <a:prstGeom prst="rect">
            <a:avLst/>
          </a:prstGeom>
        </p:spPr>
      </p:pic>
      <p:sp>
        <p:nvSpPr>
          <p:cNvPr id="24" name="Text 21"/>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600" dirty="0">
                <a:solidFill>
                  <a:schemeClr val="tx1"/>
                </a:solidFill>
              </a:rPr>
              <a:t>Like DNS: auto is a resolver that looks it up for you; referrals is “I don’t know, but ask them.”</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With referrals, the agent decides where its query goes</a:t>
            </a:r>
            <a:endParaRPr lang="en-US" sz="3200" dirty="0"/>
          </a:p>
        </p:txBody>
      </p:sp>
      <p:sp>
        <p:nvSpPr>
          <p:cNvPr id="4" name="User request"/>
          <p:cNvSpPr/>
          <p:nvPr/>
        </p:nvSpPr>
        <p:spPr>
          <a:xfrm>
            <a:off x="548640" y="1920240"/>
            <a:ext cx="11091672" cy="548640"/>
          </a:xfrm>
          <a:prstGeom prst="roundRect">
            <a:avLst>
              <a:gd name="adj" fmla="val 23333"/>
            </a:avLst>
          </a:prstGeom>
          <a:solidFill>
            <a:schemeClr val="bg2"/>
          </a:solidFill>
          <a:ln/>
        </p:spPr>
      </p:sp>
      <p:sp>
        <p:nvSpPr>
          <p:cNvPr id="5" name="Text 3"/>
          <p:cNvSpPr txBox="1"/>
          <p:nvPr/>
        </p:nvSpPr>
        <p:spPr>
          <a:xfrm>
            <a:off x="777240" y="1920240"/>
            <a:ext cx="10698480" cy="548640"/>
          </a:xfrm>
          <a:prstGeom prst="rect">
            <a:avLst/>
          </a:prstGeom>
          <a:noFill/>
          <a:ln/>
        </p:spPr>
        <p:txBody>
          <a:bodyPr wrap="square" lIns="0" tIns="0" rIns="0" bIns="0" rtlCol="0" anchor="ctr"/>
          <a:lstStyle/>
          <a:p>
            <a:pPr indent="0" marL="0">
              <a:buNone/>
            </a:pPr>
            <a:r>
              <a:rPr lang="en-US" sz="1600" b="1" dirty="0">
                <a:solidFill>
                  <a:schemeClr val="tx1"/>
                </a:solidFill>
              </a:rPr>
              <a:t>User:  </a:t>
            </a:r>
            <a:pPr indent="0" marL="0">
              <a:buNone/>
            </a:pPr>
            <a:r>
              <a:rPr lang="en-US" sz="1600" i="1" dirty="0">
                <a:solidFill>
                  <a:schemeClr val="tx1"/>
                </a:solidFill>
              </a:rPr>
              <a:t>“Book me a flight to Tokyo and file the travel expense report.”</a:t>
            </a:r>
            <a:endParaRPr lang="en-US" sz="1600" dirty="0"/>
          </a:p>
        </p:txBody>
      </p:sp>
      <p:sp>
        <p:nvSpPr>
          <p:cNvPr id="6" name="Orchestrator header"/>
          <p:cNvSpPr/>
          <p:nvPr/>
        </p:nvSpPr>
        <p:spPr>
          <a:xfrm>
            <a:off x="640080" y="2651760"/>
            <a:ext cx="2834640" cy="640080"/>
          </a:xfrm>
          <a:prstGeom prst="roundRect">
            <a:avLst>
              <a:gd name="adj" fmla="val 20000"/>
            </a:avLst>
          </a:prstGeom>
          <a:solidFill>
            <a:schemeClr val="accent5"/>
          </a:solidFill>
          <a:ln/>
        </p:spPr>
      </p:sp>
      <p:sp>
        <p:nvSpPr>
          <p:cNvPr id="7" name="Text 5"/>
          <p:cNvSpPr txBox="1"/>
          <p:nvPr/>
        </p:nvSpPr>
        <p:spPr>
          <a:xfrm>
            <a:off x="640080" y="2651760"/>
            <a:ext cx="2834640" cy="640080"/>
          </a:xfrm>
          <a:prstGeom prst="rect">
            <a:avLst/>
          </a:prstGeom>
          <a:noFill/>
          <a:ln/>
        </p:spPr>
        <p:txBody>
          <a:bodyPr wrap="square" lIns="0" tIns="0" rIns="0" bIns="0" rtlCol="0" anchor="ctr"/>
          <a:lstStyle/>
          <a:p>
            <a:pPr algn="ctr" indent="0" marL="0">
              <a:buNone/>
            </a:pPr>
            <a:r>
              <a:rPr lang="en-US" sz="1600" b="1" dirty="0">
                <a:solidFill>
                  <a:schemeClr val="bg1"/>
                </a:solidFill>
              </a:rPr>
              <a:t>Orchestrator</a:t>
            </a:r>
            <a:endParaRPr lang="en-US" sz="1600" dirty="0"/>
          </a:p>
          <a:p>
            <a:pPr algn="ctr" indent="0" marL="0">
              <a:buNone/>
            </a:pPr>
            <a:r>
              <a:rPr lang="en-US" sz="1200" dirty="0">
                <a:solidFill>
                  <a:schemeClr val="bg1"/>
                </a:solidFill>
              </a:rPr>
              <a:t>the user’s agent</a:t>
            </a:r>
            <a:endParaRPr lang="en-US" sz="1600" dirty="0"/>
          </a:p>
        </p:txBody>
      </p:sp>
      <p:sp>
        <p:nvSpPr>
          <p:cNvPr id="8" name="Orchestrator lifeline"/>
          <p:cNvSpPr/>
          <p:nvPr/>
        </p:nvSpPr>
        <p:spPr>
          <a:xfrm>
            <a:off x="2057400" y="3291840"/>
            <a:ext cx="0" cy="2148840"/>
          </a:xfrm>
          <a:prstGeom prst="line">
            <a:avLst/>
          </a:prstGeom>
          <a:noFill/>
          <a:ln w="15875">
            <a:solidFill>
              <a:srgbClr val="B6B0D0"/>
            </a:solidFill>
            <a:prstDash val="dash"/>
          </a:ln>
        </p:spPr>
      </p:sp>
      <p:sp>
        <p:nvSpPr>
          <p:cNvPr id="9" name="Company registry header"/>
          <p:cNvSpPr/>
          <p:nvPr/>
        </p:nvSpPr>
        <p:spPr>
          <a:xfrm>
            <a:off x="4754880" y="2651760"/>
            <a:ext cx="2834640" cy="640080"/>
          </a:xfrm>
          <a:prstGeom prst="roundRect">
            <a:avLst>
              <a:gd name="adj" fmla="val 20000"/>
            </a:avLst>
          </a:prstGeom>
          <a:solidFill>
            <a:schemeClr val="accent3"/>
          </a:solidFill>
          <a:ln/>
        </p:spPr>
      </p:sp>
      <p:sp>
        <p:nvSpPr>
          <p:cNvPr id="10" name="Text 8"/>
          <p:cNvSpPr txBox="1"/>
          <p:nvPr/>
        </p:nvSpPr>
        <p:spPr>
          <a:xfrm>
            <a:off x="47548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Company registry</a:t>
            </a:r>
            <a:endParaRPr lang="en-US" sz="1600" dirty="0"/>
          </a:p>
          <a:p>
            <a:pPr algn="ctr" indent="0" marL="0">
              <a:buNone/>
            </a:pPr>
            <a:r>
              <a:rPr lang="en-US" sz="1200" dirty="0">
                <a:solidFill>
                  <a:schemeClr val="accent6"/>
                </a:solidFill>
              </a:rPr>
              <a:t>internal resources</a:t>
            </a:r>
            <a:endParaRPr lang="en-US" sz="1600" dirty="0"/>
          </a:p>
        </p:txBody>
      </p:sp>
      <p:sp>
        <p:nvSpPr>
          <p:cNvPr id="11" name="Company registry lifeline"/>
          <p:cNvSpPr/>
          <p:nvPr/>
        </p:nvSpPr>
        <p:spPr>
          <a:xfrm>
            <a:off x="6172200" y="3291840"/>
            <a:ext cx="0" cy="2148840"/>
          </a:xfrm>
          <a:prstGeom prst="line">
            <a:avLst/>
          </a:prstGeom>
          <a:noFill/>
          <a:ln w="15875">
            <a:solidFill>
              <a:srgbClr val="B6B0D0"/>
            </a:solidFill>
            <a:prstDash val="dash"/>
          </a:ln>
        </p:spPr>
      </p:sp>
      <p:sp>
        <p:nvSpPr>
          <p:cNvPr id="12" name="Travel Agent Finder header"/>
          <p:cNvSpPr/>
          <p:nvPr/>
        </p:nvSpPr>
        <p:spPr>
          <a:xfrm>
            <a:off x="8641080" y="2651760"/>
            <a:ext cx="2834640" cy="640080"/>
          </a:xfrm>
          <a:prstGeom prst="roundRect">
            <a:avLst>
              <a:gd name="adj" fmla="val 20000"/>
            </a:avLst>
          </a:prstGeom>
          <a:solidFill>
            <a:schemeClr val="bg1"/>
          </a:solidFill>
          <a:ln w="19050">
            <a:solidFill>
              <a:srgbClr val="E8601F"/>
            </a:solidFill>
            <a:prstDash val="solid"/>
          </a:ln>
        </p:spPr>
      </p:sp>
      <p:sp>
        <p:nvSpPr>
          <p:cNvPr id="13" name="Text 11"/>
          <p:cNvSpPr txBox="1"/>
          <p:nvPr/>
        </p:nvSpPr>
        <p:spPr>
          <a:xfrm>
            <a:off x="8641080" y="2651760"/>
            <a:ext cx="2834640" cy="640080"/>
          </a:xfrm>
          <a:prstGeom prst="rect">
            <a:avLst/>
          </a:prstGeom>
          <a:noFill/>
          <a:ln/>
        </p:spPr>
        <p:txBody>
          <a:bodyPr wrap="square" lIns="0" tIns="0" rIns="0" bIns="0" rtlCol="0" anchor="ctr"/>
          <a:lstStyle/>
          <a:p>
            <a:pPr algn="ctr" indent="0" marL="0">
              <a:buNone/>
            </a:pPr>
            <a:r>
              <a:rPr lang="en-US" sz="1600" b="1" dirty="0">
                <a:solidFill>
                  <a:schemeClr val="tx1"/>
                </a:solidFill>
              </a:rPr>
              <a:t>Travel Agent Finder</a:t>
            </a:r>
            <a:endParaRPr lang="en-US" sz="1600" dirty="0"/>
          </a:p>
          <a:p>
            <a:pPr algn="ctr" indent="0" marL="0">
              <a:buNone/>
            </a:pPr>
            <a:r>
              <a:rPr lang="en-US" sz="1200" dirty="0">
                <a:solidFill>
                  <a:schemeClr val="accent6"/>
                </a:solidFill>
              </a:rPr>
              <a:t>a public registry</a:t>
            </a:r>
            <a:endParaRPr lang="en-US" sz="1600" dirty="0"/>
          </a:p>
        </p:txBody>
      </p:sp>
      <p:sp>
        <p:nvSpPr>
          <p:cNvPr id="14" name="Travel Agent Finder lifeline"/>
          <p:cNvSpPr/>
          <p:nvPr/>
        </p:nvSpPr>
        <p:spPr>
          <a:xfrm>
            <a:off x="10058400" y="3291840"/>
            <a:ext cx="0" cy="2148840"/>
          </a:xfrm>
          <a:prstGeom prst="line">
            <a:avLst/>
          </a:prstGeom>
          <a:noFill/>
          <a:ln w="15875">
            <a:solidFill>
              <a:srgbClr val="B6B0D0"/>
            </a:solidFill>
            <a:prstDash val="dash"/>
          </a:ln>
        </p:spPr>
      </p:sp>
      <p:sp>
        <p:nvSpPr>
          <p:cNvPr id="15" name="Step 1"/>
          <p:cNvSpPr/>
          <p:nvPr/>
        </p:nvSpPr>
        <p:spPr>
          <a:xfrm>
            <a:off x="548640" y="3493008"/>
            <a:ext cx="329184" cy="329184"/>
          </a:xfrm>
          <a:prstGeom prst="ellipse">
            <a:avLst/>
          </a:prstGeom>
          <a:solidFill>
            <a:schemeClr val="accent5"/>
          </a:solidFill>
          <a:ln/>
        </p:spPr>
      </p:sp>
      <p:sp>
        <p:nvSpPr>
          <p:cNvPr id="16" name="Text 14"/>
          <p:cNvSpPr txBox="1"/>
          <p:nvPr/>
        </p:nvSpPr>
        <p:spPr>
          <a:xfrm>
            <a:off x="548640" y="349300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7" name="Message 1"/>
          <p:cNvSpPr/>
          <p:nvPr/>
        </p:nvSpPr>
        <p:spPr>
          <a:xfrm>
            <a:off x="2103120" y="3657600"/>
            <a:ext cx="4023360" cy="0"/>
          </a:xfrm>
          <a:prstGeom prst="line">
            <a:avLst/>
          </a:prstGeom>
          <a:noFill/>
          <a:ln w="22225">
            <a:solidFill>
              <a:srgbClr val="E8601F"/>
            </a:solidFill>
            <a:prstDash val="solid"/>
            <a:tailEnd type="triangle"/>
          </a:ln>
        </p:spPr>
      </p:sp>
      <p:sp>
        <p:nvSpPr>
          <p:cNvPr id="18" name="Text 16"/>
          <p:cNvSpPr txBox="1"/>
          <p:nvPr/>
        </p:nvSpPr>
        <p:spPr>
          <a:xfrm>
            <a:off x="2240280" y="3346704"/>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for the whole request, in referrals mode</a:t>
            </a:r>
            <a:endParaRPr lang="en-US" sz="1300" dirty="0"/>
          </a:p>
        </p:txBody>
      </p:sp>
      <p:sp>
        <p:nvSpPr>
          <p:cNvPr id="19" name="Step 2"/>
          <p:cNvSpPr/>
          <p:nvPr/>
        </p:nvSpPr>
        <p:spPr>
          <a:xfrm>
            <a:off x="548640" y="3968496"/>
            <a:ext cx="329184" cy="329184"/>
          </a:xfrm>
          <a:prstGeom prst="ellipse">
            <a:avLst/>
          </a:prstGeom>
          <a:solidFill>
            <a:schemeClr val="accent5"/>
          </a:solidFill>
          <a:ln/>
        </p:spPr>
      </p:sp>
      <p:sp>
        <p:nvSpPr>
          <p:cNvPr id="20" name="Text 18"/>
          <p:cNvSpPr txBox="1"/>
          <p:nvPr/>
        </p:nvSpPr>
        <p:spPr>
          <a:xfrm>
            <a:off x="548640" y="3968496"/>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1" name="Message 2"/>
          <p:cNvSpPr/>
          <p:nvPr/>
        </p:nvSpPr>
        <p:spPr>
          <a:xfrm flipH="1">
            <a:off x="2103120" y="4133088"/>
            <a:ext cx="4023360" cy="0"/>
          </a:xfrm>
          <a:prstGeom prst="line">
            <a:avLst/>
          </a:prstGeom>
          <a:noFill/>
          <a:ln w="22225">
            <a:solidFill>
              <a:srgbClr val="474552"/>
            </a:solidFill>
            <a:prstDash val="dash"/>
            <a:tailEnd type="triangle"/>
          </a:ln>
        </p:spPr>
      </p:sp>
      <p:sp>
        <p:nvSpPr>
          <p:cNvPr id="22" name="Text 20"/>
          <p:cNvSpPr txBox="1"/>
          <p:nvPr/>
        </p:nvSpPr>
        <p:spPr>
          <a:xfrm>
            <a:off x="2240280" y="3822192"/>
            <a:ext cx="5486400" cy="274320"/>
          </a:xfrm>
          <a:prstGeom prst="rect">
            <a:avLst/>
          </a:prstGeom>
          <a:noFill/>
          <a:ln/>
        </p:spPr>
        <p:txBody>
          <a:bodyPr wrap="square" lIns="0" tIns="0" rIns="0" bIns="0" rtlCol="0" anchor="b"/>
          <a:lstStyle/>
          <a:p>
            <a:pPr indent="0" marL="0">
              <a:buNone/>
            </a:pPr>
            <a:r>
              <a:rPr lang="en-US" sz="1300" dirty="0">
                <a:solidFill>
                  <a:schemeClr val="tx1"/>
                </a:solidFill>
              </a:rPr>
              <a:t>Our expenses agent (97), plus 2 registries to try</a:t>
            </a:r>
            <a:endParaRPr lang="en-US" sz="1300" dirty="0"/>
          </a:p>
        </p:txBody>
      </p:sp>
      <p:sp>
        <p:nvSpPr>
          <p:cNvPr id="23" name="Step 3"/>
          <p:cNvSpPr/>
          <p:nvPr/>
        </p:nvSpPr>
        <p:spPr>
          <a:xfrm>
            <a:off x="548640" y="4443984"/>
            <a:ext cx="329184" cy="329184"/>
          </a:xfrm>
          <a:prstGeom prst="ellipse">
            <a:avLst/>
          </a:prstGeom>
          <a:solidFill>
            <a:schemeClr val="accent5"/>
          </a:solidFill>
          <a:ln/>
        </p:spPr>
      </p:sp>
      <p:sp>
        <p:nvSpPr>
          <p:cNvPr id="24" name="Text 22"/>
          <p:cNvSpPr txBox="1"/>
          <p:nvPr/>
        </p:nvSpPr>
        <p:spPr>
          <a:xfrm>
            <a:off x="548640" y="4443984"/>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5" name="Message 3"/>
          <p:cNvSpPr/>
          <p:nvPr/>
        </p:nvSpPr>
        <p:spPr>
          <a:xfrm>
            <a:off x="2103120" y="4608576"/>
            <a:ext cx="7909560" cy="0"/>
          </a:xfrm>
          <a:prstGeom prst="line">
            <a:avLst/>
          </a:prstGeom>
          <a:noFill/>
          <a:ln w="22225">
            <a:solidFill>
              <a:srgbClr val="E8601F"/>
            </a:solidFill>
            <a:prstDash val="solid"/>
            <a:tailEnd type="triangle"/>
          </a:ln>
        </p:spPr>
      </p:sp>
      <p:sp>
        <p:nvSpPr>
          <p:cNvPr id="26" name="Text 24"/>
          <p:cNvSpPr txBox="1"/>
          <p:nvPr/>
        </p:nvSpPr>
        <p:spPr>
          <a:xfrm>
            <a:off x="2240280" y="4297680"/>
            <a:ext cx="5486400" cy="274320"/>
          </a:xfrm>
          <a:prstGeom prst="rect">
            <a:avLst/>
          </a:prstGeom>
          <a:noFill/>
          <a:ln/>
        </p:spPr>
        <p:txBody>
          <a:bodyPr wrap="square" lIns="0" tIns="0" rIns="0" bIns="0" rtlCol="0" anchor="b"/>
          <a:lstStyle/>
          <a:p>
            <a:pPr indent="0" marL="0">
              <a:buNone/>
            </a:pPr>
            <a:r>
              <a:rPr lang="en-US" sz="1300" dirty="0">
                <a:solidFill>
                  <a:schemeClr val="tx1"/>
                </a:solidFill>
              </a:rPr>
              <a:t>Search only the flight: “flight booking agent”</a:t>
            </a:r>
            <a:endParaRPr lang="en-US" sz="1300" dirty="0"/>
          </a:p>
        </p:txBody>
      </p:sp>
      <p:sp>
        <p:nvSpPr>
          <p:cNvPr id="27" name="Step 4"/>
          <p:cNvSpPr/>
          <p:nvPr/>
        </p:nvSpPr>
        <p:spPr>
          <a:xfrm>
            <a:off x="548640" y="4919472"/>
            <a:ext cx="329184" cy="329184"/>
          </a:xfrm>
          <a:prstGeom prst="ellipse">
            <a:avLst/>
          </a:prstGeom>
          <a:solidFill>
            <a:schemeClr val="accent5"/>
          </a:solidFill>
          <a:ln/>
        </p:spPr>
      </p:sp>
      <p:sp>
        <p:nvSpPr>
          <p:cNvPr id="28" name="Text 26"/>
          <p:cNvSpPr txBox="1"/>
          <p:nvPr/>
        </p:nvSpPr>
        <p:spPr>
          <a:xfrm>
            <a:off x="548640" y="4919472"/>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9" name="Message 4"/>
          <p:cNvSpPr/>
          <p:nvPr/>
        </p:nvSpPr>
        <p:spPr>
          <a:xfrm flipH="1">
            <a:off x="2103120" y="5084064"/>
            <a:ext cx="7909560" cy="0"/>
          </a:xfrm>
          <a:prstGeom prst="line">
            <a:avLst/>
          </a:prstGeom>
          <a:noFill/>
          <a:ln w="22225">
            <a:solidFill>
              <a:srgbClr val="474552"/>
            </a:solidFill>
            <a:prstDash val="dash"/>
            <a:tailEnd type="triangle"/>
          </a:ln>
        </p:spPr>
      </p:sp>
      <p:sp>
        <p:nvSpPr>
          <p:cNvPr id="30" name="Text 28"/>
          <p:cNvSpPr txBox="1"/>
          <p:nvPr/>
        </p:nvSpPr>
        <p:spPr>
          <a:xfrm>
            <a:off x="2240280" y="4773168"/>
            <a:ext cx="5486400" cy="274320"/>
          </a:xfrm>
          <a:prstGeom prst="rect">
            <a:avLst/>
          </a:prstGeom>
          <a:noFill/>
          <a:ln/>
        </p:spPr>
        <p:txBody>
          <a:bodyPr wrap="square" lIns="0" tIns="0" rIns="0" bIns="0" rtlCol="0" anchor="b"/>
          <a:lstStyle/>
          <a:p>
            <a:pPr indent="0" marL="0">
              <a:buNone/>
            </a:pPr>
            <a:r>
              <a:rPr lang="en-US" sz="1300" dirty="0">
                <a:solidFill>
                  <a:schemeClr val="tx1"/>
                </a:solidFill>
              </a:rPr>
              <a:t>Here’s a flight booking agent</a:t>
            </a:r>
            <a:endParaRPr lang="en-US" sz="1300" dirty="0"/>
          </a:p>
        </p:txBody>
      </p:sp>
      <p:sp>
        <p:nvSpPr>
          <p:cNvPr id="31" name="Step 5"/>
          <p:cNvSpPr/>
          <p:nvPr/>
        </p:nvSpPr>
        <p:spPr>
          <a:xfrm>
            <a:off x="548640" y="5687568"/>
            <a:ext cx="329184" cy="329184"/>
          </a:xfrm>
          <a:prstGeom prst="ellipse">
            <a:avLst/>
          </a:prstGeom>
          <a:solidFill>
            <a:schemeClr val="accent5"/>
          </a:solidFill>
          <a:ln/>
        </p:spPr>
      </p:sp>
      <p:sp>
        <p:nvSpPr>
          <p:cNvPr id="32" name="Text 30"/>
          <p:cNvSpPr txBox="1"/>
          <p:nvPr/>
        </p:nvSpPr>
        <p:spPr>
          <a:xfrm>
            <a:off x="548640" y="5687568"/>
            <a:ext cx="329184" cy="329184"/>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33" name="Step 5 note"/>
          <p:cNvSpPr/>
          <p:nvPr/>
        </p:nvSpPr>
        <p:spPr>
          <a:xfrm>
            <a:off x="1051560" y="5559552"/>
            <a:ext cx="10588752" cy="585216"/>
          </a:xfrm>
          <a:prstGeom prst="roundRect">
            <a:avLst>
              <a:gd name="adj" fmla="val 21875"/>
            </a:avLst>
          </a:prstGeom>
          <a:solidFill>
            <a:schemeClr val="bg2"/>
          </a:solidFill>
          <a:ln/>
        </p:spPr>
      </p:sp>
      <p:sp>
        <p:nvSpPr>
          <p:cNvPr id="34" name="Text 32"/>
          <p:cNvSpPr txBox="1"/>
          <p:nvPr/>
        </p:nvSpPr>
        <p:spPr>
          <a:xfrm>
            <a:off x="1280160" y="5559552"/>
            <a:ext cx="10241280" cy="585216"/>
          </a:xfrm>
          <a:prstGeom prst="rect">
            <a:avLst/>
          </a:prstGeom>
          <a:noFill/>
          <a:ln/>
        </p:spPr>
        <p:txBody>
          <a:bodyPr wrap="square" lIns="0" tIns="0" rIns="0" bIns="0" rtlCol="0" anchor="ctr"/>
          <a:lstStyle/>
          <a:p>
            <a:pPr indent="0" marL="0">
              <a:buNone/>
            </a:pPr>
            <a:r>
              <a:rPr lang="en-US" sz="1500" dirty="0">
                <a:solidFill>
                  <a:schemeClr val="tx1"/>
                </a:solidFill>
              </a:rPr>
              <a:t>The orchestrator calls both agents through their own protocols. ARD’s job ended at step 4.</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8"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 approved entries, only if an admin opts in</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Scoped to you and your teams card"/>
          <p:cNvSpPr/>
          <p:nvPr/>
        </p:nvSpPr>
        <p:spPr>
          <a:xfrm>
            <a:off x="6185916" y="1965960"/>
            <a:ext cx="5454396" cy="1920240"/>
          </a:xfrm>
          <a:prstGeom prst="roundRect">
            <a:avLst>
              <a:gd name="adj" fmla="val 6667"/>
            </a:avLst>
          </a:prstGeom>
          <a:solidFill>
            <a:schemeClr val="bg2"/>
          </a:solidFill>
          <a:ln/>
        </p:spPr>
      </p:sp>
      <p:sp>
        <p:nvSpPr>
          <p:cNvPr id="10" name="Scoped to you and your teams circle"/>
          <p:cNvSpPr/>
          <p:nvPr/>
        </p:nvSpPr>
        <p:spPr>
          <a:xfrm>
            <a:off x="6460236" y="2240280"/>
            <a:ext cx="640080" cy="640080"/>
          </a:xfrm>
          <a:prstGeom prst="ellipse">
            <a:avLst/>
          </a:prstGeom>
          <a:solidFill>
            <a:schemeClr val="accent5"/>
          </a:solidFill>
          <a:ln/>
        </p:spPr>
      </p:sp>
      <p:pic>
        <p:nvPicPr>
          <p:cNvPr id="11" name="Scoped to you and your teams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Scoped to you and your teams</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You only discover your own listings and those of teams you’re in. Drafts reach only owners; anonymous search is off.</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2026-10-24T04:28:59Z</dcterms:created>
  <dcterms:modified xsi:type="dcterms:W3CDTF">2026-10-24T04:28:59Z</dcterms:modified>
</cp:coreProperties>
</file>