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c50cd98-b72f-8a86-69ed-efb91caedc4a}">
          <p14:sldIdLst>
            <p14:sldId id="256"/>
            <p14:sldId id="257"/>
          </p14:sldIdLst>
        </p14:section>
        <p14:section name="Why discovery" id="{119888ae-40ee-4351-40ce-60a91249e976}">
          <p14:sldIdLst>
            <p14:sldId id="258"/>
            <p14:sldId id="259"/>
          </p14:sldIdLst>
        </p14:section>
        <p14:section name="What ARD is" id="{f15f3a1e-8930-c7ce-23e3-a00d64e79ec6}">
          <p14:sldIdLst>
            <p14:sldId id="260"/>
            <p14:sldId id="261"/>
            <p14:sldId id="262"/>
            <p14:sldId id="263"/>
            <p14:sldId id="264"/>
            <p14:sldId id="265"/>
            <p14:sldId id="266"/>
            <p14:sldId id="267"/>
          </p14:sldIdLst>
        </p14:section>
        <p14:section name="My implementation" id="{05854077-25f7-cbed-c575-1dd570f222d9}">
          <p14:sldIdLst>
            <p14:sldId id="268"/>
            <p14:sldId id="269"/>
            <p14:sldId id="270"/>
            <p14:sldId id="271"/>
          </p14:sldIdLst>
        </p14:section>
        <p14:section name="Use cases" id="{9c2f5c07-e55f-36b2-ed82-0cf6706ce7e3}">
          <p14:sldIdLst>
            <p14:sldId id="272"/>
            <p14:sldId id="273"/>
            <p14:sldId id="274"/>
            <p14:sldId id="275"/>
          </p14:sldIdLst>
        </p14:section>
        <p14:section name="Wrap-up" id="{6a93b2e4-7327-6b54-222f-609cd580951d}">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what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box] This box is the model's context window. The orange row is your task: book a flight to Tokyo. Every purple row is a tool description: GitHub, Slack, Jira, Postgres, and thousands more. Most agents put every connected tool's description in here, on every turn. With five tools that's fine. With five thousand, the window is full before your task gets a look in: it burns tokens, slows things down, and the model chooses worse.
[Right side] ARD moves the choosing out of the model. Your task goes to a search service that indexes thousands of resources, and only the top three matches come back into the context: a travel agent, a flight-status server, a trip-planning skill. [Point to the dashed box] Everything else stays free for the actual work.
It's the same shift the web went through, from hand-curated directories to search engines. ARD is that search layer for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as the ID? Because a URL answers "where is it right now?", and an identifier needs to answer "what is it, and who stands behind it?" Three reasons.
[Card 1] Stable. Think of a person's name versus their home address. If Acme moves its weather server to a new host, a URL-based ID would break every registry and every saved config. With a URN, the name stays the same and only the url field changes.
[Card 2] Verifiable. Anyone can publish a JSON file claiming to be Google's official Gmail agent. ARD ties the name to a domain: an entry named urn:air:google.com-anything must carry proof issued by google.com in its trust manifest. Same idea as HTTPS: you only get a certificate for google.com if you control google.com. No proof, and a registry that checks rejects it.
[Card 3] Unique without a referee. When registries merge results, two publishers will both call something "weather". Instead of a central body handing out names, ARD reuses DNS: only one organisation owns acme.com, so everything under urn:air:acme.com is theirs. If you've written Java, it's the same trick as com.acme package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Registries and one REST search API · 1:00
So how does anyone find these entries? A publisher puts them in a small file at /.well-known/ard.json on their own domain, a bit like a sitemap for a website. Registries are the search engines that crawl those files.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Federation: three modes · 1:00
With many registries around, a natural question is: does my search only see one of them? Federation answers that. A registry is itself an ARD entry, so registries can find each other like any other resource. And because they all speak the same search API, one registry can simply ask another over HTTP.
The client chooses how far a search goes, with one field in the request. [Card 1] auto, the default: the registry asks other registries on your behalf and merges everything into one list. [Card 2] referrals: the registry gives you its own answers plus "you could also try these registries", and you decide. [Card 3] none: only this registry's own index; your query goes nowhere else.
[Bottom] If you know DNS: auto is like a resolver that does the whole lookup for you; referrals is a server saying "I don't know, but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Federation, step by step · 1:15
Here's the spec's own example. Read it top to bottom. [Top] The user asks: book me a flight to Tokyo and file the travel expense report.
[Step 1] The orchestrator, which is the user's agent, searches the company's internal registry in referrals mode.
[Step 2] The company registry answers: here's our internal expenses agent, a strong match at 97, and here are two other registries you could try for the rest.
[Step 3] The orchestrator picks the travel finder and asks it only about the flight. Notice what it doesn't send: anything about the expense report. That stays inside the company. That's the point of referrals: the agent decides where each part of its question goes.
[Step 4] The travel finder returns a flight booking agent.
[Step 5] Now the orchestrator has both agents and calls each one through its own protocol. ARD's job ended at step 4: it finds things; it doesn't run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which only lists public entries if an admin opts in,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Guardrails · 1:00
Discovery could easily become a back door around a registry's rules, so I built in four guardrails.
[Top left] Score means relevance only, as the spec says. Approval and harness support are separate fields, and policy filters run before ranking.
[Top right] Discovery is scoped to you. A signed-in user only discovers their own listings and the teamspaces they belong to, not everyone else's public listings, and drafts only reach their owners. My first version mirrored the registry's browse rules; I tightened it in a follow-up because search is a much stronger way to surface things than browsing. Anonymous search is off unless an admin turns it on.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3.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3.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 tool, every turn</a:t>
            </a:r>
            <a:endParaRPr lang="en-US" sz="1800" dirty="0"/>
          </a:p>
        </p:txBody>
      </p:sp>
      <p:sp>
        <p:nvSpPr>
          <p:cNvPr id="5" name="Context window today"/>
          <p:cNvSpPr/>
          <p:nvPr/>
        </p:nvSpPr>
        <p:spPr>
          <a:xfrm>
            <a:off x="548640" y="2468880"/>
            <a:ext cx="5394960" cy="3108960"/>
          </a:xfrm>
          <a:prstGeom prst="roundRect">
            <a:avLst>
              <a:gd name="adj" fmla="val 2353"/>
            </a:avLst>
          </a:prstGeom>
          <a:solidFill>
            <a:schemeClr val="bg1"/>
          </a:solidFill>
          <a:ln w="15875">
            <a:solidFill>
              <a:srgbClr val="474552"/>
            </a:solidFill>
            <a:prstDash val="solid"/>
          </a:ln>
        </p:spPr>
      </p:sp>
      <p:sp>
        <p:nvSpPr>
          <p:cNvPr id="6" name="Text 4"/>
          <p:cNvSpPr txBox="1"/>
          <p:nvPr/>
        </p:nvSpPr>
        <p:spPr>
          <a:xfrm>
            <a:off x="777240"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7" name="Full chip"/>
          <p:cNvSpPr/>
          <p:nvPr/>
        </p:nvSpPr>
        <p:spPr>
          <a:xfrm>
            <a:off x="4937760" y="2578608"/>
            <a:ext cx="777240" cy="274320"/>
          </a:xfrm>
          <a:prstGeom prst="roundRect">
            <a:avLst>
              <a:gd name="adj" fmla="val 50000"/>
            </a:avLst>
          </a:prstGeom>
          <a:solidFill>
            <a:schemeClr val="accent2"/>
          </a:solidFill>
          <a:ln/>
        </p:spPr>
      </p:sp>
      <p:sp>
        <p:nvSpPr>
          <p:cNvPr id="8" name="Text 6"/>
          <p:cNvSpPr txBox="1"/>
          <p:nvPr/>
        </p:nvSpPr>
        <p:spPr>
          <a:xfrm>
            <a:off x="4937760" y="2578608"/>
            <a:ext cx="777240" cy="274320"/>
          </a:xfrm>
          <a:prstGeom prst="rect">
            <a:avLst/>
          </a:prstGeom>
          <a:noFill/>
          <a:ln/>
        </p:spPr>
        <p:txBody>
          <a:bodyPr wrap="square" lIns="0" tIns="0" rIns="0" bIns="0" rtlCol="0" anchor="ctr"/>
          <a:lstStyle/>
          <a:p>
            <a:pPr algn="ctr" indent="0" marL="0">
              <a:buNone/>
            </a:pPr>
            <a:r>
              <a:rPr lang="en-US" sz="1200" b="1" dirty="0">
                <a:solidFill>
                  <a:schemeClr val="bg1"/>
                </a:solidFill>
              </a:rPr>
              <a:t>Full</a:t>
            </a:r>
            <a:endParaRPr lang="en-US" sz="1200" dirty="0"/>
          </a:p>
        </p:txBody>
      </p:sp>
      <p:sp>
        <p:nvSpPr>
          <p:cNvPr id="9" name="Task bar left"/>
          <p:cNvSpPr/>
          <p:nvPr/>
        </p:nvSpPr>
        <p:spPr>
          <a:xfrm>
            <a:off x="777240" y="2971800"/>
            <a:ext cx="4937760" cy="274320"/>
          </a:xfrm>
          <a:prstGeom prst="roundRect">
            <a:avLst>
              <a:gd name="adj" fmla="val 16667"/>
            </a:avLst>
          </a:prstGeom>
          <a:solidFill>
            <a:schemeClr val="accent1"/>
          </a:solidFill>
          <a:ln/>
        </p:spPr>
      </p:sp>
      <p:sp>
        <p:nvSpPr>
          <p:cNvPr id="10" name="Text 8"/>
          <p:cNvSpPr txBox="1"/>
          <p:nvPr/>
        </p:nvSpPr>
        <p:spPr>
          <a:xfrm>
            <a:off x="905256" y="2971800"/>
            <a:ext cx="475488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11" name="Tool description 1"/>
          <p:cNvSpPr/>
          <p:nvPr/>
        </p:nvSpPr>
        <p:spPr>
          <a:xfrm>
            <a:off x="777240" y="3383280"/>
            <a:ext cx="4937760" cy="274320"/>
          </a:xfrm>
          <a:prstGeom prst="roundRect">
            <a:avLst>
              <a:gd name="adj" fmla="val 16667"/>
            </a:avLst>
          </a:prstGeom>
          <a:solidFill>
            <a:schemeClr val="accent3"/>
          </a:solidFill>
          <a:ln/>
        </p:spPr>
      </p:sp>
      <p:sp>
        <p:nvSpPr>
          <p:cNvPr id="12" name="Text 10"/>
          <p:cNvSpPr txBox="1"/>
          <p:nvPr/>
        </p:nvSpPr>
        <p:spPr>
          <a:xfrm>
            <a:off x="905256" y="3383280"/>
            <a:ext cx="4754880" cy="274320"/>
          </a:xfrm>
          <a:prstGeom prst="rect">
            <a:avLst/>
          </a:prstGeom>
          <a:noFill/>
          <a:ln/>
        </p:spPr>
        <p:txBody>
          <a:bodyPr wrap="square" lIns="0" tIns="0" rIns="0" bIns="0" rtlCol="0" anchor="ctr"/>
          <a:lstStyle/>
          <a:p>
            <a:pPr indent="0" marL="0">
              <a:buNone/>
            </a:pPr>
            <a:r>
              <a:rPr lang="en-US" sz="1200" dirty="0">
                <a:solidFill>
                  <a:schemeClr val="tx1"/>
                </a:solidFill>
              </a:rPr>
              <a:t>github MCP server</a:t>
            </a:r>
            <a:endParaRPr lang="en-US" sz="1200" dirty="0"/>
          </a:p>
        </p:txBody>
      </p:sp>
      <p:sp>
        <p:nvSpPr>
          <p:cNvPr id="13" name="Tool description 2"/>
          <p:cNvSpPr/>
          <p:nvPr/>
        </p:nvSpPr>
        <p:spPr>
          <a:xfrm>
            <a:off x="777240" y="3694176"/>
            <a:ext cx="4206240" cy="274320"/>
          </a:xfrm>
          <a:prstGeom prst="roundRect">
            <a:avLst>
              <a:gd name="adj" fmla="val 16667"/>
            </a:avLst>
          </a:prstGeom>
          <a:solidFill>
            <a:schemeClr val="accent3"/>
          </a:solidFill>
          <a:ln/>
        </p:spPr>
      </p:sp>
      <p:sp>
        <p:nvSpPr>
          <p:cNvPr id="14" name="Text 12"/>
          <p:cNvSpPr txBox="1"/>
          <p:nvPr/>
        </p:nvSpPr>
        <p:spPr>
          <a:xfrm>
            <a:off x="905256" y="3694176"/>
            <a:ext cx="4023360" cy="274320"/>
          </a:xfrm>
          <a:prstGeom prst="rect">
            <a:avLst/>
          </a:prstGeom>
          <a:noFill/>
          <a:ln/>
        </p:spPr>
        <p:txBody>
          <a:bodyPr wrap="square" lIns="0" tIns="0" rIns="0" bIns="0" rtlCol="0" anchor="ctr"/>
          <a:lstStyle/>
          <a:p>
            <a:pPr indent="0" marL="0">
              <a:buNone/>
            </a:pPr>
            <a:r>
              <a:rPr lang="en-US" sz="1200" dirty="0">
                <a:solidFill>
                  <a:schemeClr val="tx1"/>
                </a:solidFill>
              </a:rPr>
              <a:t>slack MCP server</a:t>
            </a:r>
            <a:endParaRPr lang="en-US" sz="1200" dirty="0"/>
          </a:p>
        </p:txBody>
      </p:sp>
      <p:sp>
        <p:nvSpPr>
          <p:cNvPr id="15" name="Tool description 3"/>
          <p:cNvSpPr/>
          <p:nvPr/>
        </p:nvSpPr>
        <p:spPr>
          <a:xfrm>
            <a:off x="777240" y="4005072"/>
            <a:ext cx="4572000" cy="274320"/>
          </a:xfrm>
          <a:prstGeom prst="roundRect">
            <a:avLst>
              <a:gd name="adj" fmla="val 16667"/>
            </a:avLst>
          </a:prstGeom>
          <a:solidFill>
            <a:schemeClr val="accent3"/>
          </a:solidFill>
          <a:ln/>
        </p:spPr>
      </p:sp>
      <p:sp>
        <p:nvSpPr>
          <p:cNvPr id="16" name="Text 14"/>
          <p:cNvSpPr txBox="1"/>
          <p:nvPr/>
        </p:nvSpPr>
        <p:spPr>
          <a:xfrm>
            <a:off x="905256" y="4005072"/>
            <a:ext cx="4389120" cy="274320"/>
          </a:xfrm>
          <a:prstGeom prst="rect">
            <a:avLst/>
          </a:prstGeom>
          <a:noFill/>
          <a:ln/>
        </p:spPr>
        <p:txBody>
          <a:bodyPr wrap="square" lIns="0" tIns="0" rIns="0" bIns="0" rtlCol="0" anchor="ctr"/>
          <a:lstStyle/>
          <a:p>
            <a:pPr indent="0" marL="0">
              <a:buNone/>
            </a:pPr>
            <a:r>
              <a:rPr lang="en-US" sz="1200" dirty="0">
                <a:solidFill>
                  <a:schemeClr val="tx1"/>
                </a:solidFill>
              </a:rPr>
              <a:t>jira MCP server</a:t>
            </a:r>
            <a:endParaRPr lang="en-US" sz="1200" dirty="0"/>
          </a:p>
        </p:txBody>
      </p:sp>
      <p:sp>
        <p:nvSpPr>
          <p:cNvPr id="17" name="Tool description 4"/>
          <p:cNvSpPr/>
          <p:nvPr/>
        </p:nvSpPr>
        <p:spPr>
          <a:xfrm>
            <a:off x="777240" y="4315968"/>
            <a:ext cx="3840480" cy="274320"/>
          </a:xfrm>
          <a:prstGeom prst="roundRect">
            <a:avLst>
              <a:gd name="adj" fmla="val 16667"/>
            </a:avLst>
          </a:prstGeom>
          <a:solidFill>
            <a:schemeClr val="accent3"/>
          </a:solidFill>
          <a:ln/>
        </p:spPr>
      </p:sp>
      <p:sp>
        <p:nvSpPr>
          <p:cNvPr id="18" name="Text 16"/>
          <p:cNvSpPr txBox="1"/>
          <p:nvPr/>
        </p:nvSpPr>
        <p:spPr>
          <a:xfrm>
            <a:off x="905256" y="4315968"/>
            <a:ext cx="3657600" cy="274320"/>
          </a:xfrm>
          <a:prstGeom prst="rect">
            <a:avLst/>
          </a:prstGeom>
          <a:noFill/>
          <a:ln/>
        </p:spPr>
        <p:txBody>
          <a:bodyPr wrap="square" lIns="0" tIns="0" rIns="0" bIns="0" rtlCol="0" anchor="ctr"/>
          <a:lstStyle/>
          <a:p>
            <a:pPr indent="0" marL="0">
              <a:buNone/>
            </a:pPr>
            <a:r>
              <a:rPr lang="en-US" sz="1200" dirty="0">
                <a:solidFill>
                  <a:schemeClr val="tx1"/>
                </a:solidFill>
              </a:rPr>
              <a:t>postgres MCP server</a:t>
            </a:r>
            <a:endParaRPr lang="en-US" sz="1200" dirty="0"/>
          </a:p>
        </p:txBody>
      </p:sp>
      <p:sp>
        <p:nvSpPr>
          <p:cNvPr id="19" name="Tool description 5"/>
          <p:cNvSpPr/>
          <p:nvPr/>
        </p:nvSpPr>
        <p:spPr>
          <a:xfrm>
            <a:off x="777240" y="4626864"/>
            <a:ext cx="4389120" cy="274320"/>
          </a:xfrm>
          <a:prstGeom prst="roundRect">
            <a:avLst>
              <a:gd name="adj" fmla="val 16667"/>
            </a:avLst>
          </a:prstGeom>
          <a:solidFill>
            <a:schemeClr val="accent3"/>
          </a:solidFill>
          <a:ln/>
        </p:spPr>
      </p:sp>
      <p:sp>
        <p:nvSpPr>
          <p:cNvPr id="20" name="Text 18"/>
          <p:cNvSpPr txBox="1"/>
          <p:nvPr/>
        </p:nvSpPr>
        <p:spPr>
          <a:xfrm>
            <a:off x="905256" y="4626864"/>
            <a:ext cx="4206240" cy="274320"/>
          </a:xfrm>
          <a:prstGeom prst="rect">
            <a:avLst/>
          </a:prstGeom>
          <a:noFill/>
          <a:ln/>
        </p:spPr>
        <p:txBody>
          <a:bodyPr wrap="square" lIns="0" tIns="0" rIns="0" bIns="0" rtlCol="0" anchor="ctr"/>
          <a:lstStyle/>
          <a:p>
            <a:pPr indent="0" marL="0">
              <a:buNone/>
            </a:pPr>
            <a:r>
              <a:rPr lang="en-US" sz="1200" dirty="0">
                <a:solidFill>
                  <a:schemeClr val="tx1"/>
                </a:solidFill>
              </a:rPr>
              <a:t>figma MCP server</a:t>
            </a:r>
            <a:endParaRPr lang="en-US" sz="1200" dirty="0"/>
          </a:p>
        </p:txBody>
      </p:sp>
      <p:sp>
        <p:nvSpPr>
          <p:cNvPr id="21" name="Tool description 6"/>
          <p:cNvSpPr/>
          <p:nvPr/>
        </p:nvSpPr>
        <p:spPr>
          <a:xfrm>
            <a:off x="777240" y="4937760"/>
            <a:ext cx="4023360" cy="274320"/>
          </a:xfrm>
          <a:prstGeom prst="roundRect">
            <a:avLst>
              <a:gd name="adj" fmla="val 16667"/>
            </a:avLst>
          </a:prstGeom>
          <a:solidFill>
            <a:schemeClr val="accent3"/>
          </a:solidFill>
          <a:ln/>
        </p:spPr>
      </p:sp>
      <p:sp>
        <p:nvSpPr>
          <p:cNvPr id="22" name="Text 20"/>
          <p:cNvSpPr txBox="1"/>
          <p:nvPr/>
        </p:nvSpPr>
        <p:spPr>
          <a:xfrm>
            <a:off x="905256" y="4937760"/>
            <a:ext cx="3840480" cy="274320"/>
          </a:xfrm>
          <a:prstGeom prst="rect">
            <a:avLst/>
          </a:prstGeom>
          <a:noFill/>
          <a:ln/>
        </p:spPr>
        <p:txBody>
          <a:bodyPr wrap="square" lIns="0" tIns="0" rIns="0" bIns="0" rtlCol="0" anchor="ctr"/>
          <a:lstStyle/>
          <a:p>
            <a:pPr indent="0" marL="0">
              <a:buNone/>
            </a:pPr>
            <a:r>
              <a:rPr lang="en-US" sz="1200" dirty="0">
                <a:solidFill>
                  <a:schemeClr val="tx1"/>
                </a:solidFill>
              </a:rPr>
              <a:t>calendar MCP server</a:t>
            </a:r>
            <a:endParaRPr lang="en-US" sz="1200" dirty="0"/>
          </a:p>
        </p:txBody>
      </p:sp>
      <p:sp>
        <p:nvSpPr>
          <p:cNvPr id="23" name="Text 21"/>
          <p:cNvSpPr txBox="1"/>
          <p:nvPr/>
        </p:nvSpPr>
        <p:spPr>
          <a:xfrm>
            <a:off x="905256" y="5230368"/>
            <a:ext cx="4754880" cy="274320"/>
          </a:xfrm>
          <a:prstGeom prst="rect">
            <a:avLst/>
          </a:prstGeom>
          <a:noFill/>
          <a:ln/>
        </p:spPr>
        <p:txBody>
          <a:bodyPr wrap="square" lIns="0" tIns="0" rIns="0" bIns="0" rtlCol="0" anchor="ctr"/>
          <a:lstStyle/>
          <a:p>
            <a:pPr indent="0" marL="0">
              <a:buNone/>
            </a:pPr>
            <a:r>
              <a:rPr lang="en-US" sz="1200" i="1" dirty="0">
                <a:solidFill>
                  <a:schemeClr val="accent6"/>
                </a:solidFill>
              </a:rPr>
              <a:t>… and 4,990 more tool descriptions</a:t>
            </a:r>
            <a:endParaRPr lang="en-US" sz="1200" dirty="0"/>
          </a:p>
        </p:txBody>
      </p:sp>
      <p:sp>
        <p:nvSpPr>
          <p:cNvPr id="24" name="Text 22"/>
          <p:cNvSpPr txBox="1"/>
          <p:nvPr/>
        </p:nvSpPr>
        <p:spPr>
          <a:xfrm>
            <a:off x="548640"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Thousands of descriptions on every turn: costly, slow, and the task gets crowded out.</a:t>
            </a:r>
            <a:endParaRPr lang="en-US" sz="1500" dirty="0"/>
          </a:p>
        </p:txBody>
      </p:sp>
      <p:sp>
        <p:nvSpPr>
          <p:cNvPr id="25" name="Text 23"/>
          <p:cNvSpPr txBox="1"/>
          <p:nvPr/>
        </p:nvSpPr>
        <p:spPr>
          <a:xfrm>
            <a:off x="6245352"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26" name="Search service"/>
          <p:cNvSpPr/>
          <p:nvPr/>
        </p:nvSpPr>
        <p:spPr>
          <a:xfrm>
            <a:off x="6245352" y="2468880"/>
            <a:ext cx="2331720" cy="3108960"/>
          </a:xfrm>
          <a:prstGeom prst="roundRect">
            <a:avLst>
              <a:gd name="adj" fmla="val 5490"/>
            </a:avLst>
          </a:prstGeom>
          <a:solidFill>
            <a:schemeClr val="bg2"/>
          </a:solidFill>
          <a:ln/>
        </p:spPr>
      </p:sp>
      <p:sp>
        <p:nvSpPr>
          <p:cNvPr id="27" name="Search service circle"/>
          <p:cNvSpPr/>
          <p:nvPr/>
        </p:nvSpPr>
        <p:spPr>
          <a:xfrm>
            <a:off x="6999732" y="2788920"/>
            <a:ext cx="822960" cy="822960"/>
          </a:xfrm>
          <a:prstGeom prst="ellipse">
            <a:avLst/>
          </a:prstGeom>
          <a:solidFill>
            <a:schemeClr val="accent5"/>
          </a:solidFill>
          <a:ln/>
        </p:spPr>
      </p:sp>
      <p:pic>
        <p:nvPicPr>
          <p:cNvPr id="28" name="Search service icon" descr="preencoded.png">    </p:cNvPr>
          <p:cNvPicPr>
            <a:picLocks noChangeAspect="1"/>
          </p:cNvPicPr>
          <p:nvPr/>
        </p:nvPicPr>
        <p:blipFill>
          <a:blip r:embed="rId1"/>
          <a:stretch>
            <a:fillRect/>
          </a:stretch>
        </p:blipFill>
        <p:spPr>
          <a:xfrm>
            <a:off x="7205472" y="2994660"/>
            <a:ext cx="411480" cy="411480"/>
          </a:xfrm>
          <a:prstGeom prst="rect">
            <a:avLst/>
          </a:prstGeom>
        </p:spPr>
      </p:pic>
      <p:sp>
        <p:nvSpPr>
          <p:cNvPr id="29" name="Text 26"/>
          <p:cNvSpPr txBox="1"/>
          <p:nvPr/>
        </p:nvSpPr>
        <p:spPr>
          <a:xfrm>
            <a:off x="6336792" y="3749040"/>
            <a:ext cx="214884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30" name="Text 27"/>
          <p:cNvSpPr txBox="1"/>
          <p:nvPr/>
        </p:nvSpPr>
        <p:spPr>
          <a:xfrm>
            <a:off x="6400800" y="4160520"/>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31" name="Text 28"/>
          <p:cNvSpPr txBox="1"/>
          <p:nvPr/>
        </p:nvSpPr>
        <p:spPr>
          <a:xfrm>
            <a:off x="8577072" y="3639312"/>
            <a:ext cx="594360" cy="274320"/>
          </a:xfrm>
          <a:prstGeom prst="rect">
            <a:avLst/>
          </a:prstGeom>
          <a:noFill/>
          <a:ln/>
        </p:spPr>
        <p:txBody>
          <a:bodyPr wrap="square" lIns="0" tIns="0" rIns="0" bIns="0" rtlCol="0" anchor="t"/>
          <a:lstStyle/>
          <a:p>
            <a:pPr algn="ctr" indent="0" marL="0">
              <a:buNone/>
            </a:pPr>
            <a:r>
              <a:rPr lang="en-US" sz="1100" b="1" dirty="0">
                <a:solidFill>
                  <a:schemeClr val="accent6"/>
                </a:solidFill>
              </a:rPr>
              <a:t>top 3</a:t>
            </a:r>
            <a:endParaRPr lang="en-US" sz="1100" dirty="0"/>
          </a:p>
        </p:txBody>
      </p:sp>
      <p:sp>
        <p:nvSpPr>
          <p:cNvPr id="32" name="Search to context"/>
          <p:cNvSpPr/>
          <p:nvPr/>
        </p:nvSpPr>
        <p:spPr>
          <a:xfrm>
            <a:off x="8641080" y="4023360"/>
            <a:ext cx="457200" cy="0"/>
          </a:xfrm>
          <a:prstGeom prst="line">
            <a:avLst/>
          </a:prstGeom>
          <a:noFill/>
          <a:ln w="22225">
            <a:solidFill>
              <a:srgbClr val="474552"/>
            </a:solidFill>
            <a:prstDash val="solid"/>
            <a:tailEnd type="triangle"/>
          </a:ln>
        </p:spPr>
      </p:sp>
      <p:sp>
        <p:nvSpPr>
          <p:cNvPr id="33" name="Context window with ARD"/>
          <p:cNvSpPr/>
          <p:nvPr/>
        </p:nvSpPr>
        <p:spPr>
          <a:xfrm>
            <a:off x="9171432" y="2468880"/>
            <a:ext cx="2468880" cy="3108960"/>
          </a:xfrm>
          <a:prstGeom prst="roundRect">
            <a:avLst>
              <a:gd name="adj" fmla="val 2963"/>
            </a:avLst>
          </a:prstGeom>
          <a:solidFill>
            <a:schemeClr val="bg1"/>
          </a:solidFill>
          <a:ln w="15875">
            <a:solidFill>
              <a:srgbClr val="474552"/>
            </a:solidFill>
            <a:prstDash val="solid"/>
          </a:ln>
        </p:spPr>
      </p:sp>
      <p:sp>
        <p:nvSpPr>
          <p:cNvPr id="34" name="Text 31"/>
          <p:cNvSpPr txBox="1"/>
          <p:nvPr/>
        </p:nvSpPr>
        <p:spPr>
          <a:xfrm>
            <a:off x="9354312"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35" name="Task bar right"/>
          <p:cNvSpPr/>
          <p:nvPr/>
        </p:nvSpPr>
        <p:spPr>
          <a:xfrm>
            <a:off x="9354312" y="2971800"/>
            <a:ext cx="2103120" cy="274320"/>
          </a:xfrm>
          <a:prstGeom prst="roundRect">
            <a:avLst>
              <a:gd name="adj" fmla="val 16667"/>
            </a:avLst>
          </a:prstGeom>
          <a:solidFill>
            <a:schemeClr val="accent1"/>
          </a:solidFill>
          <a:ln/>
        </p:spPr>
      </p:sp>
      <p:sp>
        <p:nvSpPr>
          <p:cNvPr id="36" name="Text 33"/>
          <p:cNvSpPr txBox="1"/>
          <p:nvPr/>
        </p:nvSpPr>
        <p:spPr>
          <a:xfrm>
            <a:off x="9482328" y="2971800"/>
            <a:ext cx="192024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37" name="Top result 1"/>
          <p:cNvSpPr/>
          <p:nvPr/>
        </p:nvSpPr>
        <p:spPr>
          <a:xfrm>
            <a:off x="9354312" y="3383280"/>
            <a:ext cx="2103120" cy="274320"/>
          </a:xfrm>
          <a:prstGeom prst="roundRect">
            <a:avLst>
              <a:gd name="adj" fmla="val 16667"/>
            </a:avLst>
          </a:prstGeom>
          <a:solidFill>
            <a:schemeClr val="accent3"/>
          </a:solidFill>
          <a:ln/>
        </p:spPr>
      </p:sp>
      <p:sp>
        <p:nvSpPr>
          <p:cNvPr id="38" name="Text 35"/>
          <p:cNvSpPr txBox="1"/>
          <p:nvPr/>
        </p:nvSpPr>
        <p:spPr>
          <a:xfrm>
            <a:off x="9482328" y="3383280"/>
            <a:ext cx="1920240" cy="274320"/>
          </a:xfrm>
          <a:prstGeom prst="rect">
            <a:avLst/>
          </a:prstGeom>
          <a:noFill/>
          <a:ln/>
        </p:spPr>
        <p:txBody>
          <a:bodyPr wrap="square" lIns="0" tIns="0" rIns="0" bIns="0" rtlCol="0" anchor="ctr"/>
          <a:lstStyle/>
          <a:p>
            <a:pPr indent="0" marL="0">
              <a:buNone/>
            </a:pPr>
            <a:r>
              <a:rPr lang="en-US" sz="1200" dirty="0">
                <a:solidFill>
                  <a:schemeClr val="tx1"/>
                </a:solidFill>
              </a:rPr>
              <a:t>Travel Booker · A2A</a:t>
            </a:r>
            <a:endParaRPr lang="en-US" sz="1200" dirty="0"/>
          </a:p>
        </p:txBody>
      </p:sp>
      <p:sp>
        <p:nvSpPr>
          <p:cNvPr id="39" name="Top result 2"/>
          <p:cNvSpPr/>
          <p:nvPr/>
        </p:nvSpPr>
        <p:spPr>
          <a:xfrm>
            <a:off x="9354312" y="3694176"/>
            <a:ext cx="2103120" cy="274320"/>
          </a:xfrm>
          <a:prstGeom prst="roundRect">
            <a:avLst>
              <a:gd name="adj" fmla="val 16667"/>
            </a:avLst>
          </a:prstGeom>
          <a:solidFill>
            <a:schemeClr val="accent3"/>
          </a:solidFill>
          <a:ln/>
        </p:spPr>
      </p:sp>
      <p:sp>
        <p:nvSpPr>
          <p:cNvPr id="40" name="Text 37"/>
          <p:cNvSpPr txBox="1"/>
          <p:nvPr/>
        </p:nvSpPr>
        <p:spPr>
          <a:xfrm>
            <a:off x="9482328" y="3694176"/>
            <a:ext cx="1920240" cy="274320"/>
          </a:xfrm>
          <a:prstGeom prst="rect">
            <a:avLst/>
          </a:prstGeom>
          <a:noFill/>
          <a:ln/>
        </p:spPr>
        <p:txBody>
          <a:bodyPr wrap="square" lIns="0" tIns="0" rIns="0" bIns="0" rtlCol="0" anchor="ctr"/>
          <a:lstStyle/>
          <a:p>
            <a:pPr indent="0" marL="0">
              <a:buNone/>
            </a:pPr>
            <a:r>
              <a:rPr lang="en-US" sz="1200" dirty="0">
                <a:solidFill>
                  <a:schemeClr val="tx1"/>
                </a:solidFill>
              </a:rPr>
              <a:t>Flight Status · MCP</a:t>
            </a:r>
            <a:endParaRPr lang="en-US" sz="1200" dirty="0"/>
          </a:p>
        </p:txBody>
      </p:sp>
      <p:sp>
        <p:nvSpPr>
          <p:cNvPr id="41" name="Top result 3"/>
          <p:cNvSpPr/>
          <p:nvPr/>
        </p:nvSpPr>
        <p:spPr>
          <a:xfrm>
            <a:off x="9354312" y="4005072"/>
            <a:ext cx="2103120" cy="274320"/>
          </a:xfrm>
          <a:prstGeom prst="roundRect">
            <a:avLst>
              <a:gd name="adj" fmla="val 16667"/>
            </a:avLst>
          </a:prstGeom>
          <a:solidFill>
            <a:schemeClr val="accent3"/>
          </a:solidFill>
          <a:ln/>
        </p:spPr>
      </p:sp>
      <p:sp>
        <p:nvSpPr>
          <p:cNvPr id="42" name="Text 39"/>
          <p:cNvSpPr txBox="1"/>
          <p:nvPr/>
        </p:nvSpPr>
        <p:spPr>
          <a:xfrm>
            <a:off x="9482328" y="4005072"/>
            <a:ext cx="1920240" cy="274320"/>
          </a:xfrm>
          <a:prstGeom prst="rect">
            <a:avLst/>
          </a:prstGeom>
          <a:noFill/>
          <a:ln/>
        </p:spPr>
        <p:txBody>
          <a:bodyPr wrap="square" lIns="0" tIns="0" rIns="0" bIns="0" rtlCol="0" anchor="ctr"/>
          <a:lstStyle/>
          <a:p>
            <a:pPr indent="0" marL="0">
              <a:buNone/>
            </a:pPr>
            <a:r>
              <a:rPr lang="en-US" sz="1200" dirty="0">
                <a:solidFill>
                  <a:schemeClr val="tx1"/>
                </a:solidFill>
              </a:rPr>
              <a:t>trip-planner · skill</a:t>
            </a:r>
            <a:endParaRPr lang="en-US" sz="1200" dirty="0"/>
          </a:p>
        </p:txBody>
      </p:sp>
      <p:sp>
        <p:nvSpPr>
          <p:cNvPr id="43" name="Free space"/>
          <p:cNvSpPr/>
          <p:nvPr/>
        </p:nvSpPr>
        <p:spPr>
          <a:xfrm>
            <a:off x="9354312" y="4434840"/>
            <a:ext cx="2103120" cy="1005840"/>
          </a:xfrm>
          <a:prstGeom prst="roundRect">
            <a:avLst>
              <a:gd name="adj" fmla="val 7273"/>
            </a:avLst>
          </a:prstGeom>
          <a:solidFill>
            <a:schemeClr val="bg1"/>
          </a:solidFill>
          <a:ln w="15875">
            <a:solidFill>
              <a:srgbClr val="B6B0D0"/>
            </a:solidFill>
            <a:prstDash val="dash"/>
          </a:ln>
        </p:spPr>
      </p:sp>
      <p:sp>
        <p:nvSpPr>
          <p:cNvPr id="44" name="Text 41"/>
          <p:cNvSpPr txBox="1"/>
          <p:nvPr/>
        </p:nvSpPr>
        <p:spPr>
          <a:xfrm>
            <a:off x="9354312" y="4434840"/>
            <a:ext cx="2103120" cy="1005840"/>
          </a:xfrm>
          <a:prstGeom prst="rect">
            <a:avLst/>
          </a:prstGeom>
          <a:noFill/>
          <a:ln/>
        </p:spPr>
        <p:txBody>
          <a:bodyPr wrap="square" lIns="0" tIns="0" rIns="0" bIns="0" rtlCol="0" anchor="ctr"/>
          <a:lstStyle/>
          <a:p>
            <a:pPr algn="ctr" indent="0" marL="0">
              <a:buNone/>
            </a:pPr>
            <a:r>
              <a:rPr lang="en-US" sz="1200" dirty="0">
                <a:solidFill>
                  <a:schemeClr val="accent6"/>
                </a:solidFill>
              </a:rPr>
              <a:t>Free for the actual work</a:t>
            </a:r>
            <a:endParaRPr lang="en-US" sz="1200" dirty="0"/>
          </a:p>
        </p:txBody>
      </p:sp>
      <p:sp>
        <p:nvSpPr>
          <p:cNvPr id="45" name="Text 42"/>
          <p:cNvSpPr txBox="1"/>
          <p:nvPr/>
        </p:nvSpPr>
        <p:spPr>
          <a:xfrm>
            <a:off x="6245352"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Only the few that match this task, chosen outside the model.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card"/>
          <p:cNvSpPr/>
          <p:nvPr/>
        </p:nvSpPr>
        <p:spPr>
          <a:xfrm>
            <a:off x="548640" y="1965960"/>
            <a:ext cx="3575304" cy="3063240"/>
          </a:xfrm>
          <a:prstGeom prst="roundRect">
            <a:avLst>
              <a:gd name="adj" fmla="val 4179"/>
            </a:avLst>
          </a:prstGeom>
          <a:solidFill>
            <a:schemeClr val="bg2"/>
          </a:solidFill>
          <a:ln/>
        </p:spPr>
      </p:sp>
      <p:sp>
        <p:nvSpPr>
          <p:cNvPr id="5" name="Text 3"/>
          <p:cNvSpPr txBox="1"/>
          <p:nvPr/>
        </p:nvSpPr>
        <p:spPr>
          <a:xfrm>
            <a:off x="822960"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auto</a:t>
            </a:r>
            <a:endParaRPr lang="en-US" sz="2400" dirty="0"/>
          </a:p>
        </p:txBody>
      </p:sp>
      <p:sp>
        <p:nvSpPr>
          <p:cNvPr id="6" name="Default chip"/>
          <p:cNvSpPr/>
          <p:nvPr/>
        </p:nvSpPr>
        <p:spPr>
          <a:xfrm>
            <a:off x="2926080" y="2240280"/>
            <a:ext cx="914400" cy="292608"/>
          </a:xfrm>
          <a:prstGeom prst="roundRect">
            <a:avLst>
              <a:gd name="adj" fmla="val 50000"/>
            </a:avLst>
          </a:prstGeom>
          <a:solidFill>
            <a:schemeClr val="accent3"/>
          </a:solidFill>
          <a:ln/>
        </p:spPr>
      </p:sp>
      <p:sp>
        <p:nvSpPr>
          <p:cNvPr id="7" name="Text 5"/>
          <p:cNvSpPr txBox="1"/>
          <p:nvPr/>
        </p:nvSpPr>
        <p:spPr>
          <a:xfrm>
            <a:off x="2926080" y="2240280"/>
            <a:ext cx="914400" cy="292608"/>
          </a:xfrm>
          <a:prstGeom prst="rect">
            <a:avLst/>
          </a:prstGeom>
          <a:noFill/>
          <a:ln/>
        </p:spPr>
        <p:txBody>
          <a:bodyPr wrap="square" lIns="0" tIns="0" rIns="0" bIns="0" rtlCol="0" anchor="ctr"/>
          <a:lstStyle/>
          <a:p>
            <a:pPr algn="ctr" indent="0" marL="0">
              <a:buNone/>
            </a:pPr>
            <a:r>
              <a:rPr lang="en-US" sz="1200" b="1" dirty="0">
                <a:solidFill>
                  <a:schemeClr val="tx1"/>
                </a:solidFill>
              </a:rPr>
              <a:t>default</a:t>
            </a:r>
            <a:endParaRPr lang="en-US" sz="1200" dirty="0"/>
          </a:p>
        </p:txBody>
      </p:sp>
      <p:sp>
        <p:nvSpPr>
          <p:cNvPr id="8" name="Text 6"/>
          <p:cNvSpPr txBox="1"/>
          <p:nvPr/>
        </p:nvSpPr>
        <p:spPr>
          <a:xfrm>
            <a:off x="822960"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asks other registries for you and merges everything into one list.</a:t>
            </a:r>
            <a:endParaRPr lang="en-US" sz="1600" dirty="0"/>
          </a:p>
        </p:txBody>
      </p:sp>
      <p:sp>
        <p:nvSpPr>
          <p:cNvPr id="9" name="Text 7"/>
          <p:cNvSpPr txBox="1"/>
          <p:nvPr/>
        </p:nvSpPr>
        <p:spPr>
          <a:xfrm>
            <a:off x="822960"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other registries → one merged list</a:t>
            </a:r>
            <a:endParaRPr lang="en-US" sz="1300" dirty="0"/>
          </a:p>
        </p:txBody>
      </p:sp>
      <p:sp>
        <p:nvSpPr>
          <p:cNvPr id="10" name="Text 8"/>
          <p:cNvSpPr txBox="1"/>
          <p:nvPr/>
        </p:nvSpPr>
        <p:spPr>
          <a:xfrm>
            <a:off x="822960"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simple clients</a:t>
            </a:r>
            <a:endParaRPr lang="en-US" sz="1300" dirty="0"/>
          </a:p>
        </p:txBody>
      </p:sp>
      <p:sp>
        <p:nvSpPr>
          <p:cNvPr id="11" name="Mode referrals card"/>
          <p:cNvSpPr/>
          <p:nvPr/>
        </p:nvSpPr>
        <p:spPr>
          <a:xfrm>
            <a:off x="4306824" y="1965960"/>
            <a:ext cx="3575304" cy="3063240"/>
          </a:xfrm>
          <a:prstGeom prst="roundRect">
            <a:avLst>
              <a:gd name="adj" fmla="val 4179"/>
            </a:avLst>
          </a:prstGeom>
          <a:solidFill>
            <a:schemeClr val="bg2"/>
          </a:solidFill>
          <a:ln/>
        </p:spPr>
      </p:sp>
      <p:sp>
        <p:nvSpPr>
          <p:cNvPr id="12" name="Text 10"/>
          <p:cNvSpPr txBox="1"/>
          <p:nvPr/>
        </p:nvSpPr>
        <p:spPr>
          <a:xfrm>
            <a:off x="4581144"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referrals</a:t>
            </a:r>
            <a:endParaRPr lang="en-US" sz="2400" dirty="0"/>
          </a:p>
        </p:txBody>
      </p:sp>
      <p:sp>
        <p:nvSpPr>
          <p:cNvPr id="13" name="Text 11"/>
          <p:cNvSpPr txBox="1"/>
          <p:nvPr/>
        </p:nvSpPr>
        <p:spPr>
          <a:xfrm>
            <a:off x="4581144"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answers, then suggests other registries to try. You decide whether to ask them.</a:t>
            </a:r>
            <a:endParaRPr lang="en-US" sz="1600" dirty="0"/>
          </a:p>
        </p:txBody>
      </p:sp>
      <p:sp>
        <p:nvSpPr>
          <p:cNvPr id="14" name="Text 12"/>
          <p:cNvSpPr txBox="1"/>
          <p:nvPr/>
        </p:nvSpPr>
        <p:spPr>
          <a:xfrm>
            <a:off x="4581144"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answers + “try these” → you choose</a:t>
            </a:r>
            <a:endParaRPr lang="en-US" sz="1300" dirty="0"/>
          </a:p>
        </p:txBody>
      </p:sp>
      <p:sp>
        <p:nvSpPr>
          <p:cNvPr id="15" name="Text 13"/>
          <p:cNvSpPr txBox="1"/>
          <p:nvPr/>
        </p:nvSpPr>
        <p:spPr>
          <a:xfrm>
            <a:off x="4581144"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control over where your query goes</a:t>
            </a:r>
            <a:endParaRPr lang="en-US" sz="1300" dirty="0"/>
          </a:p>
        </p:txBody>
      </p:sp>
      <p:sp>
        <p:nvSpPr>
          <p:cNvPr id="16" name="Mode none card"/>
          <p:cNvSpPr/>
          <p:nvPr/>
        </p:nvSpPr>
        <p:spPr>
          <a:xfrm>
            <a:off x="8065008" y="1965960"/>
            <a:ext cx="3575304" cy="3063240"/>
          </a:xfrm>
          <a:prstGeom prst="roundRect">
            <a:avLst>
              <a:gd name="adj" fmla="val 4179"/>
            </a:avLst>
          </a:prstGeom>
          <a:solidFill>
            <a:schemeClr val="bg2"/>
          </a:solidFill>
          <a:ln/>
        </p:spPr>
      </p:sp>
      <p:sp>
        <p:nvSpPr>
          <p:cNvPr id="17" name="Text 15"/>
          <p:cNvSpPr txBox="1"/>
          <p:nvPr/>
        </p:nvSpPr>
        <p:spPr>
          <a:xfrm>
            <a:off x="8339328"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none</a:t>
            </a:r>
            <a:endParaRPr lang="en-US" sz="2400" dirty="0"/>
          </a:p>
        </p:txBody>
      </p:sp>
      <p:sp>
        <p:nvSpPr>
          <p:cNvPr id="18" name="Text 16"/>
          <p:cNvSpPr txBox="1"/>
          <p:nvPr/>
        </p:nvSpPr>
        <p:spPr>
          <a:xfrm>
            <a:off x="8339328"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Only this registry’s own index. Your query goes nowhere else.</a:t>
            </a:r>
            <a:endParaRPr lang="en-US" sz="1600" dirty="0"/>
          </a:p>
        </p:txBody>
      </p:sp>
      <p:sp>
        <p:nvSpPr>
          <p:cNvPr id="19" name="Text 17"/>
          <p:cNvSpPr txBox="1"/>
          <p:nvPr/>
        </p:nvSpPr>
        <p:spPr>
          <a:xfrm>
            <a:off x="8339328"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its own answers</a:t>
            </a:r>
            <a:endParaRPr lang="en-US" sz="1300" dirty="0"/>
          </a:p>
        </p:txBody>
      </p:sp>
      <p:sp>
        <p:nvSpPr>
          <p:cNvPr id="20" name="Text 18"/>
          <p:cNvSpPr txBox="1"/>
          <p:nvPr/>
        </p:nvSpPr>
        <p:spPr>
          <a:xfrm>
            <a:off x="8339328"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speed and privacy</a:t>
            </a:r>
            <a:endParaRPr lang="en-US" sz="1300" dirty="0"/>
          </a:p>
        </p:txBody>
      </p:sp>
      <p:sp>
        <p:nvSpPr>
          <p:cNvPr id="21" name="DNS analogy"/>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2" name="DNS analogy circle"/>
          <p:cNvSpPr/>
          <p:nvPr/>
        </p:nvSpPr>
        <p:spPr>
          <a:xfrm>
            <a:off x="731520" y="5413248"/>
            <a:ext cx="512064" cy="512064"/>
          </a:xfrm>
          <a:prstGeom prst="ellipse">
            <a:avLst/>
          </a:prstGeom>
          <a:solidFill>
            <a:schemeClr val="accent5"/>
          </a:solidFill>
          <a:ln/>
        </p:spPr>
      </p:sp>
      <p:pic>
        <p:nvPicPr>
          <p:cNvPr id="23" name="DNS analogy icon" descr="preencoded.png">    </p:cNvPr>
          <p:cNvPicPr>
            <a:picLocks noChangeAspect="1"/>
          </p:cNvPicPr>
          <p:nvPr/>
        </p:nvPicPr>
        <p:blipFill>
          <a:blip r:embed="rId1"/>
          <a:stretch>
            <a:fillRect/>
          </a:stretch>
        </p:blipFill>
        <p:spPr>
          <a:xfrm>
            <a:off x="859536" y="5541264"/>
            <a:ext cx="256032" cy="256032"/>
          </a:xfrm>
          <a:prstGeom prst="rect">
            <a:avLst/>
          </a:prstGeom>
        </p:spPr>
      </p:pic>
      <p:sp>
        <p:nvSpPr>
          <p:cNvPr id="24" name="Text 21"/>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600" dirty="0">
                <a:solidFill>
                  <a:schemeClr val="tx1"/>
                </a:solidFill>
              </a:rPr>
              <a:t>Like DNS: auto is a resolver that looks it up for you; referrals is “I don’t know, but ask them.”</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With referrals, the agent decides where its query goes</a:t>
            </a:r>
            <a:endParaRPr lang="en-US" sz="3200" dirty="0"/>
          </a:p>
        </p:txBody>
      </p:sp>
      <p:sp>
        <p:nvSpPr>
          <p:cNvPr id="4" name="User request"/>
          <p:cNvSpPr/>
          <p:nvPr/>
        </p:nvSpPr>
        <p:spPr>
          <a:xfrm>
            <a:off x="548640" y="1920240"/>
            <a:ext cx="11091672" cy="548640"/>
          </a:xfrm>
          <a:prstGeom prst="roundRect">
            <a:avLst>
              <a:gd name="adj" fmla="val 23333"/>
            </a:avLst>
          </a:prstGeom>
          <a:solidFill>
            <a:schemeClr val="bg2"/>
          </a:solidFill>
          <a:ln/>
        </p:spPr>
      </p:sp>
      <p:sp>
        <p:nvSpPr>
          <p:cNvPr id="5" name="Text 3"/>
          <p:cNvSpPr txBox="1"/>
          <p:nvPr/>
        </p:nvSpPr>
        <p:spPr>
          <a:xfrm>
            <a:off x="777240" y="1920240"/>
            <a:ext cx="10698480" cy="548640"/>
          </a:xfrm>
          <a:prstGeom prst="rect">
            <a:avLst/>
          </a:prstGeom>
          <a:noFill/>
          <a:ln/>
        </p:spPr>
        <p:txBody>
          <a:bodyPr wrap="square" lIns="0" tIns="0" rIns="0" bIns="0" rtlCol="0" anchor="ctr"/>
          <a:lstStyle/>
          <a:p>
            <a:pPr indent="0" marL="0">
              <a:buNone/>
            </a:pPr>
            <a:r>
              <a:rPr lang="en-US" sz="1600" b="1" dirty="0">
                <a:solidFill>
                  <a:schemeClr val="tx1"/>
                </a:solidFill>
              </a:rPr>
              <a:t>User:  </a:t>
            </a:r>
            <a:pPr indent="0" marL="0">
              <a:buNone/>
            </a:pPr>
            <a:r>
              <a:rPr lang="en-US" sz="1600" i="1" dirty="0">
                <a:solidFill>
                  <a:schemeClr val="tx1"/>
                </a:solidFill>
              </a:rPr>
              <a:t>“Book me a flight to Tokyo and file the travel expense report.”</a:t>
            </a:r>
            <a:endParaRPr lang="en-US" sz="1600" dirty="0"/>
          </a:p>
        </p:txBody>
      </p:sp>
      <p:sp>
        <p:nvSpPr>
          <p:cNvPr id="6" name="Orchestrator header"/>
          <p:cNvSpPr/>
          <p:nvPr/>
        </p:nvSpPr>
        <p:spPr>
          <a:xfrm>
            <a:off x="640080" y="2651760"/>
            <a:ext cx="2834640" cy="640080"/>
          </a:xfrm>
          <a:prstGeom prst="roundRect">
            <a:avLst>
              <a:gd name="adj" fmla="val 20000"/>
            </a:avLst>
          </a:prstGeom>
          <a:solidFill>
            <a:schemeClr val="accent5"/>
          </a:solidFill>
          <a:ln/>
        </p:spPr>
      </p:sp>
      <p:sp>
        <p:nvSpPr>
          <p:cNvPr id="7" name="Text 5"/>
          <p:cNvSpPr txBox="1"/>
          <p:nvPr/>
        </p:nvSpPr>
        <p:spPr>
          <a:xfrm>
            <a:off x="640080" y="2651760"/>
            <a:ext cx="2834640" cy="640080"/>
          </a:xfrm>
          <a:prstGeom prst="rect">
            <a:avLst/>
          </a:prstGeom>
          <a:noFill/>
          <a:ln/>
        </p:spPr>
        <p:txBody>
          <a:bodyPr wrap="square" lIns="0" tIns="0" rIns="0" bIns="0" rtlCol="0" anchor="ctr"/>
          <a:lstStyle/>
          <a:p>
            <a:pPr algn="ctr" indent="0" marL="0">
              <a:buNone/>
            </a:pPr>
            <a:r>
              <a:rPr lang="en-US" sz="1600" b="1" dirty="0">
                <a:solidFill>
                  <a:schemeClr val="bg1"/>
                </a:solidFill>
              </a:rPr>
              <a:t>Orchestrator</a:t>
            </a:r>
            <a:endParaRPr lang="en-US" sz="1600" dirty="0"/>
          </a:p>
          <a:p>
            <a:pPr algn="ctr" indent="0" marL="0">
              <a:buNone/>
            </a:pPr>
            <a:r>
              <a:rPr lang="en-US" sz="1200" dirty="0">
                <a:solidFill>
                  <a:schemeClr val="bg1"/>
                </a:solidFill>
              </a:rPr>
              <a:t>the user’s agent</a:t>
            </a:r>
            <a:endParaRPr lang="en-US" sz="1600" dirty="0"/>
          </a:p>
        </p:txBody>
      </p:sp>
      <p:sp>
        <p:nvSpPr>
          <p:cNvPr id="8" name="Orchestrator lifeline"/>
          <p:cNvSpPr/>
          <p:nvPr/>
        </p:nvSpPr>
        <p:spPr>
          <a:xfrm>
            <a:off x="2057400" y="3291840"/>
            <a:ext cx="0" cy="2148840"/>
          </a:xfrm>
          <a:prstGeom prst="line">
            <a:avLst/>
          </a:prstGeom>
          <a:noFill/>
          <a:ln w="15875">
            <a:solidFill>
              <a:srgbClr val="B6B0D0"/>
            </a:solidFill>
            <a:prstDash val="dash"/>
          </a:ln>
        </p:spPr>
      </p:sp>
      <p:sp>
        <p:nvSpPr>
          <p:cNvPr id="9" name="Company registry header"/>
          <p:cNvSpPr/>
          <p:nvPr/>
        </p:nvSpPr>
        <p:spPr>
          <a:xfrm>
            <a:off x="4754880" y="2651760"/>
            <a:ext cx="2834640" cy="640080"/>
          </a:xfrm>
          <a:prstGeom prst="roundRect">
            <a:avLst>
              <a:gd name="adj" fmla="val 20000"/>
            </a:avLst>
          </a:prstGeom>
          <a:solidFill>
            <a:schemeClr val="accent3"/>
          </a:solidFill>
          <a:ln/>
        </p:spPr>
      </p:sp>
      <p:sp>
        <p:nvSpPr>
          <p:cNvPr id="10" name="Text 8"/>
          <p:cNvSpPr txBox="1"/>
          <p:nvPr/>
        </p:nvSpPr>
        <p:spPr>
          <a:xfrm>
            <a:off x="47548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Company registry</a:t>
            </a:r>
            <a:endParaRPr lang="en-US" sz="1600" dirty="0"/>
          </a:p>
          <a:p>
            <a:pPr algn="ctr" indent="0" marL="0">
              <a:buNone/>
            </a:pPr>
            <a:r>
              <a:rPr lang="en-US" sz="1200" dirty="0">
                <a:solidFill>
                  <a:schemeClr val="accent6"/>
                </a:solidFill>
              </a:rPr>
              <a:t>internal resources</a:t>
            </a:r>
            <a:endParaRPr lang="en-US" sz="1600" dirty="0"/>
          </a:p>
        </p:txBody>
      </p:sp>
      <p:sp>
        <p:nvSpPr>
          <p:cNvPr id="11" name="Company registry lifeline"/>
          <p:cNvSpPr/>
          <p:nvPr/>
        </p:nvSpPr>
        <p:spPr>
          <a:xfrm>
            <a:off x="6172200" y="3291840"/>
            <a:ext cx="0" cy="2148840"/>
          </a:xfrm>
          <a:prstGeom prst="line">
            <a:avLst/>
          </a:prstGeom>
          <a:noFill/>
          <a:ln w="15875">
            <a:solidFill>
              <a:srgbClr val="B6B0D0"/>
            </a:solidFill>
            <a:prstDash val="dash"/>
          </a:ln>
        </p:spPr>
      </p:sp>
      <p:sp>
        <p:nvSpPr>
          <p:cNvPr id="12" name="Travel Agent Finder header"/>
          <p:cNvSpPr/>
          <p:nvPr/>
        </p:nvSpPr>
        <p:spPr>
          <a:xfrm>
            <a:off x="8641080" y="2651760"/>
            <a:ext cx="2834640" cy="640080"/>
          </a:xfrm>
          <a:prstGeom prst="roundRect">
            <a:avLst>
              <a:gd name="adj" fmla="val 20000"/>
            </a:avLst>
          </a:prstGeom>
          <a:solidFill>
            <a:schemeClr val="bg1"/>
          </a:solidFill>
          <a:ln w="19050">
            <a:solidFill>
              <a:srgbClr val="E8601F"/>
            </a:solidFill>
            <a:prstDash val="solid"/>
          </a:ln>
        </p:spPr>
      </p:sp>
      <p:sp>
        <p:nvSpPr>
          <p:cNvPr id="13" name="Text 11"/>
          <p:cNvSpPr txBox="1"/>
          <p:nvPr/>
        </p:nvSpPr>
        <p:spPr>
          <a:xfrm>
            <a:off x="86410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Travel Agent Finder</a:t>
            </a:r>
            <a:endParaRPr lang="en-US" sz="1600" dirty="0"/>
          </a:p>
          <a:p>
            <a:pPr algn="ctr" indent="0" marL="0">
              <a:buNone/>
            </a:pPr>
            <a:r>
              <a:rPr lang="en-US" sz="1200" dirty="0">
                <a:solidFill>
                  <a:schemeClr val="accent6"/>
                </a:solidFill>
              </a:rPr>
              <a:t>a public registry</a:t>
            </a:r>
            <a:endParaRPr lang="en-US" sz="1600" dirty="0"/>
          </a:p>
        </p:txBody>
      </p:sp>
      <p:sp>
        <p:nvSpPr>
          <p:cNvPr id="14" name="Travel Agent Finder lifeline"/>
          <p:cNvSpPr/>
          <p:nvPr/>
        </p:nvSpPr>
        <p:spPr>
          <a:xfrm>
            <a:off x="10058400" y="3291840"/>
            <a:ext cx="0" cy="2148840"/>
          </a:xfrm>
          <a:prstGeom prst="line">
            <a:avLst/>
          </a:prstGeom>
          <a:noFill/>
          <a:ln w="15875">
            <a:solidFill>
              <a:srgbClr val="B6B0D0"/>
            </a:solidFill>
            <a:prstDash val="dash"/>
          </a:ln>
        </p:spPr>
      </p:sp>
      <p:sp>
        <p:nvSpPr>
          <p:cNvPr id="15" name="Step 1"/>
          <p:cNvSpPr/>
          <p:nvPr/>
        </p:nvSpPr>
        <p:spPr>
          <a:xfrm>
            <a:off x="548640" y="3493008"/>
            <a:ext cx="329184" cy="329184"/>
          </a:xfrm>
          <a:prstGeom prst="ellipse">
            <a:avLst/>
          </a:prstGeom>
          <a:solidFill>
            <a:schemeClr val="accent5"/>
          </a:solidFill>
          <a:ln/>
        </p:spPr>
      </p:sp>
      <p:sp>
        <p:nvSpPr>
          <p:cNvPr id="16" name="Text 14"/>
          <p:cNvSpPr txBox="1"/>
          <p:nvPr/>
        </p:nvSpPr>
        <p:spPr>
          <a:xfrm>
            <a:off x="548640" y="349300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7" name="Message 1"/>
          <p:cNvSpPr/>
          <p:nvPr/>
        </p:nvSpPr>
        <p:spPr>
          <a:xfrm>
            <a:off x="2103120" y="3657600"/>
            <a:ext cx="4023360" cy="0"/>
          </a:xfrm>
          <a:prstGeom prst="line">
            <a:avLst/>
          </a:prstGeom>
          <a:noFill/>
          <a:ln w="22225">
            <a:solidFill>
              <a:srgbClr val="E8601F"/>
            </a:solidFill>
            <a:prstDash val="solid"/>
            <a:tailEnd type="triangle"/>
          </a:ln>
        </p:spPr>
      </p:sp>
      <p:sp>
        <p:nvSpPr>
          <p:cNvPr id="18" name="Text 16"/>
          <p:cNvSpPr txBox="1"/>
          <p:nvPr/>
        </p:nvSpPr>
        <p:spPr>
          <a:xfrm>
            <a:off x="2240280" y="3346704"/>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for the whole request, in referrals mode</a:t>
            </a:r>
            <a:endParaRPr lang="en-US" sz="1300" dirty="0"/>
          </a:p>
        </p:txBody>
      </p:sp>
      <p:sp>
        <p:nvSpPr>
          <p:cNvPr id="19" name="Step 2"/>
          <p:cNvSpPr/>
          <p:nvPr/>
        </p:nvSpPr>
        <p:spPr>
          <a:xfrm>
            <a:off x="548640" y="3968496"/>
            <a:ext cx="329184" cy="329184"/>
          </a:xfrm>
          <a:prstGeom prst="ellipse">
            <a:avLst/>
          </a:prstGeom>
          <a:solidFill>
            <a:schemeClr val="accent5"/>
          </a:solidFill>
          <a:ln/>
        </p:spPr>
      </p:sp>
      <p:sp>
        <p:nvSpPr>
          <p:cNvPr id="20" name="Text 18"/>
          <p:cNvSpPr txBox="1"/>
          <p:nvPr/>
        </p:nvSpPr>
        <p:spPr>
          <a:xfrm>
            <a:off x="548640" y="3968496"/>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1" name="Message 2"/>
          <p:cNvSpPr/>
          <p:nvPr/>
        </p:nvSpPr>
        <p:spPr>
          <a:xfrm flipH="1">
            <a:off x="2103120" y="4133088"/>
            <a:ext cx="4023360" cy="0"/>
          </a:xfrm>
          <a:prstGeom prst="line">
            <a:avLst/>
          </a:prstGeom>
          <a:noFill/>
          <a:ln w="22225">
            <a:solidFill>
              <a:srgbClr val="474552"/>
            </a:solidFill>
            <a:prstDash val="dash"/>
            <a:tailEnd type="triangle"/>
          </a:ln>
        </p:spPr>
      </p:sp>
      <p:sp>
        <p:nvSpPr>
          <p:cNvPr id="22" name="Text 20"/>
          <p:cNvSpPr txBox="1"/>
          <p:nvPr/>
        </p:nvSpPr>
        <p:spPr>
          <a:xfrm>
            <a:off x="2240280" y="3822192"/>
            <a:ext cx="5486400" cy="274320"/>
          </a:xfrm>
          <a:prstGeom prst="rect">
            <a:avLst/>
          </a:prstGeom>
          <a:noFill/>
          <a:ln/>
        </p:spPr>
        <p:txBody>
          <a:bodyPr wrap="square" lIns="0" tIns="0" rIns="0" bIns="0" rtlCol="0" anchor="b"/>
          <a:lstStyle/>
          <a:p>
            <a:pPr indent="0" marL="0">
              <a:buNone/>
            </a:pPr>
            <a:r>
              <a:rPr lang="en-US" sz="1300" dirty="0">
                <a:solidFill>
                  <a:schemeClr val="tx1"/>
                </a:solidFill>
              </a:rPr>
              <a:t>Our expenses agent (97), plus 2 registries to try</a:t>
            </a:r>
            <a:endParaRPr lang="en-US" sz="1300" dirty="0"/>
          </a:p>
        </p:txBody>
      </p:sp>
      <p:sp>
        <p:nvSpPr>
          <p:cNvPr id="23" name="Step 3"/>
          <p:cNvSpPr/>
          <p:nvPr/>
        </p:nvSpPr>
        <p:spPr>
          <a:xfrm>
            <a:off x="548640" y="4443984"/>
            <a:ext cx="329184" cy="329184"/>
          </a:xfrm>
          <a:prstGeom prst="ellipse">
            <a:avLst/>
          </a:prstGeom>
          <a:solidFill>
            <a:schemeClr val="accent5"/>
          </a:solidFill>
          <a:ln/>
        </p:spPr>
      </p:sp>
      <p:sp>
        <p:nvSpPr>
          <p:cNvPr id="24" name="Text 22"/>
          <p:cNvSpPr txBox="1"/>
          <p:nvPr/>
        </p:nvSpPr>
        <p:spPr>
          <a:xfrm>
            <a:off x="548640" y="4443984"/>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5" name="Message 3"/>
          <p:cNvSpPr/>
          <p:nvPr/>
        </p:nvSpPr>
        <p:spPr>
          <a:xfrm>
            <a:off x="2103120" y="4608576"/>
            <a:ext cx="7909560" cy="0"/>
          </a:xfrm>
          <a:prstGeom prst="line">
            <a:avLst/>
          </a:prstGeom>
          <a:noFill/>
          <a:ln w="22225">
            <a:solidFill>
              <a:srgbClr val="E8601F"/>
            </a:solidFill>
            <a:prstDash val="solid"/>
            <a:tailEnd type="triangle"/>
          </a:ln>
        </p:spPr>
      </p:sp>
      <p:sp>
        <p:nvSpPr>
          <p:cNvPr id="26" name="Text 24"/>
          <p:cNvSpPr txBox="1"/>
          <p:nvPr/>
        </p:nvSpPr>
        <p:spPr>
          <a:xfrm>
            <a:off x="2240280" y="4297680"/>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only the flight: “flight booking agent”</a:t>
            </a:r>
            <a:endParaRPr lang="en-US" sz="1300" dirty="0"/>
          </a:p>
        </p:txBody>
      </p:sp>
      <p:sp>
        <p:nvSpPr>
          <p:cNvPr id="27" name="Step 4"/>
          <p:cNvSpPr/>
          <p:nvPr/>
        </p:nvSpPr>
        <p:spPr>
          <a:xfrm>
            <a:off x="548640" y="4919472"/>
            <a:ext cx="329184" cy="329184"/>
          </a:xfrm>
          <a:prstGeom prst="ellipse">
            <a:avLst/>
          </a:prstGeom>
          <a:solidFill>
            <a:schemeClr val="accent5"/>
          </a:solidFill>
          <a:ln/>
        </p:spPr>
      </p:sp>
      <p:sp>
        <p:nvSpPr>
          <p:cNvPr id="28" name="Text 26"/>
          <p:cNvSpPr txBox="1"/>
          <p:nvPr/>
        </p:nvSpPr>
        <p:spPr>
          <a:xfrm>
            <a:off x="548640" y="4919472"/>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9" name="Message 4"/>
          <p:cNvSpPr/>
          <p:nvPr/>
        </p:nvSpPr>
        <p:spPr>
          <a:xfrm flipH="1">
            <a:off x="2103120" y="5084064"/>
            <a:ext cx="7909560" cy="0"/>
          </a:xfrm>
          <a:prstGeom prst="line">
            <a:avLst/>
          </a:prstGeom>
          <a:noFill/>
          <a:ln w="22225">
            <a:solidFill>
              <a:srgbClr val="474552"/>
            </a:solidFill>
            <a:prstDash val="dash"/>
            <a:tailEnd type="triangle"/>
          </a:ln>
        </p:spPr>
      </p:sp>
      <p:sp>
        <p:nvSpPr>
          <p:cNvPr id="30" name="Text 28"/>
          <p:cNvSpPr txBox="1"/>
          <p:nvPr/>
        </p:nvSpPr>
        <p:spPr>
          <a:xfrm>
            <a:off x="2240280" y="4773168"/>
            <a:ext cx="5486400" cy="274320"/>
          </a:xfrm>
          <a:prstGeom prst="rect">
            <a:avLst/>
          </a:prstGeom>
          <a:noFill/>
          <a:ln/>
        </p:spPr>
        <p:txBody>
          <a:bodyPr wrap="square" lIns="0" tIns="0" rIns="0" bIns="0" rtlCol="0" anchor="b"/>
          <a:lstStyle/>
          <a:p>
            <a:pPr indent="0" marL="0">
              <a:buNone/>
            </a:pPr>
            <a:r>
              <a:rPr lang="en-US" sz="1300" dirty="0">
                <a:solidFill>
                  <a:schemeClr val="tx1"/>
                </a:solidFill>
              </a:rPr>
              <a:t>Here’s a flight booking agent</a:t>
            </a:r>
            <a:endParaRPr lang="en-US" sz="1300" dirty="0"/>
          </a:p>
        </p:txBody>
      </p:sp>
      <p:sp>
        <p:nvSpPr>
          <p:cNvPr id="31" name="Step 5"/>
          <p:cNvSpPr/>
          <p:nvPr/>
        </p:nvSpPr>
        <p:spPr>
          <a:xfrm>
            <a:off x="548640" y="5687568"/>
            <a:ext cx="329184" cy="329184"/>
          </a:xfrm>
          <a:prstGeom prst="ellipse">
            <a:avLst/>
          </a:prstGeom>
          <a:solidFill>
            <a:schemeClr val="accent5"/>
          </a:solidFill>
          <a:ln/>
        </p:spPr>
      </p:sp>
      <p:sp>
        <p:nvSpPr>
          <p:cNvPr id="32" name="Text 30"/>
          <p:cNvSpPr txBox="1"/>
          <p:nvPr/>
        </p:nvSpPr>
        <p:spPr>
          <a:xfrm>
            <a:off x="548640" y="568756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33" name="Step 5 note"/>
          <p:cNvSpPr/>
          <p:nvPr/>
        </p:nvSpPr>
        <p:spPr>
          <a:xfrm>
            <a:off x="1051560" y="5559552"/>
            <a:ext cx="10588752" cy="585216"/>
          </a:xfrm>
          <a:prstGeom prst="roundRect">
            <a:avLst>
              <a:gd name="adj" fmla="val 21875"/>
            </a:avLst>
          </a:prstGeom>
          <a:solidFill>
            <a:schemeClr val="bg2"/>
          </a:solidFill>
          <a:ln/>
        </p:spPr>
      </p:sp>
      <p:sp>
        <p:nvSpPr>
          <p:cNvPr id="34" name="Text 32"/>
          <p:cNvSpPr txBox="1"/>
          <p:nvPr/>
        </p:nvSpPr>
        <p:spPr>
          <a:xfrm>
            <a:off x="1280160" y="5559552"/>
            <a:ext cx="10241280" cy="585216"/>
          </a:xfrm>
          <a:prstGeom prst="rect">
            <a:avLst/>
          </a:prstGeom>
          <a:noFill/>
          <a:ln/>
        </p:spPr>
        <p:txBody>
          <a:bodyPr wrap="square" lIns="0" tIns="0" rIns="0" bIns="0" rtlCol="0" anchor="ctr"/>
          <a:lstStyle/>
          <a:p>
            <a:pPr indent="0" marL="0">
              <a:buNone/>
            </a:pPr>
            <a:r>
              <a:rPr lang="en-US" sz="1500" dirty="0">
                <a:solidFill>
                  <a:schemeClr val="tx1"/>
                </a:solidFill>
              </a:rPr>
              <a:t>The orchestrator calls both agents through their own protocols. ARD’s job ended at step 4.</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6"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 approved entries, only if an admin opts in</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Scoped to you and your teams card"/>
          <p:cNvSpPr/>
          <p:nvPr/>
        </p:nvSpPr>
        <p:spPr>
          <a:xfrm>
            <a:off x="6185916" y="1965960"/>
            <a:ext cx="5454396" cy="1920240"/>
          </a:xfrm>
          <a:prstGeom prst="roundRect">
            <a:avLst>
              <a:gd name="adj" fmla="val 6667"/>
            </a:avLst>
          </a:prstGeom>
          <a:solidFill>
            <a:schemeClr val="bg2"/>
          </a:solidFill>
          <a:ln/>
        </p:spPr>
      </p:sp>
      <p:sp>
        <p:nvSpPr>
          <p:cNvPr id="10" name="Scoped to you and your teams circle"/>
          <p:cNvSpPr/>
          <p:nvPr/>
        </p:nvSpPr>
        <p:spPr>
          <a:xfrm>
            <a:off x="6460236" y="2240280"/>
            <a:ext cx="640080" cy="640080"/>
          </a:xfrm>
          <a:prstGeom prst="ellipse">
            <a:avLst/>
          </a:prstGeom>
          <a:solidFill>
            <a:schemeClr val="accent5"/>
          </a:solidFill>
          <a:ln/>
        </p:spPr>
      </p:sp>
      <p:pic>
        <p:nvPicPr>
          <p:cNvPr id="11" name="Scoped to you and your teams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Scoped to you and your teams</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You only discover your own listings and those of teams you’re in. Drafts reach only owners; anonymous search is off.</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2"/>
          <p:cNvSpPr txBox="1"/>
          <p:nvPr/>
        </p:nvSpPr>
        <p:spPr>
          <a:xfrm>
            <a:off x="822960" y="2331720"/>
            <a:ext cx="7772400" cy="1097280"/>
          </a:xfrm>
          <a:prstGeom prst="rect">
            <a:avLst/>
          </a:prstGeom>
          <a:noFill/>
          <a:ln/>
        </p:spPr>
        <p:txBody>
          <a:bodyPr wrap="square" lIns="0" tIns="0" rIns="0" bIns="0" rtlCol="0" anchor="ctr"/>
          <a:lstStyle/>
          <a:p>
            <a:pPr indent="0" marL="0">
              <a:buNone/>
            </a:pPr>
            <a:r>
              <a:rPr lang="en-US" sz="6000" b="1" dirty="0">
                <a:solidFill>
                  <a:schemeClr val="tx1"/>
                </a:solidFill>
              </a:rPr>
              <a:t>Thank you!</a:t>
            </a:r>
            <a:endParaRPr lang="en-US" sz="6000" dirty="0"/>
          </a:p>
        </p:txBody>
      </p:sp>
      <p:sp>
        <p:nvSpPr>
          <p:cNvPr id="5" name="Text 3"/>
          <p:cNvSpPr txBox="1"/>
          <p:nvPr/>
        </p:nvSpPr>
        <p:spPr>
          <a:xfrm>
            <a:off x="822960" y="3703320"/>
            <a:ext cx="7772400" cy="109728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7"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endParaRPr lang="en-US" sz="5400" dirty="0"/>
          </a:p>
        </p:txBody>
      </p:sp>
      <p:sp>
        <p:nvSpPr>
          <p:cNvPr id="8"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2026-10-24T04:34:50Z</dcterms:created>
  <dcterms:modified xsi:type="dcterms:W3CDTF">2026-10-24T04:34:50Z</dcterms:modified>
</cp:coreProperties>
</file>