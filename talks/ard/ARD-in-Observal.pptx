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fe821c-8f2d-75fa-6bf7-0adb00c414cc}">
          <p14:sldIdLst>
            <p14:sldId id="256"/>
            <p14:sldId id="257"/>
          </p14:sldIdLst>
        </p14:section>
        <p14:section name="What is ARD" id="{38bce410-a5f2-9b85-93da-ce9bcd0511eb}">
          <p14:sldIdLst>
            <p14:sldId id="258"/>
            <p14:sldId id="259"/>
            <p14:sldId id="260"/>
            <p14:sldId id="261"/>
          </p14:sldIdLst>
        </p14:section>
        <p14:section name="How we built it" id="{25315ee7-db3c-50a6-ba6f-f77cdd6eaa6d}">
          <p14:sldIdLst>
            <p14:sldId id="262"/>
            <p14:sldId id="263"/>
            <p14:sldId id="264"/>
            <p14:sldId id="265"/>
            <p14:sldId id="266"/>
            <p14:sldId id="267"/>
            <p14:sldId id="268"/>
            <p14:sldId id="269"/>
            <p14:sldId id="270"/>
          </p14:sldIdLst>
        </p14:section>
        <p14:section name="Use cases" id="{83e7798a-d06f-b3eb-a39f-50dc850f1723}">
          <p14:sldIdLst>
            <p14:sldId id="271"/>
            <p14:sldId id="272"/>
            <p14:sldId id="273"/>
            <p14:sldId id="274"/>
            <p14:sldId id="275"/>
            <p14:sldId id="276"/>
          </p14:sldIdLst>
        </p14:section>
        <p14:section name="Wrap-up" id="{613e0bb9-1601-464f-51fe-5478ffe10c84}">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F1E2A"/>
                </a:solidFill>
                <a:latin typeface="+mn-lt"/>
              </a:defRPr>
            </a:pPr>
            <a:r>
              <a:rPr sz="1500" b="1" i="0" u="none" strike="noStrike">
                <a:solidFill>
                  <a:srgbClr val="0F1E2A"/>
                </a:solidFill>
                <a:latin typeface="+mn-lt"/>
              </a:rPr>
              <a:t>How much a match counts, by field</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008AA3"/>
            </a:solidFill>
            <a:effectLst/>
          </c:spPr>
          <c:invertIfNegative val="0"/>
          <c:dLbls>
            <c:numFmt formatCode="0.00" sourceLinked="0"/>
            <c:txPr>
              <a:bodyPr/>
              <a:lstStyle/>
              <a:p>
                <a:pPr>
                  <a:defRPr b="0" i="0" strike="noStrike" sz="1300" u="none">
                    <a:solidFill>
                      <a:srgbClr val="0F1E2A"/>
                    </a:solidFill>
                    <a:latin typeface="+mn-lt"/>
                  </a:defRPr>
                </a:pPr>
              </a:p>
            </c:txPr>
            <c:showLegendKey val="0"/>
            <c:showVal val="1"/>
            <c:showCatName val="0"/>
            <c:showSerName val="0"/>
            <c:showPercent val="0"/>
            <c:showBubbleSize val="0"/>
            <c:showLeaderLines val="0"/>
          </c:dLbls>
          <c:cat>
            <c:multiLvlStrRef>
              <c:f>Sheet1!$A$2:$A$5</c:f>
              <c:multiLvlStrCache>
                <c:ptCount val="4"/>
                <c:lvl>
                  <c:pt idx="0">
                    <c:v>Name</c:v>
                  </c:pt>
                  <c:pt idx="1">
                    <c:v>Representative queries</c:v>
                  </c:pt>
                  <c:pt idx="2">
                    <c:v>Capabilities &amp; tags</c:v>
                  </c:pt>
                  <c:pt idx="3">
                    <c:v>Description</c:v>
                  </c:pt>
                </c:lvl>
              </c:multiLvlStrCache>
            </c:multiLvlStrRef>
          </c:cat>
          <c:val>
            <c:numRef>
              <c:f>Sheet1!$B$2:$B$5</c:f>
              <c:numCache>
                <c:formatCode>General</c:formatCode>
                <c:ptCount val="4"/>
                <c:pt idx="0">
                  <c:v>1</c:v>
                </c:pt>
                <c:pt idx="1">
                  <c:v>0.85</c:v>
                </c:pt>
                <c:pt idx="2">
                  <c:v>0.7</c:v>
                </c:pt>
                <c:pt idx="3">
                  <c:v>0.5</c:v>
                </c:pt>
              </c:numCache>
            </c:numRef>
          </c:val>
        </c:ser>
        <c:dLbls>
          <c:numFmt formatCode="0.00" sourceLinked="0"/>
          <c:txPr>
            <a:bodyPr/>
            <a:lstStyle/>
            <a:p>
              <a:pPr>
                <a:defRPr b="0" i="0" strike="noStrike" sz="1300" u="none">
                  <a:solidFill>
                    <a:srgbClr val="0F1E2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6656F"/>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Ranker alone</c:v>
                </c:pt>
              </c:strCache>
            </c:strRef>
          </c:tx>
          <c:spPr>
            <a:solidFill>
              <a:srgbClr val="008AA3"/>
            </a:solidFill>
            <a:effectLst/>
          </c:spPr>
          <c:invertIfNegative val="0"/>
          <c:dLbls>
            <c:numFmt formatCode="0.000" sourceLinked="0"/>
            <c:txPr>
              <a:bodyPr/>
              <a:lstStyle/>
              <a:p>
                <a:pPr>
                  <a:defRPr b="0" i="0" strike="noStrike" sz="1200" u="none">
                    <a:solidFill>
                      <a:srgbClr val="0F1E2A"/>
                    </a:solidFill>
                    <a:latin typeface="+mn-lt"/>
                  </a:defRPr>
                </a:pPr>
              </a:p>
            </c:txPr>
            <c:showLegendKey val="0"/>
            <c:showVal val="1"/>
            <c:showCatName val="0"/>
            <c:showSerName val="0"/>
            <c:showPercent val="0"/>
            <c:showBubbleSize val="0"/>
            <c:showLeaderLines val="0"/>
          </c:dLbls>
          <c:cat>
            <c:multiLvlStrRef>
              <c:f>Sheet1!$A$2:$A$3</c:f>
              <c:multiLvlStrCache>
                <c:ptCount val="2"/>
                <c:lvl>
                  <c:pt idx="0">
                    <c:v>Recall@5</c:v>
                  </c:pt>
                  <c:pt idx="1">
                    <c:v>MRR@10</c:v>
                  </c:pt>
                </c:lvl>
              </c:multiLvlStrCache>
            </c:multiLvlStrRef>
          </c:cat>
          <c:val>
            <c:numRef>
              <c:f>Sheet1!$B$2:$B$3</c:f>
              <c:numCache>
                <c:formatCode>General</c:formatCode>
                <c:ptCount val="2"/>
                <c:pt idx="0">
                  <c:v>0.957</c:v>
                </c:pt>
                <c:pt idx="1">
                  <c:v>0.933</c:v>
                </c:pt>
              </c:numCache>
            </c:numRef>
          </c:val>
        </c:ser>
        <c:ser>
          <c:idx val="1"/>
          <c:order val="1"/>
          <c:tx>
            <c:strRef>
              <c:f>Sheet1!$C$1</c:f>
              <c:strCache>
                <c:ptCount val="1"/>
                <c:pt idx="0">
                  <c:v>End to end (SQL prefilter + ranker)</c:v>
                </c:pt>
              </c:strCache>
            </c:strRef>
          </c:tx>
          <c:spPr>
            <a:solidFill>
              <a:srgbClr val="C77700"/>
            </a:solidFill>
            <a:effectLst/>
          </c:spPr>
          <c:invertIfNegative val="0"/>
          <c:dLbls>
            <c:numFmt formatCode="0.000" sourceLinked="0"/>
            <c:txPr>
              <a:bodyPr/>
              <a:lstStyle/>
              <a:p>
                <a:pPr>
                  <a:defRPr b="0" i="0" strike="noStrike" sz="1200" u="none">
                    <a:solidFill>
                      <a:srgbClr val="0F1E2A"/>
                    </a:solidFill>
                    <a:latin typeface="+mn-lt"/>
                  </a:defRPr>
                </a:pPr>
              </a:p>
            </c:txPr>
            <c:showLegendKey val="0"/>
            <c:showVal val="1"/>
            <c:showCatName val="0"/>
            <c:showSerName val="0"/>
            <c:showPercent val="0"/>
            <c:showBubbleSize val="0"/>
            <c:showLeaderLines val="0"/>
          </c:dLbls>
          <c:cat>
            <c:multiLvlStrRef>
              <c:f>Sheet1!$A$2:$A$3</c:f>
              <c:multiLvlStrCache>
                <c:ptCount val="2"/>
                <c:lvl>
                  <c:pt idx="0">
                    <c:v>Recall@5</c:v>
                  </c:pt>
                  <c:pt idx="1">
                    <c:v>MRR@10</c:v>
                  </c:pt>
                </c:lvl>
              </c:multiLvlStrCache>
            </c:multiLvlStrRef>
          </c:cat>
          <c:val>
            <c:numRef>
              <c:f>Sheet1!$C$2:$C$3</c:f>
              <c:numCache>
                <c:formatCode>General</c:formatCode>
                <c:ptCount val="2"/>
                <c:pt idx="0">
                  <c:v>0.936</c:v>
                </c:pt>
                <c:pt idx="1">
                  <c:v>0.922</c:v>
                </c:pt>
              </c:numCache>
            </c:numRef>
          </c:val>
        </c:ser>
        <c:ser>
          <c:idx val="2"/>
          <c:order val="2"/>
          <c:tx>
            <c:strRef>
              <c:f>Sheet1!$D$1</c:f>
              <c:strCache>
                <c:ptCount val="1"/>
                <c:pt idx="0">
                  <c:v>CI floor (build fails below)</c:v>
                </c:pt>
              </c:strCache>
            </c:strRef>
          </c:tx>
          <c:spPr>
            <a:solidFill>
              <a:srgbClr val="AEB9BF"/>
            </a:solidFill>
            <a:effectLst/>
          </c:spPr>
          <c:invertIfNegative val="0"/>
          <c:dLbls>
            <c:numFmt formatCode="0.000" sourceLinked="0"/>
            <c:txPr>
              <a:bodyPr/>
              <a:lstStyle/>
              <a:p>
                <a:pPr>
                  <a:defRPr b="0" i="0" strike="noStrike" sz="1200" u="none">
                    <a:solidFill>
                      <a:srgbClr val="0F1E2A"/>
                    </a:solidFill>
                    <a:latin typeface="+mn-lt"/>
                  </a:defRPr>
                </a:pPr>
              </a:p>
            </c:txPr>
            <c:showLegendKey val="0"/>
            <c:showVal val="1"/>
            <c:showCatName val="0"/>
            <c:showSerName val="0"/>
            <c:showPercent val="0"/>
            <c:showBubbleSize val="0"/>
            <c:showLeaderLines val="0"/>
          </c:dLbls>
          <c:cat>
            <c:multiLvlStrRef>
              <c:f>Sheet1!$A$2:$A$3</c:f>
              <c:multiLvlStrCache>
                <c:ptCount val="2"/>
                <c:lvl>
                  <c:pt idx="0">
                    <c:v>Recall@5</c:v>
                  </c:pt>
                  <c:pt idx="1">
                    <c:v>MRR@10</c:v>
                  </c:pt>
                </c:lvl>
              </c:multiLvlStrCache>
            </c:multiLvlStrRef>
          </c:cat>
          <c:val>
            <c:numRef>
              <c:f>Sheet1!$D$2:$D$3</c:f>
              <c:numCache>
                <c:formatCode>General</c:formatCode>
                <c:ptCount val="2"/>
                <c:pt idx="0">
                  <c:v>0.9</c:v>
                </c:pt>
                <c:pt idx="1">
                  <c:v>0.85</c:v>
                </c:pt>
              </c:numCache>
            </c:numRef>
          </c:val>
        </c:ser>
        <c:dLbls>
          <c:numFmt formatCode="0.000" sourceLinked="0"/>
          <c:txPr>
            <a:bodyPr/>
            <a:lstStyle/>
            <a:p>
              <a:pPr>
                <a:defRPr b="0" i="0" strike="noStrike" sz="1200" u="none">
                  <a:solidFill>
                    <a:srgbClr val="0F1E2A"/>
                  </a:solidFill>
                  <a:latin typeface="+mn-lt"/>
                </a:defRPr>
              </a:pPr>
            </a:p>
          </c:txPr>
          <c:showLegendKey val="0"/>
          <c:showVal val="1"/>
          <c:showCatName val="0"/>
          <c:showSerName val="0"/>
          <c:showPercent val="0"/>
          <c:showBubbleSize val="0"/>
          <c:showLeaderLines val="0"/>
        </c:dLbls>
        <c:gapWidth val="7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500" b="0" i="0" u="none" strike="noStrike">
                <a:solidFill>
                  <a:srgbClr val="0F1E2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8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6656F"/>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300">
              <a:solidFill>
                <a:srgbClr val="0F1E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walk through Agentic Resource Discovery, or ARD: what the spec is, how we implemented it in Observal in PR #1744, and the use cases it unlocks.
The one-line pitch: before this work, a coding agent only knew about the resources someone installed ahead of time. Now any agent, in any of the ten harnesses we support, can ask Observal 'what already exists for this task?' mid-session and get a ranked, policy-aware answer.
The panel on the right is what that looks like: a plain-English task in, ranked registry resources out, each with a relevance score and a statement of whether it can be used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Observal has always been install-first. You assemble an Agent from registry components, it goes through review, you pull it into a harness, and then the session starts. That is exactly right for repeatable, governed workflows.
But developers don't always know up front what they'll need. Mid-task, someone says 'review this PR for auth bugs'. The assistant has no idea the organisation already has an approved security-review skill sitting in the registry. So it either writes its own checklist from scratch, or tells the user the capability isn't available.
In both cases the right resource was one search away. ARD is how we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spec itself: what ARD is, and just as important, what it deliberately leaves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ARD, Agentic Resource Discovery, is an open specification from the ards-project. We pinned version 0.91, which is still marked as a Proposal.
It standardises three things: a common JSON entry that describes one resource, with a permanent identifier, media type, artifact URL and version; a well-known manifest at /.well-known/ard.json where a publisher lists what it offers; and a common search API with Search, List and Explore operations, so a client written once can query any registry.
What it deliberately does not define is everything that happens after you find something: installing it, invoking it, authenticating, reviewing, collecting telemetry. Those are exactly the things Observal already does. That's why the fit is so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line from this talk, make it this one. It's straight out of ADR 0001.
ARD is the envelope: a shared vocabulary for describing and finding resources. Observal supplies the governance underneath it: approval, visibility, permanent versioned artifacts, install flows that ask before they write, and telemetry. We didn't replace anything; we put a standard front door on the registry we already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native resource gets exactly one permanent identifier: urn:air, then the publisher domain, then the kind, then the native UUID.
Why the UUID and not namespace/slug? Because ARD requires a stable handle, and our slugs change when you rename something or transfer ownership. The UUID never changes. The human-readable namespace/slug@version still travels along as obs:nativeRef so you can pivot to existing commands.
The publisher domain comes from the deployment's public URL, and it is pinned the first time we see a real fully qualified domain, so identifiers don't silently change if the deployment moves hosts. IPs and single-label hosts are never accepted; until a real domain is configured we use observal.local.
On the JSON: the teal keys are standard ARD that any client understands. The amber obs: keys are Observal's own facts, namespaced so they can never collide with the spec. Note score is 92 here: that is relevance only. Approval lives in its own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implementation. PR #1744 touched almost every layer of Observal, so let's start with the big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numbers: 23 commits, 90 files, about 10.8 thousand lines added, of which roughly 4.3 thousand are tests.
On the server we added a discovery read model, the ARD endpoints and permanent versioned artifact URLs. In the CLI there's a new observal discover command plus a local capability lock. The web UI gets a Discover page. Telemetry learns which resources a session actually used. The bundled observal skill now tells every assistant to search Observal before reinventing something. And we vendored the ARD spec and its official conformance tool, and wrote the decisions down in ADR 0001.
Infra also needed small changes: nginx, Helm ingress and the AWS ALB now route /.well-known/ard.json to the API instead of the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architectural decision: native models stay authoritative, and ARD is a projection.
On the left are the tables we already had for agents, MCP servers, skills, hooks, prompts and sandboxes. They remain the source of truth for installing, reviewing and owning things.
In the middle, one adapter per kind turns an approved version into a neutral shape. That's the only place that knows native column names. It also derives capabilities and representative queries from the metadata, flagged as derived so we never present them as a publisher's claim. The result lands in a new read model, the discovery_entries table.
On the right is everything that reads it: the well-known manifest, the Search and List API, permanent versioned artifacts with SHA-256 digests, and the CLI, web page and skill. No existing API contract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 model is only useful if it's current. Three paths keep it fresh, and they all go through one idempotent function, project_entity: run it twice on the same rows and you get the same identifier and the same content hash.
First, a SQLAlchemy session listener. Approve, reject, archive, publish, transfer, edit, delete all end with a flush that writes a listing or version row. The listener remembers which resources changed and, after the outermost commit, reprojects exactly those in a fresh session. Routes don't know discovery exists, and any lifecycle path someone adds later is covered automatically.
Second, a safety-net cron in the worker, at 01:05, 07:05, 13:05 and 19:05 UTC, that reprojects everything in case something slipped through, for example a crash between commit and reprojection.
Third, on first boot, an empty index is backfilled in the background so startup is never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surface. The top five are defined by the spec. The well-known manifest lists the registry itself, as an application/ai-registry+json entry that advertises our search base, followed by every public, approved resource. We also serve the predecessor ai-catalog.json path with the same content.
Search is the mandatory operation. List is a deterministic browse. Explore is optional in the spec; we return 501 until facets ship.
Two endpoints are Observal-specific. entries/{urn} fetches one complete entry, because the spec has no get-by-identifier operation and our CLI and UI need one. And the artifacts endpoint serves the exact bytes for a given version, with a Digest header, cached as immutable, because the same version always returns the same bytes.
Auth is optional. On a private deployment an anonymous search gets an empty but still conformant response, not a 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split deliberately. The database does what it's good at: the visibility predicate, structured filters, and a cheap LIKE prefilter that a trigram GIN index accelerates on Postgres. That hands back a bounded candidate set of at most five thousand.
Then ranking happens in Python. Why not rank in SQL? The index is small, hundreds to low thousands of entries per deployment. The ranking has to behave identically under SQLite in tests and Postgres in production. And producing an explainable matchedOn list is far easier in Python.
Each query word is scored against four fields: a hit on the name counts most, then the representative queries, then capabilities and tags, then the description. Exact matches score 1, prefixes 0.7, substrings 0.4. The final score blends relevance, coverage of the query words, and whether the whole phrase appears, so a perfect name match on every word is exactly 100. Ties break deterministically: approved first, then name, then identifier.
Page tokens carry a fingerprint of the query, filters and user, so a token can't be replayed against a different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want to guess whether search is good, so there's a benchmark that runs in CI. The fixture has 26 realistic registry resources and 47 requests written the way a developer would actually phrase them, each paired with the resources that should come back.
We measure Recall at 5: did at least one expected resource land in the top five? And MRR at 10: how high did the first right answer rank? The ranker alone scores 0.957 recall and 0.933 MRR. End to end, through the SQL prefilter, 0.936 and 0.922, so the prefilter barely costs anything. There are also coverage and zero-result checks not shown here.
The grey bars are the floors: 0.90 and 0.85. The rule written in the test is that floors only move up. You raise them when ranking improves; you never lower them to get a change through.
The known misses are pure synonyms, such as PRs versus pull requests. A lexical ranker can't catch those, and that's the motivation for optional semantic retrieval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could easily become a back door around the registry's governance, so several rules are enforced.
One: score means relevance and nothing else. Approval, trust, harness compatibility and availability come back as separate named fields. Policy is a filter applied before ranking, never a hidden weight inside the score.
Two: visibility. We apply privacy first, who can see the listing at all, then lifecycle: approved versions to everyone who can see the listing; pending and rejected only to owners; archived only when you ask explicitly. Anonymous requests get public, approved entries only when the admin has turned on the public registry. Since the PR merged we have tightened this further: signed-in ARD reads are now scoped to your own namespace and the teamspaces you currently belong to.
Three: search text can contain sensitive things like incident details or unreleased names. The spec's default federation mode is auto, and we honour it literally, but it's bounded by an admin allowlist that starts empty. So in practice queries never leave the deployment.
Four: approved skills and prompts are text, so they can load straight into a session. Anything that changes a developer's setup, or can write or delete, still asks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ARD is still a proposal, we pinned it. The JSON Schema, JSON-LD context, CDDL grammar, OpenAPI file and the official conformance CLI are vendored unmodified from commit b76f235, dated September 12th. Tests validate our entries against the schema and run the conformance tool. When the spec moves, we re-vendor deliberately, update the ADR and re-run conformance; we never hand-edit vendored files or silently follow the live site.
On input we're forgiving: the older urn:ai: prefix, older MCP and skill media-type spellings, and the ai-catalog well-known path are all normalised, with the original kept in raw_entry.
And we're explicit about what's deferred. The spec says a registry must crawl entry sources; we haven't built that yet, so today Observal is an ARD publisher and search endpoint, not yet a complete ARD registry, and the ADR says so rather than over-claiming. Explore facets, third-party trust-manifest verification and dense retrieval are also deferred. Dense retrieval will sit behind a provider interface; Postgres full-text search plus pg_trgm remains a complete, supported configuration with no external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machinery. Now the part that matters: what you can actually do with it. Five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one is the reason this exists: the assistant searches before it reinvents.
The bundled observal skill ships to every harness on login. We rewrote its description so it triggers at the start of substantive work, such as code or security reviews, writing tests or docs, querying a database, or running untrusted code. It runs observal discover search with the user's task as one safely quoted argument.
Each result comes back with a score and a reason, the words that matched. The agent can inspect the best candidate to see representative queries, supported harnesses and the exact versioned artifact. Then use loads it. For a skill, the exact approved bytes are fetched from the permanent URL and printed into the session, and the use is recorded locally.
The output here is simplified from the real table, which also shows version, approval status and the matched words.
Two behaviours matter. An empty result is a successful answer: the skill tells the agent to retry once with different words before concluding nothing exists. And if nothing matches, the agent proceeds manually and says so; it never claims Observal has nothing without having searched.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two: what happens when you say use depends on what the resource touches. The server computes an availability for each result.
Skills and prompts are just text. They're 'available now': the exact approved version is fetched and loaded into the current session's context.
MCP servers, agents and sandboxes change your harness configuration. For those, use writes nothing. It returns next_step, which is the existing install command, for example observal registry mcp install or observal agent pull. That command already confirms before touching config, and it takes effect in the next session.
Hooks are never activated implicitly; they're always an explicit install.
Unapproved resources are refused unless you pass --yes, which is meant for your own drafts. A resource whose supported harnesses exclude yours is refused too.
Underneath, we added verified runtime facts to the shared harness registry for all ten harnesses: how MCP is installed (config file, setup command, third-party adapter or user-only), whether tools refresh mid-session, and whether a hook can inject context. Each value was checked against the harness's own docs, recorded with its evidence, and tested, so later features gate on data rather than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three: knowing which resources a session actually relied on. This is where discovery meets Observal's observability side.
Every activation, whether discover use, agent pull or a component install, appends one line to a local file, the capability lock, under ~/.observal. It records the time, harness, working directory, the URN, the exact version and digest, and the mode.
When a session is uploaded, through the session push hooks or observal reconcile, the CLI picks the lock lines that fall inside that session's harness, directory and time window and attaches them as capabilities_used. The window starts 15 minutes before the transcript was created, because people often run discover use just before the harness starts the session. If a hook exposes the real session id, the match is exact.
Server side, they land in a new ClickHouse table, session_capabilities, with a confidence of exact, window or loose. Attribution is evidence, not a hard dependency: a broken lock file never blocks telemetry.
No new tracking channel, and nothing secret: identifiers, versions, digests, paths and timestamps only, pruned after 30 days locally. The Pi extension got the same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four closes the loop. You've had a good session: the agent discovered a security skill, a checklist prompt and the GitHub MCP server, and together they worked.
observal agent init --from-capabilities reads the capability lock for the current directory, the last 24 hours by default and adjustable with --since, and pre-fills a draft Agent's components with the exact versions you actually used.
Agents can't contain other agents, so anything you pulled as a whole agent is skipped and reported as skipped_agents. From there it's the normal flow: review, build, publish. And the next person gets that combination as a governed, installable Agent.
So discovery feeds the registry: ad-hoc, mid-task usage becomes a curated asset. The names and versions on the right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five: the same index serves every kind of consumer.
People get a Discover page in the web UI. It searches across agents, MCP servers, skills, hooks, prompts and sandboxes at once, and each result shows its match score, an availability badge such as Available now or Next session, harness badges, and a command you can copy.
Agents get it through the bundled skill and CLI, which already ship to all ten harnesses when you log in. That's the key adoption point: no new runtime, no per-harness integration for the first milestone.
And because it's an open standard, other tools can find us too. The well-known manifest and ARD Search mean any ARD-speaking client or registry can discover a deployment's public catalog, but only if the admin has enabled the public registry. Private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next.
PR #1744 shipped in September. Since then the team has built on it. ADR 0002 adds agent-to-agent delegation over ARD and the A2A protocol: a running agent can hand part of a task to a registry Agent, which runs headless in a throwaway copy of the repo and returns a patch, or to a remote A2A agent another team runs. We've also scoped signed-in ARD reads to your own namespace and the teamspaces you currently belong to.
Next is crawling external ARD sources, which turns Observal from an ARD publisher and search endpoint into a full registry, with federation only to upstreams an admin allowlists. Then Explore facets and verification of third-party trust manifests. Later, optional semantic retrieval behind a provider interface, to catch the synonym misses the benchmark found.
The ask: try observal discover search on your own tasks. When it misses something it should have found, that's a new benchmark case. The fixture says to add a case whenever a real search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ARD says what exists; Observal says how to use it safely. Every agent in every harness can now search the registry before it reinvents something. Everything it uses is pinned to an exact version and digest, governed by the same approval and visibility rules, and attributed back to the session.
The ADR and the CLI docs are the best references if you want to go deeper.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02920"/>
            <a:ext cx="548640" cy="548640"/>
          </a:xfrm>
          <a:prstGeom prst="rect">
            <a:avLst/>
          </a:prstGeom>
        </p:spPr>
      </p:pic>
      <p:sp>
        <p:nvSpPr>
          <p:cNvPr id="3" name="Text 0"/>
          <p:cNvSpPr/>
          <p:nvPr/>
        </p:nvSpPr>
        <p:spPr>
          <a:xfrm>
            <a:off x="1234440" y="502920"/>
            <a:ext cx="2743200" cy="548640"/>
          </a:xfrm>
          <a:prstGeom prst="rect">
            <a:avLst/>
          </a:prstGeom>
          <a:noFill/>
          <a:ln/>
        </p:spPr>
        <p:txBody>
          <a:bodyPr wrap="square" lIns="0" tIns="0" rIns="0" bIns="0" rtlCol="0" anchor="ctr"/>
          <a:lstStyle/>
          <a:p>
            <a:pPr indent="0" marL="0">
              <a:buNone/>
            </a:pPr>
            <a:r>
              <a:rPr lang="en-US" sz="2000" b="1" dirty="0">
                <a:solidFill>
                  <a:schemeClr val="bg1"/>
                </a:solidFill>
              </a:rPr>
              <a:t>Observal</a:t>
            </a:r>
            <a:endParaRPr lang="en-US" sz="2000" dirty="0"/>
          </a:p>
        </p:txBody>
      </p:sp>
      <p:sp>
        <p:nvSpPr>
          <p:cNvPr id="4" name="Text 1"/>
          <p:cNvSpPr/>
          <p:nvPr>
            <p:ph idx="102" type="body" hasCustomPrompt="1"/>
          </p:nvPr>
        </p:nvSpPr>
        <p:spPr>
          <a:xfrm>
            <a:off x="548640" y="1783080"/>
            <a:ext cx="5852160" cy="365760"/>
          </a:xfrm>
          <a:prstGeom prst="rect">
            <a:avLst/>
          </a:prstGeom>
          <a:noFill/>
          <a:ln/>
        </p:spPr>
        <p:txBody>
          <a:bodyPr wrap="square" rtlCol="0"/>
          <a:lstStyle>
            <a:lvl1pPr indent="0" marL="0">
              <a:buNone/>
              <a:defRPr lang="en-US" sz="1300" b="1" spc="300" kern="0" dirty="0">
                <a:solidFill>
                  <a:schemeClr val="accent2"/>
                </a:solidFill>
              </a:defRPr>
            </a:lvl1pPr>
          </a:lstStyle>
          <a:p>
            <a:pPr indent="0" marL="0">
              <a:buNone/>
            </a:pPr>
            <a:endParaRPr lang="en-US" sz="1300" dirty="0"/>
          </a:p>
        </p:txBody>
      </p:sp>
      <p:sp>
        <p:nvSpPr>
          <p:cNvPr id="5" name="Text 1"/>
          <p:cNvSpPr/>
          <p:nvPr>
            <p:ph idx="103" type="title" hasCustomPrompt="1"/>
          </p:nvPr>
        </p:nvSpPr>
        <p:spPr>
          <a:xfrm>
            <a:off x="548640" y="2194560"/>
            <a:ext cx="6035040" cy="178308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6" name="Text 1"/>
          <p:cNvSpPr/>
          <p:nvPr>
            <p:ph idx="104" type="body" hasCustomPrompt="1"/>
          </p:nvPr>
        </p:nvSpPr>
        <p:spPr>
          <a:xfrm>
            <a:off x="548640" y="4069080"/>
            <a:ext cx="5669280" cy="100584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
        <p:nvSpPr>
          <p:cNvPr id="7" name="Text 1"/>
          <p:cNvSpPr/>
          <p:nvPr>
            <p:ph idx="105" type="body" hasCustomPrompt="1"/>
          </p:nvPr>
        </p:nvSpPr>
        <p:spPr>
          <a:xfrm>
            <a:off x="548640" y="5806440"/>
            <a:ext cx="5669280" cy="411480"/>
          </a:xfrm>
          <a:prstGeom prst="rect">
            <a:avLst/>
          </a:prstGeom>
          <a:noFill/>
          <a:ln/>
        </p:spPr>
        <p:txBody>
          <a:bodyPr wrap="square" rtlCol="0"/>
          <a:lstStyle>
            <a:lvl1pPr indent="0" marL="0">
              <a:buNone/>
              <a:defRPr lang="en-US" sz="1500" dirty="0">
                <a:solidFill>
                  <a:schemeClr val="bg2"/>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144768"/>
            <a:ext cx="347472" cy="347472"/>
          </a:xfrm>
          <a:prstGeom prst="rect">
            <a:avLst/>
          </a:prstGeom>
        </p:spPr>
      </p:pic>
      <p:sp>
        <p:nvSpPr>
          <p:cNvPr id="3" name="Text 0"/>
          <p:cNvSpPr/>
          <p:nvPr/>
        </p:nvSpPr>
        <p:spPr>
          <a:xfrm>
            <a:off x="987552" y="6144768"/>
            <a:ext cx="1828800" cy="347472"/>
          </a:xfrm>
          <a:prstGeom prst="rect">
            <a:avLst/>
          </a:prstGeom>
          <a:noFill/>
          <a:ln/>
        </p:spPr>
        <p:txBody>
          <a:bodyPr wrap="square" lIns="0" tIns="0" rIns="0" bIns="0" rtlCol="0" anchor="ctr"/>
          <a:lstStyle/>
          <a:p>
            <a:pPr indent="0" marL="0">
              <a:buNone/>
            </a:pPr>
            <a:r>
              <a:rPr lang="en-US" sz="1200" b="1" dirty="0">
                <a:solidFill>
                  <a:schemeClr val="bg1"/>
                </a:solidFill>
              </a:rPr>
              <a:t>Observal</a:t>
            </a:r>
            <a:endParaRPr lang="en-US" sz="1200" dirty="0"/>
          </a:p>
        </p:txBody>
      </p:sp>
      <p:sp>
        <p:nvSpPr>
          <p:cNvPr id="4" name="Text 1"/>
          <p:cNvSpPr/>
          <p:nvPr>
            <p:ph idx="102" type="body" hasCustomPrompt="1"/>
          </p:nvPr>
        </p:nvSpPr>
        <p:spPr>
          <a:xfrm>
            <a:off x="548640" y="1600200"/>
            <a:ext cx="3657600" cy="1234440"/>
          </a:xfrm>
          <a:prstGeom prst="rect">
            <a:avLst/>
          </a:prstGeom>
          <a:noFill/>
          <a:ln/>
        </p:spPr>
        <p:txBody>
          <a:bodyPr wrap="square" rtlCol="0"/>
          <a:lstStyle>
            <a:lvl1pPr indent="0" marL="0">
              <a:buNone/>
              <a:defRPr lang="en-US" sz="8800" b="1" dirty="0">
                <a:solidFill>
                  <a:schemeClr val="accent2"/>
                </a:solidFill>
                <a:latin typeface="Arial" pitchFamily="34" charset="0"/>
                <a:ea typeface="Arial" pitchFamily="34" charset="-122"/>
                <a:cs typeface="Arial" pitchFamily="34" charset="-120"/>
              </a:defRPr>
            </a:lvl1pPr>
          </a:lstStyle>
          <a:p>
            <a:pPr indent="0" marL="0">
              <a:buNone/>
            </a:pPr>
            <a:endParaRPr lang="en-US" sz="8800" dirty="0"/>
          </a:p>
        </p:txBody>
      </p:sp>
      <p:sp>
        <p:nvSpPr>
          <p:cNvPr id="5" name="Text 1"/>
          <p:cNvSpPr/>
          <p:nvPr>
            <p:ph idx="103" type="title" hasCustomPrompt="1"/>
          </p:nvPr>
        </p:nvSpPr>
        <p:spPr>
          <a:xfrm>
            <a:off x="548640" y="2971800"/>
            <a:ext cx="10515600" cy="9601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6" name="Text 1"/>
          <p:cNvSpPr/>
          <p:nvPr>
            <p:ph idx="104" type="body" hasCustomPrompt="1"/>
          </p:nvPr>
        </p:nvSpPr>
        <p:spPr>
          <a:xfrm>
            <a:off x="548640" y="4023360"/>
            <a:ext cx="9601200" cy="822960"/>
          </a:xfrm>
          <a:prstGeom prst="rect">
            <a:avLst/>
          </a:prstGeom>
          <a:noFill/>
          <a:ln/>
        </p:spPr>
        <p:txBody>
          <a:bodyPr wrap="square" rtlCol="0"/>
          <a:lstStyle>
            <a:lvl1pPr indent="0" marL="0">
              <a:buNone/>
              <a:defRPr lang="en-US" sz="2200" dirty="0">
                <a:solidFill>
                  <a:schemeClr val="accent3"/>
                </a:solidFill>
              </a:defRPr>
            </a:lvl1pPr>
          </a:lstStyle>
          <a:p>
            <a:pPr indent="0" marL="0">
              <a:buNone/>
            </a:pPr>
            <a:endParaRPr lang="en-US" sz="22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Agentic Resource Discovery in Observal</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144768"/>
            <a:ext cx="347472" cy="347472"/>
          </a:xfrm>
          <a:prstGeom prst="rect">
            <a:avLst/>
          </a:prstGeom>
        </p:spPr>
      </p:pic>
      <p:sp>
        <p:nvSpPr>
          <p:cNvPr id="3" name="Text 0"/>
          <p:cNvSpPr/>
          <p:nvPr/>
        </p:nvSpPr>
        <p:spPr>
          <a:xfrm>
            <a:off x="987552" y="6144768"/>
            <a:ext cx="1828800" cy="347472"/>
          </a:xfrm>
          <a:prstGeom prst="rect">
            <a:avLst/>
          </a:prstGeom>
          <a:noFill/>
          <a:ln/>
        </p:spPr>
        <p:txBody>
          <a:bodyPr wrap="square" lIns="0" tIns="0" rIns="0" bIns="0" rtlCol="0" anchor="ctr"/>
          <a:lstStyle/>
          <a:p>
            <a:pPr indent="0" marL="0">
              <a:buNone/>
            </a:pPr>
            <a:r>
              <a:rPr lang="en-US" sz="1200" b="1" dirty="0">
                <a:solidFill>
                  <a:schemeClr val="bg1"/>
                </a:solidFill>
              </a:rPr>
              <a:t>Observal</a:t>
            </a:r>
            <a:endParaRPr lang="en-US" sz="1200" dirty="0"/>
          </a:p>
        </p:txBody>
      </p:sp>
      <p:sp>
        <p:nvSpPr>
          <p:cNvPr id="4" name="Text 1"/>
          <p:cNvSpPr/>
          <p:nvPr>
            <p:ph idx="102" type="title" hasCustomPrompt="1"/>
          </p:nvPr>
        </p:nvSpPr>
        <p:spPr>
          <a:xfrm>
            <a:off x="822960" y="2148840"/>
            <a:ext cx="10607040" cy="164592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5" name="Text 1"/>
          <p:cNvSpPr/>
          <p:nvPr>
            <p:ph idx="103" type="body" hasCustomPrompt="1"/>
          </p:nvPr>
        </p:nvSpPr>
        <p:spPr>
          <a:xfrm>
            <a:off x="822960" y="4069080"/>
            <a:ext cx="10058400" cy="128016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4.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4.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4.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4.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1783080"/>
            <a:ext cx="5852160" cy="365760"/>
          </a:xfrm>
          <a:prstGeom prst="rect">
            <a:avLst/>
          </a:prstGeom>
          <a:noFill/>
          <a:ln/>
        </p:spPr>
        <p:txBody>
          <a:bodyPr wrap="square" lIns="0" tIns="0" rIns="0" bIns="0" rtlCol="0" anchor="t"/>
          <a:lstStyle/>
          <a:p>
            <a:pPr indent="0" marL="0">
              <a:buNone/>
            </a:pPr>
            <a:r>
              <a:rPr lang="en-US" sz="1300" b="1" spc="300" kern="0" dirty="0">
                <a:solidFill>
                  <a:schemeClr val="accent2"/>
                </a:solidFill>
              </a:rPr>
              <a:t>ENGINEERING TALK  ·  PR #1744</a:t>
            </a:r>
            <a:endParaRPr lang="en-US" sz="1300" dirty="0"/>
          </a:p>
        </p:txBody>
      </p:sp>
      <p:sp>
        <p:nvSpPr>
          <p:cNvPr id="3" name="Text 1"/>
          <p:cNvSpPr/>
          <p:nvPr>
            <p:ph idx="103" type="title" hasCustomPrompt="1"/>
          </p:nvPr>
        </p:nvSpPr>
        <p:spPr>
          <a:xfrm>
            <a:off x="548640" y="2194560"/>
            <a:ext cx="6035040" cy="1783080"/>
          </a:xfrm>
          <a:prstGeom prst="rect">
            <a:avLst/>
          </a:prstGeom>
          <a:noFill/>
          <a:ln/>
        </p:spPr>
        <p:txBody>
          <a:bodyPr wrap="square" lIns="0" tIns="0" rIns="0" bIns="0" rtlCol="0" anchor="t"/>
          <a:lstStyle/>
          <a:p>
            <a:pPr algn="l" indent="0" marL="0">
              <a:buNone/>
            </a:pPr>
            <a:r>
              <a:rPr lang="en-US" sz="5000" b="1" dirty="0">
                <a:solidFill>
                  <a:schemeClr val="bg1"/>
                </a:solidFill>
              </a:rPr>
              <a:t>Agentic Resource Discovery</a:t>
            </a:r>
            <a:endParaRPr lang="en-US" sz="5000" dirty="0"/>
          </a:p>
        </p:txBody>
      </p:sp>
      <p:sp>
        <p:nvSpPr>
          <p:cNvPr id="4" name="Text 1"/>
          <p:cNvSpPr/>
          <p:nvPr>
            <p:ph idx="104" type="body" hasCustomPrompt="1"/>
          </p:nvPr>
        </p:nvSpPr>
        <p:spPr>
          <a:xfrm>
            <a:off x="548640" y="4069080"/>
            <a:ext cx="5669280" cy="1005840"/>
          </a:xfrm>
          <a:prstGeom prst="rect">
            <a:avLst/>
          </a:prstGeom>
          <a:noFill/>
          <a:ln/>
        </p:spPr>
        <p:txBody>
          <a:bodyPr wrap="square" lIns="0" tIns="0" rIns="0" bIns="0" rtlCol="0" anchor="t"/>
          <a:lstStyle/>
          <a:p>
            <a:pPr indent="0" marL="0">
              <a:buNone/>
            </a:pPr>
            <a:r>
              <a:rPr lang="en-US" sz="2000" dirty="0">
                <a:solidFill>
                  <a:schemeClr val="accent3"/>
                </a:solidFill>
              </a:rPr>
              <a:t>How Observal learned to answer “what already exists for this task?” for every coding agent</a:t>
            </a:r>
            <a:endParaRPr lang="en-US" sz="2000" dirty="0"/>
          </a:p>
        </p:txBody>
      </p:sp>
      <p:sp>
        <p:nvSpPr>
          <p:cNvPr id="5" name="Text 1"/>
          <p:cNvSpPr/>
          <p:nvPr>
            <p:ph idx="105" type="body" hasCustomPrompt="1"/>
          </p:nvPr>
        </p:nvSpPr>
        <p:spPr>
          <a:xfrm>
            <a:off x="548640" y="5806440"/>
            <a:ext cx="5669280" cy="411480"/>
          </a:xfrm>
          <a:prstGeom prst="rect">
            <a:avLst/>
          </a:prstGeom>
          <a:noFill/>
          <a:ln/>
        </p:spPr>
        <p:txBody>
          <a:bodyPr wrap="square" lIns="0" tIns="0" rIns="0" bIns="0" rtlCol="0" anchor="t"/>
          <a:lstStyle/>
          <a:p>
            <a:pPr indent="0" marL="0">
              <a:buNone/>
            </a:pPr>
            <a:r>
              <a:rPr lang="en-US" sz="1500" dirty="0">
                <a:solidFill>
                  <a:schemeClr val="bg2"/>
                </a:solidFill>
              </a:rPr>
              <a:t>Shaan Narendran  ·  October 2026</a:t>
            </a:r>
            <a:endParaRPr lang="en-US" sz="1500" dirty="0"/>
          </a:p>
        </p:txBody>
      </p:sp>
      <p:sp>
        <p:nvSpPr>
          <p:cNvPr id="6" name="Search panel"/>
          <p:cNvSpPr/>
          <p:nvPr/>
        </p:nvSpPr>
        <p:spPr>
          <a:xfrm>
            <a:off x="6812280" y="1143000"/>
            <a:ext cx="4828032" cy="4663440"/>
          </a:xfrm>
          <a:prstGeom prst="roundRect">
            <a:avLst>
              <a:gd name="adj" fmla="val 2353"/>
            </a:avLst>
          </a:prstGeom>
          <a:solidFill>
            <a:schemeClr val="accent4"/>
          </a:solidFill>
          <a:ln/>
        </p:spPr>
      </p:sp>
      <p:sp>
        <p:nvSpPr>
          <p:cNvPr id="7" name="Search bar"/>
          <p:cNvSpPr/>
          <p:nvPr/>
        </p:nvSpPr>
        <p:spPr>
          <a:xfrm>
            <a:off x="7086600" y="1417320"/>
            <a:ext cx="4279392" cy="566928"/>
          </a:xfrm>
          <a:prstGeom prst="roundRect">
            <a:avLst>
              <a:gd name="adj" fmla="val 50000"/>
            </a:avLst>
          </a:prstGeom>
          <a:solidFill>
            <a:schemeClr val="tx2"/>
          </a:solidFill>
          <a:ln/>
        </p:spPr>
      </p:sp>
      <p:pic>
        <p:nvPicPr>
          <p:cNvPr id="8" name="Search icon" descr="preencoded.png">    </p:cNvPr>
          <p:cNvPicPr>
            <a:picLocks noChangeAspect="1"/>
          </p:cNvPicPr>
          <p:nvPr/>
        </p:nvPicPr>
        <p:blipFill>
          <a:blip r:embed="rId1"/>
          <a:stretch>
            <a:fillRect/>
          </a:stretch>
        </p:blipFill>
        <p:spPr>
          <a:xfrm>
            <a:off x="7287768" y="1554480"/>
            <a:ext cx="292608" cy="292608"/>
          </a:xfrm>
          <a:prstGeom prst="rect">
            <a:avLst/>
          </a:prstGeom>
        </p:spPr>
      </p:pic>
      <p:sp>
        <p:nvSpPr>
          <p:cNvPr id="9" name="Text 6"/>
          <p:cNvSpPr txBox="1"/>
          <p:nvPr/>
        </p:nvSpPr>
        <p:spPr>
          <a:xfrm>
            <a:off x="7726680" y="1417320"/>
            <a:ext cx="3502152" cy="566928"/>
          </a:xfrm>
          <a:prstGeom prst="rect">
            <a:avLst/>
          </a:prstGeom>
          <a:noFill/>
          <a:ln/>
        </p:spPr>
        <p:txBody>
          <a:bodyPr wrap="square" lIns="0" tIns="0" rIns="0" bIns="0" rtlCol="0" anchor="ctr"/>
          <a:lstStyle/>
          <a:p>
            <a:pPr indent="0" marL="0">
              <a:buNone/>
            </a:pPr>
            <a:r>
              <a:rPr lang="en-US" sz="1200" dirty="0">
                <a:solidFill>
                  <a:schemeClr val="bg1"/>
                </a:solidFill>
                <a:latin typeface="Consolas" pitchFamily="34" charset="0"/>
                <a:ea typeface="Consolas" pitchFamily="34" charset="-122"/>
                <a:cs typeface="Consolas" pitchFamily="34" charset="-120"/>
              </a:rPr>
              <a:t>review a pull request for auth bugs</a:t>
            </a:r>
            <a:endParaRPr lang="en-US" sz="1200" dirty="0"/>
          </a:p>
        </p:txBody>
      </p:sp>
      <p:sp>
        <p:nvSpPr>
          <p:cNvPr id="10" name="Result 1"/>
          <p:cNvSpPr/>
          <p:nvPr/>
        </p:nvSpPr>
        <p:spPr>
          <a:xfrm>
            <a:off x="7086600" y="2240280"/>
            <a:ext cx="4279392" cy="932688"/>
          </a:xfrm>
          <a:prstGeom prst="roundRect">
            <a:avLst>
              <a:gd name="adj" fmla="val 11765"/>
            </a:avLst>
          </a:prstGeom>
          <a:solidFill>
            <a:schemeClr val="tx2"/>
          </a:solidFill>
          <a:ln/>
        </p:spPr>
      </p:sp>
      <p:sp>
        <p:nvSpPr>
          <p:cNvPr id="11" name="Result 1 kind circle"/>
          <p:cNvSpPr/>
          <p:nvPr/>
        </p:nvSpPr>
        <p:spPr>
          <a:xfrm>
            <a:off x="7269480" y="2441448"/>
            <a:ext cx="530352" cy="530352"/>
          </a:xfrm>
          <a:prstGeom prst="ellipse">
            <a:avLst/>
          </a:prstGeom>
          <a:solidFill>
            <a:schemeClr val="accent1"/>
          </a:solidFill>
          <a:ln/>
        </p:spPr>
      </p:sp>
      <p:pic>
        <p:nvPicPr>
          <p:cNvPr id="12" name="Result 1 kind icon" descr="preencoded.png">    </p:cNvPr>
          <p:cNvPicPr>
            <a:picLocks noChangeAspect="1"/>
          </p:cNvPicPr>
          <p:nvPr/>
        </p:nvPicPr>
        <p:blipFill>
          <a:blip r:embed="rId2"/>
          <a:stretch>
            <a:fillRect/>
          </a:stretch>
        </p:blipFill>
        <p:spPr>
          <a:xfrm>
            <a:off x="7396764" y="2568732"/>
            <a:ext cx="275783" cy="275783"/>
          </a:xfrm>
          <a:prstGeom prst="rect">
            <a:avLst/>
          </a:prstGeom>
        </p:spPr>
      </p:pic>
      <p:sp>
        <p:nvSpPr>
          <p:cNvPr id="13" name="Text 9"/>
          <p:cNvSpPr txBox="1"/>
          <p:nvPr/>
        </p:nvSpPr>
        <p:spPr>
          <a:xfrm>
            <a:off x="8001000" y="2395728"/>
            <a:ext cx="2194560" cy="347472"/>
          </a:xfrm>
          <a:prstGeom prst="rect">
            <a:avLst/>
          </a:prstGeom>
          <a:noFill/>
          <a:ln/>
        </p:spPr>
        <p:txBody>
          <a:bodyPr wrap="square" lIns="0" tIns="0" rIns="0" bIns="0" rtlCol="0" anchor="t"/>
          <a:lstStyle/>
          <a:p>
            <a:pPr indent="0" marL="0">
              <a:buNone/>
            </a:pPr>
            <a:r>
              <a:rPr lang="en-US" sz="1700" b="1" dirty="0">
                <a:solidFill>
                  <a:schemeClr val="bg1"/>
                </a:solidFill>
              </a:rPr>
              <a:t>Security Review</a:t>
            </a:r>
            <a:endParaRPr lang="en-US" sz="1700" dirty="0"/>
          </a:p>
        </p:txBody>
      </p:sp>
      <p:sp>
        <p:nvSpPr>
          <p:cNvPr id="14" name="Text 10"/>
          <p:cNvSpPr txBox="1"/>
          <p:nvPr/>
        </p:nvSpPr>
        <p:spPr>
          <a:xfrm>
            <a:off x="8001000" y="2752344"/>
            <a:ext cx="2194560" cy="274320"/>
          </a:xfrm>
          <a:prstGeom prst="rect">
            <a:avLst/>
          </a:prstGeom>
          <a:noFill/>
          <a:ln/>
        </p:spPr>
        <p:txBody>
          <a:bodyPr wrap="square" lIns="0" tIns="0" rIns="0" bIns="0" rtlCol="0" anchor="t"/>
          <a:lstStyle/>
          <a:p>
            <a:pPr indent="0" marL="0">
              <a:buNone/>
            </a:pPr>
            <a:r>
              <a:rPr lang="en-US" sz="1300" dirty="0">
                <a:solidFill>
                  <a:schemeClr val="accent3"/>
                </a:solidFill>
              </a:rPr>
              <a:t>skill  ·  Available now</a:t>
            </a:r>
            <a:endParaRPr lang="en-US" sz="1300" dirty="0"/>
          </a:p>
        </p:txBody>
      </p:sp>
      <p:sp>
        <p:nvSpPr>
          <p:cNvPr id="15" name="Text 11"/>
          <p:cNvSpPr txBox="1"/>
          <p:nvPr/>
        </p:nvSpPr>
        <p:spPr>
          <a:xfrm>
            <a:off x="10405872" y="2331720"/>
            <a:ext cx="777240" cy="502920"/>
          </a:xfrm>
          <a:prstGeom prst="rect">
            <a:avLst/>
          </a:prstGeom>
          <a:noFill/>
          <a:ln/>
        </p:spPr>
        <p:txBody>
          <a:bodyPr wrap="square" lIns="0" tIns="0" rIns="0" bIns="0" rtlCol="0" anchor="t"/>
          <a:lstStyle/>
          <a:p>
            <a:pPr algn="r" indent="0" marL="0">
              <a:buNone/>
            </a:pPr>
            <a:r>
              <a:rPr lang="en-US" sz="2800" b="1" dirty="0">
                <a:solidFill>
                  <a:schemeClr val="accent2"/>
                </a:solidFill>
                <a:latin typeface="Arial" pitchFamily="34" charset="0"/>
                <a:ea typeface="Arial" pitchFamily="34" charset="-122"/>
                <a:cs typeface="Arial" pitchFamily="34" charset="-120"/>
              </a:rPr>
              <a:t>92</a:t>
            </a:r>
            <a:endParaRPr lang="en-US" sz="2800" dirty="0"/>
          </a:p>
        </p:txBody>
      </p:sp>
      <p:sp>
        <p:nvSpPr>
          <p:cNvPr id="16" name="Text 12"/>
          <p:cNvSpPr txBox="1"/>
          <p:nvPr/>
        </p:nvSpPr>
        <p:spPr>
          <a:xfrm>
            <a:off x="10405872" y="2834640"/>
            <a:ext cx="777240" cy="228600"/>
          </a:xfrm>
          <a:prstGeom prst="rect">
            <a:avLst/>
          </a:prstGeom>
          <a:noFill/>
          <a:ln/>
        </p:spPr>
        <p:txBody>
          <a:bodyPr wrap="square" lIns="0" tIns="0" rIns="0" bIns="0" rtlCol="0" anchor="t"/>
          <a:lstStyle/>
          <a:p>
            <a:pPr algn="r" indent="0" marL="0">
              <a:buNone/>
            </a:pPr>
            <a:r>
              <a:rPr lang="en-US" sz="1000" spc="100" kern="0" dirty="0">
                <a:solidFill>
                  <a:schemeClr val="bg2"/>
                </a:solidFill>
              </a:rPr>
              <a:t>MATCH</a:t>
            </a:r>
            <a:endParaRPr lang="en-US" sz="1000" dirty="0"/>
          </a:p>
        </p:txBody>
      </p:sp>
      <p:sp>
        <p:nvSpPr>
          <p:cNvPr id="17" name="Result 2"/>
          <p:cNvSpPr/>
          <p:nvPr/>
        </p:nvSpPr>
        <p:spPr>
          <a:xfrm>
            <a:off x="7086600" y="3355848"/>
            <a:ext cx="4279392" cy="932688"/>
          </a:xfrm>
          <a:prstGeom prst="roundRect">
            <a:avLst>
              <a:gd name="adj" fmla="val 11765"/>
            </a:avLst>
          </a:prstGeom>
          <a:solidFill>
            <a:schemeClr val="tx2"/>
          </a:solidFill>
          <a:ln/>
        </p:spPr>
      </p:sp>
      <p:sp>
        <p:nvSpPr>
          <p:cNvPr id="18" name="Result 2 kind circle"/>
          <p:cNvSpPr/>
          <p:nvPr/>
        </p:nvSpPr>
        <p:spPr>
          <a:xfrm>
            <a:off x="7269480" y="3557016"/>
            <a:ext cx="530352" cy="530352"/>
          </a:xfrm>
          <a:prstGeom prst="ellipse">
            <a:avLst/>
          </a:prstGeom>
          <a:solidFill>
            <a:schemeClr val="accent1"/>
          </a:solidFill>
          <a:ln/>
        </p:spPr>
      </p:sp>
      <p:pic>
        <p:nvPicPr>
          <p:cNvPr id="19" name="Result 2 kind icon" descr="preencoded.png">    </p:cNvPr>
          <p:cNvPicPr>
            <a:picLocks noChangeAspect="1"/>
          </p:cNvPicPr>
          <p:nvPr/>
        </p:nvPicPr>
        <p:blipFill>
          <a:blip r:embed="rId3"/>
          <a:stretch>
            <a:fillRect/>
          </a:stretch>
        </p:blipFill>
        <p:spPr>
          <a:xfrm>
            <a:off x="7396764" y="3684300"/>
            <a:ext cx="275783" cy="275783"/>
          </a:xfrm>
          <a:prstGeom prst="rect">
            <a:avLst/>
          </a:prstGeom>
        </p:spPr>
      </p:pic>
      <p:sp>
        <p:nvSpPr>
          <p:cNvPr id="20" name="Text 15"/>
          <p:cNvSpPr txBox="1"/>
          <p:nvPr/>
        </p:nvSpPr>
        <p:spPr>
          <a:xfrm>
            <a:off x="8001000" y="3511296"/>
            <a:ext cx="2194560" cy="347472"/>
          </a:xfrm>
          <a:prstGeom prst="rect">
            <a:avLst/>
          </a:prstGeom>
          <a:noFill/>
          <a:ln/>
        </p:spPr>
        <p:txBody>
          <a:bodyPr wrap="square" lIns="0" tIns="0" rIns="0" bIns="0" rtlCol="0" anchor="t"/>
          <a:lstStyle/>
          <a:p>
            <a:pPr indent="0" marL="0">
              <a:buNone/>
            </a:pPr>
            <a:r>
              <a:rPr lang="en-US" sz="1700" b="1" dirty="0">
                <a:solidFill>
                  <a:schemeClr val="bg1"/>
                </a:solidFill>
              </a:rPr>
              <a:t>OWASP Checklist</a:t>
            </a:r>
            <a:endParaRPr lang="en-US" sz="1700" dirty="0"/>
          </a:p>
        </p:txBody>
      </p:sp>
      <p:sp>
        <p:nvSpPr>
          <p:cNvPr id="21" name="Text 16"/>
          <p:cNvSpPr txBox="1"/>
          <p:nvPr/>
        </p:nvSpPr>
        <p:spPr>
          <a:xfrm>
            <a:off x="8001000" y="3867912"/>
            <a:ext cx="2194560" cy="274320"/>
          </a:xfrm>
          <a:prstGeom prst="rect">
            <a:avLst/>
          </a:prstGeom>
          <a:noFill/>
          <a:ln/>
        </p:spPr>
        <p:txBody>
          <a:bodyPr wrap="square" lIns="0" tIns="0" rIns="0" bIns="0" rtlCol="0" anchor="t"/>
          <a:lstStyle/>
          <a:p>
            <a:pPr indent="0" marL="0">
              <a:buNone/>
            </a:pPr>
            <a:r>
              <a:rPr lang="en-US" sz="1300" dirty="0">
                <a:solidFill>
                  <a:schemeClr val="accent3"/>
                </a:solidFill>
              </a:rPr>
              <a:t>prompt  ·  Available now</a:t>
            </a:r>
            <a:endParaRPr lang="en-US" sz="1300" dirty="0"/>
          </a:p>
        </p:txBody>
      </p:sp>
      <p:sp>
        <p:nvSpPr>
          <p:cNvPr id="22" name="Text 17"/>
          <p:cNvSpPr txBox="1"/>
          <p:nvPr/>
        </p:nvSpPr>
        <p:spPr>
          <a:xfrm>
            <a:off x="10405872" y="3447288"/>
            <a:ext cx="777240" cy="502920"/>
          </a:xfrm>
          <a:prstGeom prst="rect">
            <a:avLst/>
          </a:prstGeom>
          <a:noFill/>
          <a:ln/>
        </p:spPr>
        <p:txBody>
          <a:bodyPr wrap="square" lIns="0" tIns="0" rIns="0" bIns="0" rtlCol="0" anchor="t"/>
          <a:lstStyle/>
          <a:p>
            <a:pPr algn="r" indent="0" marL="0">
              <a:buNone/>
            </a:pPr>
            <a:r>
              <a:rPr lang="en-US" sz="2800" b="1" dirty="0">
                <a:solidFill>
                  <a:schemeClr val="accent2"/>
                </a:solidFill>
                <a:latin typeface="Arial" pitchFamily="34" charset="0"/>
                <a:ea typeface="Arial" pitchFamily="34" charset="-122"/>
                <a:cs typeface="Arial" pitchFamily="34" charset="-120"/>
              </a:rPr>
              <a:t>81</a:t>
            </a:r>
            <a:endParaRPr lang="en-US" sz="2800" dirty="0"/>
          </a:p>
        </p:txBody>
      </p:sp>
      <p:sp>
        <p:nvSpPr>
          <p:cNvPr id="23" name="Text 18"/>
          <p:cNvSpPr txBox="1"/>
          <p:nvPr/>
        </p:nvSpPr>
        <p:spPr>
          <a:xfrm>
            <a:off x="10405872" y="3950208"/>
            <a:ext cx="777240" cy="228600"/>
          </a:xfrm>
          <a:prstGeom prst="rect">
            <a:avLst/>
          </a:prstGeom>
          <a:noFill/>
          <a:ln/>
        </p:spPr>
        <p:txBody>
          <a:bodyPr wrap="square" lIns="0" tIns="0" rIns="0" bIns="0" rtlCol="0" anchor="t"/>
          <a:lstStyle/>
          <a:p>
            <a:pPr algn="r" indent="0" marL="0">
              <a:buNone/>
            </a:pPr>
            <a:r>
              <a:rPr lang="en-US" sz="1000" spc="100" kern="0" dirty="0">
                <a:solidFill>
                  <a:schemeClr val="bg2"/>
                </a:solidFill>
              </a:rPr>
              <a:t>MATCH</a:t>
            </a:r>
            <a:endParaRPr lang="en-US" sz="1000" dirty="0"/>
          </a:p>
        </p:txBody>
      </p:sp>
      <p:sp>
        <p:nvSpPr>
          <p:cNvPr id="24" name="Result 3"/>
          <p:cNvSpPr/>
          <p:nvPr/>
        </p:nvSpPr>
        <p:spPr>
          <a:xfrm>
            <a:off x="7086600" y="4471416"/>
            <a:ext cx="4279392" cy="932688"/>
          </a:xfrm>
          <a:prstGeom prst="roundRect">
            <a:avLst>
              <a:gd name="adj" fmla="val 11765"/>
            </a:avLst>
          </a:prstGeom>
          <a:solidFill>
            <a:schemeClr val="tx2"/>
          </a:solidFill>
          <a:ln/>
        </p:spPr>
      </p:sp>
      <p:sp>
        <p:nvSpPr>
          <p:cNvPr id="25" name="Result 3 kind circle"/>
          <p:cNvSpPr/>
          <p:nvPr/>
        </p:nvSpPr>
        <p:spPr>
          <a:xfrm>
            <a:off x="7269480" y="4672584"/>
            <a:ext cx="530352" cy="530352"/>
          </a:xfrm>
          <a:prstGeom prst="ellipse">
            <a:avLst/>
          </a:prstGeom>
          <a:solidFill>
            <a:schemeClr val="accent1"/>
          </a:solidFill>
          <a:ln/>
        </p:spPr>
      </p:sp>
      <p:pic>
        <p:nvPicPr>
          <p:cNvPr id="26" name="Result 3 kind icon" descr="preencoded.png">    </p:cNvPr>
          <p:cNvPicPr>
            <a:picLocks noChangeAspect="1"/>
          </p:cNvPicPr>
          <p:nvPr/>
        </p:nvPicPr>
        <p:blipFill>
          <a:blip r:embed="rId4"/>
          <a:stretch>
            <a:fillRect/>
          </a:stretch>
        </p:blipFill>
        <p:spPr>
          <a:xfrm>
            <a:off x="7396764" y="4799868"/>
            <a:ext cx="275783" cy="275783"/>
          </a:xfrm>
          <a:prstGeom prst="rect">
            <a:avLst/>
          </a:prstGeom>
        </p:spPr>
      </p:pic>
      <p:sp>
        <p:nvSpPr>
          <p:cNvPr id="27" name="Text 21"/>
          <p:cNvSpPr txBox="1"/>
          <p:nvPr/>
        </p:nvSpPr>
        <p:spPr>
          <a:xfrm>
            <a:off x="8001000" y="4626864"/>
            <a:ext cx="2194560" cy="347472"/>
          </a:xfrm>
          <a:prstGeom prst="rect">
            <a:avLst/>
          </a:prstGeom>
          <a:noFill/>
          <a:ln/>
        </p:spPr>
        <p:txBody>
          <a:bodyPr wrap="square" lIns="0" tIns="0" rIns="0" bIns="0" rtlCol="0" anchor="t"/>
          <a:lstStyle/>
          <a:p>
            <a:pPr indent="0" marL="0">
              <a:buNone/>
            </a:pPr>
            <a:r>
              <a:rPr lang="en-US" sz="1700" b="1" dirty="0">
                <a:solidFill>
                  <a:schemeClr val="bg1"/>
                </a:solidFill>
              </a:rPr>
              <a:t>github</a:t>
            </a:r>
            <a:endParaRPr lang="en-US" sz="1700" dirty="0"/>
          </a:p>
        </p:txBody>
      </p:sp>
      <p:sp>
        <p:nvSpPr>
          <p:cNvPr id="28" name="Text 22"/>
          <p:cNvSpPr txBox="1"/>
          <p:nvPr/>
        </p:nvSpPr>
        <p:spPr>
          <a:xfrm>
            <a:off x="8001000" y="4983480"/>
            <a:ext cx="2194560" cy="274320"/>
          </a:xfrm>
          <a:prstGeom prst="rect">
            <a:avLst/>
          </a:prstGeom>
          <a:noFill/>
          <a:ln/>
        </p:spPr>
        <p:txBody>
          <a:bodyPr wrap="square" lIns="0" tIns="0" rIns="0" bIns="0" rtlCol="0" anchor="t"/>
          <a:lstStyle/>
          <a:p>
            <a:pPr indent="0" marL="0">
              <a:buNone/>
            </a:pPr>
            <a:r>
              <a:rPr lang="en-US" sz="1300" dirty="0">
                <a:solidFill>
                  <a:schemeClr val="accent3"/>
                </a:solidFill>
              </a:rPr>
              <a:t>mcp  ·  Next session</a:t>
            </a:r>
            <a:endParaRPr lang="en-US" sz="1300" dirty="0"/>
          </a:p>
        </p:txBody>
      </p:sp>
      <p:sp>
        <p:nvSpPr>
          <p:cNvPr id="29" name="Text 23"/>
          <p:cNvSpPr txBox="1"/>
          <p:nvPr/>
        </p:nvSpPr>
        <p:spPr>
          <a:xfrm>
            <a:off x="10405872" y="4562856"/>
            <a:ext cx="777240" cy="502920"/>
          </a:xfrm>
          <a:prstGeom prst="rect">
            <a:avLst/>
          </a:prstGeom>
          <a:noFill/>
          <a:ln/>
        </p:spPr>
        <p:txBody>
          <a:bodyPr wrap="square" lIns="0" tIns="0" rIns="0" bIns="0" rtlCol="0" anchor="t"/>
          <a:lstStyle/>
          <a:p>
            <a:pPr algn="r" indent="0" marL="0">
              <a:buNone/>
            </a:pPr>
            <a:r>
              <a:rPr lang="en-US" sz="2800" b="1" dirty="0">
                <a:solidFill>
                  <a:schemeClr val="accent2"/>
                </a:solidFill>
                <a:latin typeface="Arial" pitchFamily="34" charset="0"/>
                <a:ea typeface="Arial" pitchFamily="34" charset="-122"/>
                <a:cs typeface="Arial" pitchFamily="34" charset="-120"/>
              </a:rPr>
              <a:t>64</a:t>
            </a:r>
            <a:endParaRPr lang="en-US" sz="2800" dirty="0"/>
          </a:p>
        </p:txBody>
      </p:sp>
      <p:sp>
        <p:nvSpPr>
          <p:cNvPr id="30" name="Text 24"/>
          <p:cNvSpPr txBox="1"/>
          <p:nvPr/>
        </p:nvSpPr>
        <p:spPr>
          <a:xfrm>
            <a:off x="10405872" y="5065776"/>
            <a:ext cx="777240" cy="228600"/>
          </a:xfrm>
          <a:prstGeom prst="rect">
            <a:avLst/>
          </a:prstGeom>
          <a:noFill/>
          <a:ln/>
        </p:spPr>
        <p:txBody>
          <a:bodyPr wrap="square" lIns="0" tIns="0" rIns="0" bIns="0" rtlCol="0" anchor="t"/>
          <a:lstStyle/>
          <a:p>
            <a:pPr algn="r" indent="0" marL="0">
              <a:buNone/>
            </a:pPr>
            <a:r>
              <a:rPr lang="en-US" sz="1000" spc="100" kern="0" dirty="0">
                <a:solidFill>
                  <a:schemeClr val="bg2"/>
                </a:solidFill>
              </a:rPr>
              <a:t>MATCH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Our agents only knew what we pre-installed</a:t>
            </a:r>
            <a:endParaRPr lang="en-US" sz="3600" dirty="0"/>
          </a:p>
        </p:txBody>
      </p:sp>
      <p:sp>
        <p:nvSpPr>
          <p:cNvPr id="4" name="Text 2"/>
          <p:cNvSpPr txBox="1"/>
          <p:nvPr/>
        </p:nvSpPr>
        <p:spPr>
          <a:xfrm>
            <a:off x="548640" y="1691640"/>
            <a:ext cx="5120640" cy="411480"/>
          </a:xfrm>
          <a:prstGeom prst="rect">
            <a:avLst/>
          </a:prstGeom>
          <a:noFill/>
          <a:ln/>
        </p:spPr>
        <p:txBody>
          <a:bodyPr wrap="square" lIns="0" tIns="0" rIns="0" bIns="0" rtlCol="0" anchor="t"/>
          <a:lstStyle/>
          <a:p>
            <a:pPr indent="0" marL="0">
              <a:buNone/>
            </a:pPr>
            <a:r>
              <a:rPr lang="en-US" sz="2000" b="1" dirty="0">
                <a:solidFill>
                  <a:schemeClr val="tx1"/>
                </a:solidFill>
              </a:rPr>
              <a:t>Install-first suits governed workflows</a:t>
            </a:r>
            <a:endParaRPr lang="en-US" sz="2000" dirty="0"/>
          </a:p>
        </p:txBody>
      </p:sp>
      <p:sp>
        <p:nvSpPr>
          <p:cNvPr id="5" name="Step 1"/>
          <p:cNvSpPr/>
          <p:nvPr/>
        </p:nvSpPr>
        <p:spPr>
          <a:xfrm>
            <a:off x="548640" y="2331720"/>
            <a:ext cx="502920" cy="502920"/>
          </a:xfrm>
          <a:prstGeom prst="ellipse">
            <a:avLst/>
          </a:prstGeom>
          <a:solidFill>
            <a:schemeClr val="accent1"/>
          </a:solidFill>
          <a:ln/>
        </p:spPr>
      </p:sp>
      <p:sp>
        <p:nvSpPr>
          <p:cNvPr id="6" name="Text 4"/>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Arial" pitchFamily="34" charset="0"/>
                <a:ea typeface="Arial" pitchFamily="34" charset="-122"/>
                <a:cs typeface="Arial" pitchFamily="34" charset="-120"/>
              </a:rPr>
              <a:t>1</a:t>
            </a:r>
            <a:endParaRPr lang="en-US" sz="1700" dirty="0"/>
          </a:p>
        </p:txBody>
      </p:sp>
      <p:sp>
        <p:nvSpPr>
          <p:cNvPr id="7" name="Text 5"/>
          <p:cNvSpPr txBox="1"/>
          <p:nvPr/>
        </p:nvSpPr>
        <p:spPr>
          <a:xfrm>
            <a:off x="1280160" y="2331720"/>
            <a:ext cx="4389120" cy="502920"/>
          </a:xfrm>
          <a:prstGeom prst="rect">
            <a:avLst/>
          </a:prstGeom>
          <a:noFill/>
          <a:ln/>
        </p:spPr>
        <p:txBody>
          <a:bodyPr wrap="square" lIns="0" tIns="0" rIns="0" bIns="0" rtlCol="0" anchor="ctr"/>
          <a:lstStyle/>
          <a:p>
            <a:pPr indent="0" marL="0">
              <a:buNone/>
            </a:pPr>
            <a:r>
              <a:rPr lang="en-US" sz="1700" dirty="0">
                <a:solidFill>
                  <a:schemeClr val="tx1"/>
                </a:solidFill>
              </a:rPr>
              <a:t>Build an Agent from registry components</a:t>
            </a:r>
            <a:endParaRPr lang="en-US" sz="1700" dirty="0"/>
          </a:p>
        </p:txBody>
      </p:sp>
      <p:sp>
        <p:nvSpPr>
          <p:cNvPr id="8" name="Step 2"/>
          <p:cNvSpPr/>
          <p:nvPr/>
        </p:nvSpPr>
        <p:spPr>
          <a:xfrm>
            <a:off x="548640" y="3108960"/>
            <a:ext cx="502920" cy="502920"/>
          </a:xfrm>
          <a:prstGeom prst="ellipse">
            <a:avLst/>
          </a:prstGeom>
          <a:solidFill>
            <a:schemeClr val="accent1"/>
          </a:solidFill>
          <a:ln/>
        </p:spPr>
      </p:sp>
      <p:sp>
        <p:nvSpPr>
          <p:cNvPr id="9" name="Text 7"/>
          <p:cNvSpPr txBox="1"/>
          <p:nvPr/>
        </p:nvSpPr>
        <p:spPr>
          <a:xfrm>
            <a:off x="548640" y="310896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Arial" pitchFamily="34" charset="0"/>
                <a:ea typeface="Arial" pitchFamily="34" charset="-122"/>
                <a:cs typeface="Arial" pitchFamily="34" charset="-120"/>
              </a:rPr>
              <a:t>2</a:t>
            </a:r>
            <a:endParaRPr lang="en-US" sz="1700" dirty="0"/>
          </a:p>
        </p:txBody>
      </p:sp>
      <p:sp>
        <p:nvSpPr>
          <p:cNvPr id="10" name="Text 8"/>
          <p:cNvSpPr txBox="1"/>
          <p:nvPr/>
        </p:nvSpPr>
        <p:spPr>
          <a:xfrm>
            <a:off x="1280160" y="3108960"/>
            <a:ext cx="4389120" cy="502920"/>
          </a:xfrm>
          <a:prstGeom prst="rect">
            <a:avLst/>
          </a:prstGeom>
          <a:noFill/>
          <a:ln/>
        </p:spPr>
        <p:txBody>
          <a:bodyPr wrap="square" lIns="0" tIns="0" rIns="0" bIns="0" rtlCol="0" anchor="ctr"/>
          <a:lstStyle/>
          <a:p>
            <a:pPr indent="0" marL="0">
              <a:buNone/>
            </a:pPr>
            <a:r>
              <a:rPr lang="en-US" sz="1700" dirty="0">
                <a:solidFill>
                  <a:schemeClr val="tx1"/>
                </a:solidFill>
              </a:rPr>
              <a:t>Publish it and get it approved</a:t>
            </a:r>
            <a:endParaRPr lang="en-US" sz="1700" dirty="0"/>
          </a:p>
        </p:txBody>
      </p:sp>
      <p:sp>
        <p:nvSpPr>
          <p:cNvPr id="11" name="Step 3"/>
          <p:cNvSpPr/>
          <p:nvPr/>
        </p:nvSpPr>
        <p:spPr>
          <a:xfrm>
            <a:off x="548640" y="3886200"/>
            <a:ext cx="502920" cy="502920"/>
          </a:xfrm>
          <a:prstGeom prst="ellipse">
            <a:avLst/>
          </a:prstGeom>
          <a:solidFill>
            <a:schemeClr val="accent1"/>
          </a:solidFill>
          <a:ln/>
        </p:spPr>
      </p:sp>
      <p:sp>
        <p:nvSpPr>
          <p:cNvPr id="12" name="Text 10"/>
          <p:cNvSpPr txBox="1"/>
          <p:nvPr/>
        </p:nvSpPr>
        <p:spPr>
          <a:xfrm>
            <a:off x="548640" y="38862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Arial" pitchFamily="34" charset="0"/>
                <a:ea typeface="Arial" pitchFamily="34" charset="-122"/>
                <a:cs typeface="Arial" pitchFamily="34" charset="-120"/>
              </a:rPr>
              <a:t>3</a:t>
            </a:r>
            <a:endParaRPr lang="en-US" sz="1700" dirty="0"/>
          </a:p>
        </p:txBody>
      </p:sp>
      <p:sp>
        <p:nvSpPr>
          <p:cNvPr id="13" name="Text 11"/>
          <p:cNvSpPr txBox="1"/>
          <p:nvPr/>
        </p:nvSpPr>
        <p:spPr>
          <a:xfrm>
            <a:off x="1280160" y="3886200"/>
            <a:ext cx="4389120" cy="502920"/>
          </a:xfrm>
          <a:prstGeom prst="rect">
            <a:avLst/>
          </a:prstGeom>
          <a:noFill/>
          <a:ln/>
        </p:spPr>
        <p:txBody>
          <a:bodyPr wrap="square" lIns="0" tIns="0" rIns="0" bIns="0" rtlCol="0" anchor="ctr"/>
          <a:lstStyle/>
          <a:p>
            <a:pPr indent="0" marL="0">
              <a:buNone/>
            </a:pPr>
            <a:r>
              <a:rPr lang="en-US" sz="1700" dirty="0">
                <a:solidFill>
                  <a:schemeClr val="tx1"/>
                </a:solidFill>
              </a:rPr>
              <a:t>Pull it into a harness</a:t>
            </a:r>
            <a:endParaRPr lang="en-US" sz="1700" dirty="0"/>
          </a:p>
        </p:txBody>
      </p:sp>
      <p:sp>
        <p:nvSpPr>
          <p:cNvPr id="14" name="Step 4"/>
          <p:cNvSpPr/>
          <p:nvPr/>
        </p:nvSpPr>
        <p:spPr>
          <a:xfrm>
            <a:off x="548640" y="4663440"/>
            <a:ext cx="502920" cy="502920"/>
          </a:xfrm>
          <a:prstGeom prst="ellipse">
            <a:avLst/>
          </a:prstGeom>
          <a:solidFill>
            <a:schemeClr val="accent1"/>
          </a:solidFill>
          <a:ln/>
        </p:spPr>
      </p:sp>
      <p:sp>
        <p:nvSpPr>
          <p:cNvPr id="15" name="Text 13"/>
          <p:cNvSpPr txBox="1"/>
          <p:nvPr/>
        </p:nvSpPr>
        <p:spPr>
          <a:xfrm>
            <a:off x="548640" y="46634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Arial" pitchFamily="34" charset="0"/>
                <a:ea typeface="Arial" pitchFamily="34" charset="-122"/>
                <a:cs typeface="Arial" pitchFamily="34" charset="-120"/>
              </a:rPr>
              <a:t>4</a:t>
            </a:r>
            <a:endParaRPr lang="en-US" sz="1700" dirty="0"/>
          </a:p>
        </p:txBody>
      </p:sp>
      <p:sp>
        <p:nvSpPr>
          <p:cNvPr id="16" name="Text 14"/>
          <p:cNvSpPr txBox="1"/>
          <p:nvPr/>
        </p:nvSpPr>
        <p:spPr>
          <a:xfrm>
            <a:off x="1280160" y="4663440"/>
            <a:ext cx="4389120" cy="502920"/>
          </a:xfrm>
          <a:prstGeom prst="rect">
            <a:avLst/>
          </a:prstGeom>
          <a:noFill/>
          <a:ln/>
        </p:spPr>
        <p:txBody>
          <a:bodyPr wrap="square" lIns="0" tIns="0" rIns="0" bIns="0" rtlCol="0" anchor="ctr"/>
          <a:lstStyle/>
          <a:p>
            <a:pPr indent="0" marL="0">
              <a:buNone/>
            </a:pPr>
            <a:r>
              <a:rPr lang="en-US" sz="1700" dirty="0">
                <a:solidFill>
                  <a:schemeClr val="tx1"/>
                </a:solidFill>
              </a:rPr>
              <a:t>Start the session</a:t>
            </a:r>
            <a:endParaRPr lang="en-US" sz="1700" dirty="0"/>
          </a:p>
        </p:txBody>
      </p:sp>
      <p:sp>
        <p:nvSpPr>
          <p:cNvPr id="17" name="Text 15"/>
          <p:cNvSpPr txBox="1"/>
          <p:nvPr/>
        </p:nvSpPr>
        <p:spPr>
          <a:xfrm>
            <a:off x="548640" y="5532120"/>
            <a:ext cx="5120640" cy="365760"/>
          </a:xfrm>
          <a:prstGeom prst="rect">
            <a:avLst/>
          </a:prstGeom>
          <a:noFill/>
          <a:ln/>
        </p:spPr>
        <p:txBody>
          <a:bodyPr wrap="square" lIns="0" tIns="0" rIns="0" bIns="0" rtlCol="0" anchor="t"/>
          <a:lstStyle/>
          <a:p>
            <a:pPr indent="0" marL="0">
              <a:buNone/>
            </a:pPr>
            <a:r>
              <a:rPr lang="en-US" sz="1500" i="1" dirty="0">
                <a:solidFill>
                  <a:schemeClr val="accent6"/>
                </a:solidFill>
              </a:rPr>
              <a:t>Every decision is made before the session starts.</a:t>
            </a:r>
            <a:endParaRPr lang="en-US" sz="1500" dirty="0"/>
          </a:p>
        </p:txBody>
      </p:sp>
      <p:sp>
        <p:nvSpPr>
          <p:cNvPr id="18" name="Mid-task card"/>
          <p:cNvSpPr/>
          <p:nvPr/>
        </p:nvSpPr>
        <p:spPr>
          <a:xfrm>
            <a:off x="6172200" y="1691640"/>
            <a:ext cx="5468112" cy="4343400"/>
          </a:xfrm>
          <a:prstGeom prst="roundRect">
            <a:avLst>
              <a:gd name="adj" fmla="val 2526"/>
            </a:avLst>
          </a:prstGeom>
          <a:solidFill>
            <a:schemeClr val="bg2"/>
          </a:solidFill>
          <a:ln/>
        </p:spPr>
      </p:sp>
      <p:sp>
        <p:nvSpPr>
          <p:cNvPr id="19" name="Text 17"/>
          <p:cNvSpPr txBox="1"/>
          <p:nvPr/>
        </p:nvSpPr>
        <p:spPr>
          <a:xfrm>
            <a:off x="6492240" y="1920240"/>
            <a:ext cx="4828032" cy="411480"/>
          </a:xfrm>
          <a:prstGeom prst="rect">
            <a:avLst/>
          </a:prstGeom>
          <a:noFill/>
          <a:ln/>
        </p:spPr>
        <p:txBody>
          <a:bodyPr wrap="square" lIns="0" tIns="0" rIns="0" bIns="0" rtlCol="0" anchor="t"/>
          <a:lstStyle/>
          <a:p>
            <a:pPr indent="0" marL="0">
              <a:buNone/>
            </a:pPr>
            <a:r>
              <a:rPr lang="en-US" sz="2000" b="1" dirty="0">
                <a:solidFill>
                  <a:schemeClr val="tx1"/>
                </a:solidFill>
              </a:rPr>
              <a:t>…and fails the developer mid-task</a:t>
            </a:r>
            <a:endParaRPr lang="en-US" sz="2000" dirty="0"/>
          </a:p>
        </p:txBody>
      </p:sp>
      <p:sp>
        <p:nvSpPr>
          <p:cNvPr id="20" name="Developer request bubble"/>
          <p:cNvSpPr/>
          <p:nvPr/>
        </p:nvSpPr>
        <p:spPr>
          <a:xfrm>
            <a:off x="6492240" y="2514600"/>
            <a:ext cx="4828032" cy="685800"/>
          </a:xfrm>
          <a:prstGeom prst="roundRect">
            <a:avLst>
              <a:gd name="adj" fmla="val 16000"/>
            </a:avLst>
          </a:prstGeom>
          <a:solidFill>
            <a:schemeClr val="bg1"/>
          </a:solidFill>
          <a:ln/>
        </p:spPr>
      </p:sp>
      <p:sp>
        <p:nvSpPr>
          <p:cNvPr id="21" name="Text 19"/>
          <p:cNvSpPr txBox="1"/>
          <p:nvPr/>
        </p:nvSpPr>
        <p:spPr>
          <a:xfrm>
            <a:off x="6720840" y="2514600"/>
            <a:ext cx="4370832" cy="685800"/>
          </a:xfrm>
          <a:prstGeom prst="rect">
            <a:avLst/>
          </a:prstGeom>
          <a:noFill/>
          <a:ln/>
        </p:spPr>
        <p:txBody>
          <a:bodyPr wrap="square" lIns="0" tIns="0" rIns="0" bIns="0" rtlCol="0" anchor="ctr"/>
          <a:lstStyle/>
          <a:p>
            <a:pPr indent="0" marL="0">
              <a:buNone/>
            </a:pPr>
            <a:r>
              <a:rPr lang="en-US" sz="1700" i="1" dirty="0">
                <a:solidFill>
                  <a:schemeClr val="tx1"/>
                </a:solidFill>
              </a:rPr>
              <a:t>“Review this PR for authentication bugs.”</a:t>
            </a:r>
            <a:endParaRPr lang="en-US" sz="1700" dirty="0"/>
          </a:p>
        </p:txBody>
      </p:sp>
      <p:sp>
        <p:nvSpPr>
          <p:cNvPr id="22" name="Failure 1 circle"/>
          <p:cNvSpPr/>
          <p:nvPr/>
        </p:nvSpPr>
        <p:spPr>
          <a:xfrm>
            <a:off x="6492240" y="3474720"/>
            <a:ext cx="457200" cy="457200"/>
          </a:xfrm>
          <a:prstGeom prst="ellipse">
            <a:avLst/>
          </a:prstGeom>
          <a:solidFill>
            <a:schemeClr val="accent5"/>
          </a:solidFill>
          <a:ln/>
        </p:spPr>
      </p:sp>
      <p:pic>
        <p:nvPicPr>
          <p:cNvPr id="23" name="Failure 1 icon" descr="preencoded.png">    </p:cNvPr>
          <p:cNvPicPr>
            <a:picLocks noChangeAspect="1"/>
          </p:cNvPicPr>
          <p:nvPr/>
        </p:nvPicPr>
        <p:blipFill>
          <a:blip r:embed="rId1"/>
          <a:stretch>
            <a:fillRect/>
          </a:stretch>
        </p:blipFill>
        <p:spPr>
          <a:xfrm>
            <a:off x="6601968" y="3584448"/>
            <a:ext cx="237744" cy="237744"/>
          </a:xfrm>
          <a:prstGeom prst="rect">
            <a:avLst/>
          </a:prstGeom>
        </p:spPr>
      </p:pic>
      <p:sp>
        <p:nvSpPr>
          <p:cNvPr id="24" name="Text 21"/>
          <p:cNvSpPr txBox="1"/>
          <p:nvPr/>
        </p:nvSpPr>
        <p:spPr>
          <a:xfrm>
            <a:off x="7132320" y="3474720"/>
            <a:ext cx="4187952" cy="457200"/>
          </a:xfrm>
          <a:prstGeom prst="rect">
            <a:avLst/>
          </a:prstGeom>
          <a:noFill/>
          <a:ln/>
        </p:spPr>
        <p:txBody>
          <a:bodyPr wrap="square" lIns="0" tIns="0" rIns="0" bIns="0" rtlCol="0" anchor="ctr"/>
          <a:lstStyle/>
          <a:p>
            <a:pPr indent="0" marL="0">
              <a:buNone/>
            </a:pPr>
            <a:r>
              <a:rPr lang="en-US" sz="1600" dirty="0">
                <a:solidFill>
                  <a:schemeClr val="tx1"/>
                </a:solidFill>
              </a:rPr>
              <a:t>Rebuilds a review checklist the org already approved</a:t>
            </a:r>
            <a:endParaRPr lang="en-US" sz="1600" dirty="0"/>
          </a:p>
        </p:txBody>
      </p:sp>
      <p:sp>
        <p:nvSpPr>
          <p:cNvPr id="25" name="Failure 2 circle"/>
          <p:cNvSpPr/>
          <p:nvPr/>
        </p:nvSpPr>
        <p:spPr>
          <a:xfrm>
            <a:off x="6492240" y="4160520"/>
            <a:ext cx="457200" cy="457200"/>
          </a:xfrm>
          <a:prstGeom prst="ellipse">
            <a:avLst/>
          </a:prstGeom>
          <a:solidFill>
            <a:schemeClr val="accent5"/>
          </a:solidFill>
          <a:ln/>
        </p:spPr>
      </p:sp>
      <p:pic>
        <p:nvPicPr>
          <p:cNvPr id="26" name="Failure 2 icon" descr="preencoded.png">    </p:cNvPr>
          <p:cNvPicPr>
            <a:picLocks noChangeAspect="1"/>
          </p:cNvPicPr>
          <p:nvPr/>
        </p:nvPicPr>
        <p:blipFill>
          <a:blip r:embed="rId2"/>
          <a:stretch>
            <a:fillRect/>
          </a:stretch>
        </p:blipFill>
        <p:spPr>
          <a:xfrm>
            <a:off x="6601968" y="4270248"/>
            <a:ext cx="237744" cy="237744"/>
          </a:xfrm>
          <a:prstGeom prst="rect">
            <a:avLst/>
          </a:prstGeom>
        </p:spPr>
      </p:pic>
      <p:sp>
        <p:nvSpPr>
          <p:cNvPr id="27" name="Text 23"/>
          <p:cNvSpPr txBox="1"/>
          <p:nvPr/>
        </p:nvSpPr>
        <p:spPr>
          <a:xfrm>
            <a:off x="7132320" y="4160520"/>
            <a:ext cx="4187952" cy="457200"/>
          </a:xfrm>
          <a:prstGeom prst="rect">
            <a:avLst/>
          </a:prstGeom>
          <a:noFill/>
          <a:ln/>
        </p:spPr>
        <p:txBody>
          <a:bodyPr wrap="square" lIns="0" tIns="0" rIns="0" bIns="0" rtlCol="0" anchor="ctr"/>
          <a:lstStyle/>
          <a:p>
            <a:pPr indent="0" marL="0">
              <a:buNone/>
            </a:pPr>
            <a:r>
              <a:rPr lang="en-US" sz="1600" dirty="0">
                <a:solidFill>
                  <a:schemeClr val="tx1"/>
                </a:solidFill>
              </a:rPr>
              <a:t>Says the capability isn’t available</a:t>
            </a:r>
            <a:endParaRPr lang="en-US" sz="1600" dirty="0"/>
          </a:p>
        </p:txBody>
      </p:sp>
      <p:sp>
        <p:nvSpPr>
          <p:cNvPr id="28" name="Text 24"/>
          <p:cNvSpPr txBox="1"/>
          <p:nvPr/>
        </p:nvSpPr>
        <p:spPr>
          <a:xfrm>
            <a:off x="6492240" y="5074920"/>
            <a:ext cx="4828032" cy="457200"/>
          </a:xfrm>
          <a:prstGeom prst="rect">
            <a:avLst/>
          </a:prstGeom>
          <a:noFill/>
          <a:ln/>
        </p:spPr>
        <p:txBody>
          <a:bodyPr wrap="square" lIns="0" tIns="0" rIns="0" bIns="0" rtlCol="0" anchor="t"/>
          <a:lstStyle/>
          <a:p>
            <a:pPr indent="0" marL="0">
              <a:buNone/>
            </a:pPr>
            <a:r>
              <a:rPr lang="en-US" sz="1900" b="1" dirty="0">
                <a:solidFill>
                  <a:schemeClr val="accent1"/>
                </a:solidFill>
              </a:rPr>
              <a:t>The approved resource was one search away.</a:t>
            </a:r>
            <a:endParaRPr lang="en-US" sz="19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1600200"/>
            <a:ext cx="3657600" cy="1234440"/>
          </a:xfrm>
          <a:prstGeom prst="rect">
            <a:avLst/>
          </a:prstGeom>
          <a:noFill/>
          <a:ln/>
        </p:spPr>
        <p:txBody>
          <a:bodyPr wrap="square" lIns="0" tIns="0" rIns="0" bIns="0" rtlCol="0" anchor="b"/>
          <a:lstStyle/>
          <a:p>
            <a:pPr indent="0" marL="0">
              <a:buNone/>
            </a:pPr>
            <a:r>
              <a:rPr lang="en-US" sz="8800" b="1" dirty="0">
                <a:solidFill>
                  <a:schemeClr val="accent2"/>
                </a:solidFill>
                <a:latin typeface="Arial" pitchFamily="34" charset="0"/>
                <a:ea typeface="Arial" pitchFamily="34" charset="-122"/>
                <a:cs typeface="Arial" pitchFamily="34" charset="-120"/>
              </a:rPr>
              <a:t>01</a:t>
            </a:r>
            <a:endParaRPr lang="en-US" sz="8800" dirty="0"/>
          </a:p>
        </p:txBody>
      </p:sp>
      <p:sp>
        <p:nvSpPr>
          <p:cNvPr id="3" name="Text 1"/>
          <p:cNvSpPr/>
          <p:nvPr>
            <p:ph idx="103" type="title" hasCustomPrompt="1"/>
          </p:nvPr>
        </p:nvSpPr>
        <p:spPr>
          <a:xfrm>
            <a:off x="548640" y="2971800"/>
            <a:ext cx="10515600" cy="960120"/>
          </a:xfrm>
          <a:prstGeom prst="rect">
            <a:avLst/>
          </a:prstGeom>
          <a:noFill/>
          <a:ln/>
        </p:spPr>
        <p:txBody>
          <a:bodyPr wrap="square" lIns="0" tIns="0" rIns="0" bIns="0" rtlCol="0" anchor="t"/>
          <a:lstStyle/>
          <a:p>
            <a:pPr algn="l" indent="0" marL="0">
              <a:buNone/>
            </a:pPr>
            <a:r>
              <a:rPr lang="en-US" sz="4800" b="1" dirty="0">
                <a:solidFill>
                  <a:schemeClr val="bg1"/>
                </a:solidFill>
              </a:rPr>
              <a:t>What is ARD?</a:t>
            </a:r>
            <a:endParaRPr lang="en-US" sz="4800" dirty="0"/>
          </a:p>
        </p:txBody>
      </p:sp>
      <p:sp>
        <p:nvSpPr>
          <p:cNvPr id="4" name="Text 1"/>
          <p:cNvSpPr/>
          <p:nvPr>
            <p:ph idx="104" type="body" hasCustomPrompt="1"/>
          </p:nvPr>
        </p:nvSpPr>
        <p:spPr>
          <a:xfrm>
            <a:off x="548640" y="402336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An open spec for describing and searching agentic resources</a:t>
            </a:r>
            <a:endParaRPr lang="en-US" sz="22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AGENTIC RESOURCE DISCOVERY</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ARD answers: what exists for this task?</a:t>
            </a:r>
            <a:endParaRPr lang="en-US" sz="3600" dirty="0"/>
          </a:p>
        </p:txBody>
      </p:sp>
      <p:sp>
        <p:nvSpPr>
          <p:cNvPr id="4" name="Text 2"/>
          <p:cNvSpPr txBox="1"/>
          <p:nvPr/>
        </p:nvSpPr>
        <p:spPr>
          <a:xfrm>
            <a:off x="548640" y="1691640"/>
            <a:ext cx="6400800" cy="685800"/>
          </a:xfrm>
          <a:prstGeom prst="rect">
            <a:avLst/>
          </a:prstGeom>
          <a:noFill/>
          <a:ln/>
        </p:spPr>
        <p:txBody>
          <a:bodyPr wrap="square" lIns="0" tIns="0" rIns="0" bIns="0" rtlCol="0" anchor="t"/>
          <a:lstStyle/>
          <a:p>
            <a:pPr indent="0" marL="0">
              <a:buNone/>
            </a:pPr>
            <a:r>
              <a:rPr lang="en-US" sz="1700" dirty="0">
                <a:solidFill>
                  <a:schemeClr val="accent6"/>
                </a:solidFill>
              </a:rPr>
              <a:t>An open specification (v0.91, Proposal) that lets any client ask any registry the same question, in the same way.</a:t>
            </a:r>
            <a:endParaRPr lang="en-US" sz="1700" dirty="0"/>
          </a:p>
        </p:txBody>
      </p:sp>
      <p:sp>
        <p:nvSpPr>
          <p:cNvPr id="5" name="A common entry format circle"/>
          <p:cNvSpPr/>
          <p:nvPr/>
        </p:nvSpPr>
        <p:spPr>
          <a:xfrm>
            <a:off x="548640" y="2606040"/>
            <a:ext cx="685800" cy="685800"/>
          </a:xfrm>
          <a:prstGeom prst="ellipse">
            <a:avLst/>
          </a:prstGeom>
          <a:solidFill>
            <a:schemeClr val="accent1"/>
          </a:solidFill>
          <a:ln/>
        </p:spPr>
      </p:sp>
      <p:pic>
        <p:nvPicPr>
          <p:cNvPr id="6" name="A common entry format icon" descr="preencoded.png">    </p:cNvPr>
          <p:cNvPicPr>
            <a:picLocks noChangeAspect="1"/>
          </p:cNvPicPr>
          <p:nvPr/>
        </p:nvPicPr>
        <p:blipFill>
          <a:blip r:embed="rId1"/>
          <a:stretch>
            <a:fillRect/>
          </a:stretch>
        </p:blipFill>
        <p:spPr>
          <a:xfrm>
            <a:off x="713232" y="2770632"/>
            <a:ext cx="356616" cy="356616"/>
          </a:xfrm>
          <a:prstGeom prst="rect">
            <a:avLst/>
          </a:prstGeom>
        </p:spPr>
      </p:pic>
      <p:sp>
        <p:nvSpPr>
          <p:cNvPr id="7" name="Text 4"/>
          <p:cNvSpPr txBox="1"/>
          <p:nvPr/>
        </p:nvSpPr>
        <p:spPr>
          <a:xfrm>
            <a:off x="1463040" y="2587752"/>
            <a:ext cx="5486400" cy="365760"/>
          </a:xfrm>
          <a:prstGeom prst="rect">
            <a:avLst/>
          </a:prstGeom>
          <a:noFill/>
          <a:ln/>
        </p:spPr>
        <p:txBody>
          <a:bodyPr wrap="square" lIns="0" tIns="0" rIns="0" bIns="0" rtlCol="0" anchor="t"/>
          <a:lstStyle/>
          <a:p>
            <a:pPr indent="0" marL="0">
              <a:buNone/>
            </a:pPr>
            <a:r>
              <a:rPr lang="en-US" sz="1900" b="1" dirty="0">
                <a:solidFill>
                  <a:schemeClr val="tx1"/>
                </a:solidFill>
              </a:rPr>
              <a:t>A common entry format</a:t>
            </a:r>
            <a:endParaRPr lang="en-US" sz="1900" dirty="0"/>
          </a:p>
        </p:txBody>
      </p:sp>
      <p:sp>
        <p:nvSpPr>
          <p:cNvPr id="8" name="Text 5"/>
          <p:cNvSpPr txBox="1"/>
          <p:nvPr/>
        </p:nvSpPr>
        <p:spPr>
          <a:xfrm>
            <a:off x="1463040" y="2971800"/>
            <a:ext cx="5486400" cy="594360"/>
          </a:xfrm>
          <a:prstGeom prst="rect">
            <a:avLst/>
          </a:prstGeom>
          <a:noFill/>
          <a:ln/>
        </p:spPr>
        <p:txBody>
          <a:bodyPr wrap="square" lIns="0" tIns="0" rIns="0" bIns="0" rtlCol="0" anchor="t"/>
          <a:lstStyle/>
          <a:p>
            <a:pPr indent="0" marL="0">
              <a:buNone/>
            </a:pPr>
            <a:r>
              <a:rPr lang="en-US" sz="1500" dirty="0">
                <a:solidFill>
                  <a:schemeClr val="accent6"/>
                </a:solidFill>
              </a:rPr>
              <a:t>One JSON description per resource: permanent identifier, media type, artifact URL, version, capabilities.</a:t>
            </a:r>
            <a:endParaRPr lang="en-US" sz="1500" dirty="0"/>
          </a:p>
        </p:txBody>
      </p:sp>
      <p:sp>
        <p:nvSpPr>
          <p:cNvPr id="9" name="A well-known manifest circle"/>
          <p:cNvSpPr/>
          <p:nvPr/>
        </p:nvSpPr>
        <p:spPr>
          <a:xfrm>
            <a:off x="548640" y="3749040"/>
            <a:ext cx="685800" cy="685800"/>
          </a:xfrm>
          <a:prstGeom prst="ellipse">
            <a:avLst/>
          </a:prstGeom>
          <a:solidFill>
            <a:schemeClr val="accent1"/>
          </a:solidFill>
          <a:ln/>
        </p:spPr>
      </p:sp>
      <p:pic>
        <p:nvPicPr>
          <p:cNvPr id="10" name="A well-known manifest icon" descr="preencoded.png">    </p:cNvPr>
          <p:cNvPicPr>
            <a:picLocks noChangeAspect="1"/>
          </p:cNvPicPr>
          <p:nvPr/>
        </p:nvPicPr>
        <p:blipFill>
          <a:blip r:embed="rId2"/>
          <a:stretch>
            <a:fillRect/>
          </a:stretch>
        </p:blipFill>
        <p:spPr>
          <a:xfrm>
            <a:off x="713232" y="3913632"/>
            <a:ext cx="356616" cy="356616"/>
          </a:xfrm>
          <a:prstGeom prst="rect">
            <a:avLst/>
          </a:prstGeom>
        </p:spPr>
      </p:pic>
      <p:sp>
        <p:nvSpPr>
          <p:cNvPr id="11" name="Text 7"/>
          <p:cNvSpPr txBox="1"/>
          <p:nvPr/>
        </p:nvSpPr>
        <p:spPr>
          <a:xfrm>
            <a:off x="1463040" y="3730752"/>
            <a:ext cx="5486400" cy="365760"/>
          </a:xfrm>
          <a:prstGeom prst="rect">
            <a:avLst/>
          </a:prstGeom>
          <a:noFill/>
          <a:ln/>
        </p:spPr>
        <p:txBody>
          <a:bodyPr wrap="square" lIns="0" tIns="0" rIns="0" bIns="0" rtlCol="0" anchor="t"/>
          <a:lstStyle/>
          <a:p>
            <a:pPr indent="0" marL="0">
              <a:buNone/>
            </a:pPr>
            <a:r>
              <a:rPr lang="en-US" sz="1900" b="1" dirty="0">
                <a:solidFill>
                  <a:schemeClr val="tx1"/>
                </a:solidFill>
              </a:rPr>
              <a:t>A well-known manifest</a:t>
            </a:r>
            <a:endParaRPr lang="en-US" sz="1900" dirty="0"/>
          </a:p>
        </p:txBody>
      </p:sp>
      <p:sp>
        <p:nvSpPr>
          <p:cNvPr id="12" name="Text 8"/>
          <p:cNvSpPr txBox="1"/>
          <p:nvPr/>
        </p:nvSpPr>
        <p:spPr>
          <a:xfrm>
            <a:off x="1463040" y="4114800"/>
            <a:ext cx="5486400" cy="594360"/>
          </a:xfrm>
          <a:prstGeom prst="rect">
            <a:avLst/>
          </a:prstGeom>
          <a:noFill/>
          <a:ln/>
        </p:spPr>
        <p:txBody>
          <a:bodyPr wrap="square" lIns="0" tIns="0" rIns="0" bIns="0" rtlCol="0" anchor="t"/>
          <a:lstStyle/>
          <a:p>
            <a:pPr indent="0" marL="0">
              <a:buNone/>
            </a:pPr>
            <a:r>
              <a:rPr lang="en-US" sz="1500" dirty="0">
                <a:solidFill>
                  <a:schemeClr val="accent6"/>
                </a:solidFill>
              </a:rPr>
              <a:t>/.well-known/ard.json lists everything a publisher offers.</a:t>
            </a:r>
            <a:endParaRPr lang="en-US" sz="1500" dirty="0"/>
          </a:p>
        </p:txBody>
      </p:sp>
      <p:sp>
        <p:nvSpPr>
          <p:cNvPr id="13" name="A common search API circle"/>
          <p:cNvSpPr/>
          <p:nvPr/>
        </p:nvSpPr>
        <p:spPr>
          <a:xfrm>
            <a:off x="548640" y="4892040"/>
            <a:ext cx="685800" cy="685800"/>
          </a:xfrm>
          <a:prstGeom prst="ellipse">
            <a:avLst/>
          </a:prstGeom>
          <a:solidFill>
            <a:schemeClr val="accent1"/>
          </a:solidFill>
          <a:ln/>
        </p:spPr>
      </p:sp>
      <p:pic>
        <p:nvPicPr>
          <p:cNvPr id="14" name="A common search API icon" descr="preencoded.png">    </p:cNvPr>
          <p:cNvPicPr>
            <a:picLocks noChangeAspect="1"/>
          </p:cNvPicPr>
          <p:nvPr/>
        </p:nvPicPr>
        <p:blipFill>
          <a:blip r:embed="rId3"/>
          <a:stretch>
            <a:fillRect/>
          </a:stretch>
        </p:blipFill>
        <p:spPr>
          <a:xfrm>
            <a:off x="713232" y="5056632"/>
            <a:ext cx="356616" cy="356616"/>
          </a:xfrm>
          <a:prstGeom prst="rect">
            <a:avLst/>
          </a:prstGeom>
        </p:spPr>
      </p:pic>
      <p:sp>
        <p:nvSpPr>
          <p:cNvPr id="15" name="Text 10"/>
          <p:cNvSpPr txBox="1"/>
          <p:nvPr/>
        </p:nvSpPr>
        <p:spPr>
          <a:xfrm>
            <a:off x="1463040" y="4873752"/>
            <a:ext cx="5486400" cy="365760"/>
          </a:xfrm>
          <a:prstGeom prst="rect">
            <a:avLst/>
          </a:prstGeom>
          <a:noFill/>
          <a:ln/>
        </p:spPr>
        <p:txBody>
          <a:bodyPr wrap="square" lIns="0" tIns="0" rIns="0" bIns="0" rtlCol="0" anchor="t"/>
          <a:lstStyle/>
          <a:p>
            <a:pPr indent="0" marL="0">
              <a:buNone/>
            </a:pPr>
            <a:r>
              <a:rPr lang="en-US" sz="1900" b="1" dirty="0">
                <a:solidFill>
                  <a:schemeClr val="tx1"/>
                </a:solidFill>
              </a:rPr>
              <a:t>A common search API</a:t>
            </a:r>
            <a:endParaRPr lang="en-US" sz="1900" dirty="0"/>
          </a:p>
        </p:txBody>
      </p:sp>
      <p:sp>
        <p:nvSpPr>
          <p:cNvPr id="16" name="Text 11"/>
          <p:cNvSpPr txBox="1"/>
          <p:nvPr/>
        </p:nvSpPr>
        <p:spPr>
          <a:xfrm>
            <a:off x="1463040" y="5257800"/>
            <a:ext cx="5486400" cy="594360"/>
          </a:xfrm>
          <a:prstGeom prst="rect">
            <a:avLst/>
          </a:prstGeom>
          <a:noFill/>
          <a:ln/>
        </p:spPr>
        <p:txBody>
          <a:bodyPr wrap="square" lIns="0" tIns="0" rIns="0" bIns="0" rtlCol="0" anchor="t"/>
          <a:lstStyle/>
          <a:p>
            <a:pPr indent="0" marL="0">
              <a:buNone/>
            </a:pPr>
            <a:r>
              <a:rPr lang="en-US" sz="1500" dirty="0">
                <a:solidFill>
                  <a:schemeClr val="accent6"/>
                </a:solidFill>
              </a:rPr>
              <a:t>Search, List and Explore, so one client can query many registries.</a:t>
            </a:r>
            <a:endParaRPr lang="en-US" sz="1500" dirty="0"/>
          </a:p>
        </p:txBody>
      </p:sp>
      <p:sp>
        <p:nvSpPr>
          <p:cNvPr id="17" name="Out of scope card"/>
          <p:cNvSpPr/>
          <p:nvPr/>
        </p:nvSpPr>
        <p:spPr>
          <a:xfrm>
            <a:off x="7452360" y="1691640"/>
            <a:ext cx="4187952" cy="4389120"/>
          </a:xfrm>
          <a:prstGeom prst="roundRect">
            <a:avLst>
              <a:gd name="adj" fmla="val 2620"/>
            </a:avLst>
          </a:prstGeom>
          <a:solidFill>
            <a:schemeClr val="tx2"/>
          </a:solidFill>
          <a:ln/>
        </p:spPr>
      </p:sp>
      <p:sp>
        <p:nvSpPr>
          <p:cNvPr id="18" name="Text 13"/>
          <p:cNvSpPr txBox="1"/>
          <p:nvPr/>
        </p:nvSpPr>
        <p:spPr>
          <a:xfrm>
            <a:off x="7818120" y="1965960"/>
            <a:ext cx="3456432" cy="411480"/>
          </a:xfrm>
          <a:prstGeom prst="rect">
            <a:avLst/>
          </a:prstGeom>
          <a:noFill/>
          <a:ln/>
        </p:spPr>
        <p:txBody>
          <a:bodyPr wrap="square" lIns="0" tIns="0" rIns="0" bIns="0" rtlCol="0" anchor="t"/>
          <a:lstStyle/>
          <a:p>
            <a:pPr indent="0" marL="0">
              <a:buNone/>
            </a:pPr>
            <a:r>
              <a:rPr lang="en-US" sz="1900" b="1" dirty="0">
                <a:solidFill>
                  <a:schemeClr val="bg1"/>
                </a:solidFill>
              </a:rPr>
              <a:t>Deliberately out of scope</a:t>
            </a:r>
            <a:endParaRPr lang="en-US" sz="1900" dirty="0"/>
          </a:p>
        </p:txBody>
      </p:sp>
      <p:pic>
        <p:nvPicPr>
          <p:cNvPr id="19" name="Scope check 1" descr="preencoded.png">    </p:cNvPr>
          <p:cNvPicPr>
            <a:picLocks noChangeAspect="1"/>
          </p:cNvPicPr>
          <p:nvPr/>
        </p:nvPicPr>
        <p:blipFill>
          <a:blip r:embed="rId4"/>
          <a:stretch>
            <a:fillRect/>
          </a:stretch>
        </p:blipFill>
        <p:spPr>
          <a:xfrm>
            <a:off x="7818120" y="2660904"/>
            <a:ext cx="274320" cy="274320"/>
          </a:xfrm>
          <a:prstGeom prst="rect">
            <a:avLst/>
          </a:prstGeom>
        </p:spPr>
      </p:pic>
      <p:sp>
        <p:nvSpPr>
          <p:cNvPr id="20" name="Text 14"/>
          <p:cNvSpPr txBox="1"/>
          <p:nvPr/>
        </p:nvSpPr>
        <p:spPr>
          <a:xfrm>
            <a:off x="8229600" y="2606040"/>
            <a:ext cx="3090672" cy="384048"/>
          </a:xfrm>
          <a:prstGeom prst="rect">
            <a:avLst/>
          </a:prstGeom>
          <a:noFill/>
          <a:ln/>
        </p:spPr>
        <p:txBody>
          <a:bodyPr wrap="square" lIns="0" tIns="0" rIns="0" bIns="0" rtlCol="0" anchor="ctr"/>
          <a:lstStyle/>
          <a:p>
            <a:pPr indent="0" marL="0">
              <a:buNone/>
            </a:pPr>
            <a:r>
              <a:rPr lang="en-US" sz="1700" dirty="0">
                <a:solidFill>
                  <a:schemeClr val="bg1"/>
                </a:solidFill>
              </a:rPr>
              <a:t>Installation</a:t>
            </a:r>
            <a:endParaRPr lang="en-US" sz="1700" dirty="0"/>
          </a:p>
        </p:txBody>
      </p:sp>
      <p:pic>
        <p:nvPicPr>
          <p:cNvPr id="21" name="Scope check 2" descr="preencoded.png">    </p:cNvPr>
          <p:cNvPicPr>
            <a:picLocks noChangeAspect="1"/>
          </p:cNvPicPr>
          <p:nvPr/>
        </p:nvPicPr>
        <p:blipFill>
          <a:blip r:embed="rId5"/>
          <a:stretch>
            <a:fillRect/>
          </a:stretch>
        </p:blipFill>
        <p:spPr>
          <a:xfrm>
            <a:off x="7818120" y="3136392"/>
            <a:ext cx="274320" cy="274320"/>
          </a:xfrm>
          <a:prstGeom prst="rect">
            <a:avLst/>
          </a:prstGeom>
        </p:spPr>
      </p:pic>
      <p:sp>
        <p:nvSpPr>
          <p:cNvPr id="22" name="Text 15"/>
          <p:cNvSpPr txBox="1"/>
          <p:nvPr/>
        </p:nvSpPr>
        <p:spPr>
          <a:xfrm>
            <a:off x="8229600" y="3081528"/>
            <a:ext cx="3090672" cy="384048"/>
          </a:xfrm>
          <a:prstGeom prst="rect">
            <a:avLst/>
          </a:prstGeom>
          <a:noFill/>
          <a:ln/>
        </p:spPr>
        <p:txBody>
          <a:bodyPr wrap="square" lIns="0" tIns="0" rIns="0" bIns="0" rtlCol="0" anchor="ctr"/>
          <a:lstStyle/>
          <a:p>
            <a:pPr indent="0" marL="0">
              <a:buNone/>
            </a:pPr>
            <a:r>
              <a:rPr lang="en-US" sz="1700" dirty="0">
                <a:solidFill>
                  <a:schemeClr val="bg1"/>
                </a:solidFill>
              </a:rPr>
              <a:t>Invocation</a:t>
            </a:r>
            <a:endParaRPr lang="en-US" sz="1700" dirty="0"/>
          </a:p>
        </p:txBody>
      </p:sp>
      <p:pic>
        <p:nvPicPr>
          <p:cNvPr id="23" name="Scope check 3" descr="preencoded.png">    </p:cNvPr>
          <p:cNvPicPr>
            <a:picLocks noChangeAspect="1"/>
          </p:cNvPicPr>
          <p:nvPr/>
        </p:nvPicPr>
        <p:blipFill>
          <a:blip r:embed="rId6"/>
          <a:stretch>
            <a:fillRect/>
          </a:stretch>
        </p:blipFill>
        <p:spPr>
          <a:xfrm>
            <a:off x="7818120" y="3611880"/>
            <a:ext cx="274320" cy="274320"/>
          </a:xfrm>
          <a:prstGeom prst="rect">
            <a:avLst/>
          </a:prstGeom>
        </p:spPr>
      </p:pic>
      <p:sp>
        <p:nvSpPr>
          <p:cNvPr id="24" name="Text 16"/>
          <p:cNvSpPr txBox="1"/>
          <p:nvPr/>
        </p:nvSpPr>
        <p:spPr>
          <a:xfrm>
            <a:off x="8229600" y="3557016"/>
            <a:ext cx="3090672" cy="384048"/>
          </a:xfrm>
          <a:prstGeom prst="rect">
            <a:avLst/>
          </a:prstGeom>
          <a:noFill/>
          <a:ln/>
        </p:spPr>
        <p:txBody>
          <a:bodyPr wrap="square" lIns="0" tIns="0" rIns="0" bIns="0" rtlCol="0" anchor="ctr"/>
          <a:lstStyle/>
          <a:p>
            <a:pPr indent="0" marL="0">
              <a:buNone/>
            </a:pPr>
            <a:r>
              <a:rPr lang="en-US" sz="1700" dirty="0">
                <a:solidFill>
                  <a:schemeClr val="bg1"/>
                </a:solidFill>
              </a:rPr>
              <a:t>Authentication</a:t>
            </a:r>
            <a:endParaRPr lang="en-US" sz="1700" dirty="0"/>
          </a:p>
        </p:txBody>
      </p:sp>
      <p:pic>
        <p:nvPicPr>
          <p:cNvPr id="25" name="Scope check 4" descr="preencoded.png">    </p:cNvPr>
          <p:cNvPicPr>
            <a:picLocks noChangeAspect="1"/>
          </p:cNvPicPr>
          <p:nvPr/>
        </p:nvPicPr>
        <p:blipFill>
          <a:blip r:embed="rId7"/>
          <a:stretch>
            <a:fillRect/>
          </a:stretch>
        </p:blipFill>
        <p:spPr>
          <a:xfrm>
            <a:off x="7818120" y="4087368"/>
            <a:ext cx="274320" cy="274320"/>
          </a:xfrm>
          <a:prstGeom prst="rect">
            <a:avLst/>
          </a:prstGeom>
        </p:spPr>
      </p:pic>
      <p:sp>
        <p:nvSpPr>
          <p:cNvPr id="26" name="Text 17"/>
          <p:cNvSpPr txBox="1"/>
          <p:nvPr/>
        </p:nvSpPr>
        <p:spPr>
          <a:xfrm>
            <a:off x="8229600" y="4032504"/>
            <a:ext cx="3090672" cy="384048"/>
          </a:xfrm>
          <a:prstGeom prst="rect">
            <a:avLst/>
          </a:prstGeom>
          <a:noFill/>
          <a:ln/>
        </p:spPr>
        <p:txBody>
          <a:bodyPr wrap="square" lIns="0" tIns="0" rIns="0" bIns="0" rtlCol="0" anchor="ctr"/>
          <a:lstStyle/>
          <a:p>
            <a:pPr indent="0" marL="0">
              <a:buNone/>
            </a:pPr>
            <a:r>
              <a:rPr lang="en-US" sz="1700" dirty="0">
                <a:solidFill>
                  <a:schemeClr val="bg1"/>
                </a:solidFill>
              </a:rPr>
              <a:t>Review</a:t>
            </a:r>
            <a:endParaRPr lang="en-US" sz="1700" dirty="0"/>
          </a:p>
        </p:txBody>
      </p:sp>
      <p:pic>
        <p:nvPicPr>
          <p:cNvPr id="27" name="Scope check 5" descr="preencoded.png">    </p:cNvPr>
          <p:cNvPicPr>
            <a:picLocks noChangeAspect="1"/>
          </p:cNvPicPr>
          <p:nvPr/>
        </p:nvPicPr>
        <p:blipFill>
          <a:blip r:embed="rId8"/>
          <a:stretch>
            <a:fillRect/>
          </a:stretch>
        </p:blipFill>
        <p:spPr>
          <a:xfrm>
            <a:off x="7818120" y="4562856"/>
            <a:ext cx="274320" cy="274320"/>
          </a:xfrm>
          <a:prstGeom prst="rect">
            <a:avLst/>
          </a:prstGeom>
        </p:spPr>
      </p:pic>
      <p:sp>
        <p:nvSpPr>
          <p:cNvPr id="28" name="Text 18"/>
          <p:cNvSpPr txBox="1"/>
          <p:nvPr/>
        </p:nvSpPr>
        <p:spPr>
          <a:xfrm>
            <a:off x="8229600" y="4507992"/>
            <a:ext cx="3090672" cy="384048"/>
          </a:xfrm>
          <a:prstGeom prst="rect">
            <a:avLst/>
          </a:prstGeom>
          <a:noFill/>
          <a:ln/>
        </p:spPr>
        <p:txBody>
          <a:bodyPr wrap="square" lIns="0" tIns="0" rIns="0" bIns="0" rtlCol="0" anchor="ctr"/>
          <a:lstStyle/>
          <a:p>
            <a:pPr indent="0" marL="0">
              <a:buNone/>
            </a:pPr>
            <a:r>
              <a:rPr lang="en-US" sz="1700" dirty="0">
                <a:solidFill>
                  <a:schemeClr val="bg1"/>
                </a:solidFill>
              </a:rPr>
              <a:t>Telemetry</a:t>
            </a:r>
            <a:endParaRPr lang="en-US" sz="1700" dirty="0"/>
          </a:p>
        </p:txBody>
      </p:sp>
      <p:sp>
        <p:nvSpPr>
          <p:cNvPr id="29" name="Text 19"/>
          <p:cNvSpPr txBox="1"/>
          <p:nvPr/>
        </p:nvSpPr>
        <p:spPr>
          <a:xfrm>
            <a:off x="7818120" y="5120640"/>
            <a:ext cx="3456432" cy="548640"/>
          </a:xfrm>
          <a:prstGeom prst="rect">
            <a:avLst/>
          </a:prstGeom>
          <a:noFill/>
          <a:ln/>
        </p:spPr>
        <p:txBody>
          <a:bodyPr wrap="square" lIns="0" tIns="0" rIns="0" bIns="0" rtlCol="0" anchor="t"/>
          <a:lstStyle/>
          <a:p>
            <a:pPr indent="0" marL="0">
              <a:buNone/>
            </a:pPr>
            <a:r>
              <a:rPr lang="en-US" sz="1800" b="1" dirty="0">
                <a:solidFill>
                  <a:schemeClr val="accent2"/>
                </a:solidFill>
              </a:rPr>
              <a:t>Observal already does all five.</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822960" y="2148840"/>
            <a:ext cx="10607040" cy="1645920"/>
          </a:xfrm>
          <a:prstGeom prst="rect">
            <a:avLst/>
          </a:prstGeom>
          <a:noFill/>
          <a:ln/>
        </p:spPr>
        <p:txBody>
          <a:bodyPr wrap="square" lIns="0" tIns="0" rIns="0" bIns="0" rtlCol="0" anchor="t"/>
          <a:lstStyle/>
          <a:p>
            <a:pPr algn="l" indent="0" marL="0">
              <a:buNone/>
            </a:pPr>
            <a:r>
              <a:rPr lang="en-US" sz="4600" b="1" dirty="0">
                <a:solidFill>
                  <a:schemeClr val="bg1"/>
                </a:solidFill>
              </a:rPr>
              <a:t>ARD says what exists.</a:t>
            </a:r>
            <a:endParaRPr lang="en-US" sz="4600" dirty="0"/>
          </a:p>
          <a:p>
            <a:pPr algn="l" indent="0" marL="0">
              <a:buNone/>
            </a:pPr>
            <a:r>
              <a:rPr lang="en-US" sz="4600" b="1" dirty="0">
                <a:solidFill>
                  <a:schemeClr val="accent2"/>
                </a:solidFill>
              </a:rPr>
              <a:t>Observal says how to use it safely.</a:t>
            </a:r>
            <a:endParaRPr lang="en-US" sz="4600" dirty="0"/>
          </a:p>
        </p:txBody>
      </p:sp>
      <p:sp>
        <p:nvSpPr>
          <p:cNvPr id="3" name="Text 1"/>
          <p:cNvSpPr/>
          <p:nvPr>
            <p:ph idx="103" type="body" hasCustomPrompt="1"/>
          </p:nvPr>
        </p:nvSpPr>
        <p:spPr>
          <a:xfrm>
            <a:off x="822960" y="4069080"/>
            <a:ext cx="10058400" cy="1280160"/>
          </a:xfrm>
          <a:prstGeom prst="rect">
            <a:avLst/>
          </a:prstGeom>
          <a:noFill/>
          <a:ln/>
        </p:spPr>
        <p:txBody>
          <a:bodyPr wrap="square" lIns="0" tIns="0" rIns="0" bIns="0" rtlCol="0" anchor="t"/>
          <a:lstStyle/>
          <a:p>
            <a:pPr indent="0" marL="0">
              <a:buNone/>
            </a:pPr>
            <a:r>
              <a:rPr lang="en-US" sz="1800" dirty="0">
                <a:solidFill>
                  <a:schemeClr val="accent3"/>
                </a:solidFill>
              </a:rPr>
              <a:t>The fit, as recorded in ADR 0001, the decision record behind PR #1744</a:t>
            </a:r>
            <a:endParaRPr lang="en-US" sz="18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IDENTIFIER</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Anatomy of an ARD entry</a:t>
            </a:r>
            <a:endParaRPr lang="en-US" sz="3600" dirty="0"/>
          </a:p>
        </p:txBody>
      </p:sp>
      <p:sp>
        <p:nvSpPr>
          <p:cNvPr id="4" name="URN segment 1"/>
          <p:cNvSpPr/>
          <p:nvPr/>
        </p:nvSpPr>
        <p:spPr>
          <a:xfrm>
            <a:off x="548640" y="1691640"/>
            <a:ext cx="1371600" cy="658368"/>
          </a:xfrm>
          <a:prstGeom prst="roundRect">
            <a:avLst>
              <a:gd name="adj" fmla="val 13889"/>
            </a:avLst>
          </a:prstGeom>
          <a:solidFill>
            <a:schemeClr val="accent4"/>
          </a:solidFill>
          <a:ln/>
        </p:spPr>
      </p:sp>
      <p:sp>
        <p:nvSpPr>
          <p:cNvPr id="5" name="Text 3"/>
          <p:cNvSpPr txBox="1"/>
          <p:nvPr/>
        </p:nvSpPr>
        <p:spPr>
          <a:xfrm>
            <a:off x="548640" y="1691640"/>
            <a:ext cx="1371600"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urn:air</a:t>
            </a:r>
            <a:endParaRPr lang="en-US" sz="2000" dirty="0"/>
          </a:p>
        </p:txBody>
      </p:sp>
      <p:sp>
        <p:nvSpPr>
          <p:cNvPr id="6" name="Text 4"/>
          <p:cNvSpPr txBox="1"/>
          <p:nvPr/>
        </p:nvSpPr>
        <p:spPr>
          <a:xfrm>
            <a:off x="594360" y="2450592"/>
            <a:ext cx="1280160" cy="566928"/>
          </a:xfrm>
          <a:prstGeom prst="rect">
            <a:avLst/>
          </a:prstGeom>
          <a:noFill/>
          <a:ln/>
        </p:spPr>
        <p:txBody>
          <a:bodyPr wrap="square" lIns="0" tIns="0" rIns="0" bIns="0" rtlCol="0" anchor="t"/>
          <a:lstStyle/>
          <a:p>
            <a:pPr indent="0" marL="0">
              <a:buNone/>
            </a:pPr>
            <a:r>
              <a:rPr lang="en-US" sz="1200" dirty="0">
                <a:solidFill>
                  <a:schemeClr val="accent6"/>
                </a:solidFill>
              </a:rPr>
              <a:t>ARD scheme</a:t>
            </a:r>
            <a:endParaRPr lang="en-US" sz="1200" dirty="0"/>
          </a:p>
        </p:txBody>
      </p:sp>
      <p:sp>
        <p:nvSpPr>
          <p:cNvPr id="7" name="Text 5"/>
          <p:cNvSpPr txBox="1"/>
          <p:nvPr/>
        </p:nvSpPr>
        <p:spPr>
          <a:xfrm>
            <a:off x="1920240" y="1691640"/>
            <a:ext cx="228600" cy="658368"/>
          </a:xfrm>
          <a:prstGeom prst="rect">
            <a:avLst/>
          </a:prstGeom>
          <a:noFill/>
          <a:ln/>
        </p:spPr>
        <p:txBody>
          <a:bodyPr wrap="square" lIns="0" tIns="0" rIns="0" bIns="0" rtlCol="0" anchor="ctr"/>
          <a:lstStyle/>
          <a:p>
            <a:pPr algn="ctr" indent="0" marL="0">
              <a:buNone/>
            </a:pPr>
            <a:r>
              <a:rPr lang="en-US" sz="2200" b="1" dirty="0">
                <a:solidFill>
                  <a:schemeClr val="tx1"/>
                </a:solidFill>
                <a:latin typeface="Consolas" pitchFamily="34" charset="0"/>
                <a:ea typeface="Consolas" pitchFamily="34" charset="-122"/>
                <a:cs typeface="Consolas" pitchFamily="34" charset="-120"/>
              </a:rPr>
              <a:t>:</a:t>
            </a:r>
            <a:endParaRPr lang="en-US" sz="2200" dirty="0"/>
          </a:p>
        </p:txBody>
      </p:sp>
      <p:sp>
        <p:nvSpPr>
          <p:cNvPr id="8" name="URN segment 2"/>
          <p:cNvSpPr/>
          <p:nvPr/>
        </p:nvSpPr>
        <p:spPr>
          <a:xfrm>
            <a:off x="2148840" y="1691640"/>
            <a:ext cx="3246120" cy="658368"/>
          </a:xfrm>
          <a:prstGeom prst="roundRect">
            <a:avLst>
              <a:gd name="adj" fmla="val 13889"/>
            </a:avLst>
          </a:prstGeom>
          <a:solidFill>
            <a:schemeClr val="accent1"/>
          </a:solidFill>
          <a:ln/>
        </p:spPr>
      </p:sp>
      <p:sp>
        <p:nvSpPr>
          <p:cNvPr id="9" name="Text 7"/>
          <p:cNvSpPr txBox="1"/>
          <p:nvPr/>
        </p:nvSpPr>
        <p:spPr>
          <a:xfrm>
            <a:off x="2148840" y="1691640"/>
            <a:ext cx="3246120"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observal.acme.com</a:t>
            </a:r>
            <a:endParaRPr lang="en-US" sz="2000" dirty="0"/>
          </a:p>
        </p:txBody>
      </p:sp>
      <p:sp>
        <p:nvSpPr>
          <p:cNvPr id="10" name="Text 8"/>
          <p:cNvSpPr txBox="1"/>
          <p:nvPr/>
        </p:nvSpPr>
        <p:spPr>
          <a:xfrm>
            <a:off x="2194560" y="2450592"/>
            <a:ext cx="3154680" cy="566928"/>
          </a:xfrm>
          <a:prstGeom prst="rect">
            <a:avLst/>
          </a:prstGeom>
          <a:noFill/>
          <a:ln/>
        </p:spPr>
        <p:txBody>
          <a:bodyPr wrap="square" lIns="0" tIns="0" rIns="0" bIns="0" rtlCol="0" anchor="t"/>
          <a:lstStyle/>
          <a:p>
            <a:pPr indent="0" marL="0">
              <a:buNone/>
            </a:pPr>
            <a:r>
              <a:rPr lang="en-US" sz="1200" dirty="0">
                <a:solidFill>
                  <a:schemeClr val="accent6"/>
                </a:solidFill>
              </a:rPr>
              <a:t>Publisher domain: a real FQDN, pinned once</a:t>
            </a:r>
            <a:endParaRPr lang="en-US" sz="1200" dirty="0"/>
          </a:p>
        </p:txBody>
      </p:sp>
      <p:sp>
        <p:nvSpPr>
          <p:cNvPr id="11" name="Text 9"/>
          <p:cNvSpPr txBox="1"/>
          <p:nvPr/>
        </p:nvSpPr>
        <p:spPr>
          <a:xfrm>
            <a:off x="5394960" y="1691640"/>
            <a:ext cx="228600" cy="658368"/>
          </a:xfrm>
          <a:prstGeom prst="rect">
            <a:avLst/>
          </a:prstGeom>
          <a:noFill/>
          <a:ln/>
        </p:spPr>
        <p:txBody>
          <a:bodyPr wrap="square" lIns="0" tIns="0" rIns="0" bIns="0" rtlCol="0" anchor="ctr"/>
          <a:lstStyle/>
          <a:p>
            <a:pPr algn="ctr" indent="0" marL="0">
              <a:buNone/>
            </a:pPr>
            <a:r>
              <a:rPr lang="en-US" sz="2200" b="1" dirty="0">
                <a:solidFill>
                  <a:schemeClr val="tx1"/>
                </a:solidFill>
                <a:latin typeface="Consolas" pitchFamily="34" charset="0"/>
                <a:ea typeface="Consolas" pitchFamily="34" charset="-122"/>
                <a:cs typeface="Consolas" pitchFamily="34" charset="-120"/>
              </a:rPr>
              <a:t>:</a:t>
            </a:r>
            <a:endParaRPr lang="en-US" sz="2200" dirty="0"/>
          </a:p>
        </p:txBody>
      </p:sp>
      <p:sp>
        <p:nvSpPr>
          <p:cNvPr id="12" name="URN segment 3"/>
          <p:cNvSpPr/>
          <p:nvPr/>
        </p:nvSpPr>
        <p:spPr>
          <a:xfrm>
            <a:off x="5623560" y="1691640"/>
            <a:ext cx="1325880" cy="658368"/>
          </a:xfrm>
          <a:prstGeom prst="roundRect">
            <a:avLst>
              <a:gd name="adj" fmla="val 13889"/>
            </a:avLst>
          </a:prstGeom>
          <a:solidFill>
            <a:schemeClr val="accent5"/>
          </a:solidFill>
          <a:ln/>
        </p:spPr>
      </p:sp>
      <p:sp>
        <p:nvSpPr>
          <p:cNvPr id="13" name="Text 11"/>
          <p:cNvSpPr txBox="1"/>
          <p:nvPr/>
        </p:nvSpPr>
        <p:spPr>
          <a:xfrm>
            <a:off x="5623560" y="169164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skill</a:t>
            </a:r>
            <a:endParaRPr lang="en-US" sz="2000" dirty="0"/>
          </a:p>
        </p:txBody>
      </p:sp>
      <p:sp>
        <p:nvSpPr>
          <p:cNvPr id="14" name="Text 12"/>
          <p:cNvSpPr txBox="1"/>
          <p:nvPr/>
        </p:nvSpPr>
        <p:spPr>
          <a:xfrm>
            <a:off x="5669280" y="2450592"/>
            <a:ext cx="1234440" cy="566928"/>
          </a:xfrm>
          <a:prstGeom prst="rect">
            <a:avLst/>
          </a:prstGeom>
          <a:noFill/>
          <a:ln/>
        </p:spPr>
        <p:txBody>
          <a:bodyPr wrap="square" lIns="0" tIns="0" rIns="0" bIns="0" rtlCol="0" anchor="t"/>
          <a:lstStyle/>
          <a:p>
            <a:pPr indent="0" marL="0">
              <a:buNone/>
            </a:pPr>
            <a:r>
              <a:rPr lang="en-US" sz="1200" dirty="0">
                <a:solidFill>
                  <a:schemeClr val="accent6"/>
                </a:solidFill>
              </a:rPr>
              <a:t>Resource kind</a:t>
            </a:r>
            <a:endParaRPr lang="en-US" sz="1200" dirty="0"/>
          </a:p>
        </p:txBody>
      </p:sp>
      <p:sp>
        <p:nvSpPr>
          <p:cNvPr id="15" name="Text 13"/>
          <p:cNvSpPr txBox="1"/>
          <p:nvPr/>
        </p:nvSpPr>
        <p:spPr>
          <a:xfrm>
            <a:off x="6949440" y="1691640"/>
            <a:ext cx="228600" cy="658368"/>
          </a:xfrm>
          <a:prstGeom prst="rect">
            <a:avLst/>
          </a:prstGeom>
          <a:noFill/>
          <a:ln/>
        </p:spPr>
        <p:txBody>
          <a:bodyPr wrap="square" lIns="0" tIns="0" rIns="0" bIns="0" rtlCol="0" anchor="ctr"/>
          <a:lstStyle/>
          <a:p>
            <a:pPr algn="ctr" indent="0" marL="0">
              <a:buNone/>
            </a:pPr>
            <a:r>
              <a:rPr lang="en-US" sz="2200" b="1" dirty="0">
                <a:solidFill>
                  <a:schemeClr val="tx1"/>
                </a:solidFill>
                <a:latin typeface="Consolas" pitchFamily="34" charset="0"/>
                <a:ea typeface="Consolas" pitchFamily="34" charset="-122"/>
                <a:cs typeface="Consolas" pitchFamily="34" charset="-120"/>
              </a:rPr>
              <a:t>:</a:t>
            </a:r>
            <a:endParaRPr lang="en-US" sz="2200" dirty="0"/>
          </a:p>
        </p:txBody>
      </p:sp>
      <p:sp>
        <p:nvSpPr>
          <p:cNvPr id="16" name="URN segment 4"/>
          <p:cNvSpPr/>
          <p:nvPr/>
        </p:nvSpPr>
        <p:spPr>
          <a:xfrm>
            <a:off x="7178040" y="1691640"/>
            <a:ext cx="4050792" cy="658368"/>
          </a:xfrm>
          <a:prstGeom prst="roundRect">
            <a:avLst>
              <a:gd name="adj" fmla="val 13889"/>
            </a:avLst>
          </a:prstGeom>
          <a:solidFill>
            <a:schemeClr val="tx2"/>
          </a:solidFill>
          <a:ln/>
        </p:spPr>
      </p:sp>
      <p:sp>
        <p:nvSpPr>
          <p:cNvPr id="17" name="Text 15"/>
          <p:cNvSpPr txBox="1"/>
          <p:nvPr/>
        </p:nvSpPr>
        <p:spPr>
          <a:xfrm>
            <a:off x="7178040" y="1691640"/>
            <a:ext cx="4050792" cy="658368"/>
          </a:xfrm>
          <a:prstGeom prst="rect">
            <a:avLst/>
          </a:prstGeom>
          <a:noFill/>
          <a:ln/>
        </p:spPr>
        <p:txBody>
          <a:bodyPr wrap="square" lIns="0" tIns="0" rIns="0" bIns="0" rtlCol="0" anchor="ctr"/>
          <a:lstStyle/>
          <a:p>
            <a:pPr algn="ctr" indent="0" marL="0">
              <a:buNone/>
            </a:pPr>
            <a:r>
              <a:rPr lang="en-US" sz="2000" b="1" dirty="0">
                <a:solidFill>
                  <a:schemeClr val="bg1"/>
                </a:solidFill>
                <a:latin typeface="Consolas" pitchFamily="34" charset="0"/>
                <a:ea typeface="Consolas" pitchFamily="34" charset="-122"/>
                <a:cs typeface="Consolas" pitchFamily="34" charset="-120"/>
              </a:rPr>
              <a:t>5f2c1a9e-8b1d-4d0c-…</a:t>
            </a:r>
            <a:endParaRPr lang="en-US" sz="2000" dirty="0"/>
          </a:p>
        </p:txBody>
      </p:sp>
      <p:sp>
        <p:nvSpPr>
          <p:cNvPr id="18" name="Text 16"/>
          <p:cNvSpPr txBox="1"/>
          <p:nvPr/>
        </p:nvSpPr>
        <p:spPr>
          <a:xfrm>
            <a:off x="7223760" y="2450592"/>
            <a:ext cx="3959352" cy="566928"/>
          </a:xfrm>
          <a:prstGeom prst="rect">
            <a:avLst/>
          </a:prstGeom>
          <a:noFill/>
          <a:ln/>
        </p:spPr>
        <p:txBody>
          <a:bodyPr wrap="square" lIns="0" tIns="0" rIns="0" bIns="0" rtlCol="0" anchor="t"/>
          <a:lstStyle/>
          <a:p>
            <a:pPr indent="0" marL="0">
              <a:buNone/>
            </a:pPr>
            <a:r>
              <a:rPr lang="en-US" sz="1200" dirty="0">
                <a:solidFill>
                  <a:schemeClr val="accent6"/>
                </a:solidFill>
              </a:rPr>
              <a:t>Native UUID: survives renames and ownership transfers</a:t>
            </a:r>
            <a:endParaRPr lang="en-US" sz="1200" dirty="0"/>
          </a:p>
        </p:txBody>
      </p:sp>
      <p:sp>
        <p:nvSpPr>
          <p:cNvPr id="19" name="Search result JSON"/>
          <p:cNvSpPr/>
          <p:nvPr/>
        </p:nvSpPr>
        <p:spPr>
          <a:xfrm>
            <a:off x="548640" y="3246120"/>
            <a:ext cx="6720840" cy="2834640"/>
          </a:xfrm>
          <a:prstGeom prst="roundRect">
            <a:avLst>
              <a:gd name="adj" fmla="val 3871"/>
            </a:avLst>
          </a:prstGeom>
          <a:solidFill>
            <a:schemeClr val="tx2"/>
          </a:solidFill>
          <a:ln/>
        </p:spPr>
      </p:sp>
      <p:sp>
        <p:nvSpPr>
          <p:cNvPr id="20" name="Text 18"/>
          <p:cNvSpPr txBox="1"/>
          <p:nvPr/>
        </p:nvSpPr>
        <p:spPr>
          <a:xfrm>
            <a:off x="822960" y="3429000"/>
            <a:ext cx="6309360" cy="2514600"/>
          </a:xfrm>
          <a:prstGeom prst="rect">
            <a:avLst/>
          </a:prstGeom>
          <a:noFill/>
          <a:ln/>
        </p:spPr>
        <p:txBody>
          <a:bodyPr wrap="square" lIns="0" tIns="0" rIns="0" bIns="0" rtlCol="0" anchor="t"/>
          <a:lstStyle/>
          <a:p>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a:t>
            </a:r>
            <a:endParaRPr lang="en-US" sz="1350" dirty="0"/>
          </a:p>
          <a:p>
            <a:pPr indent="0" marL="0">
              <a:lnSpc>
                <a:spcPct val="112000"/>
              </a:lnSpc>
              <a:buNone/>
            </a:pPr>
            <a:r>
              <a:rPr lang="en-US" sz="1350" dirty="0">
                <a:solidFill>
                  <a:srgbClr val="7FD3DD"/>
                </a:solidFill>
                <a:latin typeface="Consolas" pitchFamily="34" charset="0"/>
                <a:ea typeface="Consolas" pitchFamily="34" charset="-122"/>
                <a:cs typeface="Consolas" pitchFamily="34" charset="-120"/>
              </a:rPr>
              <a:t>  "identifier":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"urn:air:observal.acme.com:skill:5f2c…",</a:t>
            </a:r>
            <a:endParaRPr lang="en-US" sz="1350" dirty="0"/>
          </a:p>
          <a:p>
            <a:pPr indent="0" marL="0">
              <a:lnSpc>
                <a:spcPct val="112000"/>
              </a:lnSpc>
              <a:buNone/>
            </a:pPr>
            <a:r>
              <a:rPr lang="en-US" sz="1350" dirty="0">
                <a:solidFill>
                  <a:srgbClr val="7FD3DD"/>
                </a:solidFill>
                <a:latin typeface="Consolas" pitchFamily="34" charset="0"/>
                <a:ea typeface="Consolas" pitchFamily="34" charset="-122"/>
                <a:cs typeface="Consolas" pitchFamily="34" charset="-120"/>
              </a:rPr>
              <a:t>  "displayName":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"Security Review",</a:t>
            </a:r>
            <a:endParaRPr lang="en-US" sz="1350" dirty="0"/>
          </a:p>
          <a:p>
            <a:pPr indent="0" marL="0">
              <a:lnSpc>
                <a:spcPct val="112000"/>
              </a:lnSpc>
              <a:buNone/>
            </a:pPr>
            <a:r>
              <a:rPr lang="en-US" sz="1350" dirty="0">
                <a:solidFill>
                  <a:srgbClr val="7FD3DD"/>
                </a:solidFill>
                <a:latin typeface="Consolas" pitchFamily="34" charset="0"/>
                <a:ea typeface="Consolas" pitchFamily="34" charset="-122"/>
                <a:cs typeface="Consolas" pitchFamily="34" charset="-120"/>
              </a:rPr>
              <a:t>  "type":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"application/ai-skill+md",</a:t>
            </a:r>
            <a:endParaRPr lang="en-US" sz="1350" dirty="0"/>
          </a:p>
          <a:p>
            <a:pPr indent="0" marL="0">
              <a:lnSpc>
                <a:spcPct val="112000"/>
              </a:lnSpc>
              <a:buNone/>
            </a:pPr>
            <a:r>
              <a:rPr lang="en-US" sz="1350" dirty="0">
                <a:solidFill>
                  <a:srgbClr val="7FD3DD"/>
                </a:solidFill>
                <a:latin typeface="Consolas" pitchFamily="34" charset="0"/>
                <a:ea typeface="Consolas" pitchFamily="34" charset="-122"/>
                <a:cs typeface="Consolas" pitchFamily="34" charset="-120"/>
              </a:rPr>
              <a:t>  "url":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"…/api/v1/artifacts/skill/5f2c…/1.2.0",</a:t>
            </a:r>
            <a:endParaRPr lang="en-US" sz="1350" dirty="0"/>
          </a:p>
          <a:p>
            <a:pPr indent="0" marL="0">
              <a:lnSpc>
                <a:spcPct val="112000"/>
              </a:lnSpc>
              <a:buNone/>
            </a:pPr>
            <a:r>
              <a:rPr lang="en-US" sz="1350" dirty="0">
                <a:solidFill>
                  <a:srgbClr val="7FD3DD"/>
                </a:solidFill>
                <a:latin typeface="Consolas" pitchFamily="34" charset="0"/>
                <a:ea typeface="Consolas" pitchFamily="34" charset="-122"/>
                <a:cs typeface="Consolas" pitchFamily="34" charset="-120"/>
              </a:rPr>
              <a:t>  "score":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92,</a:t>
            </a:r>
            <a:endParaRPr lang="en-US" sz="1350" dirty="0"/>
          </a:p>
          <a:p>
            <a:pPr indent="0" marL="0">
              <a:lnSpc>
                <a:spcPct val="112000"/>
              </a:lnSpc>
              <a:buNone/>
            </a:pPr>
            <a:r>
              <a:rPr lang="en-US" sz="1350" dirty="0">
                <a:solidFill>
                  <a:srgbClr val="7FD3DD"/>
                </a:solidFill>
                <a:latin typeface="Consolas" pitchFamily="34" charset="0"/>
                <a:ea typeface="Consolas" pitchFamily="34" charset="-122"/>
                <a:cs typeface="Consolas" pitchFamily="34" charset="-120"/>
              </a:rPr>
              <a:t>  "matchedOn":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["review", "authentication"],</a:t>
            </a:r>
            <a:endParaRPr lang="en-US" sz="1350" dirty="0"/>
          </a:p>
          <a:p>
            <a:pPr indent="0" marL="0">
              <a:lnSpc>
                <a:spcPct val="112000"/>
              </a:lnSpc>
              <a:buNone/>
            </a:pPr>
            <a:r>
              <a:rPr lang="en-US" sz="1350" dirty="0">
                <a:solidFill>
                  <a:srgbClr val="F2A93B"/>
                </a:solidFill>
                <a:latin typeface="Consolas" pitchFamily="34" charset="0"/>
                <a:ea typeface="Consolas" pitchFamily="34" charset="-122"/>
                <a:cs typeface="Consolas" pitchFamily="34" charset="-120"/>
              </a:rPr>
              <a:t>  "obs:approval":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"approved",</a:t>
            </a:r>
            <a:endParaRPr lang="en-US" sz="1350" dirty="0"/>
          </a:p>
          <a:p>
            <a:pPr indent="0" marL="0">
              <a:lnSpc>
                <a:spcPct val="112000"/>
              </a:lnSpc>
              <a:buNone/>
            </a:pPr>
            <a:r>
              <a:rPr lang="en-US" sz="1350" dirty="0">
                <a:solidFill>
                  <a:srgbClr val="F2A93B"/>
                </a:solidFill>
                <a:latin typeface="Consolas" pitchFamily="34" charset="0"/>
                <a:ea typeface="Consolas" pitchFamily="34" charset="-122"/>
                <a:cs typeface="Consolas" pitchFamily="34" charset="-120"/>
              </a:rPr>
              <a:t>  "obs:availability":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"now",</a:t>
            </a:r>
            <a:endParaRPr lang="en-US" sz="1350" dirty="0"/>
          </a:p>
          <a:p>
            <a:pPr indent="0" marL="0">
              <a:lnSpc>
                <a:spcPct val="112000"/>
              </a:lnSpc>
              <a:buNone/>
            </a:pPr>
            <a:r>
              <a:rPr lang="en-US" sz="1350" dirty="0">
                <a:solidFill>
                  <a:srgbClr val="F2A93B"/>
                </a:solidFill>
                <a:latin typeface="Consolas" pitchFamily="34" charset="0"/>
                <a:ea typeface="Consolas" pitchFamily="34" charset="-122"/>
                <a:cs typeface="Consolas" pitchFamily="34" charset="-120"/>
              </a:rPr>
              <a:t>  "obs:artifactDigest": </a:t>
            </a:r>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"sha256:9b1e…"</a:t>
            </a:r>
            <a:endParaRPr lang="en-US" sz="1350" dirty="0"/>
          </a:p>
          <a:p>
            <a:pPr indent="0" marL="0">
              <a:lnSpc>
                <a:spcPct val="112000"/>
              </a:lnSpc>
              <a:buNone/>
            </a:pPr>
            <a:r>
              <a:rPr lang="en-US" sz="1350" dirty="0">
                <a:solidFill>
                  <a:srgbClr val="FFFFFF"/>
                </a:solidFill>
                <a:latin typeface="Consolas" pitchFamily="34" charset="0"/>
                <a:ea typeface="Consolas" pitchFamily="34" charset="-122"/>
                <a:cs typeface="Consolas" pitchFamily="34" charset="-120"/>
              </a:rPr>
              <a:t>}</a:t>
            </a:r>
            <a:endParaRPr lang="en-US" sz="1350" dirty="0"/>
          </a:p>
        </p:txBody>
      </p:sp>
      <p:sp>
        <p:nvSpPr>
          <p:cNvPr id="21" name="Standard fields card"/>
          <p:cNvSpPr/>
          <p:nvPr/>
        </p:nvSpPr>
        <p:spPr>
          <a:xfrm>
            <a:off x="7589520" y="3246120"/>
            <a:ext cx="4050792" cy="1325880"/>
          </a:xfrm>
          <a:prstGeom prst="roundRect">
            <a:avLst>
              <a:gd name="adj" fmla="val 8276"/>
            </a:avLst>
          </a:prstGeom>
          <a:solidFill>
            <a:schemeClr val="bg2"/>
          </a:solidFill>
          <a:ln/>
        </p:spPr>
      </p:sp>
      <p:sp>
        <p:nvSpPr>
          <p:cNvPr id="22" name="Standard key dot"/>
          <p:cNvSpPr/>
          <p:nvPr/>
        </p:nvSpPr>
        <p:spPr>
          <a:xfrm>
            <a:off x="7863840" y="3493008"/>
            <a:ext cx="182880" cy="182880"/>
          </a:xfrm>
          <a:prstGeom prst="ellipse">
            <a:avLst/>
          </a:prstGeom>
          <a:solidFill>
            <a:schemeClr val="accent1"/>
          </a:solidFill>
          <a:ln/>
        </p:spPr>
      </p:sp>
      <p:sp>
        <p:nvSpPr>
          <p:cNvPr id="23" name="Text 21"/>
          <p:cNvSpPr txBox="1"/>
          <p:nvPr/>
        </p:nvSpPr>
        <p:spPr>
          <a:xfrm>
            <a:off x="8183880" y="3401568"/>
            <a:ext cx="3227832" cy="365760"/>
          </a:xfrm>
          <a:prstGeom prst="rect">
            <a:avLst/>
          </a:prstGeom>
          <a:noFill/>
          <a:ln/>
        </p:spPr>
        <p:txBody>
          <a:bodyPr wrap="square" lIns="0" tIns="0" rIns="0" bIns="0" rtlCol="0" anchor="t"/>
          <a:lstStyle/>
          <a:p>
            <a:pPr indent="0" marL="0">
              <a:buNone/>
            </a:pPr>
            <a:r>
              <a:rPr lang="en-US" sz="1700" b="1" dirty="0">
                <a:solidFill>
                  <a:schemeClr val="tx1"/>
                </a:solidFill>
              </a:rPr>
              <a:t>Standard ARD fields</a:t>
            </a:r>
            <a:endParaRPr lang="en-US" sz="1700" dirty="0"/>
          </a:p>
        </p:txBody>
      </p:sp>
      <p:sp>
        <p:nvSpPr>
          <p:cNvPr id="24" name="Text 22"/>
          <p:cNvSpPr txBox="1"/>
          <p:nvPr/>
        </p:nvSpPr>
        <p:spPr>
          <a:xfrm>
            <a:off x="7863840" y="3813048"/>
            <a:ext cx="3502152" cy="685800"/>
          </a:xfrm>
          <a:prstGeom prst="rect">
            <a:avLst/>
          </a:prstGeom>
          <a:noFill/>
          <a:ln/>
        </p:spPr>
        <p:txBody>
          <a:bodyPr wrap="square" lIns="0" tIns="0" rIns="0" bIns="0" rtlCol="0" anchor="t"/>
          <a:lstStyle/>
          <a:p>
            <a:pPr indent="0" marL="0">
              <a:buNone/>
            </a:pPr>
            <a:r>
              <a:rPr lang="en-US" sz="1400" dirty="0">
                <a:solidFill>
                  <a:schemeClr val="accent6"/>
                </a:solidFill>
              </a:rPr>
              <a:t>What any ARD client understands: identifier, type, url, score, matchedOn.</a:t>
            </a:r>
            <a:endParaRPr lang="en-US" sz="1400" dirty="0"/>
          </a:p>
        </p:txBody>
      </p:sp>
      <p:sp>
        <p:nvSpPr>
          <p:cNvPr id="25" name="Observal fields card"/>
          <p:cNvSpPr/>
          <p:nvPr/>
        </p:nvSpPr>
        <p:spPr>
          <a:xfrm>
            <a:off x="7589520" y="4754880"/>
            <a:ext cx="4050792" cy="1325880"/>
          </a:xfrm>
          <a:prstGeom prst="roundRect">
            <a:avLst>
              <a:gd name="adj" fmla="val 8276"/>
            </a:avLst>
          </a:prstGeom>
          <a:solidFill>
            <a:schemeClr val="bg2"/>
          </a:solidFill>
          <a:ln/>
        </p:spPr>
      </p:sp>
      <p:sp>
        <p:nvSpPr>
          <p:cNvPr id="26" name="Observal key dot"/>
          <p:cNvSpPr/>
          <p:nvPr/>
        </p:nvSpPr>
        <p:spPr>
          <a:xfrm>
            <a:off x="7863840" y="5001768"/>
            <a:ext cx="182880" cy="182880"/>
          </a:xfrm>
          <a:prstGeom prst="ellipse">
            <a:avLst/>
          </a:prstGeom>
          <a:solidFill>
            <a:schemeClr val="accent5"/>
          </a:solidFill>
          <a:ln/>
        </p:spPr>
      </p:sp>
      <p:sp>
        <p:nvSpPr>
          <p:cNvPr id="27" name="Text 25"/>
          <p:cNvSpPr txBox="1"/>
          <p:nvPr/>
        </p:nvSpPr>
        <p:spPr>
          <a:xfrm>
            <a:off x="8183880" y="4910328"/>
            <a:ext cx="3227832" cy="365760"/>
          </a:xfrm>
          <a:prstGeom prst="rect">
            <a:avLst/>
          </a:prstGeom>
          <a:noFill/>
          <a:ln/>
        </p:spPr>
        <p:txBody>
          <a:bodyPr wrap="square" lIns="0" tIns="0" rIns="0" bIns="0" rtlCol="0" anchor="t"/>
          <a:lstStyle/>
          <a:p>
            <a:pPr indent="0" marL="0">
              <a:buNone/>
            </a:pPr>
            <a:r>
              <a:rPr lang="en-US" sz="1700" b="1" dirty="0">
                <a:solidFill>
                  <a:schemeClr val="tx1"/>
                </a:solidFill>
              </a:rPr>
              <a:t>obs: extensions</a:t>
            </a:r>
            <a:endParaRPr lang="en-US" sz="1700" dirty="0"/>
          </a:p>
        </p:txBody>
      </p:sp>
      <p:sp>
        <p:nvSpPr>
          <p:cNvPr id="28" name="Text 26"/>
          <p:cNvSpPr txBox="1"/>
          <p:nvPr/>
        </p:nvSpPr>
        <p:spPr>
          <a:xfrm>
            <a:off x="7863840" y="5321808"/>
            <a:ext cx="3502152" cy="685800"/>
          </a:xfrm>
          <a:prstGeom prst="rect">
            <a:avLst/>
          </a:prstGeom>
          <a:noFill/>
          <a:ln/>
        </p:spPr>
        <p:txBody>
          <a:bodyPr wrap="square" lIns="0" tIns="0" rIns="0" bIns="0" rtlCol="0" anchor="t"/>
          <a:lstStyle/>
          <a:p>
            <a:pPr indent="0" marL="0">
              <a:buNone/>
            </a:pPr>
            <a:r>
              <a:rPr lang="en-US" sz="1400" dirty="0">
                <a:solidFill>
                  <a:schemeClr val="accent6"/>
                </a:solidFill>
              </a:rPr>
              <a:t>Observal’s own facts, namespaced: approval, availability, harness support, digest.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1600200"/>
            <a:ext cx="3657600" cy="1234440"/>
          </a:xfrm>
          <a:prstGeom prst="rect">
            <a:avLst/>
          </a:prstGeom>
          <a:noFill/>
          <a:ln/>
        </p:spPr>
        <p:txBody>
          <a:bodyPr wrap="square" lIns="0" tIns="0" rIns="0" bIns="0" rtlCol="0" anchor="b"/>
          <a:lstStyle/>
          <a:p>
            <a:pPr indent="0" marL="0">
              <a:buNone/>
            </a:pPr>
            <a:r>
              <a:rPr lang="en-US" sz="8800" b="1" dirty="0">
                <a:solidFill>
                  <a:schemeClr val="accent2"/>
                </a:solidFill>
                <a:latin typeface="Arial" pitchFamily="34" charset="0"/>
                <a:ea typeface="Arial" pitchFamily="34" charset="-122"/>
                <a:cs typeface="Arial" pitchFamily="34" charset="-120"/>
              </a:rPr>
              <a:t>02</a:t>
            </a:r>
            <a:endParaRPr lang="en-US" sz="8800" dirty="0"/>
          </a:p>
        </p:txBody>
      </p:sp>
      <p:sp>
        <p:nvSpPr>
          <p:cNvPr id="3" name="Text 1"/>
          <p:cNvSpPr/>
          <p:nvPr>
            <p:ph idx="103" type="title" hasCustomPrompt="1"/>
          </p:nvPr>
        </p:nvSpPr>
        <p:spPr>
          <a:xfrm>
            <a:off x="548640" y="2971800"/>
            <a:ext cx="10515600" cy="960120"/>
          </a:xfrm>
          <a:prstGeom prst="rect">
            <a:avLst/>
          </a:prstGeom>
          <a:noFill/>
          <a:ln/>
        </p:spPr>
        <p:txBody>
          <a:bodyPr wrap="square" lIns="0" tIns="0" rIns="0" bIns="0" rtlCol="0" anchor="t"/>
          <a:lstStyle/>
          <a:p>
            <a:pPr algn="l" indent="0" marL="0">
              <a:buNone/>
            </a:pPr>
            <a:r>
              <a:rPr lang="en-US" sz="4800" b="1" dirty="0">
                <a:solidFill>
                  <a:schemeClr val="bg1"/>
                </a:solidFill>
              </a:rPr>
              <a:t>How we built it</a:t>
            </a:r>
            <a:endParaRPr lang="en-US" sz="4800" dirty="0"/>
          </a:p>
        </p:txBody>
      </p:sp>
      <p:sp>
        <p:nvSpPr>
          <p:cNvPr id="4" name="Text 1"/>
          <p:cNvSpPr/>
          <p:nvPr>
            <p:ph idx="104" type="body" hasCustomPrompt="1"/>
          </p:nvPr>
        </p:nvSpPr>
        <p:spPr>
          <a:xfrm>
            <a:off x="548640" y="402336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PR #1744: server, CLI, web, telemetry, the bundled skill and docs</a:t>
            </a:r>
            <a:endParaRPr lang="en-US" sz="22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PR #1744</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What shipped, at a glance</a:t>
            </a:r>
            <a:endParaRPr lang="en-US" sz="3600" dirty="0"/>
          </a:p>
        </p:txBody>
      </p:sp>
      <p:sp>
        <p:nvSpPr>
          <p:cNvPr id="4" name="Text 2"/>
          <p:cNvSpPr txBox="1"/>
          <p:nvPr/>
        </p:nvSpPr>
        <p:spPr>
          <a:xfrm>
            <a:off x="548640" y="160020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23</a:t>
            </a:r>
            <a:endParaRPr lang="en-US" sz="5400" dirty="0"/>
          </a:p>
        </p:txBody>
      </p:sp>
      <p:sp>
        <p:nvSpPr>
          <p:cNvPr id="5" name="Text 3"/>
          <p:cNvSpPr txBox="1"/>
          <p:nvPr/>
        </p:nvSpPr>
        <p:spPr>
          <a:xfrm>
            <a:off x="548640" y="2450592"/>
            <a:ext cx="2651760" cy="365760"/>
          </a:xfrm>
          <a:prstGeom prst="rect">
            <a:avLst/>
          </a:prstGeom>
          <a:noFill/>
          <a:ln/>
        </p:spPr>
        <p:txBody>
          <a:bodyPr wrap="square" lIns="0" tIns="0" rIns="0" bIns="0" rtlCol="0" anchor="t"/>
          <a:lstStyle/>
          <a:p>
            <a:pPr indent="0" marL="0">
              <a:buNone/>
            </a:pPr>
            <a:r>
              <a:rPr lang="en-US" sz="1600" dirty="0">
                <a:solidFill>
                  <a:schemeClr val="accent6"/>
                </a:solidFill>
              </a:rPr>
              <a:t>commits</a:t>
            </a:r>
            <a:endParaRPr lang="en-US" sz="1600" dirty="0"/>
          </a:p>
        </p:txBody>
      </p:sp>
      <p:sp>
        <p:nvSpPr>
          <p:cNvPr id="6" name="Text 4"/>
          <p:cNvSpPr txBox="1"/>
          <p:nvPr/>
        </p:nvSpPr>
        <p:spPr>
          <a:xfrm>
            <a:off x="3383280" y="160020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90</a:t>
            </a:r>
            <a:endParaRPr lang="en-US" sz="5400" dirty="0"/>
          </a:p>
        </p:txBody>
      </p:sp>
      <p:sp>
        <p:nvSpPr>
          <p:cNvPr id="7" name="Text 5"/>
          <p:cNvSpPr txBox="1"/>
          <p:nvPr/>
        </p:nvSpPr>
        <p:spPr>
          <a:xfrm>
            <a:off x="3383280" y="2450592"/>
            <a:ext cx="2651760" cy="365760"/>
          </a:xfrm>
          <a:prstGeom prst="rect">
            <a:avLst/>
          </a:prstGeom>
          <a:noFill/>
          <a:ln/>
        </p:spPr>
        <p:txBody>
          <a:bodyPr wrap="square" lIns="0" tIns="0" rIns="0" bIns="0" rtlCol="0" anchor="t"/>
          <a:lstStyle/>
          <a:p>
            <a:pPr indent="0" marL="0">
              <a:buNone/>
            </a:pPr>
            <a:r>
              <a:rPr lang="en-US" sz="1600" dirty="0">
                <a:solidFill>
                  <a:schemeClr val="accent6"/>
                </a:solidFill>
              </a:rPr>
              <a:t>files changed</a:t>
            </a:r>
            <a:endParaRPr lang="en-US" sz="1600" dirty="0"/>
          </a:p>
        </p:txBody>
      </p:sp>
      <p:sp>
        <p:nvSpPr>
          <p:cNvPr id="8" name="Text 6"/>
          <p:cNvSpPr txBox="1"/>
          <p:nvPr/>
        </p:nvSpPr>
        <p:spPr>
          <a:xfrm>
            <a:off x="6217920" y="160020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+10.8k</a:t>
            </a:r>
            <a:endParaRPr lang="en-US" sz="5400" dirty="0"/>
          </a:p>
        </p:txBody>
      </p:sp>
      <p:sp>
        <p:nvSpPr>
          <p:cNvPr id="9" name="Text 7"/>
          <p:cNvSpPr txBox="1"/>
          <p:nvPr/>
        </p:nvSpPr>
        <p:spPr>
          <a:xfrm>
            <a:off x="6217920" y="2450592"/>
            <a:ext cx="2651760" cy="365760"/>
          </a:xfrm>
          <a:prstGeom prst="rect">
            <a:avLst/>
          </a:prstGeom>
          <a:noFill/>
          <a:ln/>
        </p:spPr>
        <p:txBody>
          <a:bodyPr wrap="square" lIns="0" tIns="0" rIns="0" bIns="0" rtlCol="0" anchor="t"/>
          <a:lstStyle/>
          <a:p>
            <a:pPr indent="0" marL="0">
              <a:buNone/>
            </a:pPr>
            <a:r>
              <a:rPr lang="en-US" sz="1600" dirty="0">
                <a:solidFill>
                  <a:schemeClr val="accent6"/>
                </a:solidFill>
              </a:rPr>
              <a:t>lines added</a:t>
            </a:r>
            <a:endParaRPr lang="en-US" sz="1600" dirty="0"/>
          </a:p>
        </p:txBody>
      </p:sp>
      <p:sp>
        <p:nvSpPr>
          <p:cNvPr id="10" name="Text 8"/>
          <p:cNvSpPr txBox="1"/>
          <p:nvPr/>
        </p:nvSpPr>
        <p:spPr>
          <a:xfrm>
            <a:off x="9052560" y="160020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4.3k</a:t>
            </a:r>
            <a:endParaRPr lang="en-US" sz="5400" dirty="0"/>
          </a:p>
        </p:txBody>
      </p:sp>
      <p:sp>
        <p:nvSpPr>
          <p:cNvPr id="11" name="Text 9"/>
          <p:cNvSpPr txBox="1"/>
          <p:nvPr/>
        </p:nvSpPr>
        <p:spPr>
          <a:xfrm>
            <a:off x="9052560" y="2450592"/>
            <a:ext cx="2651760" cy="365760"/>
          </a:xfrm>
          <a:prstGeom prst="rect">
            <a:avLst/>
          </a:prstGeom>
          <a:noFill/>
          <a:ln/>
        </p:spPr>
        <p:txBody>
          <a:bodyPr wrap="square" lIns="0" tIns="0" rIns="0" bIns="0" rtlCol="0" anchor="t"/>
          <a:lstStyle/>
          <a:p>
            <a:pPr indent="0" marL="0">
              <a:buNone/>
            </a:pPr>
            <a:r>
              <a:rPr lang="en-US" sz="1600" dirty="0">
                <a:solidFill>
                  <a:schemeClr val="accent6"/>
                </a:solidFill>
              </a:rPr>
              <a:t>lines of tests</a:t>
            </a:r>
            <a:endParaRPr lang="en-US" sz="1600" dirty="0"/>
          </a:p>
        </p:txBody>
      </p:sp>
      <p:sp>
        <p:nvSpPr>
          <p:cNvPr id="12" name="Server card"/>
          <p:cNvSpPr/>
          <p:nvPr/>
        </p:nvSpPr>
        <p:spPr>
          <a:xfrm>
            <a:off x="548640" y="3154680"/>
            <a:ext cx="3575304" cy="1371600"/>
          </a:xfrm>
          <a:prstGeom prst="roundRect">
            <a:avLst>
              <a:gd name="adj" fmla="val 8000"/>
            </a:avLst>
          </a:prstGeom>
          <a:solidFill>
            <a:schemeClr val="bg2"/>
          </a:solidFill>
          <a:ln/>
        </p:spPr>
      </p:sp>
      <p:sp>
        <p:nvSpPr>
          <p:cNvPr id="13" name="Server circle"/>
          <p:cNvSpPr/>
          <p:nvPr/>
        </p:nvSpPr>
        <p:spPr>
          <a:xfrm>
            <a:off x="777240" y="3383280"/>
            <a:ext cx="548640" cy="548640"/>
          </a:xfrm>
          <a:prstGeom prst="ellipse">
            <a:avLst/>
          </a:prstGeom>
          <a:solidFill>
            <a:schemeClr val="accent1"/>
          </a:solidFill>
          <a:ln/>
        </p:spPr>
      </p:sp>
      <p:pic>
        <p:nvPicPr>
          <p:cNvPr id="14" name="Server icon" descr="preencoded.png">    </p:cNvPr>
          <p:cNvPicPr>
            <a:picLocks noChangeAspect="1"/>
          </p:cNvPicPr>
          <p:nvPr/>
        </p:nvPicPr>
        <p:blipFill>
          <a:blip r:embed="rId1"/>
          <a:stretch>
            <a:fillRect/>
          </a:stretch>
        </p:blipFill>
        <p:spPr>
          <a:xfrm>
            <a:off x="908914" y="3514954"/>
            <a:ext cx="285293" cy="285293"/>
          </a:xfrm>
          <a:prstGeom prst="rect">
            <a:avLst/>
          </a:prstGeom>
        </p:spPr>
      </p:pic>
      <p:sp>
        <p:nvSpPr>
          <p:cNvPr id="15" name="Text 12"/>
          <p:cNvSpPr txBox="1"/>
          <p:nvPr/>
        </p:nvSpPr>
        <p:spPr>
          <a:xfrm>
            <a:off x="1508760" y="3383280"/>
            <a:ext cx="2423160" cy="365760"/>
          </a:xfrm>
          <a:prstGeom prst="rect">
            <a:avLst/>
          </a:prstGeom>
          <a:noFill/>
          <a:ln/>
        </p:spPr>
        <p:txBody>
          <a:bodyPr wrap="square" lIns="0" tIns="0" rIns="0" bIns="0" rtlCol="0" anchor="t"/>
          <a:lstStyle/>
          <a:p>
            <a:pPr indent="0" marL="0">
              <a:buNone/>
            </a:pPr>
            <a:r>
              <a:rPr lang="en-US" sz="1700" b="1" dirty="0">
                <a:solidFill>
                  <a:schemeClr val="tx1"/>
                </a:solidFill>
              </a:rPr>
              <a:t>Server</a:t>
            </a:r>
            <a:endParaRPr lang="en-US" sz="1700" dirty="0"/>
          </a:p>
        </p:txBody>
      </p:sp>
      <p:sp>
        <p:nvSpPr>
          <p:cNvPr id="16" name="Text 13"/>
          <p:cNvSpPr txBox="1"/>
          <p:nvPr/>
        </p:nvSpPr>
        <p:spPr>
          <a:xfrm>
            <a:off x="1508760" y="3758184"/>
            <a:ext cx="2468880" cy="685800"/>
          </a:xfrm>
          <a:prstGeom prst="rect">
            <a:avLst/>
          </a:prstGeom>
          <a:noFill/>
          <a:ln/>
        </p:spPr>
        <p:txBody>
          <a:bodyPr wrap="square" lIns="0" tIns="0" rIns="0" bIns="0" rtlCol="0" anchor="t"/>
          <a:lstStyle/>
          <a:p>
            <a:pPr indent="0" marL="0">
              <a:buNone/>
            </a:pPr>
            <a:r>
              <a:rPr lang="en-US" sz="1400" dirty="0">
                <a:solidFill>
                  <a:schemeClr val="accent6"/>
                </a:solidFill>
              </a:rPr>
              <a:t>Discovery read model, ARD endpoints, permanent artifacts</a:t>
            </a:r>
            <a:endParaRPr lang="en-US" sz="1400" dirty="0"/>
          </a:p>
        </p:txBody>
      </p:sp>
      <p:sp>
        <p:nvSpPr>
          <p:cNvPr id="17" name="CLI card"/>
          <p:cNvSpPr/>
          <p:nvPr/>
        </p:nvSpPr>
        <p:spPr>
          <a:xfrm>
            <a:off x="4306824" y="3154680"/>
            <a:ext cx="3575304" cy="1371600"/>
          </a:xfrm>
          <a:prstGeom prst="roundRect">
            <a:avLst>
              <a:gd name="adj" fmla="val 8000"/>
            </a:avLst>
          </a:prstGeom>
          <a:solidFill>
            <a:schemeClr val="bg2"/>
          </a:solidFill>
          <a:ln/>
        </p:spPr>
      </p:sp>
      <p:sp>
        <p:nvSpPr>
          <p:cNvPr id="18" name="CLI circle"/>
          <p:cNvSpPr/>
          <p:nvPr/>
        </p:nvSpPr>
        <p:spPr>
          <a:xfrm>
            <a:off x="4535424" y="3383280"/>
            <a:ext cx="548640" cy="548640"/>
          </a:xfrm>
          <a:prstGeom prst="ellipse">
            <a:avLst/>
          </a:prstGeom>
          <a:solidFill>
            <a:schemeClr val="accent1"/>
          </a:solidFill>
          <a:ln/>
        </p:spPr>
      </p:sp>
      <p:pic>
        <p:nvPicPr>
          <p:cNvPr id="19" name="CLI icon" descr="preencoded.png">    </p:cNvPr>
          <p:cNvPicPr>
            <a:picLocks noChangeAspect="1"/>
          </p:cNvPicPr>
          <p:nvPr/>
        </p:nvPicPr>
        <p:blipFill>
          <a:blip r:embed="rId2"/>
          <a:stretch>
            <a:fillRect/>
          </a:stretch>
        </p:blipFill>
        <p:spPr>
          <a:xfrm>
            <a:off x="4667098" y="3514954"/>
            <a:ext cx="285293" cy="285293"/>
          </a:xfrm>
          <a:prstGeom prst="rect">
            <a:avLst/>
          </a:prstGeom>
        </p:spPr>
      </p:pic>
      <p:sp>
        <p:nvSpPr>
          <p:cNvPr id="20" name="Text 16"/>
          <p:cNvSpPr txBox="1"/>
          <p:nvPr/>
        </p:nvSpPr>
        <p:spPr>
          <a:xfrm>
            <a:off x="5266944" y="3383280"/>
            <a:ext cx="2423160" cy="365760"/>
          </a:xfrm>
          <a:prstGeom prst="rect">
            <a:avLst/>
          </a:prstGeom>
          <a:noFill/>
          <a:ln/>
        </p:spPr>
        <p:txBody>
          <a:bodyPr wrap="square" lIns="0" tIns="0" rIns="0" bIns="0" rtlCol="0" anchor="t"/>
          <a:lstStyle/>
          <a:p>
            <a:pPr indent="0" marL="0">
              <a:buNone/>
            </a:pPr>
            <a:r>
              <a:rPr lang="en-US" sz="1700" b="1" dirty="0">
                <a:solidFill>
                  <a:schemeClr val="tx1"/>
                </a:solidFill>
              </a:rPr>
              <a:t>CLI</a:t>
            </a:r>
            <a:endParaRPr lang="en-US" sz="1700" dirty="0"/>
          </a:p>
        </p:txBody>
      </p:sp>
      <p:sp>
        <p:nvSpPr>
          <p:cNvPr id="21" name="Text 17"/>
          <p:cNvSpPr txBox="1"/>
          <p:nvPr/>
        </p:nvSpPr>
        <p:spPr>
          <a:xfrm>
            <a:off x="5266944" y="3758184"/>
            <a:ext cx="2468880" cy="685800"/>
          </a:xfrm>
          <a:prstGeom prst="rect">
            <a:avLst/>
          </a:prstGeom>
          <a:noFill/>
          <a:ln/>
        </p:spPr>
        <p:txBody>
          <a:bodyPr wrap="square" lIns="0" tIns="0" rIns="0" bIns="0" rtlCol="0" anchor="t"/>
          <a:lstStyle/>
          <a:p>
            <a:pPr indent="0" marL="0">
              <a:buNone/>
            </a:pPr>
            <a:r>
              <a:rPr lang="en-US" sz="1400" dirty="0">
                <a:solidFill>
                  <a:schemeClr val="accent6"/>
                </a:solidFill>
              </a:rPr>
              <a:t>discover search · inspect · use, and the capability lock</a:t>
            </a:r>
            <a:endParaRPr lang="en-US" sz="1400" dirty="0"/>
          </a:p>
        </p:txBody>
      </p:sp>
      <p:sp>
        <p:nvSpPr>
          <p:cNvPr id="22" name="Web card"/>
          <p:cNvSpPr/>
          <p:nvPr/>
        </p:nvSpPr>
        <p:spPr>
          <a:xfrm>
            <a:off x="8065008" y="3154680"/>
            <a:ext cx="3575304" cy="1371600"/>
          </a:xfrm>
          <a:prstGeom prst="roundRect">
            <a:avLst>
              <a:gd name="adj" fmla="val 8000"/>
            </a:avLst>
          </a:prstGeom>
          <a:solidFill>
            <a:schemeClr val="bg2"/>
          </a:solidFill>
          <a:ln/>
        </p:spPr>
      </p:sp>
      <p:sp>
        <p:nvSpPr>
          <p:cNvPr id="23" name="Web circle"/>
          <p:cNvSpPr/>
          <p:nvPr/>
        </p:nvSpPr>
        <p:spPr>
          <a:xfrm>
            <a:off x="8293608" y="3383280"/>
            <a:ext cx="548640" cy="548640"/>
          </a:xfrm>
          <a:prstGeom prst="ellipse">
            <a:avLst/>
          </a:prstGeom>
          <a:solidFill>
            <a:schemeClr val="accent1"/>
          </a:solidFill>
          <a:ln/>
        </p:spPr>
      </p:sp>
      <p:pic>
        <p:nvPicPr>
          <p:cNvPr id="24" name="Web icon" descr="preencoded.png">    </p:cNvPr>
          <p:cNvPicPr>
            <a:picLocks noChangeAspect="1"/>
          </p:cNvPicPr>
          <p:nvPr/>
        </p:nvPicPr>
        <p:blipFill>
          <a:blip r:embed="rId3"/>
          <a:stretch>
            <a:fillRect/>
          </a:stretch>
        </p:blipFill>
        <p:spPr>
          <a:xfrm>
            <a:off x="8425282" y="3514954"/>
            <a:ext cx="285293" cy="285293"/>
          </a:xfrm>
          <a:prstGeom prst="rect">
            <a:avLst/>
          </a:prstGeom>
        </p:spPr>
      </p:pic>
      <p:sp>
        <p:nvSpPr>
          <p:cNvPr id="25" name="Text 20"/>
          <p:cNvSpPr txBox="1"/>
          <p:nvPr/>
        </p:nvSpPr>
        <p:spPr>
          <a:xfrm>
            <a:off x="9025128" y="3383280"/>
            <a:ext cx="2423160" cy="365760"/>
          </a:xfrm>
          <a:prstGeom prst="rect">
            <a:avLst/>
          </a:prstGeom>
          <a:noFill/>
          <a:ln/>
        </p:spPr>
        <p:txBody>
          <a:bodyPr wrap="square" lIns="0" tIns="0" rIns="0" bIns="0" rtlCol="0" anchor="t"/>
          <a:lstStyle/>
          <a:p>
            <a:pPr indent="0" marL="0">
              <a:buNone/>
            </a:pPr>
            <a:r>
              <a:rPr lang="en-US" sz="1700" b="1" dirty="0">
                <a:solidFill>
                  <a:schemeClr val="tx1"/>
                </a:solidFill>
              </a:rPr>
              <a:t>Web</a:t>
            </a:r>
            <a:endParaRPr lang="en-US" sz="1700" dirty="0"/>
          </a:p>
        </p:txBody>
      </p:sp>
      <p:sp>
        <p:nvSpPr>
          <p:cNvPr id="26" name="Text 21"/>
          <p:cNvSpPr txBox="1"/>
          <p:nvPr/>
        </p:nvSpPr>
        <p:spPr>
          <a:xfrm>
            <a:off x="9025128" y="3758184"/>
            <a:ext cx="2468880" cy="685800"/>
          </a:xfrm>
          <a:prstGeom prst="rect">
            <a:avLst/>
          </a:prstGeom>
          <a:noFill/>
          <a:ln/>
        </p:spPr>
        <p:txBody>
          <a:bodyPr wrap="square" lIns="0" tIns="0" rIns="0" bIns="0" rtlCol="0" anchor="t"/>
          <a:lstStyle/>
          <a:p>
            <a:pPr indent="0" marL="0">
              <a:buNone/>
            </a:pPr>
            <a:r>
              <a:rPr lang="en-US" sz="1400" dirty="0">
                <a:solidFill>
                  <a:schemeClr val="accent6"/>
                </a:solidFill>
              </a:rPr>
              <a:t>A Discover page across all six resource kinds</a:t>
            </a:r>
            <a:endParaRPr lang="en-US" sz="1400" dirty="0"/>
          </a:p>
        </p:txBody>
      </p:sp>
      <p:sp>
        <p:nvSpPr>
          <p:cNvPr id="27" name="Telemetry card"/>
          <p:cNvSpPr/>
          <p:nvPr/>
        </p:nvSpPr>
        <p:spPr>
          <a:xfrm>
            <a:off x="548640" y="4690872"/>
            <a:ext cx="3575304" cy="1371600"/>
          </a:xfrm>
          <a:prstGeom prst="roundRect">
            <a:avLst>
              <a:gd name="adj" fmla="val 8000"/>
            </a:avLst>
          </a:prstGeom>
          <a:solidFill>
            <a:schemeClr val="bg2"/>
          </a:solidFill>
          <a:ln/>
        </p:spPr>
      </p:sp>
      <p:sp>
        <p:nvSpPr>
          <p:cNvPr id="28" name="Telemetry circle"/>
          <p:cNvSpPr/>
          <p:nvPr/>
        </p:nvSpPr>
        <p:spPr>
          <a:xfrm>
            <a:off x="777240" y="4919472"/>
            <a:ext cx="548640" cy="548640"/>
          </a:xfrm>
          <a:prstGeom prst="ellipse">
            <a:avLst/>
          </a:prstGeom>
          <a:solidFill>
            <a:schemeClr val="accent1"/>
          </a:solidFill>
          <a:ln/>
        </p:spPr>
      </p:sp>
      <p:pic>
        <p:nvPicPr>
          <p:cNvPr id="29" name="Telemetry icon" descr="preencoded.png">    </p:cNvPr>
          <p:cNvPicPr>
            <a:picLocks noChangeAspect="1"/>
          </p:cNvPicPr>
          <p:nvPr/>
        </p:nvPicPr>
        <p:blipFill>
          <a:blip r:embed="rId4"/>
          <a:stretch>
            <a:fillRect/>
          </a:stretch>
        </p:blipFill>
        <p:spPr>
          <a:xfrm>
            <a:off x="908914" y="5051146"/>
            <a:ext cx="285293" cy="285293"/>
          </a:xfrm>
          <a:prstGeom prst="rect">
            <a:avLst/>
          </a:prstGeom>
        </p:spPr>
      </p:pic>
      <p:sp>
        <p:nvSpPr>
          <p:cNvPr id="30" name="Text 24"/>
          <p:cNvSpPr txBox="1"/>
          <p:nvPr/>
        </p:nvSpPr>
        <p:spPr>
          <a:xfrm>
            <a:off x="1508760" y="4919472"/>
            <a:ext cx="2423160" cy="365760"/>
          </a:xfrm>
          <a:prstGeom prst="rect">
            <a:avLst/>
          </a:prstGeom>
          <a:noFill/>
          <a:ln/>
        </p:spPr>
        <p:txBody>
          <a:bodyPr wrap="square" lIns="0" tIns="0" rIns="0" bIns="0" rtlCol="0" anchor="t"/>
          <a:lstStyle/>
          <a:p>
            <a:pPr indent="0" marL="0">
              <a:buNone/>
            </a:pPr>
            <a:r>
              <a:rPr lang="en-US" sz="1700" b="1" dirty="0">
                <a:solidFill>
                  <a:schemeClr val="tx1"/>
                </a:solidFill>
              </a:rPr>
              <a:t>Telemetry</a:t>
            </a:r>
            <a:endParaRPr lang="en-US" sz="1700" dirty="0"/>
          </a:p>
        </p:txBody>
      </p:sp>
      <p:sp>
        <p:nvSpPr>
          <p:cNvPr id="31" name="Text 25"/>
          <p:cNvSpPr txBox="1"/>
          <p:nvPr/>
        </p:nvSpPr>
        <p:spPr>
          <a:xfrm>
            <a:off x="1508760" y="5294376"/>
            <a:ext cx="2468880" cy="685800"/>
          </a:xfrm>
          <a:prstGeom prst="rect">
            <a:avLst/>
          </a:prstGeom>
          <a:noFill/>
          <a:ln/>
        </p:spPr>
        <p:txBody>
          <a:bodyPr wrap="square" lIns="0" tIns="0" rIns="0" bIns="0" rtlCol="0" anchor="t"/>
          <a:lstStyle/>
          <a:p>
            <a:pPr indent="0" marL="0">
              <a:buNone/>
            </a:pPr>
            <a:r>
              <a:rPr lang="en-US" sz="1400" dirty="0">
                <a:solidFill>
                  <a:schemeClr val="accent6"/>
                </a:solidFill>
              </a:rPr>
              <a:t>Sessions report which resources they relied on</a:t>
            </a:r>
            <a:endParaRPr lang="en-US" sz="1400" dirty="0"/>
          </a:p>
        </p:txBody>
      </p:sp>
      <p:sp>
        <p:nvSpPr>
          <p:cNvPr id="32" name="Bundled skill card"/>
          <p:cNvSpPr/>
          <p:nvPr/>
        </p:nvSpPr>
        <p:spPr>
          <a:xfrm>
            <a:off x="4306824" y="4690872"/>
            <a:ext cx="3575304" cy="1371600"/>
          </a:xfrm>
          <a:prstGeom prst="roundRect">
            <a:avLst>
              <a:gd name="adj" fmla="val 8000"/>
            </a:avLst>
          </a:prstGeom>
          <a:solidFill>
            <a:schemeClr val="bg2"/>
          </a:solidFill>
          <a:ln/>
        </p:spPr>
      </p:sp>
      <p:sp>
        <p:nvSpPr>
          <p:cNvPr id="33" name="Bundled skill circle"/>
          <p:cNvSpPr/>
          <p:nvPr/>
        </p:nvSpPr>
        <p:spPr>
          <a:xfrm>
            <a:off x="4535424" y="4919472"/>
            <a:ext cx="548640" cy="548640"/>
          </a:xfrm>
          <a:prstGeom prst="ellipse">
            <a:avLst/>
          </a:prstGeom>
          <a:solidFill>
            <a:schemeClr val="accent1"/>
          </a:solidFill>
          <a:ln/>
        </p:spPr>
      </p:sp>
      <p:pic>
        <p:nvPicPr>
          <p:cNvPr id="34" name="Bundled skill icon" descr="preencoded.png">    </p:cNvPr>
          <p:cNvPicPr>
            <a:picLocks noChangeAspect="1"/>
          </p:cNvPicPr>
          <p:nvPr/>
        </p:nvPicPr>
        <p:blipFill>
          <a:blip r:embed="rId5"/>
          <a:stretch>
            <a:fillRect/>
          </a:stretch>
        </p:blipFill>
        <p:spPr>
          <a:xfrm>
            <a:off x="4667098" y="5051146"/>
            <a:ext cx="285293" cy="285293"/>
          </a:xfrm>
          <a:prstGeom prst="rect">
            <a:avLst/>
          </a:prstGeom>
        </p:spPr>
      </p:pic>
      <p:sp>
        <p:nvSpPr>
          <p:cNvPr id="35" name="Text 28"/>
          <p:cNvSpPr txBox="1"/>
          <p:nvPr/>
        </p:nvSpPr>
        <p:spPr>
          <a:xfrm>
            <a:off x="5266944" y="4919472"/>
            <a:ext cx="2423160" cy="365760"/>
          </a:xfrm>
          <a:prstGeom prst="rect">
            <a:avLst/>
          </a:prstGeom>
          <a:noFill/>
          <a:ln/>
        </p:spPr>
        <p:txBody>
          <a:bodyPr wrap="square" lIns="0" tIns="0" rIns="0" bIns="0" rtlCol="0" anchor="t"/>
          <a:lstStyle/>
          <a:p>
            <a:pPr indent="0" marL="0">
              <a:buNone/>
            </a:pPr>
            <a:r>
              <a:rPr lang="en-US" sz="1700" b="1" dirty="0">
                <a:solidFill>
                  <a:schemeClr val="tx1"/>
                </a:solidFill>
              </a:rPr>
              <a:t>Bundled skill</a:t>
            </a:r>
            <a:endParaRPr lang="en-US" sz="1700" dirty="0"/>
          </a:p>
        </p:txBody>
      </p:sp>
      <p:sp>
        <p:nvSpPr>
          <p:cNvPr id="36" name="Text 29"/>
          <p:cNvSpPr txBox="1"/>
          <p:nvPr/>
        </p:nvSpPr>
        <p:spPr>
          <a:xfrm>
            <a:off x="5266944" y="5294376"/>
            <a:ext cx="2468880" cy="685800"/>
          </a:xfrm>
          <a:prstGeom prst="rect">
            <a:avLst/>
          </a:prstGeom>
          <a:noFill/>
          <a:ln/>
        </p:spPr>
        <p:txBody>
          <a:bodyPr wrap="square" lIns="0" tIns="0" rIns="0" bIns="0" rtlCol="0" anchor="t"/>
          <a:lstStyle/>
          <a:p>
            <a:pPr indent="0" marL="0">
              <a:buNone/>
            </a:pPr>
            <a:r>
              <a:rPr lang="en-US" sz="1400" dirty="0">
                <a:solidFill>
                  <a:schemeClr val="accent6"/>
                </a:solidFill>
              </a:rPr>
              <a:t>“Search Observal before reinventing” in every harness</a:t>
            </a:r>
            <a:endParaRPr lang="en-US" sz="1400" dirty="0"/>
          </a:p>
        </p:txBody>
      </p:sp>
      <p:sp>
        <p:nvSpPr>
          <p:cNvPr id="37" name="Spec &amp; docs card"/>
          <p:cNvSpPr/>
          <p:nvPr/>
        </p:nvSpPr>
        <p:spPr>
          <a:xfrm>
            <a:off x="8065008" y="4690872"/>
            <a:ext cx="3575304" cy="1371600"/>
          </a:xfrm>
          <a:prstGeom prst="roundRect">
            <a:avLst>
              <a:gd name="adj" fmla="val 8000"/>
            </a:avLst>
          </a:prstGeom>
          <a:solidFill>
            <a:schemeClr val="bg2"/>
          </a:solidFill>
          <a:ln/>
        </p:spPr>
      </p:sp>
      <p:sp>
        <p:nvSpPr>
          <p:cNvPr id="38" name="Spec &amp; docs circle"/>
          <p:cNvSpPr/>
          <p:nvPr/>
        </p:nvSpPr>
        <p:spPr>
          <a:xfrm>
            <a:off x="8293608" y="4919472"/>
            <a:ext cx="548640" cy="548640"/>
          </a:xfrm>
          <a:prstGeom prst="ellipse">
            <a:avLst/>
          </a:prstGeom>
          <a:solidFill>
            <a:schemeClr val="accent1"/>
          </a:solidFill>
          <a:ln/>
        </p:spPr>
      </p:sp>
      <p:pic>
        <p:nvPicPr>
          <p:cNvPr id="39" name="Spec &amp; docs icon" descr="preencoded.png">    </p:cNvPr>
          <p:cNvPicPr>
            <a:picLocks noChangeAspect="1"/>
          </p:cNvPicPr>
          <p:nvPr/>
        </p:nvPicPr>
        <p:blipFill>
          <a:blip r:embed="rId6"/>
          <a:stretch>
            <a:fillRect/>
          </a:stretch>
        </p:blipFill>
        <p:spPr>
          <a:xfrm>
            <a:off x="8425282" y="5051146"/>
            <a:ext cx="285293" cy="285293"/>
          </a:xfrm>
          <a:prstGeom prst="rect">
            <a:avLst/>
          </a:prstGeom>
        </p:spPr>
      </p:pic>
      <p:sp>
        <p:nvSpPr>
          <p:cNvPr id="40" name="Text 32"/>
          <p:cNvSpPr txBox="1"/>
          <p:nvPr/>
        </p:nvSpPr>
        <p:spPr>
          <a:xfrm>
            <a:off x="9025128" y="4919472"/>
            <a:ext cx="2423160" cy="365760"/>
          </a:xfrm>
          <a:prstGeom prst="rect">
            <a:avLst/>
          </a:prstGeom>
          <a:noFill/>
          <a:ln/>
        </p:spPr>
        <p:txBody>
          <a:bodyPr wrap="square" lIns="0" tIns="0" rIns="0" bIns="0" rtlCol="0" anchor="t"/>
          <a:lstStyle/>
          <a:p>
            <a:pPr indent="0" marL="0">
              <a:buNone/>
            </a:pPr>
            <a:r>
              <a:rPr lang="en-US" sz="1700" b="1" dirty="0">
                <a:solidFill>
                  <a:schemeClr val="tx1"/>
                </a:solidFill>
              </a:rPr>
              <a:t>Spec &amp; docs</a:t>
            </a:r>
            <a:endParaRPr lang="en-US" sz="1700" dirty="0"/>
          </a:p>
        </p:txBody>
      </p:sp>
      <p:sp>
        <p:nvSpPr>
          <p:cNvPr id="41" name="Text 33"/>
          <p:cNvSpPr txBox="1"/>
          <p:nvPr/>
        </p:nvSpPr>
        <p:spPr>
          <a:xfrm>
            <a:off x="9025128" y="5294376"/>
            <a:ext cx="2468880" cy="685800"/>
          </a:xfrm>
          <a:prstGeom prst="rect">
            <a:avLst/>
          </a:prstGeom>
          <a:noFill/>
          <a:ln/>
        </p:spPr>
        <p:txBody>
          <a:bodyPr wrap="square" lIns="0" tIns="0" rIns="0" bIns="0" rtlCol="0" anchor="t"/>
          <a:lstStyle/>
          <a:p>
            <a:pPr indent="0" marL="0">
              <a:buNone/>
            </a:pPr>
            <a:r>
              <a:rPr lang="en-US" sz="1400" dirty="0">
                <a:solidFill>
                  <a:schemeClr val="accent6"/>
                </a:solidFill>
              </a:rPr>
              <a:t>Vendored ARD v0.91, conformance tool, ADR 0001</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ARD is a projection, not a rewrite</a:t>
            </a:r>
            <a:endParaRPr lang="en-US" sz="3600" dirty="0"/>
          </a:p>
        </p:txBody>
      </p:sp>
      <p:sp>
        <p:nvSpPr>
          <p:cNvPr id="4" name="Native registry"/>
          <p:cNvSpPr/>
          <p:nvPr/>
        </p:nvSpPr>
        <p:spPr>
          <a:xfrm>
            <a:off x="548640" y="1691640"/>
            <a:ext cx="3154680" cy="3977640"/>
          </a:xfrm>
          <a:prstGeom prst="roundRect">
            <a:avLst>
              <a:gd name="adj" fmla="val 3478"/>
            </a:avLst>
          </a:prstGeom>
          <a:solidFill>
            <a:schemeClr val="bg2"/>
          </a:solidFill>
          <a:ln/>
        </p:spPr>
      </p:sp>
      <p:sp>
        <p:nvSpPr>
          <p:cNvPr id="5" name="Native registry circle"/>
          <p:cNvSpPr/>
          <p:nvPr/>
        </p:nvSpPr>
        <p:spPr>
          <a:xfrm>
            <a:off x="777240" y="1901952"/>
            <a:ext cx="502920" cy="502920"/>
          </a:xfrm>
          <a:prstGeom prst="ellipse">
            <a:avLst/>
          </a:prstGeom>
          <a:solidFill>
            <a:schemeClr val="accent1"/>
          </a:solidFill>
          <a:ln/>
        </p:spPr>
      </p:sp>
      <p:pic>
        <p:nvPicPr>
          <p:cNvPr id="6" name="Native registry icon" descr="preencoded.png">    </p:cNvPr>
          <p:cNvPicPr>
            <a:picLocks noChangeAspect="1"/>
          </p:cNvPicPr>
          <p:nvPr/>
        </p:nvPicPr>
        <p:blipFill>
          <a:blip r:embed="rId1"/>
          <a:stretch>
            <a:fillRect/>
          </a:stretch>
        </p:blipFill>
        <p:spPr>
          <a:xfrm>
            <a:off x="897941" y="2022653"/>
            <a:ext cx="261518" cy="261518"/>
          </a:xfrm>
          <a:prstGeom prst="rect">
            <a:avLst/>
          </a:prstGeom>
        </p:spPr>
      </p:pic>
      <p:sp>
        <p:nvSpPr>
          <p:cNvPr id="7" name="Text 4"/>
          <p:cNvSpPr txBox="1"/>
          <p:nvPr/>
        </p:nvSpPr>
        <p:spPr>
          <a:xfrm>
            <a:off x="1417320" y="1920240"/>
            <a:ext cx="2194560" cy="457200"/>
          </a:xfrm>
          <a:prstGeom prst="rect">
            <a:avLst/>
          </a:prstGeom>
          <a:noFill/>
          <a:ln/>
        </p:spPr>
        <p:txBody>
          <a:bodyPr wrap="square" lIns="0" tIns="0" rIns="0" bIns="0" rtlCol="0" anchor="ctr"/>
          <a:lstStyle/>
          <a:p>
            <a:pPr indent="0" marL="0">
              <a:buNone/>
            </a:pPr>
            <a:r>
              <a:rPr lang="en-US" sz="1700" b="1" dirty="0">
                <a:solidFill>
                  <a:schemeClr val="tx1"/>
                </a:solidFill>
              </a:rPr>
              <a:t>Native registry</a:t>
            </a:r>
            <a:endParaRPr lang="en-US" sz="1700" dirty="0"/>
          </a:p>
        </p:txBody>
      </p:sp>
      <p:pic>
        <p:nvPicPr>
          <p:cNvPr id="8" name="Agents icon" descr="preencoded.png">    </p:cNvPr>
          <p:cNvPicPr>
            <a:picLocks noChangeAspect="1"/>
          </p:cNvPicPr>
          <p:nvPr/>
        </p:nvPicPr>
        <p:blipFill>
          <a:blip r:embed="rId2"/>
          <a:stretch>
            <a:fillRect/>
          </a:stretch>
        </p:blipFill>
        <p:spPr>
          <a:xfrm>
            <a:off x="822960" y="2651760"/>
            <a:ext cx="256032" cy="256032"/>
          </a:xfrm>
          <a:prstGeom prst="rect">
            <a:avLst/>
          </a:prstGeom>
        </p:spPr>
      </p:pic>
      <p:sp>
        <p:nvSpPr>
          <p:cNvPr id="9" name="Text 5"/>
          <p:cNvSpPr txBox="1"/>
          <p:nvPr/>
        </p:nvSpPr>
        <p:spPr>
          <a:xfrm>
            <a:off x="1234440" y="2606040"/>
            <a:ext cx="2194560" cy="347472"/>
          </a:xfrm>
          <a:prstGeom prst="rect">
            <a:avLst/>
          </a:prstGeom>
          <a:noFill/>
          <a:ln/>
        </p:spPr>
        <p:txBody>
          <a:bodyPr wrap="square" lIns="0" tIns="0" rIns="0" bIns="0" rtlCol="0" anchor="ctr"/>
          <a:lstStyle/>
          <a:p>
            <a:pPr indent="0" marL="0">
              <a:buNone/>
            </a:pPr>
            <a:r>
              <a:rPr lang="en-US" sz="1500" dirty="0">
                <a:solidFill>
                  <a:schemeClr val="tx1"/>
                </a:solidFill>
              </a:rPr>
              <a:t>Agents</a:t>
            </a:r>
            <a:endParaRPr lang="en-US" sz="1500" dirty="0"/>
          </a:p>
        </p:txBody>
      </p:sp>
      <p:pic>
        <p:nvPicPr>
          <p:cNvPr id="10" name="MCP servers icon" descr="preencoded.png">    </p:cNvPr>
          <p:cNvPicPr>
            <a:picLocks noChangeAspect="1"/>
          </p:cNvPicPr>
          <p:nvPr/>
        </p:nvPicPr>
        <p:blipFill>
          <a:blip r:embed="rId3"/>
          <a:stretch>
            <a:fillRect/>
          </a:stretch>
        </p:blipFill>
        <p:spPr>
          <a:xfrm>
            <a:off x="822960" y="3054096"/>
            <a:ext cx="256032" cy="256032"/>
          </a:xfrm>
          <a:prstGeom prst="rect">
            <a:avLst/>
          </a:prstGeom>
        </p:spPr>
      </p:pic>
      <p:sp>
        <p:nvSpPr>
          <p:cNvPr id="11" name="Text 6"/>
          <p:cNvSpPr txBox="1"/>
          <p:nvPr/>
        </p:nvSpPr>
        <p:spPr>
          <a:xfrm>
            <a:off x="1234440" y="3008376"/>
            <a:ext cx="2194560" cy="347472"/>
          </a:xfrm>
          <a:prstGeom prst="rect">
            <a:avLst/>
          </a:prstGeom>
          <a:noFill/>
          <a:ln/>
        </p:spPr>
        <p:txBody>
          <a:bodyPr wrap="square" lIns="0" tIns="0" rIns="0" bIns="0" rtlCol="0" anchor="ctr"/>
          <a:lstStyle/>
          <a:p>
            <a:pPr indent="0" marL="0">
              <a:buNone/>
            </a:pPr>
            <a:r>
              <a:rPr lang="en-US" sz="1500" dirty="0">
                <a:solidFill>
                  <a:schemeClr val="tx1"/>
                </a:solidFill>
              </a:rPr>
              <a:t>MCP servers</a:t>
            </a:r>
            <a:endParaRPr lang="en-US" sz="1500" dirty="0"/>
          </a:p>
        </p:txBody>
      </p:sp>
      <p:pic>
        <p:nvPicPr>
          <p:cNvPr id="12" name="Skills icon" descr="preencoded.png">    </p:cNvPr>
          <p:cNvPicPr>
            <a:picLocks noChangeAspect="1"/>
          </p:cNvPicPr>
          <p:nvPr/>
        </p:nvPicPr>
        <p:blipFill>
          <a:blip r:embed="rId4"/>
          <a:stretch>
            <a:fillRect/>
          </a:stretch>
        </p:blipFill>
        <p:spPr>
          <a:xfrm>
            <a:off x="822960" y="3456432"/>
            <a:ext cx="256032" cy="256032"/>
          </a:xfrm>
          <a:prstGeom prst="rect">
            <a:avLst/>
          </a:prstGeom>
        </p:spPr>
      </p:pic>
      <p:sp>
        <p:nvSpPr>
          <p:cNvPr id="13" name="Text 7"/>
          <p:cNvSpPr txBox="1"/>
          <p:nvPr/>
        </p:nvSpPr>
        <p:spPr>
          <a:xfrm>
            <a:off x="1234440" y="3410712"/>
            <a:ext cx="2194560" cy="347472"/>
          </a:xfrm>
          <a:prstGeom prst="rect">
            <a:avLst/>
          </a:prstGeom>
          <a:noFill/>
          <a:ln/>
        </p:spPr>
        <p:txBody>
          <a:bodyPr wrap="square" lIns="0" tIns="0" rIns="0" bIns="0" rtlCol="0" anchor="ctr"/>
          <a:lstStyle/>
          <a:p>
            <a:pPr indent="0" marL="0">
              <a:buNone/>
            </a:pPr>
            <a:r>
              <a:rPr lang="en-US" sz="1500" dirty="0">
                <a:solidFill>
                  <a:schemeClr val="tx1"/>
                </a:solidFill>
              </a:rPr>
              <a:t>Skills</a:t>
            </a:r>
            <a:endParaRPr lang="en-US" sz="1500" dirty="0"/>
          </a:p>
        </p:txBody>
      </p:sp>
      <p:pic>
        <p:nvPicPr>
          <p:cNvPr id="14" name="Hooks icon" descr="preencoded.png">    </p:cNvPr>
          <p:cNvPicPr>
            <a:picLocks noChangeAspect="1"/>
          </p:cNvPicPr>
          <p:nvPr/>
        </p:nvPicPr>
        <p:blipFill>
          <a:blip r:embed="rId5"/>
          <a:stretch>
            <a:fillRect/>
          </a:stretch>
        </p:blipFill>
        <p:spPr>
          <a:xfrm>
            <a:off x="822960" y="3858768"/>
            <a:ext cx="256032" cy="256032"/>
          </a:xfrm>
          <a:prstGeom prst="rect">
            <a:avLst/>
          </a:prstGeom>
        </p:spPr>
      </p:pic>
      <p:sp>
        <p:nvSpPr>
          <p:cNvPr id="15" name="Text 8"/>
          <p:cNvSpPr txBox="1"/>
          <p:nvPr/>
        </p:nvSpPr>
        <p:spPr>
          <a:xfrm>
            <a:off x="1234440" y="3813048"/>
            <a:ext cx="2194560" cy="347472"/>
          </a:xfrm>
          <a:prstGeom prst="rect">
            <a:avLst/>
          </a:prstGeom>
          <a:noFill/>
          <a:ln/>
        </p:spPr>
        <p:txBody>
          <a:bodyPr wrap="square" lIns="0" tIns="0" rIns="0" bIns="0" rtlCol="0" anchor="ctr"/>
          <a:lstStyle/>
          <a:p>
            <a:pPr indent="0" marL="0">
              <a:buNone/>
            </a:pPr>
            <a:r>
              <a:rPr lang="en-US" sz="1500" dirty="0">
                <a:solidFill>
                  <a:schemeClr val="tx1"/>
                </a:solidFill>
              </a:rPr>
              <a:t>Hooks</a:t>
            </a:r>
            <a:endParaRPr lang="en-US" sz="1500" dirty="0"/>
          </a:p>
        </p:txBody>
      </p:sp>
      <p:pic>
        <p:nvPicPr>
          <p:cNvPr id="16" name="Prompts icon" descr="preencoded.png">    </p:cNvPr>
          <p:cNvPicPr>
            <a:picLocks noChangeAspect="1"/>
          </p:cNvPicPr>
          <p:nvPr/>
        </p:nvPicPr>
        <p:blipFill>
          <a:blip r:embed="rId6"/>
          <a:stretch>
            <a:fillRect/>
          </a:stretch>
        </p:blipFill>
        <p:spPr>
          <a:xfrm>
            <a:off x="822960" y="4261104"/>
            <a:ext cx="256032" cy="256032"/>
          </a:xfrm>
          <a:prstGeom prst="rect">
            <a:avLst/>
          </a:prstGeom>
        </p:spPr>
      </p:pic>
      <p:sp>
        <p:nvSpPr>
          <p:cNvPr id="17" name="Text 9"/>
          <p:cNvSpPr txBox="1"/>
          <p:nvPr/>
        </p:nvSpPr>
        <p:spPr>
          <a:xfrm>
            <a:off x="1234440" y="4215384"/>
            <a:ext cx="2194560" cy="347472"/>
          </a:xfrm>
          <a:prstGeom prst="rect">
            <a:avLst/>
          </a:prstGeom>
          <a:noFill/>
          <a:ln/>
        </p:spPr>
        <p:txBody>
          <a:bodyPr wrap="square" lIns="0" tIns="0" rIns="0" bIns="0" rtlCol="0" anchor="ctr"/>
          <a:lstStyle/>
          <a:p>
            <a:pPr indent="0" marL="0">
              <a:buNone/>
            </a:pPr>
            <a:r>
              <a:rPr lang="en-US" sz="1500" dirty="0">
                <a:solidFill>
                  <a:schemeClr val="tx1"/>
                </a:solidFill>
              </a:rPr>
              <a:t>Prompts</a:t>
            </a:r>
            <a:endParaRPr lang="en-US" sz="1500" dirty="0"/>
          </a:p>
        </p:txBody>
      </p:sp>
      <p:pic>
        <p:nvPicPr>
          <p:cNvPr id="18" name="Sandboxes icon" descr="preencoded.png">    </p:cNvPr>
          <p:cNvPicPr>
            <a:picLocks noChangeAspect="1"/>
          </p:cNvPicPr>
          <p:nvPr/>
        </p:nvPicPr>
        <p:blipFill>
          <a:blip r:embed="rId7"/>
          <a:stretch>
            <a:fillRect/>
          </a:stretch>
        </p:blipFill>
        <p:spPr>
          <a:xfrm>
            <a:off x="822960" y="4663440"/>
            <a:ext cx="256032" cy="256032"/>
          </a:xfrm>
          <a:prstGeom prst="rect">
            <a:avLst/>
          </a:prstGeom>
        </p:spPr>
      </p:pic>
      <p:sp>
        <p:nvSpPr>
          <p:cNvPr id="19" name="Text 10"/>
          <p:cNvSpPr txBox="1"/>
          <p:nvPr/>
        </p:nvSpPr>
        <p:spPr>
          <a:xfrm>
            <a:off x="1234440" y="4617720"/>
            <a:ext cx="2194560" cy="347472"/>
          </a:xfrm>
          <a:prstGeom prst="rect">
            <a:avLst/>
          </a:prstGeom>
          <a:noFill/>
          <a:ln/>
        </p:spPr>
        <p:txBody>
          <a:bodyPr wrap="square" lIns="0" tIns="0" rIns="0" bIns="0" rtlCol="0" anchor="ctr"/>
          <a:lstStyle/>
          <a:p>
            <a:pPr indent="0" marL="0">
              <a:buNone/>
            </a:pPr>
            <a:r>
              <a:rPr lang="en-US" sz="1500" dirty="0">
                <a:solidFill>
                  <a:schemeClr val="tx1"/>
                </a:solidFill>
              </a:rPr>
              <a:t>Sandboxes</a:t>
            </a:r>
            <a:endParaRPr lang="en-US" sz="1500" dirty="0"/>
          </a:p>
        </p:txBody>
      </p:sp>
      <p:sp>
        <p:nvSpPr>
          <p:cNvPr id="20" name="Text 11"/>
          <p:cNvSpPr txBox="1"/>
          <p:nvPr/>
        </p:nvSpPr>
        <p:spPr>
          <a:xfrm>
            <a:off x="777240" y="5029200"/>
            <a:ext cx="2743200" cy="548640"/>
          </a:xfrm>
          <a:prstGeom prst="rect">
            <a:avLst/>
          </a:prstGeom>
          <a:noFill/>
          <a:ln/>
        </p:spPr>
        <p:txBody>
          <a:bodyPr wrap="square" lIns="0" tIns="0" rIns="0" bIns="0" rtlCol="0" anchor="t"/>
          <a:lstStyle/>
          <a:p>
            <a:pPr indent="0" marL="0">
              <a:buNone/>
            </a:pPr>
            <a:r>
              <a:rPr lang="en-US" sz="1300" i="1" dirty="0">
                <a:solidFill>
                  <a:schemeClr val="accent6"/>
                </a:solidFill>
              </a:rPr>
              <a:t>Source of truth for install, review and ownership</a:t>
            </a:r>
            <a:endParaRPr lang="en-US" sz="1300" dirty="0"/>
          </a:p>
        </p:txBody>
      </p:sp>
      <p:sp>
        <p:nvSpPr>
          <p:cNvPr id="21" name="Native to adapters"/>
          <p:cNvSpPr/>
          <p:nvPr/>
        </p:nvSpPr>
        <p:spPr>
          <a:xfrm>
            <a:off x="3794760" y="3657600"/>
            <a:ext cx="411480" cy="0"/>
          </a:xfrm>
          <a:prstGeom prst="line">
            <a:avLst/>
          </a:prstGeom>
          <a:noFill/>
          <a:ln w="25400">
            <a:solidFill>
              <a:srgbClr val="008296"/>
            </a:solidFill>
            <a:prstDash val="solid"/>
            <a:tailEnd type="triangle"/>
          </a:ln>
        </p:spPr>
      </p:sp>
      <p:sp>
        <p:nvSpPr>
          <p:cNvPr id="22" name="Adapters"/>
          <p:cNvSpPr/>
          <p:nvPr/>
        </p:nvSpPr>
        <p:spPr>
          <a:xfrm>
            <a:off x="4297680" y="1691640"/>
            <a:ext cx="3429000" cy="1691640"/>
          </a:xfrm>
          <a:prstGeom prst="roundRect">
            <a:avLst>
              <a:gd name="adj" fmla="val 6486"/>
            </a:avLst>
          </a:prstGeom>
          <a:solidFill>
            <a:schemeClr val="bg2"/>
          </a:solidFill>
          <a:ln/>
        </p:spPr>
      </p:sp>
      <p:sp>
        <p:nvSpPr>
          <p:cNvPr id="23" name="Text 14"/>
          <p:cNvSpPr txBox="1"/>
          <p:nvPr/>
        </p:nvSpPr>
        <p:spPr>
          <a:xfrm>
            <a:off x="4526280" y="18745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Per-kind adapters</a:t>
            </a:r>
            <a:endParaRPr lang="en-US" sz="1700" dirty="0"/>
          </a:p>
        </p:txBody>
      </p:sp>
      <p:sp>
        <p:nvSpPr>
          <p:cNvPr id="24" name="Text 15"/>
          <p:cNvSpPr txBox="1"/>
          <p:nvPr/>
        </p:nvSpPr>
        <p:spPr>
          <a:xfrm>
            <a:off x="4526280" y="2286000"/>
            <a:ext cx="3017520" cy="1005840"/>
          </a:xfrm>
          <a:prstGeom prst="rect">
            <a:avLst/>
          </a:prstGeom>
          <a:noFill/>
          <a:ln/>
        </p:spPr>
        <p:txBody>
          <a:bodyPr wrap="square" lIns="0" tIns="0" rIns="0" bIns="0" rtlCol="0" anchor="t"/>
          <a:lstStyle/>
          <a:p>
            <a:pPr indent="0" marL="0">
              <a:buNone/>
            </a:pPr>
            <a:r>
              <a:rPr lang="en-US" sz="1400" dirty="0">
                <a:solidFill>
                  <a:schemeClr val="accent6"/>
                </a:solidFill>
              </a:rPr>
              <a:t>Turn each approved version into a neutral entry; derive capabilities and representative queries.</a:t>
            </a:r>
            <a:endParaRPr lang="en-US" sz="1400" dirty="0"/>
          </a:p>
        </p:txBody>
      </p:sp>
      <p:sp>
        <p:nvSpPr>
          <p:cNvPr id="25" name="Adapters to read model"/>
          <p:cNvSpPr/>
          <p:nvPr/>
        </p:nvSpPr>
        <p:spPr>
          <a:xfrm>
            <a:off x="6012180" y="3429000"/>
            <a:ext cx="0" cy="411480"/>
          </a:xfrm>
          <a:prstGeom prst="line">
            <a:avLst/>
          </a:prstGeom>
          <a:noFill/>
          <a:ln w="25400">
            <a:solidFill>
              <a:srgbClr val="008296"/>
            </a:solidFill>
            <a:prstDash val="solid"/>
            <a:tailEnd type="triangle"/>
          </a:ln>
        </p:spPr>
      </p:sp>
      <p:sp>
        <p:nvSpPr>
          <p:cNvPr id="26" name="discovery_entries"/>
          <p:cNvSpPr/>
          <p:nvPr/>
        </p:nvSpPr>
        <p:spPr>
          <a:xfrm>
            <a:off x="4297680" y="3931920"/>
            <a:ext cx="3429000" cy="1737360"/>
          </a:xfrm>
          <a:prstGeom prst="roundRect">
            <a:avLst>
              <a:gd name="adj" fmla="val 6316"/>
            </a:avLst>
          </a:prstGeom>
          <a:solidFill>
            <a:schemeClr val="tx2"/>
          </a:solidFill>
          <a:ln/>
        </p:spPr>
      </p:sp>
      <p:sp>
        <p:nvSpPr>
          <p:cNvPr id="27" name="Text 18"/>
          <p:cNvSpPr txBox="1"/>
          <p:nvPr/>
        </p:nvSpPr>
        <p:spPr>
          <a:xfrm>
            <a:off x="4526280" y="4114800"/>
            <a:ext cx="3017520" cy="365760"/>
          </a:xfrm>
          <a:prstGeom prst="rect">
            <a:avLst/>
          </a:prstGeom>
          <a:noFill/>
          <a:ln/>
        </p:spPr>
        <p:txBody>
          <a:bodyPr wrap="square" lIns="0" tIns="0" rIns="0" bIns="0" rtlCol="0" anchor="t"/>
          <a:lstStyle/>
          <a:p>
            <a:pPr indent="0" marL="0">
              <a:buNone/>
            </a:pPr>
            <a:r>
              <a:rPr lang="en-US" sz="1700" b="1" dirty="0">
                <a:solidFill>
                  <a:schemeClr val="bg1"/>
                </a:solidFill>
                <a:latin typeface="Consolas" pitchFamily="34" charset="0"/>
                <a:ea typeface="Consolas" pitchFamily="34" charset="-122"/>
                <a:cs typeface="Consolas" pitchFamily="34" charset="-120"/>
              </a:rPr>
              <a:t>discovery_entries</a:t>
            </a:r>
            <a:endParaRPr lang="en-US" sz="1700" dirty="0"/>
          </a:p>
        </p:txBody>
      </p:sp>
      <p:sp>
        <p:nvSpPr>
          <p:cNvPr id="28" name="Text 19"/>
          <p:cNvSpPr txBox="1"/>
          <p:nvPr/>
        </p:nvSpPr>
        <p:spPr>
          <a:xfrm>
            <a:off x="4526280" y="4526280"/>
            <a:ext cx="3017520" cy="1051560"/>
          </a:xfrm>
          <a:prstGeom prst="rect">
            <a:avLst/>
          </a:prstGeom>
          <a:noFill/>
          <a:ln/>
        </p:spPr>
        <p:txBody>
          <a:bodyPr wrap="square" lIns="0" tIns="0" rIns="0" bIns="0" rtlCol="0" anchor="t"/>
          <a:lstStyle/>
          <a:p>
            <a:pPr indent="0" marL="0">
              <a:buNone/>
            </a:pPr>
            <a:r>
              <a:rPr lang="en-US" sz="1400" dirty="0">
                <a:solidFill>
                  <a:schemeClr val="accent3"/>
                </a:solidFill>
              </a:rPr>
              <a:t>Read model: URN, media type, lifecycle, visibility, search text, content hash</a:t>
            </a:r>
            <a:endParaRPr lang="en-US" sz="1400" dirty="0"/>
          </a:p>
        </p:txBody>
      </p:sp>
      <p:sp>
        <p:nvSpPr>
          <p:cNvPr id="29" name="Read model to consumers"/>
          <p:cNvSpPr/>
          <p:nvPr/>
        </p:nvSpPr>
        <p:spPr>
          <a:xfrm>
            <a:off x="7818120" y="3657600"/>
            <a:ext cx="411480" cy="0"/>
          </a:xfrm>
          <a:prstGeom prst="line">
            <a:avLst/>
          </a:prstGeom>
          <a:noFill/>
          <a:ln w="25400">
            <a:solidFill>
              <a:srgbClr val="008296"/>
            </a:solidFill>
            <a:prstDash val="solid"/>
            <a:tailEnd type="triangle"/>
          </a:ln>
        </p:spPr>
      </p:sp>
      <p:sp>
        <p:nvSpPr>
          <p:cNvPr id="30" name="Consumer 1"/>
          <p:cNvSpPr/>
          <p:nvPr/>
        </p:nvSpPr>
        <p:spPr>
          <a:xfrm>
            <a:off x="8321040" y="1691640"/>
            <a:ext cx="3319272" cy="896112"/>
          </a:xfrm>
          <a:prstGeom prst="roundRect">
            <a:avLst>
              <a:gd name="adj" fmla="val 12245"/>
            </a:avLst>
          </a:prstGeom>
          <a:solidFill>
            <a:schemeClr val="bg2"/>
          </a:solidFill>
          <a:ln/>
        </p:spPr>
      </p:sp>
      <p:sp>
        <p:nvSpPr>
          <p:cNvPr id="31" name="Consumer 1 circle"/>
          <p:cNvSpPr/>
          <p:nvPr/>
        </p:nvSpPr>
        <p:spPr>
          <a:xfrm>
            <a:off x="8503920" y="1892808"/>
            <a:ext cx="502920" cy="502920"/>
          </a:xfrm>
          <a:prstGeom prst="ellipse">
            <a:avLst/>
          </a:prstGeom>
          <a:solidFill>
            <a:schemeClr val="accent1"/>
          </a:solidFill>
          <a:ln/>
        </p:spPr>
      </p:sp>
      <p:pic>
        <p:nvPicPr>
          <p:cNvPr id="32" name="Consumer 1 icon" descr="preencoded.png">    </p:cNvPr>
          <p:cNvPicPr>
            <a:picLocks noChangeAspect="1"/>
          </p:cNvPicPr>
          <p:nvPr/>
        </p:nvPicPr>
        <p:blipFill>
          <a:blip r:embed="rId8"/>
          <a:stretch>
            <a:fillRect/>
          </a:stretch>
        </p:blipFill>
        <p:spPr>
          <a:xfrm>
            <a:off x="8624621" y="2013509"/>
            <a:ext cx="261518" cy="261518"/>
          </a:xfrm>
          <a:prstGeom prst="rect">
            <a:avLst/>
          </a:prstGeom>
        </p:spPr>
      </p:pic>
      <p:sp>
        <p:nvSpPr>
          <p:cNvPr id="33" name="Text 23"/>
          <p:cNvSpPr txBox="1"/>
          <p:nvPr/>
        </p:nvSpPr>
        <p:spPr>
          <a:xfrm>
            <a:off x="9144000" y="1691640"/>
            <a:ext cx="2377440" cy="896112"/>
          </a:xfrm>
          <a:prstGeom prst="rect">
            <a:avLst/>
          </a:prstGeom>
          <a:noFill/>
          <a:ln/>
        </p:spPr>
        <p:txBody>
          <a:bodyPr wrap="square" lIns="0" tIns="0" rIns="0" bIns="0" rtlCol="0" anchor="ctr"/>
          <a:lstStyle/>
          <a:p>
            <a:pPr indent="0" marL="0">
              <a:buNone/>
            </a:pPr>
            <a:r>
              <a:rPr lang="en-US" sz="1500" b="1" dirty="0">
                <a:solidFill>
                  <a:schemeClr val="tx1"/>
                </a:solidFill>
              </a:rPr>
              <a:t>/.well-known/ard.json manifest</a:t>
            </a:r>
            <a:endParaRPr lang="en-US" sz="1500" dirty="0"/>
          </a:p>
        </p:txBody>
      </p:sp>
      <p:sp>
        <p:nvSpPr>
          <p:cNvPr id="34" name="Consumer 2"/>
          <p:cNvSpPr/>
          <p:nvPr/>
        </p:nvSpPr>
        <p:spPr>
          <a:xfrm>
            <a:off x="8321040" y="2715768"/>
            <a:ext cx="3319272" cy="896112"/>
          </a:xfrm>
          <a:prstGeom prst="roundRect">
            <a:avLst>
              <a:gd name="adj" fmla="val 12245"/>
            </a:avLst>
          </a:prstGeom>
          <a:solidFill>
            <a:schemeClr val="bg2"/>
          </a:solidFill>
          <a:ln/>
        </p:spPr>
      </p:sp>
      <p:sp>
        <p:nvSpPr>
          <p:cNvPr id="35" name="Consumer 2 circle"/>
          <p:cNvSpPr/>
          <p:nvPr/>
        </p:nvSpPr>
        <p:spPr>
          <a:xfrm>
            <a:off x="8503920" y="2916936"/>
            <a:ext cx="502920" cy="502920"/>
          </a:xfrm>
          <a:prstGeom prst="ellipse">
            <a:avLst/>
          </a:prstGeom>
          <a:solidFill>
            <a:schemeClr val="accent1"/>
          </a:solidFill>
          <a:ln/>
        </p:spPr>
      </p:sp>
      <p:pic>
        <p:nvPicPr>
          <p:cNvPr id="36" name="Consumer 2 icon" descr="preencoded.png">    </p:cNvPr>
          <p:cNvPicPr>
            <a:picLocks noChangeAspect="1"/>
          </p:cNvPicPr>
          <p:nvPr/>
        </p:nvPicPr>
        <p:blipFill>
          <a:blip r:embed="rId9"/>
          <a:stretch>
            <a:fillRect/>
          </a:stretch>
        </p:blipFill>
        <p:spPr>
          <a:xfrm>
            <a:off x="8624621" y="3037637"/>
            <a:ext cx="261518" cy="261518"/>
          </a:xfrm>
          <a:prstGeom prst="rect">
            <a:avLst/>
          </a:prstGeom>
        </p:spPr>
      </p:pic>
      <p:sp>
        <p:nvSpPr>
          <p:cNvPr id="37" name="Text 26"/>
          <p:cNvSpPr txBox="1"/>
          <p:nvPr/>
        </p:nvSpPr>
        <p:spPr>
          <a:xfrm>
            <a:off x="9144000" y="2715768"/>
            <a:ext cx="2377440" cy="896112"/>
          </a:xfrm>
          <a:prstGeom prst="rect">
            <a:avLst/>
          </a:prstGeom>
          <a:noFill/>
          <a:ln/>
        </p:spPr>
        <p:txBody>
          <a:bodyPr wrap="square" lIns="0" tIns="0" rIns="0" bIns="0" rtlCol="0" anchor="ctr"/>
          <a:lstStyle/>
          <a:p>
            <a:pPr indent="0" marL="0">
              <a:buNone/>
            </a:pPr>
            <a:r>
              <a:rPr lang="en-US" sz="1500" b="1" dirty="0">
                <a:solidFill>
                  <a:schemeClr val="tx1"/>
                </a:solidFill>
              </a:rPr>
              <a:t>ARD Search and List API</a:t>
            </a:r>
            <a:endParaRPr lang="en-US" sz="1500" dirty="0"/>
          </a:p>
        </p:txBody>
      </p:sp>
      <p:sp>
        <p:nvSpPr>
          <p:cNvPr id="38" name="Consumer 3"/>
          <p:cNvSpPr/>
          <p:nvPr/>
        </p:nvSpPr>
        <p:spPr>
          <a:xfrm>
            <a:off x="8321040" y="3739896"/>
            <a:ext cx="3319272" cy="896112"/>
          </a:xfrm>
          <a:prstGeom prst="roundRect">
            <a:avLst>
              <a:gd name="adj" fmla="val 12245"/>
            </a:avLst>
          </a:prstGeom>
          <a:solidFill>
            <a:schemeClr val="bg2"/>
          </a:solidFill>
          <a:ln/>
        </p:spPr>
      </p:sp>
      <p:sp>
        <p:nvSpPr>
          <p:cNvPr id="39" name="Consumer 3 circle"/>
          <p:cNvSpPr/>
          <p:nvPr/>
        </p:nvSpPr>
        <p:spPr>
          <a:xfrm>
            <a:off x="8503920" y="3941064"/>
            <a:ext cx="502920" cy="502920"/>
          </a:xfrm>
          <a:prstGeom prst="ellipse">
            <a:avLst/>
          </a:prstGeom>
          <a:solidFill>
            <a:schemeClr val="accent1"/>
          </a:solidFill>
          <a:ln/>
        </p:spPr>
      </p:sp>
      <p:pic>
        <p:nvPicPr>
          <p:cNvPr id="40" name="Consumer 3 icon" descr="preencoded.png">    </p:cNvPr>
          <p:cNvPicPr>
            <a:picLocks noChangeAspect="1"/>
          </p:cNvPicPr>
          <p:nvPr/>
        </p:nvPicPr>
        <p:blipFill>
          <a:blip r:embed="rId10"/>
          <a:stretch>
            <a:fillRect/>
          </a:stretch>
        </p:blipFill>
        <p:spPr>
          <a:xfrm>
            <a:off x="8624621" y="4061765"/>
            <a:ext cx="261518" cy="261518"/>
          </a:xfrm>
          <a:prstGeom prst="rect">
            <a:avLst/>
          </a:prstGeom>
        </p:spPr>
      </p:pic>
      <p:sp>
        <p:nvSpPr>
          <p:cNvPr id="41" name="Text 29"/>
          <p:cNvSpPr txBox="1"/>
          <p:nvPr/>
        </p:nvSpPr>
        <p:spPr>
          <a:xfrm>
            <a:off x="9144000" y="3739896"/>
            <a:ext cx="2377440" cy="896112"/>
          </a:xfrm>
          <a:prstGeom prst="rect">
            <a:avLst/>
          </a:prstGeom>
          <a:noFill/>
          <a:ln/>
        </p:spPr>
        <p:txBody>
          <a:bodyPr wrap="square" lIns="0" tIns="0" rIns="0" bIns="0" rtlCol="0" anchor="ctr"/>
          <a:lstStyle/>
          <a:p>
            <a:pPr indent="0" marL="0">
              <a:buNone/>
            </a:pPr>
            <a:r>
              <a:rPr lang="en-US" sz="1500" b="1" dirty="0">
                <a:solidFill>
                  <a:schemeClr val="tx1"/>
                </a:solidFill>
              </a:rPr>
              <a:t>Permanent artifacts with digests</a:t>
            </a:r>
            <a:endParaRPr lang="en-US" sz="1500" dirty="0"/>
          </a:p>
        </p:txBody>
      </p:sp>
      <p:sp>
        <p:nvSpPr>
          <p:cNvPr id="42" name="Consumer 4"/>
          <p:cNvSpPr/>
          <p:nvPr/>
        </p:nvSpPr>
        <p:spPr>
          <a:xfrm>
            <a:off x="8321040" y="4764024"/>
            <a:ext cx="3319272" cy="896112"/>
          </a:xfrm>
          <a:prstGeom prst="roundRect">
            <a:avLst>
              <a:gd name="adj" fmla="val 12245"/>
            </a:avLst>
          </a:prstGeom>
          <a:solidFill>
            <a:schemeClr val="bg2"/>
          </a:solidFill>
          <a:ln/>
        </p:spPr>
      </p:sp>
      <p:sp>
        <p:nvSpPr>
          <p:cNvPr id="43" name="Consumer 4 circle"/>
          <p:cNvSpPr/>
          <p:nvPr/>
        </p:nvSpPr>
        <p:spPr>
          <a:xfrm>
            <a:off x="8503920" y="4965192"/>
            <a:ext cx="502920" cy="502920"/>
          </a:xfrm>
          <a:prstGeom prst="ellipse">
            <a:avLst/>
          </a:prstGeom>
          <a:solidFill>
            <a:schemeClr val="accent1"/>
          </a:solidFill>
          <a:ln/>
        </p:spPr>
      </p:sp>
      <p:pic>
        <p:nvPicPr>
          <p:cNvPr id="44" name="Consumer 4 icon" descr="preencoded.png">    </p:cNvPr>
          <p:cNvPicPr>
            <a:picLocks noChangeAspect="1"/>
          </p:cNvPicPr>
          <p:nvPr/>
        </p:nvPicPr>
        <p:blipFill>
          <a:blip r:embed="rId11"/>
          <a:stretch>
            <a:fillRect/>
          </a:stretch>
        </p:blipFill>
        <p:spPr>
          <a:xfrm>
            <a:off x="8624621" y="5085893"/>
            <a:ext cx="261518" cy="261518"/>
          </a:xfrm>
          <a:prstGeom prst="rect">
            <a:avLst/>
          </a:prstGeom>
        </p:spPr>
      </p:pic>
      <p:sp>
        <p:nvSpPr>
          <p:cNvPr id="45" name="Text 32"/>
          <p:cNvSpPr txBox="1"/>
          <p:nvPr/>
        </p:nvSpPr>
        <p:spPr>
          <a:xfrm>
            <a:off x="9144000" y="4764024"/>
            <a:ext cx="2377440" cy="896112"/>
          </a:xfrm>
          <a:prstGeom prst="rect">
            <a:avLst/>
          </a:prstGeom>
          <a:noFill/>
          <a:ln/>
        </p:spPr>
        <p:txBody>
          <a:bodyPr wrap="square" lIns="0" tIns="0" rIns="0" bIns="0" rtlCol="0" anchor="ctr"/>
          <a:lstStyle/>
          <a:p>
            <a:pPr indent="0" marL="0">
              <a:buNone/>
            </a:pPr>
            <a:r>
              <a:rPr lang="en-US" sz="1500" b="1" dirty="0">
                <a:solidFill>
                  <a:schemeClr val="tx1"/>
                </a:solidFill>
              </a:rPr>
              <a:t>CLI, Discover page, bundled skill</a:t>
            </a:r>
            <a:endParaRPr lang="en-US" sz="1500" dirty="0"/>
          </a:p>
        </p:txBody>
      </p:sp>
      <p:sp>
        <p:nvSpPr>
          <p:cNvPr id="46" name="Text 33"/>
          <p:cNvSpPr txBox="1"/>
          <p:nvPr/>
        </p:nvSpPr>
        <p:spPr>
          <a:xfrm>
            <a:off x="548640" y="5852160"/>
            <a:ext cx="11091672" cy="365760"/>
          </a:xfrm>
          <a:prstGeom prst="rect">
            <a:avLst/>
          </a:prstGeom>
          <a:noFill/>
          <a:ln/>
        </p:spPr>
        <p:txBody>
          <a:bodyPr wrap="square" lIns="0" tIns="0" rIns="0" bIns="0" rtlCol="0" anchor="t"/>
          <a:lstStyle/>
          <a:p>
            <a:pPr indent="0" marL="0">
              <a:buNone/>
            </a:pPr>
            <a:r>
              <a:rPr lang="en-US" sz="1500" i="1" dirty="0">
                <a:solidFill>
                  <a:schemeClr val="accent6"/>
                </a:solidFill>
              </a:rPr>
              <a:t>Nothing was replaced: /api/v1/agents and every component contract are unchanged.</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KEEPING THE INDEX FRESH</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One pure function keeps the index fresh</a:t>
            </a:r>
            <a:endParaRPr lang="en-US" sz="3600" dirty="0"/>
          </a:p>
        </p:txBody>
      </p:sp>
      <p:sp>
        <p:nvSpPr>
          <p:cNvPr id="4" name="On every change card"/>
          <p:cNvSpPr/>
          <p:nvPr/>
        </p:nvSpPr>
        <p:spPr>
          <a:xfrm>
            <a:off x="548640" y="1691640"/>
            <a:ext cx="3575304" cy="2926080"/>
          </a:xfrm>
          <a:prstGeom prst="roundRect">
            <a:avLst>
              <a:gd name="adj" fmla="val 3750"/>
            </a:avLst>
          </a:prstGeom>
          <a:solidFill>
            <a:schemeClr val="bg2"/>
          </a:solidFill>
          <a:ln/>
        </p:spPr>
      </p:sp>
      <p:sp>
        <p:nvSpPr>
          <p:cNvPr id="5" name="On every change circle"/>
          <p:cNvSpPr/>
          <p:nvPr/>
        </p:nvSpPr>
        <p:spPr>
          <a:xfrm>
            <a:off x="822960" y="1920240"/>
            <a:ext cx="594360" cy="594360"/>
          </a:xfrm>
          <a:prstGeom prst="ellipse">
            <a:avLst/>
          </a:prstGeom>
          <a:solidFill>
            <a:schemeClr val="accent1"/>
          </a:solidFill>
          <a:ln/>
        </p:spPr>
      </p:sp>
      <p:pic>
        <p:nvPicPr>
          <p:cNvPr id="6" name="On every change icon" descr="preencoded.png">    </p:cNvPr>
          <p:cNvPicPr>
            <a:picLocks noChangeAspect="1"/>
          </p:cNvPicPr>
          <p:nvPr/>
        </p:nvPicPr>
        <p:blipFill>
          <a:blip r:embed="rId1"/>
          <a:stretch>
            <a:fillRect/>
          </a:stretch>
        </p:blipFill>
        <p:spPr>
          <a:xfrm>
            <a:off x="965606" y="2062886"/>
            <a:ext cx="309067" cy="309067"/>
          </a:xfrm>
          <a:prstGeom prst="rect">
            <a:avLst/>
          </a:prstGeom>
        </p:spPr>
      </p:pic>
      <p:sp>
        <p:nvSpPr>
          <p:cNvPr id="7" name="Text 4"/>
          <p:cNvSpPr txBox="1"/>
          <p:nvPr/>
        </p:nvSpPr>
        <p:spPr>
          <a:xfrm>
            <a:off x="822960" y="2651760"/>
            <a:ext cx="3017520" cy="384048"/>
          </a:xfrm>
          <a:prstGeom prst="rect">
            <a:avLst/>
          </a:prstGeom>
          <a:noFill/>
          <a:ln/>
        </p:spPr>
        <p:txBody>
          <a:bodyPr wrap="square" lIns="0" tIns="0" rIns="0" bIns="0" rtlCol="0" anchor="t"/>
          <a:lstStyle/>
          <a:p>
            <a:pPr indent="0" marL="0">
              <a:buNone/>
            </a:pPr>
            <a:r>
              <a:rPr lang="en-US" sz="1800" b="1" dirty="0">
                <a:solidFill>
                  <a:schemeClr val="tx1"/>
                </a:solidFill>
              </a:rPr>
              <a:t>On every change</a:t>
            </a:r>
            <a:endParaRPr lang="en-US" sz="1800" dirty="0"/>
          </a:p>
        </p:txBody>
      </p:sp>
      <p:sp>
        <p:nvSpPr>
          <p:cNvPr id="8" name="Text 5"/>
          <p:cNvSpPr txBox="1"/>
          <p:nvPr/>
        </p:nvSpPr>
        <p:spPr>
          <a:xfrm>
            <a:off x="822960" y="3063240"/>
            <a:ext cx="3063240" cy="1508760"/>
          </a:xfrm>
          <a:prstGeom prst="rect">
            <a:avLst/>
          </a:prstGeom>
          <a:noFill/>
          <a:ln/>
        </p:spPr>
        <p:txBody>
          <a:bodyPr wrap="square" lIns="0" tIns="0" rIns="0" bIns="0" rtlCol="0" anchor="t"/>
          <a:lstStyle/>
          <a:p>
            <a:pPr indent="0" marL="0">
              <a:buNone/>
            </a:pPr>
            <a:r>
              <a:rPr lang="en-US" sz="1400" dirty="0">
                <a:solidFill>
                  <a:schemeClr val="accent6"/>
                </a:solidFill>
              </a:rPr>
              <a:t>A session listener sees listing and version rows flush (approve, reject, archive, publish, edit, delete) and reprojects just those after the outermost commit.</a:t>
            </a:r>
            <a:endParaRPr lang="en-US" sz="1400" dirty="0"/>
          </a:p>
        </p:txBody>
      </p:sp>
      <p:sp>
        <p:nvSpPr>
          <p:cNvPr id="9" name="On every change to project_entity"/>
          <p:cNvSpPr/>
          <p:nvPr/>
        </p:nvSpPr>
        <p:spPr>
          <a:xfrm>
            <a:off x="2336292" y="4663440"/>
            <a:ext cx="2442820" cy="365760"/>
          </a:xfrm>
          <a:prstGeom prst="line">
            <a:avLst/>
          </a:prstGeom>
          <a:noFill/>
          <a:ln w="25400">
            <a:solidFill>
              <a:srgbClr val="008296"/>
            </a:solidFill>
            <a:prstDash val="solid"/>
            <a:tailEnd type="triangle"/>
          </a:ln>
        </p:spPr>
      </p:sp>
      <p:sp>
        <p:nvSpPr>
          <p:cNvPr id="10" name="Safety-net cron card"/>
          <p:cNvSpPr/>
          <p:nvPr/>
        </p:nvSpPr>
        <p:spPr>
          <a:xfrm>
            <a:off x="4306824" y="1691640"/>
            <a:ext cx="3575304" cy="2926080"/>
          </a:xfrm>
          <a:prstGeom prst="roundRect">
            <a:avLst>
              <a:gd name="adj" fmla="val 3750"/>
            </a:avLst>
          </a:prstGeom>
          <a:solidFill>
            <a:schemeClr val="bg2"/>
          </a:solidFill>
          <a:ln/>
        </p:spPr>
      </p:sp>
      <p:sp>
        <p:nvSpPr>
          <p:cNvPr id="11" name="Safety-net cron circle"/>
          <p:cNvSpPr/>
          <p:nvPr/>
        </p:nvSpPr>
        <p:spPr>
          <a:xfrm>
            <a:off x="4581144" y="1920240"/>
            <a:ext cx="594360" cy="594360"/>
          </a:xfrm>
          <a:prstGeom prst="ellipse">
            <a:avLst/>
          </a:prstGeom>
          <a:solidFill>
            <a:schemeClr val="accent1"/>
          </a:solidFill>
          <a:ln/>
        </p:spPr>
      </p:sp>
      <p:pic>
        <p:nvPicPr>
          <p:cNvPr id="12" name="Safety-net cron icon" descr="preencoded.png">    </p:cNvPr>
          <p:cNvPicPr>
            <a:picLocks noChangeAspect="1"/>
          </p:cNvPicPr>
          <p:nvPr/>
        </p:nvPicPr>
        <p:blipFill>
          <a:blip r:embed="rId2"/>
          <a:stretch>
            <a:fillRect/>
          </a:stretch>
        </p:blipFill>
        <p:spPr>
          <a:xfrm>
            <a:off x="4723790" y="2062886"/>
            <a:ext cx="309067" cy="309067"/>
          </a:xfrm>
          <a:prstGeom prst="rect">
            <a:avLst/>
          </a:prstGeom>
        </p:spPr>
      </p:pic>
      <p:sp>
        <p:nvSpPr>
          <p:cNvPr id="13" name="Text 9"/>
          <p:cNvSpPr txBox="1"/>
          <p:nvPr/>
        </p:nvSpPr>
        <p:spPr>
          <a:xfrm>
            <a:off x="4581144" y="2651760"/>
            <a:ext cx="3017520" cy="384048"/>
          </a:xfrm>
          <a:prstGeom prst="rect">
            <a:avLst/>
          </a:prstGeom>
          <a:noFill/>
          <a:ln/>
        </p:spPr>
        <p:txBody>
          <a:bodyPr wrap="square" lIns="0" tIns="0" rIns="0" bIns="0" rtlCol="0" anchor="t"/>
          <a:lstStyle/>
          <a:p>
            <a:pPr indent="0" marL="0">
              <a:buNone/>
            </a:pPr>
            <a:r>
              <a:rPr lang="en-US" sz="1800" b="1" dirty="0">
                <a:solidFill>
                  <a:schemeClr val="tx1"/>
                </a:solidFill>
              </a:rPr>
              <a:t>Safety-net cron</a:t>
            </a:r>
            <a:endParaRPr lang="en-US" sz="1800" dirty="0"/>
          </a:p>
        </p:txBody>
      </p:sp>
      <p:sp>
        <p:nvSpPr>
          <p:cNvPr id="14" name="Text 10"/>
          <p:cNvSpPr txBox="1"/>
          <p:nvPr/>
        </p:nvSpPr>
        <p:spPr>
          <a:xfrm>
            <a:off x="4581144" y="3063240"/>
            <a:ext cx="3063240" cy="1508760"/>
          </a:xfrm>
          <a:prstGeom prst="rect">
            <a:avLst/>
          </a:prstGeom>
          <a:noFill/>
          <a:ln/>
        </p:spPr>
        <p:txBody>
          <a:bodyPr wrap="square" lIns="0" tIns="0" rIns="0" bIns="0" rtlCol="0" anchor="t"/>
          <a:lstStyle/>
          <a:p>
            <a:pPr indent="0" marL="0">
              <a:buNone/>
            </a:pPr>
            <a:r>
              <a:rPr lang="en-US" sz="1400" dirty="0">
                <a:solidFill>
                  <a:schemeClr val="accent6"/>
                </a:solidFill>
              </a:rPr>
              <a:t>The worker reprojects everything four times a day. Unchanged rows only get last_seen_at touched; removed ones are tombstoned.</a:t>
            </a:r>
            <a:endParaRPr lang="en-US" sz="1400" dirty="0"/>
          </a:p>
        </p:txBody>
      </p:sp>
      <p:sp>
        <p:nvSpPr>
          <p:cNvPr id="15" name="Safety-net cron to project_entity"/>
          <p:cNvSpPr/>
          <p:nvPr/>
        </p:nvSpPr>
        <p:spPr>
          <a:xfrm>
            <a:off x="6094476" y="4663440"/>
            <a:ext cx="0" cy="365760"/>
          </a:xfrm>
          <a:prstGeom prst="line">
            <a:avLst/>
          </a:prstGeom>
          <a:noFill/>
          <a:ln w="25400">
            <a:solidFill>
              <a:srgbClr val="008296"/>
            </a:solidFill>
            <a:prstDash val="solid"/>
            <a:tailEnd type="triangle"/>
          </a:ln>
        </p:spPr>
      </p:sp>
      <p:sp>
        <p:nvSpPr>
          <p:cNvPr id="16" name="First-boot backfill card"/>
          <p:cNvSpPr/>
          <p:nvPr/>
        </p:nvSpPr>
        <p:spPr>
          <a:xfrm>
            <a:off x="8065008" y="1691640"/>
            <a:ext cx="3575304" cy="2926080"/>
          </a:xfrm>
          <a:prstGeom prst="roundRect">
            <a:avLst>
              <a:gd name="adj" fmla="val 3750"/>
            </a:avLst>
          </a:prstGeom>
          <a:solidFill>
            <a:schemeClr val="bg2"/>
          </a:solidFill>
          <a:ln/>
        </p:spPr>
      </p:sp>
      <p:sp>
        <p:nvSpPr>
          <p:cNvPr id="17" name="First-boot backfill circle"/>
          <p:cNvSpPr/>
          <p:nvPr/>
        </p:nvSpPr>
        <p:spPr>
          <a:xfrm>
            <a:off x="8339328" y="1920240"/>
            <a:ext cx="594360" cy="594360"/>
          </a:xfrm>
          <a:prstGeom prst="ellipse">
            <a:avLst/>
          </a:prstGeom>
          <a:solidFill>
            <a:schemeClr val="accent1"/>
          </a:solidFill>
          <a:ln/>
        </p:spPr>
      </p:sp>
      <p:pic>
        <p:nvPicPr>
          <p:cNvPr id="18" name="First-boot backfill icon" descr="preencoded.png">    </p:cNvPr>
          <p:cNvPicPr>
            <a:picLocks noChangeAspect="1"/>
          </p:cNvPicPr>
          <p:nvPr/>
        </p:nvPicPr>
        <p:blipFill>
          <a:blip r:embed="rId3"/>
          <a:stretch>
            <a:fillRect/>
          </a:stretch>
        </p:blipFill>
        <p:spPr>
          <a:xfrm>
            <a:off x="8481974" y="2062886"/>
            <a:ext cx="309067" cy="309067"/>
          </a:xfrm>
          <a:prstGeom prst="rect">
            <a:avLst/>
          </a:prstGeom>
        </p:spPr>
      </p:pic>
      <p:sp>
        <p:nvSpPr>
          <p:cNvPr id="19" name="Text 14"/>
          <p:cNvSpPr txBox="1"/>
          <p:nvPr/>
        </p:nvSpPr>
        <p:spPr>
          <a:xfrm>
            <a:off x="8339328" y="2651760"/>
            <a:ext cx="3017520" cy="384048"/>
          </a:xfrm>
          <a:prstGeom prst="rect">
            <a:avLst/>
          </a:prstGeom>
          <a:noFill/>
          <a:ln/>
        </p:spPr>
        <p:txBody>
          <a:bodyPr wrap="square" lIns="0" tIns="0" rIns="0" bIns="0" rtlCol="0" anchor="t"/>
          <a:lstStyle/>
          <a:p>
            <a:pPr indent="0" marL="0">
              <a:buNone/>
            </a:pPr>
            <a:r>
              <a:rPr lang="en-US" sz="1800" b="1" dirty="0">
                <a:solidFill>
                  <a:schemeClr val="tx1"/>
                </a:solidFill>
              </a:rPr>
              <a:t>First-boot backfill</a:t>
            </a:r>
            <a:endParaRPr lang="en-US" sz="1800" dirty="0"/>
          </a:p>
        </p:txBody>
      </p:sp>
      <p:sp>
        <p:nvSpPr>
          <p:cNvPr id="20" name="Text 15"/>
          <p:cNvSpPr txBox="1"/>
          <p:nvPr/>
        </p:nvSpPr>
        <p:spPr>
          <a:xfrm>
            <a:off x="8339328" y="3063240"/>
            <a:ext cx="3063240" cy="1508760"/>
          </a:xfrm>
          <a:prstGeom prst="rect">
            <a:avLst/>
          </a:prstGeom>
          <a:noFill/>
          <a:ln/>
        </p:spPr>
        <p:txBody>
          <a:bodyPr wrap="square" lIns="0" tIns="0" rIns="0" bIns="0" rtlCol="0" anchor="t"/>
          <a:lstStyle/>
          <a:p>
            <a:pPr indent="0" marL="0">
              <a:buNone/>
            </a:pPr>
            <a:r>
              <a:rPr lang="en-US" sz="1400" dirty="0">
                <a:solidFill>
                  <a:schemeClr val="accent6"/>
                </a:solidFill>
              </a:rPr>
              <a:t>An empty index is backfilled in the background, so a large registry never delays startup.</a:t>
            </a:r>
            <a:endParaRPr lang="en-US" sz="1400" dirty="0"/>
          </a:p>
        </p:txBody>
      </p:sp>
      <p:sp>
        <p:nvSpPr>
          <p:cNvPr id="21" name="First-boot backfill to project_entity"/>
          <p:cNvSpPr/>
          <p:nvPr/>
        </p:nvSpPr>
        <p:spPr>
          <a:xfrm flipH="1">
            <a:off x="7409840" y="4663440"/>
            <a:ext cx="2442820" cy="365760"/>
          </a:xfrm>
          <a:prstGeom prst="line">
            <a:avLst/>
          </a:prstGeom>
          <a:noFill/>
          <a:ln w="25400">
            <a:solidFill>
              <a:srgbClr val="008296"/>
            </a:solidFill>
            <a:prstDash val="solid"/>
            <a:tailEnd type="triangle"/>
          </a:ln>
        </p:spPr>
      </p:sp>
      <p:sp>
        <p:nvSpPr>
          <p:cNvPr id="22" name="project_entity pill"/>
          <p:cNvSpPr/>
          <p:nvPr/>
        </p:nvSpPr>
        <p:spPr>
          <a:xfrm>
            <a:off x="2377440" y="5074920"/>
            <a:ext cx="7434072" cy="868680"/>
          </a:xfrm>
          <a:prstGeom prst="roundRect">
            <a:avLst>
              <a:gd name="adj" fmla="val 49474"/>
            </a:avLst>
          </a:prstGeom>
          <a:solidFill>
            <a:schemeClr val="tx2"/>
          </a:solidFill>
          <a:ln/>
        </p:spPr>
      </p:sp>
      <p:sp>
        <p:nvSpPr>
          <p:cNvPr id="23" name="Text 18"/>
          <p:cNvSpPr txBox="1"/>
          <p:nvPr/>
        </p:nvSpPr>
        <p:spPr>
          <a:xfrm>
            <a:off x="2651760" y="5074920"/>
            <a:ext cx="6949440" cy="868680"/>
          </a:xfrm>
          <a:prstGeom prst="rect">
            <a:avLst/>
          </a:prstGeom>
          <a:noFill/>
          <a:ln/>
        </p:spPr>
        <p:txBody>
          <a:bodyPr wrap="square" lIns="0" tIns="0" rIns="0" bIns="0" rtlCol="0" anchor="ctr"/>
          <a:lstStyle/>
          <a:p>
            <a:pPr algn="ctr" indent="0" marL="0">
              <a:buNone/>
            </a:pPr>
            <a:r>
              <a:rPr lang="en-US" sz="1700" b="1" dirty="0">
                <a:solidFill>
                  <a:schemeClr val="accent2"/>
                </a:solidFill>
                <a:latin typeface="Consolas" pitchFamily="34" charset="0"/>
                <a:ea typeface="Consolas" pitchFamily="34" charset="-122"/>
                <a:cs typeface="Consolas" pitchFamily="34" charset="-120"/>
              </a:rPr>
              <a:t>project_entity()</a:t>
            </a:r>
            <a:pPr algn="ctr" indent="0" marL="0">
              <a:buNone/>
            </a:pPr>
            <a:r>
              <a:rPr lang="en-US" sz="1700" dirty="0">
                <a:solidFill>
                  <a:schemeClr val="bg1"/>
                </a:solidFill>
              </a:rPr>
              <a:t>   same rows in → same URN and content hash out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API</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The ARD API surface in Observal</a:t>
            </a:r>
            <a:endParaRPr lang="en-US" sz="3600" dirty="0"/>
          </a:p>
        </p:txBody>
      </p:sp>
      <p:graphicFrame>
        <p:nvGraphicFramePr>
          <p:cNvPr id="12" name="Endpoint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4526280"/>
                <a:gridCol w="5056632"/>
                <a:gridCol w="1508760"/>
              </a:tblGrid>
              <a:tr h="475488">
                <a:tc>
                  <a:txBody>
                    <a:bodyPr/>
                    <a:lstStyle/>
                    <a:p>
                      <a:pPr indent="0" marL="0">
                        <a:buNone/>
                      </a:pPr>
                      <a:r>
                        <a:rPr lang="en-US" sz="1400" b="1" dirty="0">
                          <a:solidFill>
                            <a:schemeClr val="bg1"/>
                          </a:solidFill>
                        </a:rPr>
                        <a:t>Endpoint</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does</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Defined by</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tx2"/>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/.well-known/ard.json</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Manifest: the registry entry plus every public, approved resource</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ARD spec</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/.well-known/ai-catalog.json</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Predecessor path, same document</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ARD spec</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POST /api/v1/ard/search</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Search: ranked results, each with matchedOn</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ARD spec</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/api/v1/ard/agents</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List: deterministic, paginated browse</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ARD spec</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POST /api/v1/ard/explore</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Explore (facets): answers 501 until it ships</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ARD spec</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/api/v1/ard/entries/{urn}</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complete entry, for the CLI and web UI</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5"/>
                          </a:solidFill>
                        </a:rPr>
                        <a:t>Observal</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2"/>
                    </a:solidFill>
                  </a:tcPr>
                </a:tc>
              </a:tr>
              <a:tr h="47548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/api/v1/artifacts/{kind}/{uuid}/{ver}</a:t>
                      </a:r>
                      <a:endParaRPr lang="en-US" sz="1300" dirty="0">
                        <a:latin typeface="Consolas" charset="0"/>
                        <a:ea typeface="Consolas" charset="0"/>
                        <a:cs typeface="Consolas" charset="0"/>
                      </a:endParaRPr>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Exact bytes + Digest header, cached as immutable</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5"/>
                          </a:solidFill>
                        </a:rPr>
                        <a:t>Observal</a:t>
                      </a:r>
                      <a:endParaRPr lang="en-US" sz="1400" dirty="0"/>
                    </a:p>
                  </a:txBody>
                  <a:tcPr marL="109728" marR="109728" marT="0" marB="0" anchor="ctr">
                    <a:lnL w="9525" cap="flat" cmpd="sng" algn="ctr">
                      <a:solidFill>
                        <a:srgbClr val="D5E3E7"/>
                      </a:solidFill>
                      <a:prstDash val="solid"/>
                      <a:round/>
                      <a:headEnd type="none" w="med" len="med"/>
                      <a:tailEnd type="none" w="med" len="med"/>
                    </a:lnL>
                    <a:lnR w="9525" cap="flat" cmpd="sng" algn="ctr">
                      <a:solidFill>
                        <a:srgbClr val="D5E3E7"/>
                      </a:solidFill>
                      <a:prstDash val="solid"/>
                      <a:round/>
                      <a:headEnd type="none" w="med" len="med"/>
                      <a:tailEnd type="none" w="med" len="med"/>
                    </a:lnR>
                    <a:lnT w="9525" cap="flat" cmpd="sng" algn="ctr">
                      <a:solidFill>
                        <a:srgbClr val="D5E3E7"/>
                      </a:solidFill>
                      <a:prstDash val="solid"/>
                      <a:round/>
                      <a:headEnd type="none" w="med" len="med"/>
                      <a:tailEnd type="none" w="med" len="med"/>
                    </a:lnT>
                    <a:lnB w="9525" cap="flat" cmpd="sng" algn="ctr">
                      <a:solidFill>
                        <a:srgbClr val="D5E3E7"/>
                      </a:solidFill>
                      <a:prstDash val="solid"/>
                      <a:round/>
                      <a:headEnd type="none" w="med" len="med"/>
                      <a:tailEnd type="none" w="med" len="med"/>
                    </a:lnB>
                    <a:solidFill>
                      <a:schemeClr val="bg1"/>
                    </a:solidFill>
                  </a:tcPr>
                </a:tc>
              </a:tr>
            </a:tbl>
          </a:graphicData>
        </a:graphic>
      </p:graphicFrame>
      <p:sp>
        <p:nvSpPr>
          <p:cNvPr id="5" name="Auth note circle"/>
          <p:cNvSpPr/>
          <p:nvPr/>
        </p:nvSpPr>
        <p:spPr>
          <a:xfrm>
            <a:off x="548640" y="5623560"/>
            <a:ext cx="457200" cy="457200"/>
          </a:xfrm>
          <a:prstGeom prst="ellipse">
            <a:avLst/>
          </a:prstGeom>
          <a:solidFill>
            <a:schemeClr val="accent1"/>
          </a:solidFill>
          <a:ln/>
        </p:spPr>
      </p:sp>
      <p:pic>
        <p:nvPicPr>
          <p:cNvPr id="6" name="Auth note icon" descr="preencoded.png">    </p:cNvPr>
          <p:cNvPicPr>
            <a:picLocks noChangeAspect="1"/>
          </p:cNvPicPr>
          <p:nvPr/>
        </p:nvPicPr>
        <p:blipFill>
          <a:blip r:embed="rId1"/>
          <a:stretch>
            <a:fillRect/>
          </a:stretch>
        </p:blipFill>
        <p:spPr>
          <a:xfrm>
            <a:off x="658368" y="5733288"/>
            <a:ext cx="237744" cy="237744"/>
          </a:xfrm>
          <a:prstGeom prst="rect">
            <a:avLst/>
          </a:prstGeom>
        </p:spPr>
      </p:pic>
      <p:sp>
        <p:nvSpPr>
          <p:cNvPr id="7" name="Text 3"/>
          <p:cNvSpPr txBox="1"/>
          <p:nvPr/>
        </p:nvSpPr>
        <p:spPr>
          <a:xfrm>
            <a:off x="1188720" y="5577840"/>
            <a:ext cx="10424160" cy="548640"/>
          </a:xfrm>
          <a:prstGeom prst="rect">
            <a:avLst/>
          </a:prstGeom>
          <a:noFill/>
          <a:ln/>
        </p:spPr>
        <p:txBody>
          <a:bodyPr wrap="square" lIns="0" tIns="0" rIns="0" bIns="0" rtlCol="0" anchor="ctr"/>
          <a:lstStyle/>
          <a:p>
            <a:pPr indent="0" marL="0">
              <a:buNone/>
            </a:pPr>
            <a:r>
              <a:rPr lang="en-US" sz="1500" dirty="0">
                <a:solidFill>
                  <a:schemeClr val="accent6"/>
                </a:solidFill>
              </a:rPr>
              <a:t>Auth is optional everywhere. Anonymous callers see public, approved entries only when the admin enables the public registry.</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SEARCH</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Search: SQL narrows, Python ranks</a:t>
            </a:r>
            <a:endParaRPr lang="en-US" sz="3600" dirty="0"/>
          </a:p>
        </p:txBody>
      </p:sp>
      <p:sp>
        <p:nvSpPr>
          <p:cNvPr id="4" name="Search step 1"/>
          <p:cNvSpPr/>
          <p:nvPr/>
        </p:nvSpPr>
        <p:spPr>
          <a:xfrm>
            <a:off x="548640" y="1691640"/>
            <a:ext cx="5394960" cy="896112"/>
          </a:xfrm>
          <a:prstGeom prst="roundRect">
            <a:avLst>
              <a:gd name="adj" fmla="val 12245"/>
            </a:avLst>
          </a:prstGeom>
          <a:solidFill>
            <a:schemeClr val="bg2"/>
          </a:solidFill>
          <a:ln/>
        </p:spPr>
      </p:sp>
      <p:sp>
        <p:nvSpPr>
          <p:cNvPr id="5" name="Search step 1 number"/>
          <p:cNvSpPr/>
          <p:nvPr/>
        </p:nvSpPr>
        <p:spPr>
          <a:xfrm>
            <a:off x="749808" y="1911096"/>
            <a:ext cx="457200" cy="457200"/>
          </a:xfrm>
          <a:prstGeom prst="ellipse">
            <a:avLst/>
          </a:prstGeom>
          <a:solidFill>
            <a:schemeClr val="accent1"/>
          </a:solidFill>
          <a:ln/>
        </p:spPr>
      </p:sp>
      <p:sp>
        <p:nvSpPr>
          <p:cNvPr id="6" name="Text 4"/>
          <p:cNvSpPr txBox="1"/>
          <p:nvPr/>
        </p:nvSpPr>
        <p:spPr>
          <a:xfrm>
            <a:off x="749808" y="191109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417320" y="1783080"/>
            <a:ext cx="4389120" cy="347472"/>
          </a:xfrm>
          <a:prstGeom prst="rect">
            <a:avLst/>
          </a:prstGeom>
          <a:noFill/>
          <a:ln/>
        </p:spPr>
        <p:txBody>
          <a:bodyPr wrap="square" lIns="0" tIns="0" rIns="0" bIns="0" rtlCol="0" anchor="t"/>
          <a:lstStyle/>
          <a:p>
            <a:pPr indent="0" marL="0">
              <a:buNone/>
            </a:pPr>
            <a:r>
              <a:rPr lang="en-US" sz="1700" b="1" dirty="0">
                <a:solidFill>
                  <a:schemeClr val="tx1"/>
                </a:solidFill>
              </a:rPr>
              <a:t>Query text + filters</a:t>
            </a:r>
            <a:endParaRPr lang="en-US" sz="1700" dirty="0"/>
          </a:p>
        </p:txBody>
      </p:sp>
      <p:sp>
        <p:nvSpPr>
          <p:cNvPr id="8" name="Text 6"/>
          <p:cNvSpPr txBox="1"/>
          <p:nvPr/>
        </p:nvSpPr>
        <p:spPr>
          <a:xfrm>
            <a:off x="1417320" y="2130552"/>
            <a:ext cx="4434840" cy="411480"/>
          </a:xfrm>
          <a:prstGeom prst="rect">
            <a:avLst/>
          </a:prstGeom>
          <a:noFill/>
          <a:ln/>
        </p:spPr>
        <p:txBody>
          <a:bodyPr wrap="square" lIns="0" tIns="0" rIns="0" bIns="0" rtlCol="0" anchor="t"/>
          <a:lstStyle/>
          <a:p>
            <a:pPr indent="0" marL="0">
              <a:buNone/>
            </a:pPr>
            <a:r>
              <a:rPr lang="en-US" sz="1300" dirty="0">
                <a:solidFill>
                  <a:schemeClr val="accent6"/>
                </a:solidFill>
              </a:rPr>
              <a:t>type, kind, harness, tags, lifecycle</a:t>
            </a:r>
            <a:endParaRPr lang="en-US" sz="1300" dirty="0"/>
          </a:p>
        </p:txBody>
      </p:sp>
      <p:sp>
        <p:nvSpPr>
          <p:cNvPr id="9" name="Search arrow 1"/>
          <p:cNvSpPr/>
          <p:nvPr/>
        </p:nvSpPr>
        <p:spPr>
          <a:xfrm>
            <a:off x="3246120" y="2606040"/>
            <a:ext cx="0" cy="182880"/>
          </a:xfrm>
          <a:prstGeom prst="line">
            <a:avLst/>
          </a:prstGeom>
          <a:noFill/>
          <a:ln w="25400">
            <a:solidFill>
              <a:srgbClr val="008296"/>
            </a:solidFill>
            <a:prstDash val="solid"/>
            <a:tailEnd type="triangle"/>
          </a:ln>
        </p:spPr>
      </p:sp>
      <p:sp>
        <p:nvSpPr>
          <p:cNvPr id="10" name="Search step 2"/>
          <p:cNvSpPr/>
          <p:nvPr/>
        </p:nvSpPr>
        <p:spPr>
          <a:xfrm>
            <a:off x="548640" y="2807208"/>
            <a:ext cx="5394960" cy="896112"/>
          </a:xfrm>
          <a:prstGeom prst="roundRect">
            <a:avLst>
              <a:gd name="adj" fmla="val 12245"/>
            </a:avLst>
          </a:prstGeom>
          <a:solidFill>
            <a:schemeClr val="tx2"/>
          </a:solidFill>
          <a:ln/>
        </p:spPr>
      </p:sp>
      <p:sp>
        <p:nvSpPr>
          <p:cNvPr id="11" name="Search step 2 number"/>
          <p:cNvSpPr/>
          <p:nvPr/>
        </p:nvSpPr>
        <p:spPr>
          <a:xfrm>
            <a:off x="749808" y="3026664"/>
            <a:ext cx="457200" cy="457200"/>
          </a:xfrm>
          <a:prstGeom prst="ellipse">
            <a:avLst/>
          </a:prstGeom>
          <a:solidFill>
            <a:schemeClr val="accent2"/>
          </a:solidFill>
          <a:ln/>
        </p:spPr>
      </p:sp>
      <p:sp>
        <p:nvSpPr>
          <p:cNvPr id="12" name="Text 10"/>
          <p:cNvSpPr txBox="1"/>
          <p:nvPr/>
        </p:nvSpPr>
        <p:spPr>
          <a:xfrm>
            <a:off x="749808" y="3026664"/>
            <a:ext cx="457200" cy="457200"/>
          </a:xfrm>
          <a:prstGeom prst="rect">
            <a:avLst/>
          </a:prstGeom>
          <a:noFill/>
          <a:ln/>
        </p:spPr>
        <p:txBody>
          <a:bodyPr wrap="square" lIns="0" tIns="0" rIns="0" bIns="0" rtlCol="0" anchor="ctr"/>
          <a:lstStyle/>
          <a:p>
            <a:pPr algn="ctr" indent="0" marL="0">
              <a:buNone/>
            </a:pPr>
            <a:r>
              <a:rPr lang="en-US" sz="1500" b="1" dirty="0">
                <a:solidFill>
                  <a:schemeClr val="tx2"/>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1417320" y="2898648"/>
            <a:ext cx="4389120" cy="347472"/>
          </a:xfrm>
          <a:prstGeom prst="rect">
            <a:avLst/>
          </a:prstGeom>
          <a:noFill/>
          <a:ln/>
        </p:spPr>
        <p:txBody>
          <a:bodyPr wrap="square" lIns="0" tIns="0" rIns="0" bIns="0" rtlCol="0" anchor="t"/>
          <a:lstStyle/>
          <a:p>
            <a:pPr indent="0" marL="0">
              <a:buNone/>
            </a:pPr>
            <a:r>
              <a:rPr lang="en-US" sz="1700" b="1" dirty="0">
                <a:solidFill>
                  <a:schemeClr val="bg1"/>
                </a:solidFill>
              </a:rPr>
              <a:t>PostgreSQL prefilter</a:t>
            </a:r>
            <a:endParaRPr lang="en-US" sz="1700" dirty="0"/>
          </a:p>
        </p:txBody>
      </p:sp>
      <p:sp>
        <p:nvSpPr>
          <p:cNvPr id="14" name="Text 12"/>
          <p:cNvSpPr txBox="1"/>
          <p:nvPr/>
        </p:nvSpPr>
        <p:spPr>
          <a:xfrm>
            <a:off x="1417320" y="3246120"/>
            <a:ext cx="4434840" cy="411480"/>
          </a:xfrm>
          <a:prstGeom prst="rect">
            <a:avLst/>
          </a:prstGeom>
          <a:noFill/>
          <a:ln/>
        </p:spPr>
        <p:txBody>
          <a:bodyPr wrap="square" lIns="0" tIns="0" rIns="0" bIns="0" rtlCol="0" anchor="t"/>
          <a:lstStyle/>
          <a:p>
            <a:pPr indent="0" marL="0">
              <a:buNone/>
            </a:pPr>
            <a:r>
              <a:rPr lang="en-US" sz="1300" dirty="0">
                <a:solidFill>
                  <a:schemeClr val="accent3"/>
                </a:solidFill>
              </a:rPr>
              <a:t>visibility, filters, trigram-indexed LIKE: ≤ 5,000 candidates</a:t>
            </a:r>
            <a:endParaRPr lang="en-US" sz="1300" dirty="0"/>
          </a:p>
        </p:txBody>
      </p:sp>
      <p:sp>
        <p:nvSpPr>
          <p:cNvPr id="15" name="Search arrow 2"/>
          <p:cNvSpPr/>
          <p:nvPr/>
        </p:nvSpPr>
        <p:spPr>
          <a:xfrm>
            <a:off x="3246120" y="3721608"/>
            <a:ext cx="0" cy="182880"/>
          </a:xfrm>
          <a:prstGeom prst="line">
            <a:avLst/>
          </a:prstGeom>
          <a:noFill/>
          <a:ln w="25400">
            <a:solidFill>
              <a:srgbClr val="008296"/>
            </a:solidFill>
            <a:prstDash val="solid"/>
            <a:tailEnd type="triangle"/>
          </a:ln>
        </p:spPr>
      </p:sp>
      <p:sp>
        <p:nvSpPr>
          <p:cNvPr id="16" name="Search step 3"/>
          <p:cNvSpPr/>
          <p:nvPr/>
        </p:nvSpPr>
        <p:spPr>
          <a:xfrm>
            <a:off x="548640" y="3922776"/>
            <a:ext cx="5394960" cy="896112"/>
          </a:xfrm>
          <a:prstGeom prst="roundRect">
            <a:avLst>
              <a:gd name="adj" fmla="val 12245"/>
            </a:avLst>
          </a:prstGeom>
          <a:solidFill>
            <a:schemeClr val="tx2"/>
          </a:solidFill>
          <a:ln/>
        </p:spPr>
      </p:sp>
      <p:sp>
        <p:nvSpPr>
          <p:cNvPr id="17" name="Search step 3 number"/>
          <p:cNvSpPr/>
          <p:nvPr/>
        </p:nvSpPr>
        <p:spPr>
          <a:xfrm>
            <a:off x="749808" y="4142232"/>
            <a:ext cx="457200" cy="457200"/>
          </a:xfrm>
          <a:prstGeom prst="ellipse">
            <a:avLst/>
          </a:prstGeom>
          <a:solidFill>
            <a:schemeClr val="accent2"/>
          </a:solidFill>
          <a:ln/>
        </p:spPr>
      </p:sp>
      <p:sp>
        <p:nvSpPr>
          <p:cNvPr id="18" name="Text 16"/>
          <p:cNvSpPr txBox="1"/>
          <p:nvPr/>
        </p:nvSpPr>
        <p:spPr>
          <a:xfrm>
            <a:off x="749808" y="4142232"/>
            <a:ext cx="457200" cy="457200"/>
          </a:xfrm>
          <a:prstGeom prst="rect">
            <a:avLst/>
          </a:prstGeom>
          <a:noFill/>
          <a:ln/>
        </p:spPr>
        <p:txBody>
          <a:bodyPr wrap="square" lIns="0" tIns="0" rIns="0" bIns="0" rtlCol="0" anchor="ctr"/>
          <a:lstStyle/>
          <a:p>
            <a:pPr algn="ctr" indent="0" marL="0">
              <a:buNone/>
            </a:pPr>
            <a:r>
              <a:rPr lang="en-US" sz="1500" b="1" dirty="0">
                <a:solidFill>
                  <a:schemeClr val="tx2"/>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1417320" y="4014216"/>
            <a:ext cx="4389120" cy="347472"/>
          </a:xfrm>
          <a:prstGeom prst="rect">
            <a:avLst/>
          </a:prstGeom>
          <a:noFill/>
          <a:ln/>
        </p:spPr>
        <p:txBody>
          <a:bodyPr wrap="square" lIns="0" tIns="0" rIns="0" bIns="0" rtlCol="0" anchor="t"/>
          <a:lstStyle/>
          <a:p>
            <a:pPr indent="0" marL="0">
              <a:buNone/>
            </a:pPr>
            <a:r>
              <a:rPr lang="en-US" sz="1700" b="1" dirty="0">
                <a:solidFill>
                  <a:schemeClr val="bg1"/>
                </a:solidFill>
              </a:rPr>
              <a:t>Deterministic Python ranker</a:t>
            </a:r>
            <a:endParaRPr lang="en-US" sz="1700" dirty="0"/>
          </a:p>
        </p:txBody>
      </p:sp>
      <p:sp>
        <p:nvSpPr>
          <p:cNvPr id="20" name="Text 18"/>
          <p:cNvSpPr txBox="1"/>
          <p:nvPr/>
        </p:nvSpPr>
        <p:spPr>
          <a:xfrm>
            <a:off x="1417320" y="4361688"/>
            <a:ext cx="4434840" cy="411480"/>
          </a:xfrm>
          <a:prstGeom prst="rect">
            <a:avLst/>
          </a:prstGeom>
          <a:noFill/>
          <a:ln/>
        </p:spPr>
        <p:txBody>
          <a:bodyPr wrap="square" lIns="0" tIns="0" rIns="0" bIns="0" rtlCol="0" anchor="t"/>
          <a:lstStyle/>
          <a:p>
            <a:pPr indent="0" marL="0">
              <a:buNone/>
            </a:pPr>
            <a:r>
              <a:rPr lang="en-US" sz="1300" dirty="0">
                <a:solidFill>
                  <a:schemeClr val="accent3"/>
                </a:solidFill>
              </a:rPr>
              <a:t>weighted field matches, stable tie-breaks</a:t>
            </a:r>
            <a:endParaRPr lang="en-US" sz="1300" dirty="0"/>
          </a:p>
        </p:txBody>
      </p:sp>
      <p:sp>
        <p:nvSpPr>
          <p:cNvPr id="21" name="Search arrow 3"/>
          <p:cNvSpPr/>
          <p:nvPr/>
        </p:nvSpPr>
        <p:spPr>
          <a:xfrm>
            <a:off x="3246120" y="4837176"/>
            <a:ext cx="0" cy="182880"/>
          </a:xfrm>
          <a:prstGeom prst="line">
            <a:avLst/>
          </a:prstGeom>
          <a:noFill/>
          <a:ln w="25400">
            <a:solidFill>
              <a:srgbClr val="008296"/>
            </a:solidFill>
            <a:prstDash val="solid"/>
            <a:tailEnd type="triangle"/>
          </a:ln>
        </p:spPr>
      </p:sp>
      <p:sp>
        <p:nvSpPr>
          <p:cNvPr id="22" name="Search step 4"/>
          <p:cNvSpPr/>
          <p:nvPr/>
        </p:nvSpPr>
        <p:spPr>
          <a:xfrm>
            <a:off x="548640" y="5038344"/>
            <a:ext cx="5394960" cy="896112"/>
          </a:xfrm>
          <a:prstGeom prst="roundRect">
            <a:avLst>
              <a:gd name="adj" fmla="val 12245"/>
            </a:avLst>
          </a:prstGeom>
          <a:solidFill>
            <a:schemeClr val="bg2"/>
          </a:solidFill>
          <a:ln/>
        </p:spPr>
      </p:sp>
      <p:sp>
        <p:nvSpPr>
          <p:cNvPr id="23" name="Search step 4 number"/>
          <p:cNvSpPr/>
          <p:nvPr/>
        </p:nvSpPr>
        <p:spPr>
          <a:xfrm>
            <a:off x="749808" y="5257800"/>
            <a:ext cx="457200" cy="457200"/>
          </a:xfrm>
          <a:prstGeom prst="ellipse">
            <a:avLst/>
          </a:prstGeom>
          <a:solidFill>
            <a:schemeClr val="accent1"/>
          </a:solidFill>
          <a:ln/>
        </p:spPr>
      </p:sp>
      <p:sp>
        <p:nvSpPr>
          <p:cNvPr id="24" name="Text 22"/>
          <p:cNvSpPr txBox="1"/>
          <p:nvPr/>
        </p:nvSpPr>
        <p:spPr>
          <a:xfrm>
            <a:off x="749808" y="52578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25" name="Text 23"/>
          <p:cNvSpPr txBox="1"/>
          <p:nvPr/>
        </p:nvSpPr>
        <p:spPr>
          <a:xfrm>
            <a:off x="1417320" y="5129784"/>
            <a:ext cx="4389120" cy="347472"/>
          </a:xfrm>
          <a:prstGeom prst="rect">
            <a:avLst/>
          </a:prstGeom>
          <a:noFill/>
          <a:ln/>
        </p:spPr>
        <p:txBody>
          <a:bodyPr wrap="square" lIns="0" tIns="0" rIns="0" bIns="0" rtlCol="0" anchor="t"/>
          <a:lstStyle/>
          <a:p>
            <a:pPr indent="0" marL="0">
              <a:buNone/>
            </a:pPr>
            <a:r>
              <a:rPr lang="en-US" sz="1700" b="1" dirty="0">
                <a:solidFill>
                  <a:schemeClr val="tx1"/>
                </a:solidFill>
              </a:rPr>
              <a:t>Ranked page</a:t>
            </a:r>
            <a:endParaRPr lang="en-US" sz="1700" dirty="0"/>
          </a:p>
        </p:txBody>
      </p:sp>
      <p:sp>
        <p:nvSpPr>
          <p:cNvPr id="26" name="Text 24"/>
          <p:cNvSpPr txBox="1"/>
          <p:nvPr/>
        </p:nvSpPr>
        <p:spPr>
          <a:xfrm>
            <a:off x="1417320" y="5477256"/>
            <a:ext cx="4434840" cy="411480"/>
          </a:xfrm>
          <a:prstGeom prst="rect">
            <a:avLst/>
          </a:prstGeom>
          <a:noFill/>
          <a:ln/>
        </p:spPr>
        <p:txBody>
          <a:bodyPr wrap="square" lIns="0" tIns="0" rIns="0" bIns="0" rtlCol="0" anchor="t"/>
          <a:lstStyle/>
          <a:p>
            <a:pPr indent="0" marL="0">
              <a:buNone/>
            </a:pPr>
            <a:r>
              <a:rPr lang="en-US" sz="1300" dirty="0">
                <a:solidFill>
                  <a:schemeClr val="accent6"/>
                </a:solidFill>
              </a:rPr>
              <a:t>score 0–100, matchedOn, fingerprinted page token</a:t>
            </a:r>
            <a:endParaRPr lang="en-US" sz="1300" dirty="0"/>
          </a:p>
        </p:txBody>
      </p:sp>
      <p:graphicFrame>
        <p:nvGraphicFramePr>
          <p:cNvPr id="27" name="Field weight chart" descr=""/>
          <p:cNvGraphicFramePr/>
          <p:nvPr/>
        </p:nvGraphicFramePr>
        <p:xfrm>
          <a:off x="6400800" y="1600200"/>
          <a:ext cx="5239512" cy="2697480"/>
        </p:xfrm>
        <a:graphic xmlns:a="http://schemas.openxmlformats.org/drawingml/2006/main">
          <a:graphicData uri="http://schemas.openxmlformats.org/drawingml/2006/chart">
            <c:chart xmlns:c="http://schemas.openxmlformats.org/drawingml/2006/chart" r:id="rId1"/>
          </a:graphicData>
        </a:graphic>
      </p:graphicFrame>
      <p:sp>
        <p:nvSpPr>
          <p:cNvPr id="28" name="Score formula"/>
          <p:cNvSpPr/>
          <p:nvPr/>
        </p:nvSpPr>
        <p:spPr>
          <a:xfrm>
            <a:off x="6400800" y="4526280"/>
            <a:ext cx="5239512" cy="1554480"/>
          </a:xfrm>
          <a:prstGeom prst="roundRect">
            <a:avLst>
              <a:gd name="adj" fmla="val 7059"/>
            </a:avLst>
          </a:prstGeom>
          <a:solidFill>
            <a:schemeClr val="bg2"/>
          </a:solidFill>
          <a:ln/>
        </p:spPr>
      </p:sp>
      <p:sp>
        <p:nvSpPr>
          <p:cNvPr id="29" name="Text 26"/>
          <p:cNvSpPr txBox="1"/>
          <p:nvPr/>
        </p:nvSpPr>
        <p:spPr>
          <a:xfrm>
            <a:off x="6629400" y="4681728"/>
            <a:ext cx="4846320" cy="411480"/>
          </a:xfrm>
          <a:prstGeom prst="rect">
            <a:avLst/>
          </a:prstGeom>
          <a:noFill/>
          <a:ln/>
        </p:spPr>
        <p:txBody>
          <a:bodyPr wrap="square" lIns="0" tIns="0" rIns="0" bIns="0" rtlCol="0" anchor="t"/>
          <a:lstStyle/>
          <a:p>
            <a:pPr indent="0" marL="0">
              <a:buNone/>
            </a:pPr>
            <a:r>
              <a:rPr lang="en-US" sz="1350" b="1" dirty="0">
                <a:solidFill>
                  <a:schemeClr val="tx1"/>
                </a:solidFill>
                <a:latin typeface="Consolas" pitchFamily="34" charset="0"/>
                <a:ea typeface="Consolas" pitchFamily="34" charset="-122"/>
                <a:cs typeface="Consolas" pitchFamily="34" charset="-120"/>
              </a:rPr>
              <a:t>score = 100·(0.7·rel + 0.2·cov + 0.1·phrase)</a:t>
            </a:r>
            <a:endParaRPr lang="en-US" sz="1350" dirty="0"/>
          </a:p>
        </p:txBody>
      </p:sp>
      <p:sp>
        <p:nvSpPr>
          <p:cNvPr id="30" name="Text 27"/>
          <p:cNvSpPr txBox="1"/>
          <p:nvPr/>
        </p:nvSpPr>
        <p:spPr>
          <a:xfrm>
            <a:off x="6629400" y="5138928"/>
            <a:ext cx="4846320" cy="868680"/>
          </a:xfrm>
          <a:prstGeom prst="rect">
            <a:avLst/>
          </a:prstGeom>
          <a:noFill/>
          <a:ln/>
        </p:spPr>
        <p:txBody>
          <a:bodyPr wrap="square" lIns="0" tIns="0" rIns="0" bIns="0" rtlCol="0" anchor="t"/>
          <a:lstStyle/>
          <a:p>
            <a:pPr indent="0" marL="0">
              <a:buNone/>
            </a:pPr>
            <a:r>
              <a:rPr lang="en-US" sz="1400" dirty="0">
                <a:solidFill>
                  <a:schemeClr val="accent6"/>
                </a:solidFill>
              </a:rPr>
              <a:t>rel = weighted word matches (exact 1.0, prefix 0.7, substring 0.4); cov = share of words matched. A perfect name match scores 100.</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SEARCH QUALITY</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Search quality is measured in CI</a:t>
            </a:r>
            <a:endParaRPr lang="en-US" sz="3600" dirty="0"/>
          </a:p>
        </p:txBody>
      </p:sp>
      <p:graphicFrame>
        <p:nvGraphicFramePr>
          <p:cNvPr id="4" name="Benchmark chart" descr=""/>
          <p:cNvGraphicFramePr/>
          <p:nvPr/>
        </p:nvGraphicFramePr>
        <p:xfrm>
          <a:off x="548640" y="160020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645920"/>
            <a:ext cx="1828800" cy="777240"/>
          </a:xfrm>
          <a:prstGeom prst="rect">
            <a:avLst/>
          </a:prstGeom>
          <a:noFill/>
          <a:ln/>
        </p:spPr>
        <p:txBody>
          <a:bodyPr wrap="square" lIns="0" tIns="0" rIns="0" bIns="0" rtlCol="0" anchor="t"/>
          <a:lstStyle/>
          <a:p>
            <a:pPr indent="0" marL="0">
              <a:buNone/>
            </a:pPr>
            <a:r>
              <a:rPr lang="en-US" sz="5000" b="1" dirty="0">
                <a:solidFill>
                  <a:schemeClr val="accent1"/>
                </a:solidFill>
                <a:latin typeface="Arial" pitchFamily="34" charset="0"/>
                <a:ea typeface="Arial" pitchFamily="34" charset="-122"/>
                <a:cs typeface="Arial" pitchFamily="34" charset="-120"/>
              </a:rPr>
              <a:t>26</a:t>
            </a:r>
            <a:endParaRPr lang="en-US" sz="5000" dirty="0"/>
          </a:p>
        </p:txBody>
      </p:sp>
      <p:sp>
        <p:nvSpPr>
          <p:cNvPr id="6" name="Text 3"/>
          <p:cNvSpPr txBox="1"/>
          <p:nvPr/>
        </p:nvSpPr>
        <p:spPr>
          <a:xfrm>
            <a:off x="7680960" y="2423160"/>
            <a:ext cx="1828800" cy="548640"/>
          </a:xfrm>
          <a:prstGeom prst="rect">
            <a:avLst/>
          </a:prstGeom>
          <a:noFill/>
          <a:ln/>
        </p:spPr>
        <p:txBody>
          <a:bodyPr wrap="square" lIns="0" tIns="0" rIns="0" bIns="0" rtlCol="0" anchor="t"/>
          <a:lstStyle/>
          <a:p>
            <a:pPr indent="0" marL="0">
              <a:buNone/>
            </a:pPr>
            <a:r>
              <a:rPr lang="en-US" sz="1400" dirty="0">
                <a:solidFill>
                  <a:schemeClr val="accent6"/>
                </a:solidFill>
              </a:rPr>
              <a:t>realistic registry resources</a:t>
            </a:r>
            <a:endParaRPr lang="en-US" sz="1400" dirty="0"/>
          </a:p>
        </p:txBody>
      </p:sp>
      <p:sp>
        <p:nvSpPr>
          <p:cNvPr id="7" name="Text 4"/>
          <p:cNvSpPr txBox="1"/>
          <p:nvPr/>
        </p:nvSpPr>
        <p:spPr>
          <a:xfrm>
            <a:off x="9738360" y="1645920"/>
            <a:ext cx="1828800" cy="777240"/>
          </a:xfrm>
          <a:prstGeom prst="rect">
            <a:avLst/>
          </a:prstGeom>
          <a:noFill/>
          <a:ln/>
        </p:spPr>
        <p:txBody>
          <a:bodyPr wrap="square" lIns="0" tIns="0" rIns="0" bIns="0" rtlCol="0" anchor="t"/>
          <a:lstStyle/>
          <a:p>
            <a:pPr indent="0" marL="0">
              <a:buNone/>
            </a:pPr>
            <a:r>
              <a:rPr lang="en-US" sz="5000" b="1" dirty="0">
                <a:solidFill>
                  <a:schemeClr val="accent1"/>
                </a:solidFill>
                <a:latin typeface="Arial" pitchFamily="34" charset="0"/>
                <a:ea typeface="Arial" pitchFamily="34" charset="-122"/>
                <a:cs typeface="Arial" pitchFamily="34" charset="-120"/>
              </a:rPr>
              <a:t>47</a:t>
            </a:r>
            <a:endParaRPr lang="en-US" sz="5000" dirty="0"/>
          </a:p>
        </p:txBody>
      </p:sp>
      <p:sp>
        <p:nvSpPr>
          <p:cNvPr id="8" name="Text 5"/>
          <p:cNvSpPr txBox="1"/>
          <p:nvPr/>
        </p:nvSpPr>
        <p:spPr>
          <a:xfrm>
            <a:off x="9738360" y="2423160"/>
            <a:ext cx="1874520" cy="548640"/>
          </a:xfrm>
          <a:prstGeom prst="rect">
            <a:avLst/>
          </a:prstGeom>
          <a:noFill/>
          <a:ln/>
        </p:spPr>
        <p:txBody>
          <a:bodyPr wrap="square" lIns="0" tIns="0" rIns="0" bIns="0" rtlCol="0" anchor="t"/>
          <a:lstStyle/>
          <a:p>
            <a:pPr indent="0" marL="0">
              <a:buNone/>
            </a:pPr>
            <a:r>
              <a:rPr lang="en-US" sz="1400" dirty="0">
                <a:solidFill>
                  <a:schemeClr val="accent6"/>
                </a:solidFill>
              </a:rPr>
              <a:t>hand-written developer requests</a:t>
            </a:r>
            <a:endParaRPr lang="en-US" sz="1400" dirty="0"/>
          </a:p>
        </p:txBody>
      </p:sp>
      <p:sp>
        <p:nvSpPr>
          <p:cNvPr id="9" name="Floors card"/>
          <p:cNvSpPr/>
          <p:nvPr/>
        </p:nvSpPr>
        <p:spPr>
          <a:xfrm>
            <a:off x="7680960" y="3246120"/>
            <a:ext cx="3959352" cy="1280160"/>
          </a:xfrm>
          <a:prstGeom prst="roundRect">
            <a:avLst>
              <a:gd name="adj" fmla="val 8571"/>
            </a:avLst>
          </a:prstGeom>
          <a:solidFill>
            <a:schemeClr val="bg2"/>
          </a:solidFill>
          <a:ln/>
        </p:spPr>
      </p:sp>
      <p:sp>
        <p:nvSpPr>
          <p:cNvPr id="10" name="Text 7"/>
          <p:cNvSpPr txBox="1"/>
          <p:nvPr/>
        </p:nvSpPr>
        <p:spPr>
          <a:xfrm>
            <a:off x="7955280" y="3401568"/>
            <a:ext cx="3410712" cy="365760"/>
          </a:xfrm>
          <a:prstGeom prst="rect">
            <a:avLst/>
          </a:prstGeom>
          <a:noFill/>
          <a:ln/>
        </p:spPr>
        <p:txBody>
          <a:bodyPr wrap="square" lIns="0" tIns="0" rIns="0" bIns="0" rtlCol="0" anchor="t"/>
          <a:lstStyle/>
          <a:p>
            <a:pPr indent="0" marL="0">
              <a:buNone/>
            </a:pPr>
            <a:r>
              <a:rPr lang="en-US" sz="1700" b="1" dirty="0">
                <a:solidFill>
                  <a:schemeClr val="tx1"/>
                </a:solidFill>
              </a:rPr>
              <a:t>Floors only move up</a:t>
            </a:r>
            <a:endParaRPr lang="en-US" sz="1700" dirty="0"/>
          </a:p>
        </p:txBody>
      </p:sp>
      <p:sp>
        <p:nvSpPr>
          <p:cNvPr id="11" name="Text 8"/>
          <p:cNvSpPr txBox="1"/>
          <p:nvPr/>
        </p:nvSpPr>
        <p:spPr>
          <a:xfrm>
            <a:off x="7955280" y="3767328"/>
            <a:ext cx="3410712" cy="685800"/>
          </a:xfrm>
          <a:prstGeom prst="rect">
            <a:avLst/>
          </a:prstGeom>
          <a:noFill/>
          <a:ln/>
        </p:spPr>
        <p:txBody>
          <a:bodyPr wrap="square" lIns="0" tIns="0" rIns="0" bIns="0" rtlCol="0" anchor="t"/>
          <a:lstStyle/>
          <a:p>
            <a:pPr indent="0" marL="0">
              <a:buNone/>
            </a:pPr>
            <a:r>
              <a:rPr lang="en-US" sz="1400" dirty="0">
                <a:solidFill>
                  <a:schemeClr val="accent6"/>
                </a:solidFill>
              </a:rPr>
              <a:t>Raise them when ranking improves; never lower them to make a change pass.</a:t>
            </a:r>
            <a:endParaRPr lang="en-US" sz="1400" dirty="0"/>
          </a:p>
        </p:txBody>
      </p:sp>
      <p:sp>
        <p:nvSpPr>
          <p:cNvPr id="12" name="Misses card"/>
          <p:cNvSpPr/>
          <p:nvPr/>
        </p:nvSpPr>
        <p:spPr>
          <a:xfrm>
            <a:off x="7680960" y="4709160"/>
            <a:ext cx="3959352" cy="1371600"/>
          </a:xfrm>
          <a:prstGeom prst="roundRect">
            <a:avLst>
              <a:gd name="adj" fmla="val 8000"/>
            </a:avLst>
          </a:prstGeom>
          <a:solidFill>
            <a:schemeClr val="bg2"/>
          </a:solidFill>
          <a:ln/>
        </p:spPr>
      </p:sp>
      <p:sp>
        <p:nvSpPr>
          <p:cNvPr id="13" name="Text 10"/>
          <p:cNvSpPr txBox="1"/>
          <p:nvPr/>
        </p:nvSpPr>
        <p:spPr>
          <a:xfrm>
            <a:off x="7955280" y="4864608"/>
            <a:ext cx="3410712" cy="365760"/>
          </a:xfrm>
          <a:prstGeom prst="rect">
            <a:avLst/>
          </a:prstGeom>
          <a:noFill/>
          <a:ln/>
        </p:spPr>
        <p:txBody>
          <a:bodyPr wrap="square" lIns="0" tIns="0" rIns="0" bIns="0" rtlCol="0" anchor="t"/>
          <a:lstStyle/>
          <a:p>
            <a:pPr indent="0" marL="0">
              <a:buNone/>
            </a:pPr>
            <a:r>
              <a:rPr lang="en-US" sz="1700" b="1" dirty="0">
                <a:solidFill>
                  <a:schemeClr val="tx1"/>
                </a:solidFill>
              </a:rPr>
              <a:t>Known misses: synonyms</a:t>
            </a:r>
            <a:endParaRPr lang="en-US" sz="1700" dirty="0"/>
          </a:p>
        </p:txBody>
      </p:sp>
      <p:sp>
        <p:nvSpPr>
          <p:cNvPr id="14" name="Text 11"/>
          <p:cNvSpPr txBox="1"/>
          <p:nvPr/>
        </p:nvSpPr>
        <p:spPr>
          <a:xfrm>
            <a:off x="7955280" y="5230368"/>
            <a:ext cx="3410712" cy="777240"/>
          </a:xfrm>
          <a:prstGeom prst="rect">
            <a:avLst/>
          </a:prstGeom>
          <a:noFill/>
          <a:ln/>
        </p:spPr>
        <p:txBody>
          <a:bodyPr wrap="square" lIns="0" tIns="0" rIns="0" bIns="0" rtlCol="0" anchor="t"/>
          <a:lstStyle/>
          <a:p>
            <a:pPr indent="0" marL="0">
              <a:buNone/>
            </a:pPr>
            <a:r>
              <a:rPr lang="en-US" sz="1400" dirty="0">
                <a:solidFill>
                  <a:schemeClr val="accent6"/>
                </a:solidFill>
              </a:rPr>
              <a:t>“PRs” vs “pull requests”, “ticket” vs “issue”. That is what semantic retrieval is for.</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SAFETY</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Guardrails: discovery is not a back door</a:t>
            </a:r>
            <a:endParaRPr lang="en-US" sz="3600" dirty="0"/>
          </a:p>
        </p:txBody>
      </p:sp>
      <p:sp>
        <p:nvSpPr>
          <p:cNvPr id="4" name="Score means relevance, nothing else card"/>
          <p:cNvSpPr/>
          <p:nvPr/>
        </p:nvSpPr>
        <p:spPr>
          <a:xfrm>
            <a:off x="548640" y="1691640"/>
            <a:ext cx="5454396" cy="2084832"/>
          </a:xfrm>
          <a:prstGeom prst="roundRect">
            <a:avLst>
              <a:gd name="adj" fmla="val 5263"/>
            </a:avLst>
          </a:prstGeom>
          <a:solidFill>
            <a:schemeClr val="bg2"/>
          </a:solidFill>
          <a:ln/>
        </p:spPr>
      </p:sp>
      <p:sp>
        <p:nvSpPr>
          <p:cNvPr id="5" name="Score means relevance, nothing else circle"/>
          <p:cNvSpPr/>
          <p:nvPr/>
        </p:nvSpPr>
        <p:spPr>
          <a:xfrm>
            <a:off x="822960" y="1965960"/>
            <a:ext cx="640080" cy="640080"/>
          </a:xfrm>
          <a:prstGeom prst="ellipse">
            <a:avLst/>
          </a:prstGeom>
          <a:solidFill>
            <a:schemeClr val="accent1"/>
          </a:solidFill>
          <a:ln/>
        </p:spPr>
      </p:sp>
      <p:pic>
        <p:nvPicPr>
          <p:cNvPr id="6" name="Score means relevance, nothing else icon"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7" name="Text 4"/>
          <p:cNvSpPr txBox="1"/>
          <p:nvPr/>
        </p:nvSpPr>
        <p:spPr>
          <a:xfrm>
            <a:off x="1691640" y="1965960"/>
            <a:ext cx="4114800" cy="411480"/>
          </a:xfrm>
          <a:prstGeom prst="rect">
            <a:avLst/>
          </a:prstGeom>
          <a:noFill/>
          <a:ln/>
        </p:spPr>
        <p:txBody>
          <a:bodyPr wrap="square" lIns="0" tIns="0" rIns="0" bIns="0" rtlCol="0" anchor="t"/>
          <a:lstStyle/>
          <a:p>
            <a:pPr indent="0" marL="0">
              <a:buNone/>
            </a:pPr>
            <a:r>
              <a:rPr lang="en-US" sz="1800" b="1" dirty="0">
                <a:solidFill>
                  <a:schemeClr val="tx1"/>
                </a:solidFill>
              </a:rPr>
              <a:t>Score means relevance, nothing else</a:t>
            </a:r>
            <a:endParaRPr lang="en-US" sz="1800" dirty="0"/>
          </a:p>
        </p:txBody>
      </p:sp>
      <p:sp>
        <p:nvSpPr>
          <p:cNvPr id="8" name="Text 5"/>
          <p:cNvSpPr txBox="1"/>
          <p:nvPr/>
        </p:nvSpPr>
        <p:spPr>
          <a:xfrm>
            <a:off x="1691640" y="2423160"/>
            <a:ext cx="4114800" cy="1234440"/>
          </a:xfrm>
          <a:prstGeom prst="rect">
            <a:avLst/>
          </a:prstGeom>
          <a:noFill/>
          <a:ln/>
        </p:spPr>
        <p:txBody>
          <a:bodyPr wrap="square" lIns="0" tIns="0" rIns="0" bIns="0" rtlCol="0" anchor="t"/>
          <a:lstStyle/>
          <a:p>
            <a:pPr indent="0" marL="0">
              <a:buNone/>
            </a:pPr>
            <a:r>
              <a:rPr lang="en-US" sz="1500" dirty="0">
                <a:solidFill>
                  <a:schemeClr val="accent6"/>
                </a:solidFill>
              </a:rPr>
              <a:t>Approval, trust, harness support and availability are separate obs: fields. Policy filters run before ranking, never as weights.</a:t>
            </a:r>
            <a:endParaRPr lang="en-US" sz="1500" dirty="0"/>
          </a:p>
        </p:txBody>
      </p:sp>
      <p:sp>
        <p:nvSpPr>
          <p:cNvPr id="9" name="Never shows more than the registry card"/>
          <p:cNvSpPr/>
          <p:nvPr/>
        </p:nvSpPr>
        <p:spPr>
          <a:xfrm>
            <a:off x="6185916" y="1691640"/>
            <a:ext cx="5454396" cy="2084832"/>
          </a:xfrm>
          <a:prstGeom prst="roundRect">
            <a:avLst>
              <a:gd name="adj" fmla="val 5263"/>
            </a:avLst>
          </a:prstGeom>
          <a:solidFill>
            <a:schemeClr val="bg2"/>
          </a:solidFill>
          <a:ln/>
        </p:spPr>
      </p:sp>
      <p:sp>
        <p:nvSpPr>
          <p:cNvPr id="10" name="Never shows more than the registry circle"/>
          <p:cNvSpPr/>
          <p:nvPr/>
        </p:nvSpPr>
        <p:spPr>
          <a:xfrm>
            <a:off x="6460236" y="1965960"/>
            <a:ext cx="640080" cy="640080"/>
          </a:xfrm>
          <a:prstGeom prst="ellipse">
            <a:avLst/>
          </a:prstGeom>
          <a:solidFill>
            <a:schemeClr val="accent1"/>
          </a:solidFill>
          <a:ln/>
        </p:spPr>
      </p:sp>
      <p:pic>
        <p:nvPicPr>
          <p:cNvPr id="11" name="Never shows more than the registry icon" descr="preencoded.png">    </p:cNvPr>
          <p:cNvPicPr>
            <a:picLocks noChangeAspect="1"/>
          </p:cNvPicPr>
          <p:nvPr/>
        </p:nvPicPr>
        <p:blipFill>
          <a:blip r:embed="rId2"/>
          <a:stretch>
            <a:fillRect/>
          </a:stretch>
        </p:blipFill>
        <p:spPr>
          <a:xfrm>
            <a:off x="6613855" y="2119579"/>
            <a:ext cx="332842" cy="332842"/>
          </a:xfrm>
          <a:prstGeom prst="rect">
            <a:avLst/>
          </a:prstGeom>
        </p:spPr>
      </p:pic>
      <p:sp>
        <p:nvSpPr>
          <p:cNvPr id="12" name="Text 8"/>
          <p:cNvSpPr txBox="1"/>
          <p:nvPr/>
        </p:nvSpPr>
        <p:spPr>
          <a:xfrm>
            <a:off x="7328916" y="1965960"/>
            <a:ext cx="4114800" cy="411480"/>
          </a:xfrm>
          <a:prstGeom prst="rect">
            <a:avLst/>
          </a:prstGeom>
          <a:noFill/>
          <a:ln/>
        </p:spPr>
        <p:txBody>
          <a:bodyPr wrap="square" lIns="0" tIns="0" rIns="0" bIns="0" rtlCol="0" anchor="t"/>
          <a:lstStyle/>
          <a:p>
            <a:pPr indent="0" marL="0">
              <a:buNone/>
            </a:pPr>
            <a:r>
              <a:rPr lang="en-US" sz="1800" b="1" dirty="0">
                <a:solidFill>
                  <a:schemeClr val="tx1"/>
                </a:solidFill>
              </a:rPr>
              <a:t>Never shows more than the registry</a:t>
            </a:r>
            <a:endParaRPr lang="en-US" sz="1800" dirty="0"/>
          </a:p>
        </p:txBody>
      </p:sp>
      <p:sp>
        <p:nvSpPr>
          <p:cNvPr id="13" name="Text 9"/>
          <p:cNvSpPr txBox="1"/>
          <p:nvPr/>
        </p:nvSpPr>
        <p:spPr>
          <a:xfrm>
            <a:off x="7328916" y="2423160"/>
            <a:ext cx="4114800" cy="1234440"/>
          </a:xfrm>
          <a:prstGeom prst="rect">
            <a:avLst/>
          </a:prstGeom>
          <a:noFill/>
          <a:ln/>
        </p:spPr>
        <p:txBody>
          <a:bodyPr wrap="square" lIns="0" tIns="0" rIns="0" bIns="0" rtlCol="0" anchor="t"/>
          <a:lstStyle/>
          <a:p>
            <a:pPr indent="0" marL="0">
              <a:buNone/>
            </a:pPr>
            <a:r>
              <a:rPr lang="en-US" sz="1500" dirty="0">
                <a:solidFill>
                  <a:schemeClr val="accent6"/>
                </a:solidFill>
              </a:rPr>
              <a:t>Privacy first, then lifecycle: drafts and rejections reach only their owners. Anonymous search needs the public-registry switch.</a:t>
            </a:r>
            <a:endParaRPr lang="en-US" sz="1500" dirty="0"/>
          </a:p>
        </p:txBody>
      </p:sp>
      <p:sp>
        <p:nvSpPr>
          <p:cNvPr id="14" name="Search text stays home card"/>
          <p:cNvSpPr/>
          <p:nvPr/>
        </p:nvSpPr>
        <p:spPr>
          <a:xfrm>
            <a:off x="548640" y="3959352"/>
            <a:ext cx="5454396" cy="2084832"/>
          </a:xfrm>
          <a:prstGeom prst="roundRect">
            <a:avLst>
              <a:gd name="adj" fmla="val 5263"/>
            </a:avLst>
          </a:prstGeom>
          <a:solidFill>
            <a:schemeClr val="bg2"/>
          </a:solidFill>
          <a:ln/>
        </p:spPr>
      </p:sp>
      <p:sp>
        <p:nvSpPr>
          <p:cNvPr id="15" name="Search text stays home circle"/>
          <p:cNvSpPr/>
          <p:nvPr/>
        </p:nvSpPr>
        <p:spPr>
          <a:xfrm>
            <a:off x="822960" y="4233672"/>
            <a:ext cx="640080" cy="640080"/>
          </a:xfrm>
          <a:prstGeom prst="ellipse">
            <a:avLst/>
          </a:prstGeom>
          <a:solidFill>
            <a:schemeClr val="accent1"/>
          </a:solidFill>
          <a:ln/>
        </p:spPr>
      </p:sp>
      <p:pic>
        <p:nvPicPr>
          <p:cNvPr id="16" name="Search text stays home icon" descr="preencoded.png">    </p:cNvPr>
          <p:cNvPicPr>
            <a:picLocks noChangeAspect="1"/>
          </p:cNvPicPr>
          <p:nvPr/>
        </p:nvPicPr>
        <p:blipFill>
          <a:blip r:embed="rId3"/>
          <a:stretch>
            <a:fillRect/>
          </a:stretch>
        </p:blipFill>
        <p:spPr>
          <a:xfrm>
            <a:off x="976579" y="4387291"/>
            <a:ext cx="332842" cy="332842"/>
          </a:xfrm>
          <a:prstGeom prst="rect">
            <a:avLst/>
          </a:prstGeom>
        </p:spPr>
      </p:pic>
      <p:sp>
        <p:nvSpPr>
          <p:cNvPr id="17" name="Text 12"/>
          <p:cNvSpPr txBox="1"/>
          <p:nvPr/>
        </p:nvSpPr>
        <p:spPr>
          <a:xfrm>
            <a:off x="1691640" y="4233672"/>
            <a:ext cx="4114800" cy="411480"/>
          </a:xfrm>
          <a:prstGeom prst="rect">
            <a:avLst/>
          </a:prstGeom>
          <a:noFill/>
          <a:ln/>
        </p:spPr>
        <p:txBody>
          <a:bodyPr wrap="square" lIns="0" tIns="0" rIns="0" bIns="0" rtlCol="0" anchor="t"/>
          <a:lstStyle/>
          <a:p>
            <a:pPr indent="0" marL="0">
              <a:buNone/>
            </a:pPr>
            <a:r>
              <a:rPr lang="en-US" sz="1800" b="1" dirty="0">
                <a:solidFill>
                  <a:schemeClr val="tx1"/>
                </a:solidFill>
              </a:rPr>
              <a:t>Search text stays home</a:t>
            </a:r>
            <a:endParaRPr lang="en-US" sz="1800" dirty="0"/>
          </a:p>
        </p:txBody>
      </p:sp>
      <p:sp>
        <p:nvSpPr>
          <p:cNvPr id="18" name="Text 13"/>
          <p:cNvSpPr txBox="1"/>
          <p:nvPr/>
        </p:nvSpPr>
        <p:spPr>
          <a:xfrm>
            <a:off x="1691640" y="4690872"/>
            <a:ext cx="4114800" cy="1234440"/>
          </a:xfrm>
          <a:prstGeom prst="rect">
            <a:avLst/>
          </a:prstGeom>
          <a:noFill/>
          <a:ln/>
        </p:spPr>
        <p:txBody>
          <a:bodyPr wrap="square" lIns="0" tIns="0" rIns="0" bIns="0" rtlCol="0" anchor="t"/>
          <a:lstStyle/>
          <a:p>
            <a:pPr indent="0" marL="0">
              <a:buNone/>
            </a:pPr>
            <a:r>
              <a:rPr lang="en-US" sz="1500" dirty="0">
                <a:solidFill>
                  <a:schemeClr val="accent6"/>
                </a:solidFill>
              </a:rPr>
              <a:t>Federation defaults to the spec’s “auto”, bounded by an admin allowlist that starts empty. Queries never leave the deployment.</a:t>
            </a:r>
            <a:endParaRPr lang="en-US" sz="1500" dirty="0"/>
          </a:p>
        </p:txBody>
      </p:sp>
      <p:sp>
        <p:nvSpPr>
          <p:cNvPr id="19" name="Read freely, write with consent card"/>
          <p:cNvSpPr/>
          <p:nvPr/>
        </p:nvSpPr>
        <p:spPr>
          <a:xfrm>
            <a:off x="6185916" y="3959352"/>
            <a:ext cx="5454396" cy="2084832"/>
          </a:xfrm>
          <a:prstGeom prst="roundRect">
            <a:avLst>
              <a:gd name="adj" fmla="val 5263"/>
            </a:avLst>
          </a:prstGeom>
          <a:solidFill>
            <a:schemeClr val="bg2"/>
          </a:solidFill>
          <a:ln/>
        </p:spPr>
      </p:sp>
      <p:sp>
        <p:nvSpPr>
          <p:cNvPr id="20" name="Read freely, write with consent circle"/>
          <p:cNvSpPr/>
          <p:nvPr/>
        </p:nvSpPr>
        <p:spPr>
          <a:xfrm>
            <a:off x="6460236" y="4233672"/>
            <a:ext cx="640080" cy="640080"/>
          </a:xfrm>
          <a:prstGeom prst="ellipse">
            <a:avLst/>
          </a:prstGeom>
          <a:solidFill>
            <a:schemeClr val="accent1"/>
          </a:solidFill>
          <a:ln/>
        </p:spPr>
      </p:sp>
      <p:pic>
        <p:nvPicPr>
          <p:cNvPr id="21" name="Read freely, write with consent icon" descr="preencoded.png">    </p:cNvPr>
          <p:cNvPicPr>
            <a:picLocks noChangeAspect="1"/>
          </p:cNvPicPr>
          <p:nvPr/>
        </p:nvPicPr>
        <p:blipFill>
          <a:blip r:embed="rId4"/>
          <a:stretch>
            <a:fillRect/>
          </a:stretch>
        </p:blipFill>
        <p:spPr>
          <a:xfrm>
            <a:off x="6613855" y="4387291"/>
            <a:ext cx="332842" cy="332842"/>
          </a:xfrm>
          <a:prstGeom prst="rect">
            <a:avLst/>
          </a:prstGeom>
        </p:spPr>
      </p:pic>
      <p:sp>
        <p:nvSpPr>
          <p:cNvPr id="22" name="Text 16"/>
          <p:cNvSpPr txBox="1"/>
          <p:nvPr/>
        </p:nvSpPr>
        <p:spPr>
          <a:xfrm>
            <a:off x="7328916" y="4233672"/>
            <a:ext cx="4114800" cy="411480"/>
          </a:xfrm>
          <a:prstGeom prst="rect">
            <a:avLst/>
          </a:prstGeom>
          <a:noFill/>
          <a:ln/>
        </p:spPr>
        <p:txBody>
          <a:bodyPr wrap="square" lIns="0" tIns="0" rIns="0" bIns="0" rtlCol="0" anchor="t"/>
          <a:lstStyle/>
          <a:p>
            <a:pPr indent="0" marL="0">
              <a:buNone/>
            </a:pPr>
            <a:r>
              <a:rPr lang="en-US" sz="1800" b="1" dirty="0">
                <a:solidFill>
                  <a:schemeClr val="tx1"/>
                </a:solidFill>
              </a:rPr>
              <a:t>Read freely, write with consent</a:t>
            </a:r>
            <a:endParaRPr lang="en-US" sz="1800" dirty="0"/>
          </a:p>
        </p:txBody>
      </p:sp>
      <p:sp>
        <p:nvSpPr>
          <p:cNvPr id="23" name="Text 17"/>
          <p:cNvSpPr txBox="1"/>
          <p:nvPr/>
        </p:nvSpPr>
        <p:spPr>
          <a:xfrm>
            <a:off x="7328916" y="4690872"/>
            <a:ext cx="4114800" cy="1234440"/>
          </a:xfrm>
          <a:prstGeom prst="rect">
            <a:avLst/>
          </a:prstGeom>
          <a:noFill/>
          <a:ln/>
        </p:spPr>
        <p:txBody>
          <a:bodyPr wrap="square" lIns="0" tIns="0" rIns="0" bIns="0" rtlCol="0" anchor="t"/>
          <a:lstStyle/>
          <a:p>
            <a:pPr indent="0" marL="0">
              <a:buNone/>
            </a:pPr>
            <a:r>
              <a:rPr lang="en-US" sz="1500" dirty="0">
                <a:solidFill>
                  <a:schemeClr val="accent6"/>
                </a:solidFill>
              </a:rPr>
              <a:t>Approved skills and prompts are text and load immediately. Anything that changes a setup goes through an install that asks first.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SPEC CONFORMANCE</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Spec-conformant and honest about gaps</a:t>
            </a:r>
            <a:endParaRPr lang="en-US" sz="3600" dirty="0"/>
          </a:p>
        </p:txBody>
      </p:sp>
      <p:sp>
        <p:nvSpPr>
          <p:cNvPr id="4" name="Vendored card"/>
          <p:cNvSpPr/>
          <p:nvPr/>
        </p:nvSpPr>
        <p:spPr>
          <a:xfrm>
            <a:off x="548640" y="1691640"/>
            <a:ext cx="5454396" cy="4389120"/>
          </a:xfrm>
          <a:prstGeom prst="roundRect">
            <a:avLst>
              <a:gd name="adj" fmla="val 2500"/>
            </a:avLst>
          </a:prstGeom>
          <a:solidFill>
            <a:schemeClr val="bg2"/>
          </a:solidFill>
          <a:ln/>
        </p:spPr>
      </p:sp>
      <p:sp>
        <p:nvSpPr>
          <p:cNvPr id="5" name="Text 3"/>
          <p:cNvSpPr txBox="1"/>
          <p:nvPr/>
        </p:nvSpPr>
        <p:spPr>
          <a:xfrm>
            <a:off x="822960" y="1874520"/>
            <a:ext cx="4905756" cy="411480"/>
          </a:xfrm>
          <a:prstGeom prst="rect">
            <a:avLst/>
          </a:prstGeom>
          <a:noFill/>
          <a:ln/>
        </p:spPr>
        <p:txBody>
          <a:bodyPr wrap="square" lIns="0" tIns="0" rIns="0" bIns="0" rtlCol="0" anchor="t"/>
          <a:lstStyle/>
          <a:p>
            <a:pPr indent="0" marL="0">
              <a:buNone/>
            </a:pPr>
            <a:r>
              <a:rPr lang="en-US" sz="1900" b="1" dirty="0">
                <a:solidFill>
                  <a:schemeClr val="tx1"/>
                </a:solidFill>
              </a:rPr>
              <a:t>Vendored byte-for-byte, pinned</a:t>
            </a:r>
            <a:endParaRPr lang="en-US" sz="1900" dirty="0"/>
          </a:p>
        </p:txBody>
      </p:sp>
      <p:sp>
        <p:nvSpPr>
          <p:cNvPr id="6" name="Pinned commit chip"/>
          <p:cNvSpPr/>
          <p:nvPr/>
        </p:nvSpPr>
        <p:spPr>
          <a:xfrm>
            <a:off x="822960" y="2377440"/>
            <a:ext cx="4905756" cy="457200"/>
          </a:xfrm>
          <a:prstGeom prst="roundRect">
            <a:avLst>
              <a:gd name="adj" fmla="val 50000"/>
            </a:avLst>
          </a:prstGeom>
          <a:solidFill>
            <a:schemeClr val="tx2"/>
          </a:solidFill>
          <a:ln/>
        </p:spPr>
      </p:sp>
      <p:sp>
        <p:nvSpPr>
          <p:cNvPr id="7" name="Text 5"/>
          <p:cNvSpPr txBox="1"/>
          <p:nvPr/>
        </p:nvSpPr>
        <p:spPr>
          <a:xfrm>
            <a:off x="822960" y="2377440"/>
            <a:ext cx="4905756" cy="457200"/>
          </a:xfrm>
          <a:prstGeom prst="rect">
            <a:avLst/>
          </a:prstGeom>
          <a:noFill/>
          <a:ln/>
        </p:spPr>
        <p:txBody>
          <a:bodyPr wrap="square" lIns="0" tIns="0" rIns="0" bIns="0" rtlCol="0" anchor="ctr"/>
          <a:lstStyle/>
          <a:p>
            <a:pPr algn="ctr" indent="0" marL="0">
              <a:buNone/>
            </a:pPr>
            <a:r>
              <a:rPr lang="en-US" sz="1400" dirty="0">
                <a:solidFill>
                  <a:schemeClr val="accent3"/>
                </a:solidFill>
                <a:latin typeface="Consolas" pitchFamily="34" charset="0"/>
                <a:ea typeface="Consolas" pitchFamily="34" charset="-122"/>
                <a:cs typeface="Consolas" pitchFamily="34" charset="-120"/>
              </a:rPr>
              <a:t>ard-spec v0.91  ·  b76f235  ·  2026-09-12</a:t>
            </a:r>
            <a:endParaRPr lang="en-US" sz="1400" dirty="0"/>
          </a:p>
        </p:txBody>
      </p:sp>
      <p:pic>
        <p:nvPicPr>
          <p:cNvPr id="8" name="Vendored check 1" descr="preencoded.png">    </p:cNvPr>
          <p:cNvPicPr>
            <a:picLocks noChangeAspect="1"/>
          </p:cNvPicPr>
          <p:nvPr/>
        </p:nvPicPr>
        <p:blipFill>
          <a:blip r:embed="rId1"/>
          <a:stretch>
            <a:fillRect/>
          </a:stretch>
        </p:blipFill>
        <p:spPr>
          <a:xfrm>
            <a:off x="822960" y="3118104"/>
            <a:ext cx="292608" cy="292608"/>
          </a:xfrm>
          <a:prstGeom prst="rect">
            <a:avLst/>
          </a:prstGeom>
        </p:spPr>
      </p:pic>
      <p:sp>
        <p:nvSpPr>
          <p:cNvPr id="9" name="Text 6"/>
          <p:cNvSpPr txBox="1"/>
          <p:nvPr/>
        </p:nvSpPr>
        <p:spPr>
          <a:xfrm>
            <a:off x="1280160" y="3063240"/>
            <a:ext cx="4448556" cy="411480"/>
          </a:xfrm>
          <a:prstGeom prst="rect">
            <a:avLst/>
          </a:prstGeom>
          <a:noFill/>
          <a:ln/>
        </p:spPr>
        <p:txBody>
          <a:bodyPr wrap="square" lIns="0" tIns="0" rIns="0" bIns="0" rtlCol="0" anchor="ctr"/>
          <a:lstStyle/>
          <a:p>
            <a:pPr indent="0" marL="0">
              <a:buNone/>
            </a:pPr>
            <a:r>
              <a:rPr lang="en-US" sz="1500" dirty="0">
                <a:solidFill>
                  <a:schemeClr val="tx1"/>
                </a:solidFill>
              </a:rPr>
              <a:t>JSON Schema for entries and manifests</a:t>
            </a:r>
            <a:endParaRPr lang="en-US" sz="1500" dirty="0"/>
          </a:p>
        </p:txBody>
      </p:sp>
      <p:pic>
        <p:nvPicPr>
          <p:cNvPr id="10" name="Vendored check 2" descr="preencoded.png">    </p:cNvPr>
          <p:cNvPicPr>
            <a:picLocks noChangeAspect="1"/>
          </p:cNvPicPr>
          <p:nvPr/>
        </p:nvPicPr>
        <p:blipFill>
          <a:blip r:embed="rId2"/>
          <a:stretch>
            <a:fillRect/>
          </a:stretch>
        </p:blipFill>
        <p:spPr>
          <a:xfrm>
            <a:off x="822960" y="3621024"/>
            <a:ext cx="292608" cy="292608"/>
          </a:xfrm>
          <a:prstGeom prst="rect">
            <a:avLst/>
          </a:prstGeom>
        </p:spPr>
      </p:pic>
      <p:sp>
        <p:nvSpPr>
          <p:cNvPr id="11" name="Text 7"/>
          <p:cNvSpPr txBox="1"/>
          <p:nvPr/>
        </p:nvSpPr>
        <p:spPr>
          <a:xfrm>
            <a:off x="1280160" y="3566160"/>
            <a:ext cx="4448556" cy="411480"/>
          </a:xfrm>
          <a:prstGeom prst="rect">
            <a:avLst/>
          </a:prstGeom>
          <a:noFill/>
          <a:ln/>
        </p:spPr>
        <p:txBody>
          <a:bodyPr wrap="square" lIns="0" tIns="0" rIns="0" bIns="0" rtlCol="0" anchor="ctr"/>
          <a:lstStyle/>
          <a:p>
            <a:pPr indent="0" marL="0">
              <a:buNone/>
            </a:pPr>
            <a:r>
              <a:rPr lang="en-US" sz="1500" dirty="0">
                <a:solidFill>
                  <a:schemeClr val="tx1"/>
                </a:solidFill>
              </a:rPr>
              <a:t>JSON-LD context and CDDL grammar</a:t>
            </a:r>
            <a:endParaRPr lang="en-US" sz="1500" dirty="0"/>
          </a:p>
        </p:txBody>
      </p:sp>
      <p:pic>
        <p:nvPicPr>
          <p:cNvPr id="12" name="Vendored check 3" descr="preencoded.png">    </p:cNvPr>
          <p:cNvPicPr>
            <a:picLocks noChangeAspect="1"/>
          </p:cNvPicPr>
          <p:nvPr/>
        </p:nvPicPr>
        <p:blipFill>
          <a:blip r:embed="rId3"/>
          <a:stretch>
            <a:fillRect/>
          </a:stretch>
        </p:blipFill>
        <p:spPr>
          <a:xfrm>
            <a:off x="822960" y="4123944"/>
            <a:ext cx="292608" cy="292608"/>
          </a:xfrm>
          <a:prstGeom prst="rect">
            <a:avLst/>
          </a:prstGeom>
        </p:spPr>
      </p:pic>
      <p:sp>
        <p:nvSpPr>
          <p:cNvPr id="13" name="Text 8"/>
          <p:cNvSpPr txBox="1"/>
          <p:nvPr/>
        </p:nvSpPr>
        <p:spPr>
          <a:xfrm>
            <a:off x="1280160" y="4069080"/>
            <a:ext cx="4448556" cy="411480"/>
          </a:xfrm>
          <a:prstGeom prst="rect">
            <a:avLst/>
          </a:prstGeom>
          <a:noFill/>
          <a:ln/>
        </p:spPr>
        <p:txBody>
          <a:bodyPr wrap="square" lIns="0" tIns="0" rIns="0" bIns="0" rtlCol="0" anchor="ctr"/>
          <a:lstStyle/>
          <a:p>
            <a:pPr indent="0" marL="0">
              <a:buNone/>
            </a:pPr>
            <a:r>
              <a:rPr lang="en-US" sz="1500" dirty="0">
                <a:solidFill>
                  <a:schemeClr val="tx1"/>
                </a:solidFill>
              </a:rPr>
              <a:t>OpenAPI for Search, List and Explore</a:t>
            </a:r>
            <a:endParaRPr lang="en-US" sz="1500" dirty="0"/>
          </a:p>
        </p:txBody>
      </p:sp>
      <p:pic>
        <p:nvPicPr>
          <p:cNvPr id="14" name="Vendored check 4" descr="preencoded.png">    </p:cNvPr>
          <p:cNvPicPr>
            <a:picLocks noChangeAspect="1"/>
          </p:cNvPicPr>
          <p:nvPr/>
        </p:nvPicPr>
        <p:blipFill>
          <a:blip r:embed="rId4"/>
          <a:stretch>
            <a:fillRect/>
          </a:stretch>
        </p:blipFill>
        <p:spPr>
          <a:xfrm>
            <a:off x="822960" y="4626864"/>
            <a:ext cx="292608" cy="292608"/>
          </a:xfrm>
          <a:prstGeom prst="rect">
            <a:avLst/>
          </a:prstGeom>
        </p:spPr>
      </p:pic>
      <p:sp>
        <p:nvSpPr>
          <p:cNvPr id="15" name="Text 9"/>
          <p:cNvSpPr txBox="1"/>
          <p:nvPr/>
        </p:nvSpPr>
        <p:spPr>
          <a:xfrm>
            <a:off x="1280160" y="4572000"/>
            <a:ext cx="4448556" cy="411480"/>
          </a:xfrm>
          <a:prstGeom prst="rect">
            <a:avLst/>
          </a:prstGeom>
          <a:noFill/>
          <a:ln/>
        </p:spPr>
        <p:txBody>
          <a:bodyPr wrap="square" lIns="0" tIns="0" rIns="0" bIns="0" rtlCol="0" anchor="ctr"/>
          <a:lstStyle/>
          <a:p>
            <a:pPr indent="0" marL="0">
              <a:buNone/>
            </a:pPr>
            <a:r>
              <a:rPr lang="en-US" sz="1500" dirty="0">
                <a:solidFill>
                  <a:schemeClr val="tx1"/>
                </a:solidFill>
              </a:rPr>
              <a:t>Official conformance CLI, run in CI</a:t>
            </a:r>
            <a:endParaRPr lang="en-US" sz="1500" dirty="0"/>
          </a:p>
        </p:txBody>
      </p:sp>
      <p:sp>
        <p:nvSpPr>
          <p:cNvPr id="16" name="Text 10"/>
          <p:cNvSpPr txBox="1"/>
          <p:nvPr/>
        </p:nvSpPr>
        <p:spPr>
          <a:xfrm>
            <a:off x="822960" y="5166360"/>
            <a:ext cx="4905756" cy="685800"/>
          </a:xfrm>
          <a:prstGeom prst="rect">
            <a:avLst/>
          </a:prstGeom>
          <a:noFill/>
          <a:ln/>
        </p:spPr>
        <p:txBody>
          <a:bodyPr wrap="square" lIns="0" tIns="0" rIns="0" bIns="0" rtlCol="0" anchor="t"/>
          <a:lstStyle/>
          <a:p>
            <a:pPr indent="0" marL="0">
              <a:buNone/>
            </a:pPr>
            <a:r>
              <a:rPr lang="en-US" sz="1400" i="1" dirty="0">
                <a:solidFill>
                  <a:schemeClr val="accent6"/>
                </a:solidFill>
              </a:rPr>
              <a:t>A spec change is a deliberate re-vendor, reviewed like any dependency bump.</a:t>
            </a:r>
            <a:endParaRPr lang="en-US" sz="1400" dirty="0"/>
          </a:p>
        </p:txBody>
      </p:sp>
      <p:sp>
        <p:nvSpPr>
          <p:cNvPr id="17" name="Deferred card"/>
          <p:cNvSpPr/>
          <p:nvPr/>
        </p:nvSpPr>
        <p:spPr>
          <a:xfrm>
            <a:off x="6185916" y="1691640"/>
            <a:ext cx="5454396" cy="4389120"/>
          </a:xfrm>
          <a:prstGeom prst="roundRect">
            <a:avLst>
              <a:gd name="adj" fmla="val 2500"/>
            </a:avLst>
          </a:prstGeom>
          <a:solidFill>
            <a:schemeClr val="tx2"/>
          </a:solidFill>
          <a:ln/>
        </p:spPr>
      </p:sp>
      <p:sp>
        <p:nvSpPr>
          <p:cNvPr id="18" name="Text 12"/>
          <p:cNvSpPr txBox="1"/>
          <p:nvPr/>
        </p:nvSpPr>
        <p:spPr>
          <a:xfrm>
            <a:off x="6460236" y="1874520"/>
            <a:ext cx="4905756" cy="411480"/>
          </a:xfrm>
          <a:prstGeom prst="rect">
            <a:avLst/>
          </a:prstGeom>
          <a:noFill/>
          <a:ln/>
        </p:spPr>
        <p:txBody>
          <a:bodyPr wrap="square" lIns="0" tIns="0" rIns="0" bIns="0" rtlCol="0" anchor="t"/>
          <a:lstStyle/>
          <a:p>
            <a:pPr indent="0" marL="0">
              <a:buNone/>
            </a:pPr>
            <a:r>
              <a:rPr lang="en-US" sz="1900" b="1" dirty="0">
                <a:solidFill>
                  <a:schemeClr val="bg1"/>
                </a:solidFill>
              </a:rPr>
              <a:t>Deliberately deferred</a:t>
            </a:r>
            <a:endParaRPr lang="en-US" sz="1900" dirty="0"/>
          </a:p>
        </p:txBody>
      </p:sp>
      <p:pic>
        <p:nvPicPr>
          <p:cNvPr id="19" name="Deferred icon 1" descr="preencoded.png">    </p:cNvPr>
          <p:cNvPicPr>
            <a:picLocks noChangeAspect="1"/>
          </p:cNvPicPr>
          <p:nvPr/>
        </p:nvPicPr>
        <p:blipFill>
          <a:blip r:embed="rId5"/>
          <a:stretch>
            <a:fillRect/>
          </a:stretch>
        </p:blipFill>
        <p:spPr>
          <a:xfrm>
            <a:off x="6460236" y="2505456"/>
            <a:ext cx="292608" cy="292608"/>
          </a:xfrm>
          <a:prstGeom prst="rect">
            <a:avLst/>
          </a:prstGeom>
        </p:spPr>
      </p:pic>
      <p:sp>
        <p:nvSpPr>
          <p:cNvPr id="20" name="Text 13"/>
          <p:cNvSpPr txBox="1"/>
          <p:nvPr/>
        </p:nvSpPr>
        <p:spPr>
          <a:xfrm>
            <a:off x="6917436" y="2468880"/>
            <a:ext cx="4448556" cy="347472"/>
          </a:xfrm>
          <a:prstGeom prst="rect">
            <a:avLst/>
          </a:prstGeom>
          <a:noFill/>
          <a:ln/>
        </p:spPr>
        <p:txBody>
          <a:bodyPr wrap="square" lIns="0" tIns="0" rIns="0" bIns="0" rtlCol="0" anchor="t"/>
          <a:lstStyle/>
          <a:p>
            <a:pPr indent="0" marL="0">
              <a:buNone/>
            </a:pPr>
            <a:r>
              <a:rPr lang="en-US" sz="1600" b="1" dirty="0">
                <a:solidFill>
                  <a:schemeClr val="bg1"/>
                </a:solidFill>
              </a:rPr>
              <a:t>Crawling external ARD sources</a:t>
            </a:r>
            <a:endParaRPr lang="en-US" sz="1600" dirty="0"/>
          </a:p>
        </p:txBody>
      </p:sp>
      <p:sp>
        <p:nvSpPr>
          <p:cNvPr id="21" name="Text 14"/>
          <p:cNvSpPr txBox="1"/>
          <p:nvPr/>
        </p:nvSpPr>
        <p:spPr>
          <a:xfrm>
            <a:off x="6917436" y="2816352"/>
            <a:ext cx="4448556" cy="457200"/>
          </a:xfrm>
          <a:prstGeom prst="rect">
            <a:avLst/>
          </a:prstGeom>
          <a:noFill/>
          <a:ln/>
        </p:spPr>
        <p:txBody>
          <a:bodyPr wrap="square" lIns="0" tIns="0" rIns="0" bIns="0" rtlCol="0" anchor="t"/>
          <a:lstStyle/>
          <a:p>
            <a:pPr indent="0" marL="0">
              <a:buNone/>
            </a:pPr>
            <a:r>
              <a:rPr lang="en-US" sz="1300" dirty="0">
                <a:solidFill>
                  <a:schemeClr val="accent3"/>
                </a:solidFill>
              </a:rPr>
              <a:t>Until then we’re a publisher and search endpoint, not a full registry</a:t>
            </a:r>
            <a:endParaRPr lang="en-US" sz="1300" dirty="0"/>
          </a:p>
        </p:txBody>
      </p:sp>
      <p:pic>
        <p:nvPicPr>
          <p:cNvPr id="22" name="Deferred icon 2" descr="preencoded.png">    </p:cNvPr>
          <p:cNvPicPr>
            <a:picLocks noChangeAspect="1"/>
          </p:cNvPicPr>
          <p:nvPr/>
        </p:nvPicPr>
        <p:blipFill>
          <a:blip r:embed="rId6"/>
          <a:stretch>
            <a:fillRect/>
          </a:stretch>
        </p:blipFill>
        <p:spPr>
          <a:xfrm>
            <a:off x="6460236" y="3374136"/>
            <a:ext cx="292608" cy="292608"/>
          </a:xfrm>
          <a:prstGeom prst="rect">
            <a:avLst/>
          </a:prstGeom>
        </p:spPr>
      </p:pic>
      <p:sp>
        <p:nvSpPr>
          <p:cNvPr id="23" name="Text 15"/>
          <p:cNvSpPr txBox="1"/>
          <p:nvPr/>
        </p:nvSpPr>
        <p:spPr>
          <a:xfrm>
            <a:off x="6917436" y="3337560"/>
            <a:ext cx="4448556" cy="347472"/>
          </a:xfrm>
          <a:prstGeom prst="rect">
            <a:avLst/>
          </a:prstGeom>
          <a:noFill/>
          <a:ln/>
        </p:spPr>
        <p:txBody>
          <a:bodyPr wrap="square" lIns="0" tIns="0" rIns="0" bIns="0" rtlCol="0" anchor="t"/>
          <a:lstStyle/>
          <a:p>
            <a:pPr indent="0" marL="0">
              <a:buNone/>
            </a:pPr>
            <a:r>
              <a:rPr lang="en-US" sz="1600" b="1" dirty="0">
                <a:solidFill>
                  <a:schemeClr val="bg1"/>
                </a:solidFill>
              </a:rPr>
              <a:t>Explore facets</a:t>
            </a:r>
            <a:endParaRPr lang="en-US" sz="1600" dirty="0"/>
          </a:p>
        </p:txBody>
      </p:sp>
      <p:sp>
        <p:nvSpPr>
          <p:cNvPr id="24" name="Text 16"/>
          <p:cNvSpPr txBox="1"/>
          <p:nvPr/>
        </p:nvSpPr>
        <p:spPr>
          <a:xfrm>
            <a:off x="6917436" y="3685032"/>
            <a:ext cx="4448556" cy="457200"/>
          </a:xfrm>
          <a:prstGeom prst="rect">
            <a:avLst/>
          </a:prstGeom>
          <a:noFill/>
          <a:ln/>
        </p:spPr>
        <p:txBody>
          <a:bodyPr wrap="square" lIns="0" tIns="0" rIns="0" bIns="0" rtlCol="0" anchor="t"/>
          <a:lstStyle/>
          <a:p>
            <a:pPr indent="0" marL="0">
              <a:buNone/>
            </a:pPr>
            <a:r>
              <a:rPr lang="en-US" sz="1300" dirty="0">
                <a:solidFill>
                  <a:schemeClr val="accent3"/>
                </a:solidFill>
              </a:rPr>
              <a:t>Optional in the spec</a:t>
            </a:r>
            <a:endParaRPr lang="en-US" sz="1300" dirty="0"/>
          </a:p>
        </p:txBody>
      </p:sp>
      <p:pic>
        <p:nvPicPr>
          <p:cNvPr id="25" name="Deferred icon 3" descr="preencoded.png">    </p:cNvPr>
          <p:cNvPicPr>
            <a:picLocks noChangeAspect="1"/>
          </p:cNvPicPr>
          <p:nvPr/>
        </p:nvPicPr>
        <p:blipFill>
          <a:blip r:embed="rId7"/>
          <a:stretch>
            <a:fillRect/>
          </a:stretch>
        </p:blipFill>
        <p:spPr>
          <a:xfrm>
            <a:off x="6460236" y="4242816"/>
            <a:ext cx="292608" cy="292608"/>
          </a:xfrm>
          <a:prstGeom prst="rect">
            <a:avLst/>
          </a:prstGeom>
        </p:spPr>
      </p:pic>
      <p:sp>
        <p:nvSpPr>
          <p:cNvPr id="26" name="Text 17"/>
          <p:cNvSpPr txBox="1"/>
          <p:nvPr/>
        </p:nvSpPr>
        <p:spPr>
          <a:xfrm>
            <a:off x="6917436" y="4206240"/>
            <a:ext cx="4448556" cy="347472"/>
          </a:xfrm>
          <a:prstGeom prst="rect">
            <a:avLst/>
          </a:prstGeom>
          <a:noFill/>
          <a:ln/>
        </p:spPr>
        <p:txBody>
          <a:bodyPr wrap="square" lIns="0" tIns="0" rIns="0" bIns="0" rtlCol="0" anchor="t"/>
          <a:lstStyle/>
          <a:p>
            <a:pPr indent="0" marL="0">
              <a:buNone/>
            </a:pPr>
            <a:r>
              <a:rPr lang="en-US" sz="1600" b="1" dirty="0">
                <a:solidFill>
                  <a:schemeClr val="bg1"/>
                </a:solidFill>
              </a:rPr>
              <a:t>Third-party trust manifests</a:t>
            </a:r>
            <a:endParaRPr lang="en-US" sz="1600" dirty="0"/>
          </a:p>
        </p:txBody>
      </p:sp>
      <p:sp>
        <p:nvSpPr>
          <p:cNvPr id="27" name="Text 18"/>
          <p:cNvSpPr txBox="1"/>
          <p:nvPr/>
        </p:nvSpPr>
        <p:spPr>
          <a:xfrm>
            <a:off x="6917436" y="4553712"/>
            <a:ext cx="4448556" cy="457200"/>
          </a:xfrm>
          <a:prstGeom prst="rect">
            <a:avLst/>
          </a:prstGeom>
          <a:noFill/>
          <a:ln/>
        </p:spPr>
        <p:txBody>
          <a:bodyPr wrap="square" lIns="0" tIns="0" rIns="0" bIns="0" rtlCol="0" anchor="t"/>
          <a:lstStyle/>
          <a:p>
            <a:pPr indent="0" marL="0">
              <a:buNone/>
            </a:pPr>
            <a:r>
              <a:rPr lang="en-US" sz="1300" dirty="0">
                <a:solidFill>
                  <a:schemeClr val="accent3"/>
                </a:solidFill>
              </a:rPr>
              <a:t>Verified once external ingestion lands</a:t>
            </a:r>
            <a:endParaRPr lang="en-US" sz="1300" dirty="0"/>
          </a:p>
        </p:txBody>
      </p:sp>
      <p:pic>
        <p:nvPicPr>
          <p:cNvPr id="28" name="Deferred icon 4" descr="preencoded.png">    </p:cNvPr>
          <p:cNvPicPr>
            <a:picLocks noChangeAspect="1"/>
          </p:cNvPicPr>
          <p:nvPr/>
        </p:nvPicPr>
        <p:blipFill>
          <a:blip r:embed="rId8"/>
          <a:stretch>
            <a:fillRect/>
          </a:stretch>
        </p:blipFill>
        <p:spPr>
          <a:xfrm>
            <a:off x="6460236" y="5111496"/>
            <a:ext cx="292608" cy="292608"/>
          </a:xfrm>
          <a:prstGeom prst="rect">
            <a:avLst/>
          </a:prstGeom>
        </p:spPr>
      </p:pic>
      <p:sp>
        <p:nvSpPr>
          <p:cNvPr id="29" name="Text 19"/>
          <p:cNvSpPr txBox="1"/>
          <p:nvPr/>
        </p:nvSpPr>
        <p:spPr>
          <a:xfrm>
            <a:off x="6917436" y="5074920"/>
            <a:ext cx="4448556" cy="347472"/>
          </a:xfrm>
          <a:prstGeom prst="rect">
            <a:avLst/>
          </a:prstGeom>
          <a:noFill/>
          <a:ln/>
        </p:spPr>
        <p:txBody>
          <a:bodyPr wrap="square" lIns="0" tIns="0" rIns="0" bIns="0" rtlCol="0" anchor="t"/>
          <a:lstStyle/>
          <a:p>
            <a:pPr indent="0" marL="0">
              <a:buNone/>
            </a:pPr>
            <a:r>
              <a:rPr lang="en-US" sz="1600" b="1" dirty="0">
                <a:solidFill>
                  <a:schemeClr val="bg1"/>
                </a:solidFill>
              </a:rPr>
              <a:t>Dense retrieval (pgvector)</a:t>
            </a:r>
            <a:endParaRPr lang="en-US" sz="1600" dirty="0"/>
          </a:p>
        </p:txBody>
      </p:sp>
      <p:sp>
        <p:nvSpPr>
          <p:cNvPr id="30" name="Text 20"/>
          <p:cNvSpPr txBox="1"/>
          <p:nvPr/>
        </p:nvSpPr>
        <p:spPr>
          <a:xfrm>
            <a:off x="6917436" y="5422392"/>
            <a:ext cx="4448556" cy="457200"/>
          </a:xfrm>
          <a:prstGeom prst="rect">
            <a:avLst/>
          </a:prstGeom>
          <a:noFill/>
          <a:ln/>
        </p:spPr>
        <p:txBody>
          <a:bodyPr wrap="square" lIns="0" tIns="0" rIns="0" bIns="0" rtlCol="0" anchor="t"/>
          <a:lstStyle/>
          <a:p>
            <a:pPr indent="0" marL="0">
              <a:buNone/>
            </a:pPr>
            <a:r>
              <a:rPr lang="en-US" sz="1300" dirty="0">
                <a:solidFill>
                  <a:schemeClr val="accent3"/>
                </a:solidFill>
              </a:rPr>
              <a:t>Optional; Postgres full-text + pg_trgm stays a complete baseline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1600200"/>
            <a:ext cx="3657600" cy="1234440"/>
          </a:xfrm>
          <a:prstGeom prst="rect">
            <a:avLst/>
          </a:prstGeom>
          <a:noFill/>
          <a:ln/>
        </p:spPr>
        <p:txBody>
          <a:bodyPr wrap="square" lIns="0" tIns="0" rIns="0" bIns="0" rtlCol="0" anchor="b"/>
          <a:lstStyle/>
          <a:p>
            <a:pPr indent="0" marL="0">
              <a:buNone/>
            </a:pPr>
            <a:r>
              <a:rPr lang="en-US" sz="8800" b="1" dirty="0">
                <a:solidFill>
                  <a:schemeClr val="accent2"/>
                </a:solidFill>
                <a:latin typeface="Arial" pitchFamily="34" charset="0"/>
                <a:ea typeface="Arial" pitchFamily="34" charset="-122"/>
                <a:cs typeface="Arial" pitchFamily="34" charset="-120"/>
              </a:rPr>
              <a:t>03</a:t>
            </a:r>
            <a:endParaRPr lang="en-US" sz="8800" dirty="0"/>
          </a:p>
        </p:txBody>
      </p:sp>
      <p:sp>
        <p:nvSpPr>
          <p:cNvPr id="3" name="Text 1"/>
          <p:cNvSpPr/>
          <p:nvPr>
            <p:ph idx="103" type="title" hasCustomPrompt="1"/>
          </p:nvPr>
        </p:nvSpPr>
        <p:spPr>
          <a:xfrm>
            <a:off x="548640" y="2971800"/>
            <a:ext cx="10515600" cy="960120"/>
          </a:xfrm>
          <a:prstGeom prst="rect">
            <a:avLst/>
          </a:prstGeom>
          <a:noFill/>
          <a:ln/>
        </p:spPr>
        <p:txBody>
          <a:bodyPr wrap="square" lIns="0" tIns="0" rIns="0" bIns="0" rtlCol="0" anchor="t"/>
          <a:lstStyle/>
          <a:p>
            <a:pPr algn="l" indent="0" marL="0">
              <a:buNone/>
            </a:pPr>
            <a:r>
              <a:rPr lang="en-US" sz="4800" b="1" dirty="0">
                <a:solidFill>
                  <a:schemeClr val="bg1"/>
                </a:solidFill>
              </a:rPr>
              <a:t>Use cases</a:t>
            </a:r>
            <a:endParaRPr lang="en-US" sz="4800" dirty="0"/>
          </a:p>
        </p:txBody>
      </p:sp>
      <p:sp>
        <p:nvSpPr>
          <p:cNvPr id="4" name="Text 1"/>
          <p:cNvSpPr/>
          <p:nvPr>
            <p:ph idx="104" type="body" hasCustomPrompt="1"/>
          </p:nvPr>
        </p:nvSpPr>
        <p:spPr>
          <a:xfrm>
            <a:off x="548640" y="402336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What ARD unlocks for agents, developers and admins</a:t>
            </a:r>
            <a:endParaRPr lang="en-US" sz="22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USE CASE 1</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The agent searches before it reinvents</a:t>
            </a:r>
            <a:endParaRPr lang="en-US" sz="3600" dirty="0"/>
          </a:p>
        </p:txBody>
      </p:sp>
      <p:sp>
        <p:nvSpPr>
          <p:cNvPr id="4" name="Terminal"/>
          <p:cNvSpPr/>
          <p:nvPr/>
        </p:nvSpPr>
        <p:spPr>
          <a:xfrm>
            <a:off x="548640" y="1691640"/>
            <a:ext cx="6720840" cy="4389120"/>
          </a:xfrm>
          <a:prstGeom prst="roundRect">
            <a:avLst>
              <a:gd name="adj" fmla="val 2500"/>
            </a:avLst>
          </a:prstGeom>
          <a:solidFill>
            <a:schemeClr val="tx2"/>
          </a:solidFill>
          <a:ln/>
        </p:spPr>
      </p:sp>
      <p:sp>
        <p:nvSpPr>
          <p:cNvPr id="5" name="Terminal dot 1"/>
          <p:cNvSpPr/>
          <p:nvPr/>
        </p:nvSpPr>
        <p:spPr>
          <a:xfrm>
            <a:off x="777240" y="1874520"/>
            <a:ext cx="155448" cy="155448"/>
          </a:xfrm>
          <a:prstGeom prst="ellipse">
            <a:avLst/>
          </a:prstGeom>
          <a:solidFill>
            <a:srgbClr val="B86E00"/>
          </a:solidFill>
          <a:ln/>
        </p:spPr>
      </p:sp>
      <p:sp>
        <p:nvSpPr>
          <p:cNvPr id="6" name="Terminal dot 2"/>
          <p:cNvSpPr/>
          <p:nvPr/>
        </p:nvSpPr>
        <p:spPr>
          <a:xfrm>
            <a:off x="1051560" y="1874520"/>
            <a:ext cx="155448" cy="155448"/>
          </a:xfrm>
          <a:prstGeom prst="ellipse">
            <a:avLst/>
          </a:prstGeom>
          <a:solidFill>
            <a:srgbClr val="F2A93B"/>
          </a:solidFill>
          <a:ln/>
        </p:spPr>
      </p:sp>
      <p:sp>
        <p:nvSpPr>
          <p:cNvPr id="7" name="Terminal dot 3"/>
          <p:cNvSpPr/>
          <p:nvPr/>
        </p:nvSpPr>
        <p:spPr>
          <a:xfrm>
            <a:off x="1325880" y="1874520"/>
            <a:ext cx="155448" cy="155448"/>
          </a:xfrm>
          <a:prstGeom prst="ellipse">
            <a:avLst/>
          </a:prstGeom>
          <a:solidFill>
            <a:srgbClr val="008296"/>
          </a:solidFill>
          <a:ln/>
        </p:spPr>
      </p:sp>
      <p:sp>
        <p:nvSpPr>
          <p:cNvPr id="8" name="Text 6"/>
          <p:cNvSpPr txBox="1"/>
          <p:nvPr/>
        </p:nvSpPr>
        <p:spPr>
          <a:xfrm>
            <a:off x="822960" y="2240280"/>
            <a:ext cx="6309360" cy="3703320"/>
          </a:xfrm>
          <a:prstGeom prst="rect">
            <a:avLst/>
          </a:prstGeom>
          <a:noFill/>
          <a:ln/>
        </p:spPr>
        <p:txBody>
          <a:bodyPr wrap="square" lIns="0" tIns="0" rIns="0" bIns="0" rtlCol="0" anchor="t"/>
          <a:lstStyle/>
          <a:p>
            <a:pPr indent="0" marL="0">
              <a:lnSpc>
                <a:spcPct val="150000"/>
              </a:lnSpc>
              <a:buNone/>
            </a:pPr>
            <a:r>
              <a:rPr lang="en-US" sz="1250" dirty="0">
                <a:solidFill>
                  <a:srgbClr val="7FD3DD"/>
                </a:solidFill>
                <a:latin typeface="Consolas" pitchFamily="34" charset="0"/>
                <a:ea typeface="Consolas" pitchFamily="34" charset="-122"/>
                <a:cs typeface="Consolas" pitchFamily="34" charset="-120"/>
              </a:rPr>
              <a:t>$ </a:t>
            </a:r>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observal discover search 'review a pull request for auth bugs'</a:t>
            </a:r>
            <a:endParaRPr lang="en-US" sz="1250" dirty="0"/>
          </a:p>
          <a:p>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 </a:t>
            </a:r>
            <a:endParaRPr lang="en-US" sz="1250" dirty="0"/>
          </a:p>
          <a:p>
            <a:pPr indent="0" marL="0">
              <a:lnSpc>
                <a:spcPct val="150000"/>
              </a:lnSpc>
              <a:buNone/>
            </a:pPr>
            <a:r>
              <a:rPr lang="en-US" sz="1250" dirty="0">
                <a:solidFill>
                  <a:srgbClr val="8FA3AE"/>
                </a:solidFill>
                <a:latin typeface="Consolas" pitchFamily="34" charset="0"/>
                <a:ea typeface="Consolas" pitchFamily="34" charset="-122"/>
                <a:cs typeface="Consolas" pitchFamily="34" charset="-120"/>
              </a:rPr>
              <a:t> #  Kind    Resource            Match  Use</a:t>
            </a:r>
            <a:endParaRPr lang="en-US" sz="1250" dirty="0"/>
          </a:p>
          <a:p>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 1  skill   Security Review        92  </a:t>
            </a:r>
            <a:pPr indent="0" marL="0">
              <a:lnSpc>
                <a:spcPct val="150000"/>
              </a:lnSpc>
              <a:buNone/>
            </a:pPr>
            <a:r>
              <a:rPr lang="en-US" sz="1250" dirty="0">
                <a:solidFill>
                  <a:srgbClr val="7FD3DD"/>
                </a:solidFill>
                <a:latin typeface="Consolas" pitchFamily="34" charset="0"/>
                <a:ea typeface="Consolas" pitchFamily="34" charset="-122"/>
                <a:cs typeface="Consolas" pitchFamily="34" charset="-120"/>
              </a:rPr>
              <a:t>now</a:t>
            </a:r>
            <a:endParaRPr lang="en-US" sz="1250" dirty="0"/>
          </a:p>
          <a:p>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 2  prompt  OWASP Checklist        81  </a:t>
            </a:r>
            <a:pPr indent="0" marL="0">
              <a:lnSpc>
                <a:spcPct val="150000"/>
              </a:lnSpc>
              <a:buNone/>
            </a:pPr>
            <a:r>
              <a:rPr lang="en-US" sz="1250" dirty="0">
                <a:solidFill>
                  <a:srgbClr val="7FD3DD"/>
                </a:solidFill>
                <a:latin typeface="Consolas" pitchFamily="34" charset="0"/>
                <a:ea typeface="Consolas" pitchFamily="34" charset="-122"/>
                <a:cs typeface="Consolas" pitchFamily="34" charset="-120"/>
              </a:rPr>
              <a:t>now</a:t>
            </a:r>
            <a:endParaRPr lang="en-US" sz="1250" dirty="0"/>
          </a:p>
          <a:p>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 3  mcp     github                 64  </a:t>
            </a:r>
            <a:pPr indent="0" marL="0">
              <a:lnSpc>
                <a:spcPct val="150000"/>
              </a:lnSpc>
              <a:buNone/>
            </a:pPr>
            <a:r>
              <a:rPr lang="en-US" sz="1250" dirty="0">
                <a:solidFill>
                  <a:srgbClr val="F2A93B"/>
                </a:solidFill>
                <a:latin typeface="Consolas" pitchFamily="34" charset="0"/>
                <a:ea typeface="Consolas" pitchFamily="34" charset="-122"/>
                <a:cs typeface="Consolas" pitchFamily="34" charset="-120"/>
              </a:rPr>
              <a:t>next-session</a:t>
            </a:r>
            <a:endParaRPr lang="en-US" sz="1250" dirty="0"/>
          </a:p>
          <a:p>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 </a:t>
            </a:r>
            <a:endParaRPr lang="en-US" sz="1250" dirty="0"/>
          </a:p>
          <a:p>
            <a:pPr indent="0" marL="0">
              <a:lnSpc>
                <a:spcPct val="150000"/>
              </a:lnSpc>
              <a:buNone/>
            </a:pPr>
            <a:r>
              <a:rPr lang="en-US" sz="1250" dirty="0">
                <a:solidFill>
                  <a:srgbClr val="7FD3DD"/>
                </a:solidFill>
                <a:latin typeface="Consolas" pitchFamily="34" charset="0"/>
                <a:ea typeface="Consolas" pitchFamily="34" charset="-122"/>
                <a:cs typeface="Consolas" pitchFamily="34" charset="-120"/>
              </a:rPr>
              <a:t>$ </a:t>
            </a:r>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observal discover use urn:air:observal.acme.com:skill:5f2c…</a:t>
            </a:r>
            <a:endParaRPr lang="en-US" sz="1250" dirty="0"/>
          </a:p>
          <a:p>
            <a:pPr indent="0" marL="0">
              <a:lnSpc>
                <a:spcPct val="150000"/>
              </a:lnSpc>
              <a:buNone/>
            </a:pPr>
            <a:r>
              <a:rPr lang="en-US" sz="1250" dirty="0">
                <a:solidFill>
                  <a:srgbClr val="7FD3DD"/>
                </a:solidFill>
                <a:latin typeface="Consolas" pitchFamily="34" charset="0"/>
                <a:ea typeface="Consolas" pitchFamily="34" charset="-122"/>
                <a:cs typeface="Consolas" pitchFamily="34" charset="-120"/>
              </a:rPr>
              <a:t>✓ Loaded </a:t>
            </a:r>
            <a:pPr indent="0" marL="0">
              <a:lnSpc>
                <a:spcPct val="150000"/>
              </a:lnSpc>
              <a:buNone/>
            </a:pPr>
            <a:r>
              <a:rPr lang="en-US" sz="1250" b="1" dirty="0">
                <a:solidFill>
                  <a:srgbClr val="FFFFFF"/>
                </a:solidFill>
                <a:latin typeface="Consolas" pitchFamily="34" charset="0"/>
                <a:ea typeface="Consolas" pitchFamily="34" charset="-122"/>
                <a:cs typeface="Consolas" pitchFamily="34" charset="-120"/>
              </a:rPr>
              <a:t>Security Review</a:t>
            </a:r>
            <a:pPr indent="0" marL="0">
              <a:lnSpc>
                <a:spcPct val="150000"/>
              </a:lnSpc>
              <a:buNone/>
            </a:pPr>
            <a:r>
              <a:rPr lang="en-US" sz="1250" dirty="0">
                <a:solidFill>
                  <a:srgbClr val="FFFFFF"/>
                </a:solidFill>
                <a:latin typeface="Consolas" pitchFamily="34" charset="0"/>
                <a:ea typeface="Consolas" pitchFamily="34" charset="-122"/>
                <a:cs typeface="Consolas" pitchFamily="34" charset="-120"/>
              </a:rPr>
              <a:t> 1.2.0 (skill)</a:t>
            </a:r>
            <a:endParaRPr lang="en-US" sz="1250" dirty="0"/>
          </a:p>
          <a:p>
            <a:pPr indent="0" marL="0">
              <a:lnSpc>
                <a:spcPct val="150000"/>
              </a:lnSpc>
              <a:buNone/>
            </a:pPr>
            <a:r>
              <a:rPr lang="en-US" sz="1250" dirty="0">
                <a:solidFill>
                  <a:srgbClr val="8FA3AE"/>
                </a:solidFill>
                <a:latin typeface="Consolas" pitchFamily="34" charset="0"/>
                <a:ea typeface="Consolas" pitchFamily="34" charset="-122"/>
                <a:cs typeface="Consolas" pitchFamily="34" charset="-120"/>
              </a:rPr>
              <a:t>Recorded in the capability lock for claude-code in ~/src/api</a:t>
            </a:r>
            <a:endParaRPr lang="en-US" sz="1250" dirty="0"/>
          </a:p>
        </p:txBody>
      </p:sp>
      <p:sp>
        <p:nvSpPr>
          <p:cNvPr id="9" name="Use case 1 step 1"/>
          <p:cNvSpPr/>
          <p:nvPr/>
        </p:nvSpPr>
        <p:spPr>
          <a:xfrm>
            <a:off x="7589520" y="1691640"/>
            <a:ext cx="548640" cy="548640"/>
          </a:xfrm>
          <a:prstGeom prst="ellipse">
            <a:avLst/>
          </a:prstGeom>
          <a:solidFill>
            <a:schemeClr val="accent1"/>
          </a:solidFill>
          <a:ln/>
        </p:spPr>
      </p:sp>
      <p:sp>
        <p:nvSpPr>
          <p:cNvPr id="10" name="Text 8"/>
          <p:cNvSpPr txBox="1"/>
          <p:nvPr/>
        </p:nvSpPr>
        <p:spPr>
          <a:xfrm>
            <a:off x="758952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11" name="Text 9"/>
          <p:cNvSpPr txBox="1"/>
          <p:nvPr/>
        </p:nvSpPr>
        <p:spPr>
          <a:xfrm>
            <a:off x="8321040" y="1673352"/>
            <a:ext cx="3319272" cy="347472"/>
          </a:xfrm>
          <a:prstGeom prst="rect">
            <a:avLst/>
          </a:prstGeom>
          <a:noFill/>
          <a:ln/>
        </p:spPr>
        <p:txBody>
          <a:bodyPr wrap="square" lIns="0" tIns="0" rIns="0" bIns="0" rtlCol="0" anchor="t"/>
          <a:lstStyle/>
          <a:p>
            <a:pPr indent="0" marL="0">
              <a:buNone/>
            </a:pPr>
            <a:r>
              <a:rPr lang="en-US" sz="1800" b="1" dirty="0">
                <a:solidFill>
                  <a:schemeClr val="tx1"/>
                </a:solidFill>
              </a:rPr>
              <a:t>Search</a:t>
            </a:r>
            <a:endParaRPr lang="en-US" sz="1800" dirty="0"/>
          </a:p>
        </p:txBody>
      </p:sp>
      <p:sp>
        <p:nvSpPr>
          <p:cNvPr id="12" name="Text 10"/>
          <p:cNvSpPr txBox="1"/>
          <p:nvPr/>
        </p:nvSpPr>
        <p:spPr>
          <a:xfrm>
            <a:off x="8321040" y="2020824"/>
            <a:ext cx="3319272" cy="566928"/>
          </a:xfrm>
          <a:prstGeom prst="rect">
            <a:avLst/>
          </a:prstGeom>
          <a:noFill/>
          <a:ln/>
        </p:spPr>
        <p:txBody>
          <a:bodyPr wrap="square" lIns="0" tIns="0" rIns="0" bIns="0" rtlCol="0" anchor="t"/>
          <a:lstStyle/>
          <a:p>
            <a:pPr indent="0" marL="0">
              <a:buNone/>
            </a:pPr>
            <a:r>
              <a:rPr lang="en-US" sz="1400" dirty="0">
                <a:solidFill>
                  <a:schemeClr val="accent6"/>
                </a:solidFill>
              </a:rPr>
              <a:t>Ranked candidates, each with the words that matched</a:t>
            </a:r>
            <a:endParaRPr lang="en-US" sz="1400" dirty="0"/>
          </a:p>
        </p:txBody>
      </p:sp>
      <p:sp>
        <p:nvSpPr>
          <p:cNvPr id="13" name="Use case 1 step 2"/>
          <p:cNvSpPr/>
          <p:nvPr/>
        </p:nvSpPr>
        <p:spPr>
          <a:xfrm>
            <a:off x="7589520" y="2697480"/>
            <a:ext cx="548640" cy="548640"/>
          </a:xfrm>
          <a:prstGeom prst="ellipse">
            <a:avLst/>
          </a:prstGeom>
          <a:solidFill>
            <a:schemeClr val="accent1"/>
          </a:solidFill>
          <a:ln/>
        </p:spPr>
      </p:sp>
      <p:sp>
        <p:nvSpPr>
          <p:cNvPr id="14" name="Text 12"/>
          <p:cNvSpPr txBox="1"/>
          <p:nvPr/>
        </p:nvSpPr>
        <p:spPr>
          <a:xfrm>
            <a:off x="7589520"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8321040" y="2679192"/>
            <a:ext cx="3319272" cy="347472"/>
          </a:xfrm>
          <a:prstGeom prst="rect">
            <a:avLst/>
          </a:prstGeom>
          <a:noFill/>
          <a:ln/>
        </p:spPr>
        <p:txBody>
          <a:bodyPr wrap="square" lIns="0" tIns="0" rIns="0" bIns="0" rtlCol="0" anchor="t"/>
          <a:lstStyle/>
          <a:p>
            <a:pPr indent="0" marL="0">
              <a:buNone/>
            </a:pPr>
            <a:r>
              <a:rPr lang="en-US" sz="1800" b="1" dirty="0">
                <a:solidFill>
                  <a:schemeClr val="tx1"/>
                </a:solidFill>
              </a:rPr>
              <a:t>Inspect</a:t>
            </a:r>
            <a:endParaRPr lang="en-US" sz="1800" dirty="0"/>
          </a:p>
        </p:txBody>
      </p:sp>
      <p:sp>
        <p:nvSpPr>
          <p:cNvPr id="16" name="Text 14"/>
          <p:cNvSpPr txBox="1"/>
          <p:nvPr/>
        </p:nvSpPr>
        <p:spPr>
          <a:xfrm>
            <a:off x="8321040" y="3026664"/>
            <a:ext cx="3319272" cy="566928"/>
          </a:xfrm>
          <a:prstGeom prst="rect">
            <a:avLst/>
          </a:prstGeom>
          <a:noFill/>
          <a:ln/>
        </p:spPr>
        <p:txBody>
          <a:bodyPr wrap="square" lIns="0" tIns="0" rIns="0" bIns="0" rtlCol="0" anchor="t"/>
          <a:lstStyle/>
          <a:p>
            <a:pPr indent="0" marL="0">
              <a:buNone/>
            </a:pPr>
            <a:r>
              <a:rPr lang="en-US" sz="1400" dirty="0">
                <a:solidFill>
                  <a:schemeClr val="accent6"/>
                </a:solidFill>
              </a:rPr>
              <a:t>What it’s good for, which harnesses, exact artifact and digest</a:t>
            </a:r>
            <a:endParaRPr lang="en-US" sz="1400" dirty="0"/>
          </a:p>
        </p:txBody>
      </p:sp>
      <p:sp>
        <p:nvSpPr>
          <p:cNvPr id="17" name="Use case 1 step 3"/>
          <p:cNvSpPr/>
          <p:nvPr/>
        </p:nvSpPr>
        <p:spPr>
          <a:xfrm>
            <a:off x="7589520" y="3703320"/>
            <a:ext cx="548640" cy="548640"/>
          </a:xfrm>
          <a:prstGeom prst="ellipse">
            <a:avLst/>
          </a:prstGeom>
          <a:solidFill>
            <a:schemeClr val="accent1"/>
          </a:solidFill>
          <a:ln/>
        </p:spPr>
      </p:sp>
      <p:sp>
        <p:nvSpPr>
          <p:cNvPr id="18" name="Text 16"/>
          <p:cNvSpPr txBox="1"/>
          <p:nvPr/>
        </p:nvSpPr>
        <p:spPr>
          <a:xfrm>
            <a:off x="7589520"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321040" y="3685032"/>
            <a:ext cx="3319272" cy="347472"/>
          </a:xfrm>
          <a:prstGeom prst="rect">
            <a:avLst/>
          </a:prstGeom>
          <a:noFill/>
          <a:ln/>
        </p:spPr>
        <p:txBody>
          <a:bodyPr wrap="square" lIns="0" tIns="0" rIns="0" bIns="0" rtlCol="0" anchor="t"/>
          <a:lstStyle/>
          <a:p>
            <a:pPr indent="0" marL="0">
              <a:buNone/>
            </a:pPr>
            <a:r>
              <a:rPr lang="en-US" sz="1800" b="1" dirty="0">
                <a:solidFill>
                  <a:schemeClr val="tx1"/>
                </a:solidFill>
              </a:rPr>
              <a:t>Use</a:t>
            </a:r>
            <a:endParaRPr lang="en-US" sz="1800" dirty="0"/>
          </a:p>
        </p:txBody>
      </p:sp>
      <p:sp>
        <p:nvSpPr>
          <p:cNvPr id="20" name="Text 18"/>
          <p:cNvSpPr txBox="1"/>
          <p:nvPr/>
        </p:nvSpPr>
        <p:spPr>
          <a:xfrm>
            <a:off x="8321040" y="4032504"/>
            <a:ext cx="3319272" cy="566928"/>
          </a:xfrm>
          <a:prstGeom prst="rect">
            <a:avLst/>
          </a:prstGeom>
          <a:noFill/>
          <a:ln/>
        </p:spPr>
        <p:txBody>
          <a:bodyPr wrap="square" lIns="0" tIns="0" rIns="0" bIns="0" rtlCol="0" anchor="t"/>
          <a:lstStyle/>
          <a:p>
            <a:pPr indent="0" marL="0">
              <a:buNone/>
            </a:pPr>
            <a:r>
              <a:rPr lang="en-US" sz="1400" dirty="0">
                <a:solidFill>
                  <a:schemeClr val="accent6"/>
                </a:solidFill>
              </a:rPr>
              <a:t>Load it into this session and record it in the capability lock</a:t>
            </a:r>
            <a:endParaRPr lang="en-US" sz="1400" dirty="0"/>
          </a:p>
        </p:txBody>
      </p:sp>
      <p:sp>
        <p:nvSpPr>
          <p:cNvPr id="21" name="Skill trigger card"/>
          <p:cNvSpPr/>
          <p:nvPr/>
        </p:nvSpPr>
        <p:spPr>
          <a:xfrm>
            <a:off x="7589520" y="4800600"/>
            <a:ext cx="4050792" cy="1280160"/>
          </a:xfrm>
          <a:prstGeom prst="roundRect">
            <a:avLst>
              <a:gd name="adj" fmla="val 8571"/>
            </a:avLst>
          </a:prstGeom>
          <a:solidFill>
            <a:schemeClr val="bg2"/>
          </a:solidFill>
          <a:ln/>
        </p:spPr>
      </p:sp>
      <p:sp>
        <p:nvSpPr>
          <p:cNvPr id="22" name="Skill trigger circle"/>
          <p:cNvSpPr/>
          <p:nvPr/>
        </p:nvSpPr>
        <p:spPr>
          <a:xfrm>
            <a:off x="7818120" y="4983480"/>
            <a:ext cx="502920" cy="502920"/>
          </a:xfrm>
          <a:prstGeom prst="ellipse">
            <a:avLst/>
          </a:prstGeom>
          <a:solidFill>
            <a:schemeClr val="accent1"/>
          </a:solidFill>
          <a:ln/>
        </p:spPr>
      </p:sp>
      <p:pic>
        <p:nvPicPr>
          <p:cNvPr id="23" name="Skill trigger icon" descr="preencoded.png">    </p:cNvPr>
          <p:cNvPicPr>
            <a:picLocks noChangeAspect="1"/>
          </p:cNvPicPr>
          <p:nvPr/>
        </p:nvPicPr>
        <p:blipFill>
          <a:blip r:embed="rId1"/>
          <a:stretch>
            <a:fillRect/>
          </a:stretch>
        </p:blipFill>
        <p:spPr>
          <a:xfrm>
            <a:off x="7938821" y="5104181"/>
            <a:ext cx="261518" cy="261518"/>
          </a:xfrm>
          <a:prstGeom prst="rect">
            <a:avLst/>
          </a:prstGeom>
        </p:spPr>
      </p:pic>
      <p:sp>
        <p:nvSpPr>
          <p:cNvPr id="24" name="Text 21"/>
          <p:cNvSpPr txBox="1"/>
          <p:nvPr/>
        </p:nvSpPr>
        <p:spPr>
          <a:xfrm>
            <a:off x="8503920" y="4937760"/>
            <a:ext cx="2953512" cy="1051560"/>
          </a:xfrm>
          <a:prstGeom prst="rect">
            <a:avLst/>
          </a:prstGeom>
          <a:noFill/>
          <a:ln/>
        </p:spPr>
        <p:txBody>
          <a:bodyPr wrap="square" lIns="0" tIns="0" rIns="0" bIns="0" rtlCol="0" anchor="ctr"/>
          <a:lstStyle/>
          <a:p>
            <a:pPr indent="0" marL="0">
              <a:buNone/>
            </a:pPr>
            <a:r>
              <a:rPr lang="en-US" sz="1400" dirty="0">
                <a:solidFill>
                  <a:schemeClr val="tx1"/>
                </a:solidFill>
              </a:rPr>
              <a:t>The bundled skill triggers this on reviews, tests, docs, database queries and untrusted code.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USE CASE 2</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Text loads now; config changes ask first</a:t>
            </a:r>
            <a:endParaRPr lang="en-US" sz="3600" dirty="0"/>
          </a:p>
        </p:txBody>
      </p:sp>
      <p:sp>
        <p:nvSpPr>
          <p:cNvPr id="4" name="Available now card"/>
          <p:cNvSpPr/>
          <p:nvPr/>
        </p:nvSpPr>
        <p:spPr>
          <a:xfrm>
            <a:off x="548640" y="1691640"/>
            <a:ext cx="3575304" cy="2971800"/>
          </a:xfrm>
          <a:prstGeom prst="roundRect">
            <a:avLst>
              <a:gd name="adj" fmla="val 3692"/>
            </a:avLst>
          </a:prstGeom>
          <a:solidFill>
            <a:schemeClr val="bg2"/>
          </a:solidFill>
          <a:ln/>
        </p:spPr>
      </p:sp>
      <p:sp>
        <p:nvSpPr>
          <p:cNvPr id="5" name="Available now chip"/>
          <p:cNvSpPr/>
          <p:nvPr/>
        </p:nvSpPr>
        <p:spPr>
          <a:xfrm>
            <a:off x="822960" y="1920240"/>
            <a:ext cx="2103120" cy="438912"/>
          </a:xfrm>
          <a:prstGeom prst="roundRect">
            <a:avLst>
              <a:gd name="adj" fmla="val 50000"/>
            </a:avLst>
          </a:prstGeom>
          <a:solidFill>
            <a:schemeClr val="accent1"/>
          </a:solidFill>
          <a:ln/>
        </p:spPr>
      </p:sp>
      <p:sp>
        <p:nvSpPr>
          <p:cNvPr id="6" name="Text 4"/>
          <p:cNvSpPr txBox="1"/>
          <p:nvPr/>
        </p:nvSpPr>
        <p:spPr>
          <a:xfrm>
            <a:off x="822960" y="1920240"/>
            <a:ext cx="2103120" cy="438912"/>
          </a:xfrm>
          <a:prstGeom prst="rect">
            <a:avLst/>
          </a:prstGeom>
          <a:noFill/>
          <a:ln/>
        </p:spPr>
        <p:txBody>
          <a:bodyPr wrap="square" lIns="0" tIns="0" rIns="0" bIns="0" rtlCol="0" anchor="ctr"/>
          <a:lstStyle/>
          <a:p>
            <a:pPr algn="ctr" indent="0" marL="0">
              <a:buNone/>
            </a:pPr>
            <a:r>
              <a:rPr lang="en-US" sz="1500" b="1" dirty="0">
                <a:solidFill>
                  <a:schemeClr val="bg1"/>
                </a:solidFill>
              </a:rPr>
              <a:t>Available now</a:t>
            </a:r>
            <a:endParaRPr lang="en-US" sz="1500" dirty="0"/>
          </a:p>
        </p:txBody>
      </p:sp>
      <p:pic>
        <p:nvPicPr>
          <p:cNvPr id="7" name="Available now skill icon" descr="preencoded.png">    </p:cNvPr>
          <p:cNvPicPr>
            <a:picLocks noChangeAspect="1"/>
          </p:cNvPicPr>
          <p:nvPr/>
        </p:nvPicPr>
        <p:blipFill>
          <a:blip r:embed="rId1"/>
          <a:stretch>
            <a:fillRect/>
          </a:stretch>
        </p:blipFill>
        <p:spPr>
          <a:xfrm>
            <a:off x="822960" y="2606040"/>
            <a:ext cx="365760" cy="365760"/>
          </a:xfrm>
          <a:prstGeom prst="rect">
            <a:avLst/>
          </a:prstGeom>
        </p:spPr>
      </p:pic>
      <p:pic>
        <p:nvPicPr>
          <p:cNvPr id="8" name="Available now prompt icon" descr="preencoded.png">    </p:cNvPr>
          <p:cNvPicPr>
            <a:picLocks noChangeAspect="1"/>
          </p:cNvPicPr>
          <p:nvPr/>
        </p:nvPicPr>
        <p:blipFill>
          <a:blip r:embed="rId2"/>
          <a:stretch>
            <a:fillRect/>
          </a:stretch>
        </p:blipFill>
        <p:spPr>
          <a:xfrm>
            <a:off x="1325880" y="2606040"/>
            <a:ext cx="365760" cy="365760"/>
          </a:xfrm>
          <a:prstGeom prst="rect">
            <a:avLst/>
          </a:prstGeom>
        </p:spPr>
      </p:pic>
      <p:sp>
        <p:nvSpPr>
          <p:cNvPr id="9" name="Text 5"/>
          <p:cNvSpPr txBox="1"/>
          <p:nvPr/>
        </p:nvSpPr>
        <p:spPr>
          <a:xfrm>
            <a:off x="822960" y="3108960"/>
            <a:ext cx="3108960" cy="365760"/>
          </a:xfrm>
          <a:prstGeom prst="rect">
            <a:avLst/>
          </a:prstGeom>
          <a:noFill/>
          <a:ln/>
        </p:spPr>
        <p:txBody>
          <a:bodyPr wrap="square" lIns="0" tIns="0" rIns="0" bIns="0" rtlCol="0" anchor="t"/>
          <a:lstStyle/>
          <a:p>
            <a:pPr indent="0" marL="0">
              <a:buNone/>
            </a:pPr>
            <a:r>
              <a:rPr lang="en-US" sz="1600" b="1" dirty="0">
                <a:solidFill>
                  <a:schemeClr val="tx1"/>
                </a:solidFill>
              </a:rPr>
              <a:t>Skills  ·  Prompts</a:t>
            </a:r>
            <a:endParaRPr lang="en-US" sz="1600" dirty="0"/>
          </a:p>
        </p:txBody>
      </p:sp>
      <p:sp>
        <p:nvSpPr>
          <p:cNvPr id="10" name="Text 6"/>
          <p:cNvSpPr txBox="1"/>
          <p:nvPr/>
        </p:nvSpPr>
        <p:spPr>
          <a:xfrm>
            <a:off x="822960" y="3520440"/>
            <a:ext cx="3108960" cy="1097280"/>
          </a:xfrm>
          <a:prstGeom prst="rect">
            <a:avLst/>
          </a:prstGeom>
          <a:noFill/>
          <a:ln/>
        </p:spPr>
        <p:txBody>
          <a:bodyPr wrap="square" lIns="0" tIns="0" rIns="0" bIns="0" rtlCol="0" anchor="t"/>
          <a:lstStyle/>
          <a:p>
            <a:pPr indent="0" marL="0">
              <a:buNone/>
            </a:pPr>
            <a:r>
              <a:rPr lang="en-US" sz="1500" dirty="0">
                <a:solidFill>
                  <a:schemeClr val="accent6"/>
                </a:solidFill>
              </a:rPr>
              <a:t>The exact approved version is fetched from its permanent URL and loaded into the session’s context.</a:t>
            </a:r>
            <a:endParaRPr lang="en-US" sz="1500" dirty="0"/>
          </a:p>
        </p:txBody>
      </p:sp>
      <p:sp>
        <p:nvSpPr>
          <p:cNvPr id="11" name="Next session card"/>
          <p:cNvSpPr/>
          <p:nvPr/>
        </p:nvSpPr>
        <p:spPr>
          <a:xfrm>
            <a:off x="4306824" y="1691640"/>
            <a:ext cx="3575304" cy="2971800"/>
          </a:xfrm>
          <a:prstGeom prst="roundRect">
            <a:avLst>
              <a:gd name="adj" fmla="val 3692"/>
            </a:avLst>
          </a:prstGeom>
          <a:solidFill>
            <a:schemeClr val="bg2"/>
          </a:solidFill>
          <a:ln/>
        </p:spPr>
      </p:sp>
      <p:sp>
        <p:nvSpPr>
          <p:cNvPr id="12" name="Next session chip"/>
          <p:cNvSpPr/>
          <p:nvPr/>
        </p:nvSpPr>
        <p:spPr>
          <a:xfrm>
            <a:off x="4581144" y="1920240"/>
            <a:ext cx="2103120" cy="438912"/>
          </a:xfrm>
          <a:prstGeom prst="roundRect">
            <a:avLst>
              <a:gd name="adj" fmla="val 50000"/>
            </a:avLst>
          </a:prstGeom>
          <a:solidFill>
            <a:schemeClr val="accent4"/>
          </a:solidFill>
          <a:ln/>
        </p:spPr>
      </p:sp>
      <p:sp>
        <p:nvSpPr>
          <p:cNvPr id="13" name="Text 9"/>
          <p:cNvSpPr txBox="1"/>
          <p:nvPr/>
        </p:nvSpPr>
        <p:spPr>
          <a:xfrm>
            <a:off x="4581144" y="1920240"/>
            <a:ext cx="2103120" cy="438912"/>
          </a:xfrm>
          <a:prstGeom prst="rect">
            <a:avLst/>
          </a:prstGeom>
          <a:noFill/>
          <a:ln/>
        </p:spPr>
        <p:txBody>
          <a:bodyPr wrap="square" lIns="0" tIns="0" rIns="0" bIns="0" rtlCol="0" anchor="ctr"/>
          <a:lstStyle/>
          <a:p>
            <a:pPr algn="ctr" indent="0" marL="0">
              <a:buNone/>
            </a:pPr>
            <a:r>
              <a:rPr lang="en-US" sz="1500" b="1" dirty="0">
                <a:solidFill>
                  <a:schemeClr val="bg1"/>
                </a:solidFill>
              </a:rPr>
              <a:t>Next session</a:t>
            </a:r>
            <a:endParaRPr lang="en-US" sz="1500" dirty="0"/>
          </a:p>
        </p:txBody>
      </p:sp>
      <p:pic>
        <p:nvPicPr>
          <p:cNvPr id="14" name="Next session mcp icon" descr="preencoded.png">    </p:cNvPr>
          <p:cNvPicPr>
            <a:picLocks noChangeAspect="1"/>
          </p:cNvPicPr>
          <p:nvPr/>
        </p:nvPicPr>
        <p:blipFill>
          <a:blip r:embed="rId3"/>
          <a:stretch>
            <a:fillRect/>
          </a:stretch>
        </p:blipFill>
        <p:spPr>
          <a:xfrm>
            <a:off x="4581144" y="2606040"/>
            <a:ext cx="365760" cy="365760"/>
          </a:xfrm>
          <a:prstGeom prst="rect">
            <a:avLst/>
          </a:prstGeom>
        </p:spPr>
      </p:pic>
      <p:pic>
        <p:nvPicPr>
          <p:cNvPr id="15" name="Next session agent icon" descr="preencoded.png">    </p:cNvPr>
          <p:cNvPicPr>
            <a:picLocks noChangeAspect="1"/>
          </p:cNvPicPr>
          <p:nvPr/>
        </p:nvPicPr>
        <p:blipFill>
          <a:blip r:embed="rId4"/>
          <a:stretch>
            <a:fillRect/>
          </a:stretch>
        </p:blipFill>
        <p:spPr>
          <a:xfrm>
            <a:off x="5084064" y="2606040"/>
            <a:ext cx="365760" cy="365760"/>
          </a:xfrm>
          <a:prstGeom prst="rect">
            <a:avLst/>
          </a:prstGeom>
        </p:spPr>
      </p:pic>
      <p:pic>
        <p:nvPicPr>
          <p:cNvPr id="16" name="Next session sandbox icon" descr="preencoded.png">    </p:cNvPr>
          <p:cNvPicPr>
            <a:picLocks noChangeAspect="1"/>
          </p:cNvPicPr>
          <p:nvPr/>
        </p:nvPicPr>
        <p:blipFill>
          <a:blip r:embed="rId5"/>
          <a:stretch>
            <a:fillRect/>
          </a:stretch>
        </p:blipFill>
        <p:spPr>
          <a:xfrm>
            <a:off x="5586984" y="2606040"/>
            <a:ext cx="365760" cy="365760"/>
          </a:xfrm>
          <a:prstGeom prst="rect">
            <a:avLst/>
          </a:prstGeom>
        </p:spPr>
      </p:pic>
      <p:sp>
        <p:nvSpPr>
          <p:cNvPr id="17" name="Text 10"/>
          <p:cNvSpPr txBox="1"/>
          <p:nvPr/>
        </p:nvSpPr>
        <p:spPr>
          <a:xfrm>
            <a:off x="4581144" y="3108960"/>
            <a:ext cx="3108960" cy="365760"/>
          </a:xfrm>
          <a:prstGeom prst="rect">
            <a:avLst/>
          </a:prstGeom>
          <a:noFill/>
          <a:ln/>
        </p:spPr>
        <p:txBody>
          <a:bodyPr wrap="square" lIns="0" tIns="0" rIns="0" bIns="0" rtlCol="0" anchor="t"/>
          <a:lstStyle/>
          <a:p>
            <a:pPr indent="0" marL="0">
              <a:buNone/>
            </a:pPr>
            <a:r>
              <a:rPr lang="en-US" sz="1600" b="1" dirty="0">
                <a:solidFill>
                  <a:schemeClr val="tx1"/>
                </a:solidFill>
              </a:rPr>
              <a:t>MCP servers  ·  Agents  ·  Sandboxes</a:t>
            </a:r>
            <a:endParaRPr lang="en-US" sz="1600" dirty="0"/>
          </a:p>
        </p:txBody>
      </p:sp>
      <p:sp>
        <p:nvSpPr>
          <p:cNvPr id="18" name="Text 11"/>
          <p:cNvSpPr txBox="1"/>
          <p:nvPr/>
        </p:nvSpPr>
        <p:spPr>
          <a:xfrm>
            <a:off x="4581144" y="3520440"/>
            <a:ext cx="3108960" cy="1097280"/>
          </a:xfrm>
          <a:prstGeom prst="rect">
            <a:avLst/>
          </a:prstGeom>
          <a:noFill/>
          <a:ln/>
        </p:spPr>
        <p:txBody>
          <a:bodyPr wrap="square" lIns="0" tIns="0" rIns="0" bIns="0" rtlCol="0" anchor="t"/>
          <a:lstStyle/>
          <a:p>
            <a:pPr indent="0" marL="0">
              <a:buNone/>
            </a:pPr>
            <a:r>
              <a:rPr lang="en-US" sz="1500" dirty="0">
                <a:solidFill>
                  <a:schemeClr val="accent6"/>
                </a:solidFill>
              </a:rPr>
              <a:t>Nothing is written. You get next_step: the existing install command, which confirms first and applies after a restart.</a:t>
            </a:r>
            <a:endParaRPr lang="en-US" sz="1500" dirty="0"/>
          </a:p>
        </p:txBody>
      </p:sp>
      <p:sp>
        <p:nvSpPr>
          <p:cNvPr id="19" name="Explicit install card"/>
          <p:cNvSpPr/>
          <p:nvPr/>
        </p:nvSpPr>
        <p:spPr>
          <a:xfrm>
            <a:off x="8065008" y="1691640"/>
            <a:ext cx="3575304" cy="2971800"/>
          </a:xfrm>
          <a:prstGeom prst="roundRect">
            <a:avLst>
              <a:gd name="adj" fmla="val 3692"/>
            </a:avLst>
          </a:prstGeom>
          <a:solidFill>
            <a:schemeClr val="bg2"/>
          </a:solidFill>
          <a:ln/>
        </p:spPr>
      </p:sp>
      <p:sp>
        <p:nvSpPr>
          <p:cNvPr id="20" name="Explicit install chip"/>
          <p:cNvSpPr/>
          <p:nvPr/>
        </p:nvSpPr>
        <p:spPr>
          <a:xfrm>
            <a:off x="8339328" y="1920240"/>
            <a:ext cx="2103120" cy="438912"/>
          </a:xfrm>
          <a:prstGeom prst="roundRect">
            <a:avLst>
              <a:gd name="adj" fmla="val 50000"/>
            </a:avLst>
          </a:prstGeom>
          <a:solidFill>
            <a:schemeClr val="accent5"/>
          </a:solidFill>
          <a:ln/>
        </p:spPr>
      </p:sp>
      <p:sp>
        <p:nvSpPr>
          <p:cNvPr id="21" name="Text 14"/>
          <p:cNvSpPr txBox="1"/>
          <p:nvPr/>
        </p:nvSpPr>
        <p:spPr>
          <a:xfrm>
            <a:off x="8339328" y="1920240"/>
            <a:ext cx="2103120" cy="438912"/>
          </a:xfrm>
          <a:prstGeom prst="rect">
            <a:avLst/>
          </a:prstGeom>
          <a:noFill/>
          <a:ln/>
        </p:spPr>
        <p:txBody>
          <a:bodyPr wrap="square" lIns="0" tIns="0" rIns="0" bIns="0" rtlCol="0" anchor="ctr"/>
          <a:lstStyle/>
          <a:p>
            <a:pPr algn="ctr" indent="0" marL="0">
              <a:buNone/>
            </a:pPr>
            <a:r>
              <a:rPr lang="en-US" sz="1500" b="1" dirty="0">
                <a:solidFill>
                  <a:schemeClr val="bg1"/>
                </a:solidFill>
              </a:rPr>
              <a:t>Explicit install</a:t>
            </a:r>
            <a:endParaRPr lang="en-US" sz="1500" dirty="0"/>
          </a:p>
        </p:txBody>
      </p:sp>
      <p:pic>
        <p:nvPicPr>
          <p:cNvPr id="22" name="Explicit install hook icon" descr="preencoded.png">    </p:cNvPr>
          <p:cNvPicPr>
            <a:picLocks noChangeAspect="1"/>
          </p:cNvPicPr>
          <p:nvPr/>
        </p:nvPicPr>
        <p:blipFill>
          <a:blip r:embed="rId6"/>
          <a:stretch>
            <a:fillRect/>
          </a:stretch>
        </p:blipFill>
        <p:spPr>
          <a:xfrm>
            <a:off x="8339328" y="2606040"/>
            <a:ext cx="365760" cy="365760"/>
          </a:xfrm>
          <a:prstGeom prst="rect">
            <a:avLst/>
          </a:prstGeom>
        </p:spPr>
      </p:pic>
      <p:sp>
        <p:nvSpPr>
          <p:cNvPr id="23" name="Text 15"/>
          <p:cNvSpPr txBox="1"/>
          <p:nvPr/>
        </p:nvSpPr>
        <p:spPr>
          <a:xfrm>
            <a:off x="8339328" y="3108960"/>
            <a:ext cx="3108960" cy="365760"/>
          </a:xfrm>
          <a:prstGeom prst="rect">
            <a:avLst/>
          </a:prstGeom>
          <a:noFill/>
          <a:ln/>
        </p:spPr>
        <p:txBody>
          <a:bodyPr wrap="square" lIns="0" tIns="0" rIns="0" bIns="0" rtlCol="0" anchor="t"/>
          <a:lstStyle/>
          <a:p>
            <a:pPr indent="0" marL="0">
              <a:buNone/>
            </a:pPr>
            <a:r>
              <a:rPr lang="en-US" sz="1600" b="1" dirty="0">
                <a:solidFill>
                  <a:schemeClr val="tx1"/>
                </a:solidFill>
              </a:rPr>
              <a:t>Hooks</a:t>
            </a:r>
            <a:endParaRPr lang="en-US" sz="1600" dirty="0"/>
          </a:p>
        </p:txBody>
      </p:sp>
      <p:sp>
        <p:nvSpPr>
          <p:cNvPr id="24" name="Text 16"/>
          <p:cNvSpPr txBox="1"/>
          <p:nvPr/>
        </p:nvSpPr>
        <p:spPr>
          <a:xfrm>
            <a:off x="8339328" y="3520440"/>
            <a:ext cx="3108960" cy="1097280"/>
          </a:xfrm>
          <a:prstGeom prst="rect">
            <a:avLst/>
          </a:prstGeom>
          <a:noFill/>
          <a:ln/>
        </p:spPr>
        <p:txBody>
          <a:bodyPr wrap="square" lIns="0" tIns="0" rIns="0" bIns="0" rtlCol="0" anchor="t"/>
          <a:lstStyle/>
          <a:p>
            <a:pPr indent="0" marL="0">
              <a:buNone/>
            </a:pPr>
            <a:r>
              <a:rPr lang="en-US" sz="1500" dirty="0">
                <a:solidFill>
                  <a:schemeClr val="accent6"/>
                </a:solidFill>
              </a:rPr>
              <a:t>Never activated implicitly. Always a deliberate, confirmed install.</a:t>
            </a:r>
            <a:endParaRPr lang="en-US" sz="1500" dirty="0"/>
          </a:p>
        </p:txBody>
      </p:sp>
      <p:sp>
        <p:nvSpPr>
          <p:cNvPr id="25" name="Refusal card"/>
          <p:cNvSpPr/>
          <p:nvPr/>
        </p:nvSpPr>
        <p:spPr>
          <a:xfrm>
            <a:off x="548640" y="4892040"/>
            <a:ext cx="5454396" cy="1188720"/>
          </a:xfrm>
          <a:prstGeom prst="roundRect">
            <a:avLst>
              <a:gd name="adj" fmla="val 9231"/>
            </a:avLst>
          </a:prstGeom>
          <a:solidFill>
            <a:schemeClr val="tx2"/>
          </a:solidFill>
          <a:ln/>
        </p:spPr>
      </p:sp>
      <p:sp>
        <p:nvSpPr>
          <p:cNvPr id="26" name="Refusals circle"/>
          <p:cNvSpPr/>
          <p:nvPr/>
        </p:nvSpPr>
        <p:spPr>
          <a:xfrm>
            <a:off x="777240" y="5189220"/>
            <a:ext cx="594360" cy="594360"/>
          </a:xfrm>
          <a:prstGeom prst="ellipse">
            <a:avLst/>
          </a:prstGeom>
          <a:solidFill>
            <a:schemeClr val="accent2"/>
          </a:solidFill>
          <a:ln/>
        </p:spPr>
      </p:sp>
      <p:pic>
        <p:nvPicPr>
          <p:cNvPr id="27" name="Refusals icon" descr="preencoded.png">    </p:cNvPr>
          <p:cNvPicPr>
            <a:picLocks noChangeAspect="1"/>
          </p:cNvPicPr>
          <p:nvPr/>
        </p:nvPicPr>
        <p:blipFill>
          <a:blip r:embed="rId7"/>
          <a:stretch>
            <a:fillRect/>
          </a:stretch>
        </p:blipFill>
        <p:spPr>
          <a:xfrm>
            <a:off x="919886" y="5331866"/>
            <a:ext cx="309067" cy="309067"/>
          </a:xfrm>
          <a:prstGeom prst="rect">
            <a:avLst/>
          </a:prstGeom>
        </p:spPr>
      </p:pic>
      <p:sp>
        <p:nvSpPr>
          <p:cNvPr id="28" name="Text 19"/>
          <p:cNvSpPr txBox="1"/>
          <p:nvPr/>
        </p:nvSpPr>
        <p:spPr>
          <a:xfrm>
            <a:off x="1554480" y="4892040"/>
            <a:ext cx="4297680" cy="1188720"/>
          </a:xfrm>
          <a:prstGeom prst="rect">
            <a:avLst/>
          </a:prstGeom>
          <a:noFill/>
          <a:ln/>
        </p:spPr>
        <p:txBody>
          <a:bodyPr wrap="square" lIns="0" tIns="0" rIns="0" bIns="0" rtlCol="0" anchor="ctr"/>
          <a:lstStyle/>
          <a:p>
            <a:pPr indent="0" marL="0">
              <a:buNone/>
            </a:pPr>
            <a:r>
              <a:rPr lang="en-US" sz="1500" dirty="0">
                <a:solidFill>
                  <a:schemeClr val="bg1"/>
                </a:solidFill>
              </a:rPr>
              <a:t>Unapproved? Refused without --yes. Harness not supported? Refused.</a:t>
            </a:r>
            <a:endParaRPr lang="en-US" sz="1500" dirty="0"/>
          </a:p>
        </p:txBody>
      </p:sp>
      <p:sp>
        <p:nvSpPr>
          <p:cNvPr id="29" name="Runtime facts card"/>
          <p:cNvSpPr/>
          <p:nvPr/>
        </p:nvSpPr>
        <p:spPr>
          <a:xfrm>
            <a:off x="6185916" y="4892040"/>
            <a:ext cx="5454396" cy="1188720"/>
          </a:xfrm>
          <a:prstGeom prst="roundRect">
            <a:avLst>
              <a:gd name="adj" fmla="val 9231"/>
            </a:avLst>
          </a:prstGeom>
          <a:solidFill>
            <a:schemeClr val="tx2"/>
          </a:solidFill>
          <a:ln/>
        </p:spPr>
      </p:sp>
      <p:sp>
        <p:nvSpPr>
          <p:cNvPr id="30" name="Runtime facts circle"/>
          <p:cNvSpPr/>
          <p:nvPr/>
        </p:nvSpPr>
        <p:spPr>
          <a:xfrm>
            <a:off x="6414516" y="5189220"/>
            <a:ext cx="594360" cy="594360"/>
          </a:xfrm>
          <a:prstGeom prst="ellipse">
            <a:avLst/>
          </a:prstGeom>
          <a:solidFill>
            <a:schemeClr val="accent2"/>
          </a:solidFill>
          <a:ln/>
        </p:spPr>
      </p:sp>
      <p:pic>
        <p:nvPicPr>
          <p:cNvPr id="31" name="Runtime facts icon" descr="preencoded.png">    </p:cNvPr>
          <p:cNvPicPr>
            <a:picLocks noChangeAspect="1"/>
          </p:cNvPicPr>
          <p:nvPr/>
        </p:nvPicPr>
        <p:blipFill>
          <a:blip r:embed="rId8"/>
          <a:stretch>
            <a:fillRect/>
          </a:stretch>
        </p:blipFill>
        <p:spPr>
          <a:xfrm>
            <a:off x="6557162" y="5331866"/>
            <a:ext cx="309067" cy="309067"/>
          </a:xfrm>
          <a:prstGeom prst="rect">
            <a:avLst/>
          </a:prstGeom>
        </p:spPr>
      </p:pic>
      <p:sp>
        <p:nvSpPr>
          <p:cNvPr id="32" name="Text 22"/>
          <p:cNvSpPr txBox="1"/>
          <p:nvPr/>
        </p:nvSpPr>
        <p:spPr>
          <a:xfrm>
            <a:off x="7191756" y="4892040"/>
            <a:ext cx="4297680" cy="1188720"/>
          </a:xfrm>
          <a:prstGeom prst="rect">
            <a:avLst/>
          </a:prstGeom>
          <a:noFill/>
          <a:ln/>
        </p:spPr>
        <p:txBody>
          <a:bodyPr wrap="square" lIns="0" tIns="0" rIns="0" bIns="0" rtlCol="0" anchor="ctr"/>
          <a:lstStyle/>
          <a:p>
            <a:pPr indent="0" marL="0">
              <a:buNone/>
            </a:pPr>
            <a:r>
              <a:rPr lang="en-US" sz="1500" dirty="0">
                <a:solidFill>
                  <a:schemeClr val="bg1"/>
                </a:solidFill>
              </a:rPr>
              <a:t>Per-harness runtime facts (how MCP installs, live tool refresh, context injection) are verified data.</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USE CASE 3</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Know what each session relied on</a:t>
            </a:r>
            <a:endParaRPr lang="en-US" sz="3600" dirty="0"/>
          </a:p>
        </p:txBody>
      </p:sp>
      <p:sp>
        <p:nvSpPr>
          <p:cNvPr id="4" name="Activate circle"/>
          <p:cNvSpPr/>
          <p:nvPr/>
        </p:nvSpPr>
        <p:spPr>
          <a:xfrm>
            <a:off x="1417320" y="1783080"/>
            <a:ext cx="914400" cy="914400"/>
          </a:xfrm>
          <a:prstGeom prst="ellipse">
            <a:avLst/>
          </a:prstGeom>
          <a:solidFill>
            <a:schemeClr val="accent1"/>
          </a:solidFill>
          <a:ln/>
        </p:spPr>
      </p:sp>
      <p:pic>
        <p:nvPicPr>
          <p:cNvPr id="5" name="Activate icon" descr="preencoded.png">    </p:cNvPr>
          <p:cNvPicPr>
            <a:picLocks noChangeAspect="1"/>
          </p:cNvPicPr>
          <p:nvPr/>
        </p:nvPicPr>
        <p:blipFill>
          <a:blip r:embed="rId1"/>
          <a:stretch>
            <a:fillRect/>
          </a:stretch>
        </p:blipFill>
        <p:spPr>
          <a:xfrm>
            <a:off x="1636776" y="2002536"/>
            <a:ext cx="475488" cy="475488"/>
          </a:xfrm>
          <a:prstGeom prst="rect">
            <a:avLst/>
          </a:prstGeom>
        </p:spPr>
      </p:pic>
      <p:sp>
        <p:nvSpPr>
          <p:cNvPr id="6" name="Text 3"/>
          <p:cNvSpPr txBox="1"/>
          <p:nvPr/>
        </p:nvSpPr>
        <p:spPr>
          <a:xfrm>
            <a:off x="548640" y="2834640"/>
            <a:ext cx="2651760" cy="411480"/>
          </a:xfrm>
          <a:prstGeom prst="rect">
            <a:avLst/>
          </a:prstGeom>
          <a:noFill/>
          <a:ln/>
        </p:spPr>
        <p:txBody>
          <a:bodyPr wrap="square" lIns="0" tIns="0" rIns="0" bIns="0" rtlCol="0" anchor="t"/>
          <a:lstStyle/>
          <a:p>
            <a:pPr algn="ctr" indent="0" marL="0">
              <a:buNone/>
            </a:pPr>
            <a:r>
              <a:rPr lang="en-US" sz="1800" b="1" dirty="0">
                <a:solidFill>
                  <a:schemeClr val="tx1"/>
                </a:solidFill>
              </a:rPr>
              <a:t>Activate</a:t>
            </a:r>
            <a:endParaRPr lang="en-US" sz="1800" dirty="0"/>
          </a:p>
        </p:txBody>
      </p:sp>
      <p:sp>
        <p:nvSpPr>
          <p:cNvPr id="7" name="Text 4"/>
          <p:cNvSpPr txBox="1"/>
          <p:nvPr/>
        </p:nvSpPr>
        <p:spPr>
          <a:xfrm>
            <a:off x="640080" y="3291840"/>
            <a:ext cx="2468880" cy="1188720"/>
          </a:xfrm>
          <a:prstGeom prst="rect">
            <a:avLst/>
          </a:prstGeom>
          <a:noFill/>
          <a:ln/>
        </p:spPr>
        <p:txBody>
          <a:bodyPr wrap="square" lIns="0" tIns="0" rIns="0" bIns="0" rtlCol="0" anchor="t"/>
          <a:lstStyle/>
          <a:p>
            <a:pPr algn="ctr" indent="0" marL="0">
              <a:buNone/>
            </a:pPr>
            <a:r>
              <a:rPr lang="en-US" sz="1400" dirty="0">
                <a:solidFill>
                  <a:schemeClr val="accent6"/>
                </a:solidFill>
              </a:rPr>
              <a:t>discover use, agent pull or a component install</a:t>
            </a:r>
            <a:endParaRPr lang="en-US" sz="1400" dirty="0"/>
          </a:p>
        </p:txBody>
      </p:sp>
      <p:sp>
        <p:nvSpPr>
          <p:cNvPr id="8" name="Attribution arrow 1"/>
          <p:cNvSpPr/>
          <p:nvPr/>
        </p:nvSpPr>
        <p:spPr>
          <a:xfrm>
            <a:off x="2468880" y="2240280"/>
            <a:ext cx="1691640" cy="0"/>
          </a:xfrm>
          <a:prstGeom prst="line">
            <a:avLst/>
          </a:prstGeom>
          <a:noFill/>
          <a:ln w="25400">
            <a:solidFill>
              <a:srgbClr val="008296"/>
            </a:solidFill>
            <a:prstDash val="solid"/>
            <a:tailEnd type="triangle"/>
          </a:ln>
        </p:spPr>
      </p:sp>
      <p:sp>
        <p:nvSpPr>
          <p:cNvPr id="9" name="Capability lock circle"/>
          <p:cNvSpPr/>
          <p:nvPr/>
        </p:nvSpPr>
        <p:spPr>
          <a:xfrm>
            <a:off x="4251960" y="1783080"/>
            <a:ext cx="914400" cy="914400"/>
          </a:xfrm>
          <a:prstGeom prst="ellipse">
            <a:avLst/>
          </a:prstGeom>
          <a:solidFill>
            <a:schemeClr val="accent5"/>
          </a:solidFill>
          <a:ln/>
        </p:spPr>
      </p:sp>
      <p:pic>
        <p:nvPicPr>
          <p:cNvPr id="10" name="Capability lock icon" descr="preencoded.png">    </p:cNvPr>
          <p:cNvPicPr>
            <a:picLocks noChangeAspect="1"/>
          </p:cNvPicPr>
          <p:nvPr/>
        </p:nvPicPr>
        <p:blipFill>
          <a:blip r:embed="rId2"/>
          <a:stretch>
            <a:fillRect/>
          </a:stretch>
        </p:blipFill>
        <p:spPr>
          <a:xfrm>
            <a:off x="4471416" y="2002536"/>
            <a:ext cx="475488" cy="475488"/>
          </a:xfrm>
          <a:prstGeom prst="rect">
            <a:avLst/>
          </a:prstGeom>
        </p:spPr>
      </p:pic>
      <p:sp>
        <p:nvSpPr>
          <p:cNvPr id="11" name="Text 7"/>
          <p:cNvSpPr txBox="1"/>
          <p:nvPr/>
        </p:nvSpPr>
        <p:spPr>
          <a:xfrm>
            <a:off x="3383280" y="2834640"/>
            <a:ext cx="2651760" cy="411480"/>
          </a:xfrm>
          <a:prstGeom prst="rect">
            <a:avLst/>
          </a:prstGeom>
          <a:noFill/>
          <a:ln/>
        </p:spPr>
        <p:txBody>
          <a:bodyPr wrap="square" lIns="0" tIns="0" rIns="0" bIns="0" rtlCol="0" anchor="t"/>
          <a:lstStyle/>
          <a:p>
            <a:pPr algn="ctr" indent="0" marL="0">
              <a:buNone/>
            </a:pPr>
            <a:r>
              <a:rPr lang="en-US" sz="1800" b="1" dirty="0">
                <a:solidFill>
                  <a:schemeClr val="tx1"/>
                </a:solidFill>
              </a:rPr>
              <a:t>Capability lock</a:t>
            </a:r>
            <a:endParaRPr lang="en-US" sz="1800" dirty="0"/>
          </a:p>
        </p:txBody>
      </p:sp>
      <p:sp>
        <p:nvSpPr>
          <p:cNvPr id="12" name="Text 8"/>
          <p:cNvSpPr txBox="1"/>
          <p:nvPr/>
        </p:nvSpPr>
        <p:spPr>
          <a:xfrm>
            <a:off x="3474720" y="3291840"/>
            <a:ext cx="2468880" cy="1188720"/>
          </a:xfrm>
          <a:prstGeom prst="rect">
            <a:avLst/>
          </a:prstGeom>
          <a:noFill/>
          <a:ln/>
        </p:spPr>
        <p:txBody>
          <a:bodyPr wrap="square" lIns="0" tIns="0" rIns="0" bIns="0" rtlCol="0" anchor="t"/>
          <a:lstStyle/>
          <a:p>
            <a:pPr algn="ctr" indent="0" marL="0">
              <a:buNone/>
            </a:pPr>
            <a:r>
              <a:rPr lang="en-US" sz="1400" dirty="0">
                <a:solidFill>
                  <a:schemeClr val="accent6"/>
                </a:solidFill>
              </a:rPr>
              <a:t>One line in ~/.observal/capability_lock.jsonl: time, harness, directory, URN, version, digest</a:t>
            </a:r>
            <a:endParaRPr lang="en-US" sz="1400" dirty="0"/>
          </a:p>
        </p:txBody>
      </p:sp>
      <p:sp>
        <p:nvSpPr>
          <p:cNvPr id="13" name="Attribution arrow 2"/>
          <p:cNvSpPr/>
          <p:nvPr/>
        </p:nvSpPr>
        <p:spPr>
          <a:xfrm>
            <a:off x="5303520" y="2240280"/>
            <a:ext cx="1691640" cy="0"/>
          </a:xfrm>
          <a:prstGeom prst="line">
            <a:avLst/>
          </a:prstGeom>
          <a:noFill/>
          <a:ln w="25400">
            <a:solidFill>
              <a:srgbClr val="008296"/>
            </a:solidFill>
            <a:prstDash val="solid"/>
            <a:tailEnd type="triangle"/>
          </a:ln>
        </p:spPr>
      </p:sp>
      <p:sp>
        <p:nvSpPr>
          <p:cNvPr id="14" name="Session upload circle"/>
          <p:cNvSpPr/>
          <p:nvPr/>
        </p:nvSpPr>
        <p:spPr>
          <a:xfrm>
            <a:off x="7086600" y="1783080"/>
            <a:ext cx="914400" cy="914400"/>
          </a:xfrm>
          <a:prstGeom prst="ellipse">
            <a:avLst/>
          </a:prstGeom>
          <a:solidFill>
            <a:schemeClr val="accent1"/>
          </a:solidFill>
          <a:ln/>
        </p:spPr>
      </p:sp>
      <p:pic>
        <p:nvPicPr>
          <p:cNvPr id="15" name="Session upload icon" descr="preencoded.png">    </p:cNvPr>
          <p:cNvPicPr>
            <a:picLocks noChangeAspect="1"/>
          </p:cNvPicPr>
          <p:nvPr/>
        </p:nvPicPr>
        <p:blipFill>
          <a:blip r:embed="rId3"/>
          <a:stretch>
            <a:fillRect/>
          </a:stretch>
        </p:blipFill>
        <p:spPr>
          <a:xfrm>
            <a:off x="7306056" y="2002536"/>
            <a:ext cx="475488" cy="475488"/>
          </a:xfrm>
          <a:prstGeom prst="rect">
            <a:avLst/>
          </a:prstGeom>
        </p:spPr>
      </p:pic>
      <p:sp>
        <p:nvSpPr>
          <p:cNvPr id="16" name="Text 11"/>
          <p:cNvSpPr txBox="1"/>
          <p:nvPr/>
        </p:nvSpPr>
        <p:spPr>
          <a:xfrm>
            <a:off x="6217920" y="2834640"/>
            <a:ext cx="2651760" cy="411480"/>
          </a:xfrm>
          <a:prstGeom prst="rect">
            <a:avLst/>
          </a:prstGeom>
          <a:noFill/>
          <a:ln/>
        </p:spPr>
        <p:txBody>
          <a:bodyPr wrap="square" lIns="0" tIns="0" rIns="0" bIns="0" rtlCol="0" anchor="t"/>
          <a:lstStyle/>
          <a:p>
            <a:pPr algn="ctr" indent="0" marL="0">
              <a:buNone/>
            </a:pPr>
            <a:r>
              <a:rPr lang="en-US" sz="1800" b="1" dirty="0">
                <a:solidFill>
                  <a:schemeClr val="tx1"/>
                </a:solidFill>
              </a:rPr>
              <a:t>Session upload</a:t>
            </a:r>
            <a:endParaRPr lang="en-US" sz="1800" dirty="0"/>
          </a:p>
        </p:txBody>
      </p:sp>
      <p:sp>
        <p:nvSpPr>
          <p:cNvPr id="17" name="Text 12"/>
          <p:cNvSpPr txBox="1"/>
          <p:nvPr/>
        </p:nvSpPr>
        <p:spPr>
          <a:xfrm>
            <a:off x="6309360" y="3291840"/>
            <a:ext cx="2468880" cy="1188720"/>
          </a:xfrm>
          <a:prstGeom prst="rect">
            <a:avLst/>
          </a:prstGeom>
          <a:noFill/>
          <a:ln/>
        </p:spPr>
        <p:txBody>
          <a:bodyPr wrap="square" lIns="0" tIns="0" rIns="0" bIns="0" rtlCol="0" anchor="t"/>
          <a:lstStyle/>
          <a:p>
            <a:pPr algn="ctr" indent="0" marL="0">
              <a:buNone/>
            </a:pPr>
            <a:r>
              <a:rPr lang="en-US" sz="1400" dirty="0">
                <a:solidFill>
                  <a:schemeClr val="accent6"/>
                </a:solidFill>
              </a:rPr>
              <a:t>Session push hook or observal reconcile matches by harness, directory and time window</a:t>
            </a:r>
            <a:endParaRPr lang="en-US" sz="1400" dirty="0"/>
          </a:p>
        </p:txBody>
      </p:sp>
      <p:sp>
        <p:nvSpPr>
          <p:cNvPr id="18" name="Attribution arrow 3"/>
          <p:cNvSpPr/>
          <p:nvPr/>
        </p:nvSpPr>
        <p:spPr>
          <a:xfrm>
            <a:off x="8138160" y="2240280"/>
            <a:ext cx="1691640" cy="0"/>
          </a:xfrm>
          <a:prstGeom prst="line">
            <a:avLst/>
          </a:prstGeom>
          <a:noFill/>
          <a:ln w="25400">
            <a:solidFill>
              <a:srgbClr val="008296"/>
            </a:solidFill>
            <a:prstDash val="solid"/>
            <a:tailEnd type="triangle"/>
          </a:ln>
        </p:spPr>
      </p:sp>
      <p:sp>
        <p:nvSpPr>
          <p:cNvPr id="19" name="ClickHouse circle"/>
          <p:cNvSpPr/>
          <p:nvPr/>
        </p:nvSpPr>
        <p:spPr>
          <a:xfrm>
            <a:off x="9921240" y="1783080"/>
            <a:ext cx="914400" cy="914400"/>
          </a:xfrm>
          <a:prstGeom prst="ellipse">
            <a:avLst/>
          </a:prstGeom>
          <a:solidFill>
            <a:schemeClr val="accent1"/>
          </a:solidFill>
          <a:ln/>
        </p:spPr>
      </p:sp>
      <p:pic>
        <p:nvPicPr>
          <p:cNvPr id="20" name="ClickHouse icon" descr="preencoded.png">    </p:cNvPr>
          <p:cNvPicPr>
            <a:picLocks noChangeAspect="1"/>
          </p:cNvPicPr>
          <p:nvPr/>
        </p:nvPicPr>
        <p:blipFill>
          <a:blip r:embed="rId4"/>
          <a:stretch>
            <a:fillRect/>
          </a:stretch>
        </p:blipFill>
        <p:spPr>
          <a:xfrm>
            <a:off x="10140696" y="2002536"/>
            <a:ext cx="475488" cy="475488"/>
          </a:xfrm>
          <a:prstGeom prst="rect">
            <a:avLst/>
          </a:prstGeom>
        </p:spPr>
      </p:pic>
      <p:sp>
        <p:nvSpPr>
          <p:cNvPr id="21" name="Text 15"/>
          <p:cNvSpPr txBox="1"/>
          <p:nvPr/>
        </p:nvSpPr>
        <p:spPr>
          <a:xfrm>
            <a:off x="9052560" y="2834640"/>
            <a:ext cx="2651760" cy="411480"/>
          </a:xfrm>
          <a:prstGeom prst="rect">
            <a:avLst/>
          </a:prstGeom>
          <a:noFill/>
          <a:ln/>
        </p:spPr>
        <p:txBody>
          <a:bodyPr wrap="square" lIns="0" tIns="0" rIns="0" bIns="0" rtlCol="0" anchor="t"/>
          <a:lstStyle/>
          <a:p>
            <a:pPr algn="ctr" indent="0" marL="0">
              <a:buNone/>
            </a:pPr>
            <a:r>
              <a:rPr lang="en-US" sz="1800" b="1" dirty="0">
                <a:solidFill>
                  <a:schemeClr val="tx1"/>
                </a:solidFill>
              </a:rPr>
              <a:t>ClickHouse</a:t>
            </a:r>
            <a:endParaRPr lang="en-US" sz="1800" dirty="0"/>
          </a:p>
        </p:txBody>
      </p:sp>
      <p:sp>
        <p:nvSpPr>
          <p:cNvPr id="22" name="Text 16"/>
          <p:cNvSpPr txBox="1"/>
          <p:nvPr/>
        </p:nvSpPr>
        <p:spPr>
          <a:xfrm>
            <a:off x="9144000" y="3291840"/>
            <a:ext cx="2468880" cy="1188720"/>
          </a:xfrm>
          <a:prstGeom prst="rect">
            <a:avLst/>
          </a:prstGeom>
          <a:noFill/>
          <a:ln/>
        </p:spPr>
        <p:txBody>
          <a:bodyPr wrap="square" lIns="0" tIns="0" rIns="0" bIns="0" rtlCol="0" anchor="t"/>
          <a:lstStyle/>
          <a:p>
            <a:pPr algn="ctr" indent="0" marL="0">
              <a:buNone/>
            </a:pPr>
            <a:r>
              <a:rPr lang="en-US" sz="1400" dirty="0">
                <a:solidFill>
                  <a:schemeClr val="accent6"/>
                </a:solidFill>
              </a:rPr>
              <a:t>session_capabilities rows, tagged exact, window or loose</a:t>
            </a:r>
            <a:endParaRPr lang="en-US" sz="1400" dirty="0"/>
          </a:p>
        </p:txBody>
      </p:sp>
      <p:sp>
        <p:nvSpPr>
          <p:cNvPr id="23" name="No new channel card"/>
          <p:cNvSpPr/>
          <p:nvPr/>
        </p:nvSpPr>
        <p:spPr>
          <a:xfrm>
            <a:off x="548640" y="4754880"/>
            <a:ext cx="5454396" cy="1325880"/>
          </a:xfrm>
          <a:prstGeom prst="roundRect">
            <a:avLst>
              <a:gd name="adj" fmla="val 8276"/>
            </a:avLst>
          </a:prstGeom>
          <a:solidFill>
            <a:schemeClr val="bg2"/>
          </a:solidFill>
          <a:ln/>
        </p:spPr>
      </p:sp>
      <p:sp>
        <p:nvSpPr>
          <p:cNvPr id="24" name="Text 18"/>
          <p:cNvSpPr txBox="1"/>
          <p:nvPr/>
        </p:nvSpPr>
        <p:spPr>
          <a:xfrm>
            <a:off x="822960" y="4892040"/>
            <a:ext cx="4937760" cy="365760"/>
          </a:xfrm>
          <a:prstGeom prst="rect">
            <a:avLst/>
          </a:prstGeom>
          <a:noFill/>
          <a:ln/>
        </p:spPr>
        <p:txBody>
          <a:bodyPr wrap="square" lIns="0" tIns="0" rIns="0" bIns="0" rtlCol="0" anchor="t"/>
          <a:lstStyle/>
          <a:p>
            <a:pPr indent="0" marL="0">
              <a:buNone/>
            </a:pPr>
            <a:r>
              <a:rPr lang="en-US" sz="1700" b="1" dirty="0">
                <a:solidFill>
                  <a:schemeClr val="tx1"/>
                </a:solidFill>
              </a:rPr>
              <a:t>No new tracking channel</a:t>
            </a:r>
            <a:endParaRPr lang="en-US" sz="1700" dirty="0"/>
          </a:p>
        </p:txBody>
      </p:sp>
      <p:sp>
        <p:nvSpPr>
          <p:cNvPr id="25" name="Text 19"/>
          <p:cNvSpPr txBox="1"/>
          <p:nvPr/>
        </p:nvSpPr>
        <p:spPr>
          <a:xfrm>
            <a:off x="822960" y="5257800"/>
            <a:ext cx="4937760" cy="731520"/>
          </a:xfrm>
          <a:prstGeom prst="rect">
            <a:avLst/>
          </a:prstGeom>
          <a:noFill/>
          <a:ln/>
        </p:spPr>
        <p:txBody>
          <a:bodyPr wrap="square" lIns="0" tIns="0" rIns="0" bIns="0" rtlCol="0" anchor="t"/>
          <a:lstStyle/>
          <a:p>
            <a:pPr indent="0" marL="0">
              <a:buNone/>
            </a:pPr>
            <a:r>
              <a:rPr lang="en-US" sz="1400" dirty="0">
                <a:solidFill>
                  <a:schemeClr val="accent6"/>
                </a:solidFill>
              </a:rPr>
              <a:t>Rides the session upload we already had, in every harness, plus the Pi extension.</a:t>
            </a:r>
            <a:endParaRPr lang="en-US" sz="1400" dirty="0"/>
          </a:p>
        </p:txBody>
      </p:sp>
      <p:sp>
        <p:nvSpPr>
          <p:cNvPr id="26" name="Nothing secret card"/>
          <p:cNvSpPr/>
          <p:nvPr/>
        </p:nvSpPr>
        <p:spPr>
          <a:xfrm>
            <a:off x="6185916" y="4754880"/>
            <a:ext cx="5454396" cy="1325880"/>
          </a:xfrm>
          <a:prstGeom prst="roundRect">
            <a:avLst>
              <a:gd name="adj" fmla="val 8276"/>
            </a:avLst>
          </a:prstGeom>
          <a:solidFill>
            <a:schemeClr val="bg2"/>
          </a:solidFill>
          <a:ln/>
        </p:spPr>
      </p:sp>
      <p:sp>
        <p:nvSpPr>
          <p:cNvPr id="27" name="Text 21"/>
          <p:cNvSpPr txBox="1"/>
          <p:nvPr/>
        </p:nvSpPr>
        <p:spPr>
          <a:xfrm>
            <a:off x="6460236" y="4892040"/>
            <a:ext cx="4937760" cy="365760"/>
          </a:xfrm>
          <a:prstGeom prst="rect">
            <a:avLst/>
          </a:prstGeom>
          <a:noFill/>
          <a:ln/>
        </p:spPr>
        <p:txBody>
          <a:bodyPr wrap="square" lIns="0" tIns="0" rIns="0" bIns="0" rtlCol="0" anchor="t"/>
          <a:lstStyle/>
          <a:p>
            <a:pPr indent="0" marL="0">
              <a:buNone/>
            </a:pPr>
            <a:r>
              <a:rPr lang="en-US" sz="1700" b="1" dirty="0">
                <a:solidFill>
                  <a:schemeClr val="tx1"/>
                </a:solidFill>
              </a:rPr>
              <a:t>Nothing secret is stored</a:t>
            </a:r>
            <a:endParaRPr lang="en-US" sz="1700" dirty="0"/>
          </a:p>
        </p:txBody>
      </p:sp>
      <p:sp>
        <p:nvSpPr>
          <p:cNvPr id="28" name="Text 22"/>
          <p:cNvSpPr txBox="1"/>
          <p:nvPr/>
        </p:nvSpPr>
        <p:spPr>
          <a:xfrm>
            <a:off x="6460236" y="5257800"/>
            <a:ext cx="4937760" cy="731520"/>
          </a:xfrm>
          <a:prstGeom prst="rect">
            <a:avLst/>
          </a:prstGeom>
          <a:noFill/>
          <a:ln/>
        </p:spPr>
        <p:txBody>
          <a:bodyPr wrap="square" lIns="0" tIns="0" rIns="0" bIns="0" rtlCol="0" anchor="t"/>
          <a:lstStyle/>
          <a:p>
            <a:pPr indent="0" marL="0">
              <a:buNone/>
            </a:pPr>
            <a:r>
              <a:rPr lang="en-US" sz="1400" dirty="0">
                <a:solidFill>
                  <a:schemeClr val="accent6"/>
                </a:solidFill>
              </a:rPr>
              <a:t>Only identifiers, versions, digests, paths and timestamps. Pruned after 30 days.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USE CASE 4</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Turn a good session into an agent</a:t>
            </a:r>
            <a:endParaRPr lang="en-US" sz="3600" dirty="0"/>
          </a:p>
        </p:txBody>
      </p:sp>
      <p:sp>
        <p:nvSpPr>
          <p:cNvPr id="4" name="Command pill"/>
          <p:cNvSpPr/>
          <p:nvPr/>
        </p:nvSpPr>
        <p:spPr>
          <a:xfrm>
            <a:off x="548640" y="1691640"/>
            <a:ext cx="11091672" cy="777240"/>
          </a:xfrm>
          <a:prstGeom prst="roundRect">
            <a:avLst>
              <a:gd name="adj" fmla="val 49412"/>
            </a:avLst>
          </a:prstGeom>
          <a:solidFill>
            <a:schemeClr val="tx2"/>
          </a:solidFill>
          <a:ln/>
        </p:spPr>
      </p:sp>
      <p:sp>
        <p:nvSpPr>
          <p:cNvPr id="5" name="Text 3"/>
          <p:cNvSpPr txBox="1"/>
          <p:nvPr/>
        </p:nvSpPr>
        <p:spPr>
          <a:xfrm>
            <a:off x="914400" y="1691640"/>
            <a:ext cx="10424160" cy="777240"/>
          </a:xfrm>
          <a:prstGeom prst="rect">
            <a:avLst/>
          </a:prstGeom>
          <a:noFill/>
          <a:ln/>
        </p:spPr>
        <p:txBody>
          <a:bodyPr wrap="square" lIns="0" tIns="0" rIns="0" bIns="0" rtlCol="0" anchor="ctr"/>
          <a:lstStyle/>
          <a:p>
            <a:pPr indent="0" marL="0">
              <a:buNone/>
            </a:pPr>
            <a:r>
              <a:rPr lang="en-US" sz="2000" dirty="0">
                <a:solidFill>
                  <a:schemeClr val="accent3"/>
                </a:solidFill>
                <a:latin typeface="Consolas" pitchFamily="34" charset="0"/>
                <a:ea typeface="Consolas" pitchFamily="34" charset="-122"/>
                <a:cs typeface="Consolas" pitchFamily="34" charset="-120"/>
              </a:rPr>
              <a:t>$ </a:t>
            </a:r>
            <a:pPr indent="0" marL="0">
              <a:buNone/>
            </a:pPr>
            <a:r>
              <a:rPr lang="en-US" sz="2000" dirty="0">
                <a:solidFill>
                  <a:schemeClr val="bg1"/>
                </a:solidFill>
                <a:latin typeface="Consolas" pitchFamily="34" charset="0"/>
                <a:ea typeface="Consolas" pitchFamily="34" charset="-122"/>
                <a:cs typeface="Consolas" pitchFamily="34" charset="-120"/>
              </a:rPr>
              <a:t>observal agent init </a:t>
            </a:r>
            <a:pPr indent="0" marL="0">
              <a:buNone/>
            </a:pPr>
            <a:r>
              <a:rPr lang="en-US" sz="2000" b="1" dirty="0">
                <a:solidFill>
                  <a:schemeClr val="accent2"/>
                </a:solidFill>
                <a:latin typeface="Consolas" pitchFamily="34" charset="0"/>
                <a:ea typeface="Consolas" pitchFamily="34" charset="-122"/>
                <a:cs typeface="Consolas" pitchFamily="34" charset="-120"/>
              </a:rPr>
              <a:t>--from-capabilities</a:t>
            </a:r>
            <a:pPr indent="0" marL="0">
              <a:buNone/>
            </a:pPr>
            <a:r>
              <a:rPr lang="en-US" sz="2000" dirty="0">
                <a:solidFill>
                  <a:schemeClr val="bg1"/>
                </a:solidFill>
                <a:latin typeface="Consolas" pitchFamily="34" charset="0"/>
                <a:ea typeface="Consolas" pitchFamily="34" charset="-122"/>
                <a:cs typeface="Consolas" pitchFamily="34" charset="-120"/>
              </a:rPr>
              <a:t> --name pr-review-flow</a:t>
            </a:r>
            <a:endParaRPr lang="en-US" sz="2000" dirty="0"/>
          </a:p>
        </p:txBody>
      </p:sp>
      <p:sp>
        <p:nvSpPr>
          <p:cNvPr id="6" name="Reads this directory’s capability lock circle"/>
          <p:cNvSpPr/>
          <p:nvPr/>
        </p:nvSpPr>
        <p:spPr>
          <a:xfrm>
            <a:off x="548640" y="2788920"/>
            <a:ext cx="548640" cy="548640"/>
          </a:xfrm>
          <a:prstGeom prst="ellipse">
            <a:avLst/>
          </a:prstGeom>
          <a:solidFill>
            <a:schemeClr val="accent1"/>
          </a:solidFill>
          <a:ln/>
        </p:spPr>
      </p:sp>
      <p:pic>
        <p:nvPicPr>
          <p:cNvPr id="7" name="Reads this directory’s capability lock icon" descr="preencoded.png">    </p:cNvPr>
          <p:cNvPicPr>
            <a:picLocks noChangeAspect="1"/>
          </p:cNvPicPr>
          <p:nvPr/>
        </p:nvPicPr>
        <p:blipFill>
          <a:blip r:embed="rId1"/>
          <a:stretch>
            <a:fillRect/>
          </a:stretch>
        </p:blipFill>
        <p:spPr>
          <a:xfrm>
            <a:off x="680314" y="2920594"/>
            <a:ext cx="285293" cy="285293"/>
          </a:xfrm>
          <a:prstGeom prst="rect">
            <a:avLst/>
          </a:prstGeom>
        </p:spPr>
      </p:pic>
      <p:sp>
        <p:nvSpPr>
          <p:cNvPr id="8" name="Text 5"/>
          <p:cNvSpPr txBox="1"/>
          <p:nvPr/>
        </p:nvSpPr>
        <p:spPr>
          <a:xfrm>
            <a:off x="1280160" y="2752344"/>
            <a:ext cx="4572000" cy="347472"/>
          </a:xfrm>
          <a:prstGeom prst="rect">
            <a:avLst/>
          </a:prstGeom>
          <a:noFill/>
          <a:ln/>
        </p:spPr>
        <p:txBody>
          <a:bodyPr wrap="square" lIns="0" tIns="0" rIns="0" bIns="0" rtlCol="0" anchor="t"/>
          <a:lstStyle/>
          <a:p>
            <a:pPr indent="0" marL="0">
              <a:buNone/>
            </a:pPr>
            <a:r>
              <a:rPr lang="en-US" sz="1700" b="1" dirty="0">
                <a:solidFill>
                  <a:schemeClr val="tx1"/>
                </a:solidFill>
              </a:rPr>
              <a:t>Reads this directory’s capability lock</a:t>
            </a:r>
            <a:endParaRPr lang="en-US" sz="1700" dirty="0"/>
          </a:p>
        </p:txBody>
      </p:sp>
      <p:sp>
        <p:nvSpPr>
          <p:cNvPr id="9" name="Text 6"/>
          <p:cNvSpPr txBox="1"/>
          <p:nvPr/>
        </p:nvSpPr>
        <p:spPr>
          <a:xfrm>
            <a:off x="1280160" y="3081528"/>
            <a:ext cx="4572000" cy="347472"/>
          </a:xfrm>
          <a:prstGeom prst="rect">
            <a:avLst/>
          </a:prstGeom>
          <a:noFill/>
          <a:ln/>
        </p:spPr>
        <p:txBody>
          <a:bodyPr wrap="square" lIns="0" tIns="0" rIns="0" bIns="0" rtlCol="0" anchor="t"/>
          <a:lstStyle/>
          <a:p>
            <a:pPr indent="0" marL="0">
              <a:buNone/>
            </a:pPr>
            <a:r>
              <a:rPr lang="en-US" sz="1400" dirty="0">
                <a:solidFill>
                  <a:schemeClr val="accent6"/>
                </a:solidFill>
              </a:rPr>
              <a:t>Last 24 hours by default; --since 2h or 3d to change</a:t>
            </a:r>
            <a:endParaRPr lang="en-US" sz="1400" dirty="0"/>
          </a:p>
        </p:txBody>
      </p:sp>
      <p:sp>
        <p:nvSpPr>
          <p:cNvPr id="10" name="Pre-fills the components circle"/>
          <p:cNvSpPr/>
          <p:nvPr/>
        </p:nvSpPr>
        <p:spPr>
          <a:xfrm>
            <a:off x="548640" y="3630168"/>
            <a:ext cx="548640" cy="548640"/>
          </a:xfrm>
          <a:prstGeom prst="ellipse">
            <a:avLst/>
          </a:prstGeom>
          <a:solidFill>
            <a:schemeClr val="accent1"/>
          </a:solidFill>
          <a:ln/>
        </p:spPr>
      </p:sp>
      <p:pic>
        <p:nvPicPr>
          <p:cNvPr id="11" name="Pre-fills the components icon" descr="preencoded.png">    </p:cNvPr>
          <p:cNvPicPr>
            <a:picLocks noChangeAspect="1"/>
          </p:cNvPicPr>
          <p:nvPr/>
        </p:nvPicPr>
        <p:blipFill>
          <a:blip r:embed="rId2"/>
          <a:stretch>
            <a:fillRect/>
          </a:stretch>
        </p:blipFill>
        <p:spPr>
          <a:xfrm>
            <a:off x="680314" y="3761842"/>
            <a:ext cx="285293" cy="285293"/>
          </a:xfrm>
          <a:prstGeom prst="rect">
            <a:avLst/>
          </a:prstGeom>
        </p:spPr>
      </p:pic>
      <p:sp>
        <p:nvSpPr>
          <p:cNvPr id="12" name="Text 8"/>
          <p:cNvSpPr txBox="1"/>
          <p:nvPr/>
        </p:nvSpPr>
        <p:spPr>
          <a:xfrm>
            <a:off x="1280160" y="3593592"/>
            <a:ext cx="4572000" cy="347472"/>
          </a:xfrm>
          <a:prstGeom prst="rect">
            <a:avLst/>
          </a:prstGeom>
          <a:noFill/>
          <a:ln/>
        </p:spPr>
        <p:txBody>
          <a:bodyPr wrap="square" lIns="0" tIns="0" rIns="0" bIns="0" rtlCol="0" anchor="t"/>
          <a:lstStyle/>
          <a:p>
            <a:pPr indent="0" marL="0">
              <a:buNone/>
            </a:pPr>
            <a:r>
              <a:rPr lang="en-US" sz="1700" b="1" dirty="0">
                <a:solidFill>
                  <a:schemeClr val="tx1"/>
                </a:solidFill>
              </a:rPr>
              <a:t>Pre-fills the components</a:t>
            </a:r>
            <a:endParaRPr lang="en-US" sz="1700" dirty="0"/>
          </a:p>
        </p:txBody>
      </p:sp>
      <p:sp>
        <p:nvSpPr>
          <p:cNvPr id="13" name="Text 9"/>
          <p:cNvSpPr txBox="1"/>
          <p:nvPr/>
        </p:nvSpPr>
        <p:spPr>
          <a:xfrm>
            <a:off x="1280160" y="3922776"/>
            <a:ext cx="4572000" cy="347472"/>
          </a:xfrm>
          <a:prstGeom prst="rect">
            <a:avLst/>
          </a:prstGeom>
          <a:noFill/>
          <a:ln/>
        </p:spPr>
        <p:txBody>
          <a:bodyPr wrap="square" lIns="0" tIns="0" rIns="0" bIns="0" rtlCol="0" anchor="t"/>
          <a:lstStyle/>
          <a:p>
            <a:pPr indent="0" marL="0">
              <a:buNone/>
            </a:pPr>
            <a:r>
              <a:rPr lang="en-US" sz="1400" dirty="0">
                <a:solidFill>
                  <a:schemeClr val="accent6"/>
                </a:solidFill>
              </a:rPr>
              <a:t>With the exact versions the session used</a:t>
            </a:r>
            <a:endParaRPr lang="en-US" sz="1400" dirty="0"/>
          </a:p>
        </p:txBody>
      </p:sp>
      <p:sp>
        <p:nvSpPr>
          <p:cNvPr id="14" name="Skips pulled agents circle"/>
          <p:cNvSpPr/>
          <p:nvPr/>
        </p:nvSpPr>
        <p:spPr>
          <a:xfrm>
            <a:off x="548640" y="4471416"/>
            <a:ext cx="548640" cy="548640"/>
          </a:xfrm>
          <a:prstGeom prst="ellipse">
            <a:avLst/>
          </a:prstGeom>
          <a:solidFill>
            <a:schemeClr val="accent1"/>
          </a:solidFill>
          <a:ln/>
        </p:spPr>
      </p:sp>
      <p:pic>
        <p:nvPicPr>
          <p:cNvPr id="15" name="Skips pulled agents icon" descr="preencoded.png">    </p:cNvPr>
          <p:cNvPicPr>
            <a:picLocks noChangeAspect="1"/>
          </p:cNvPicPr>
          <p:nvPr/>
        </p:nvPicPr>
        <p:blipFill>
          <a:blip r:embed="rId3"/>
          <a:stretch>
            <a:fillRect/>
          </a:stretch>
        </p:blipFill>
        <p:spPr>
          <a:xfrm>
            <a:off x="680314" y="4603090"/>
            <a:ext cx="285293" cy="285293"/>
          </a:xfrm>
          <a:prstGeom prst="rect">
            <a:avLst/>
          </a:prstGeom>
        </p:spPr>
      </p:pic>
      <p:sp>
        <p:nvSpPr>
          <p:cNvPr id="16" name="Text 11"/>
          <p:cNvSpPr txBox="1"/>
          <p:nvPr/>
        </p:nvSpPr>
        <p:spPr>
          <a:xfrm>
            <a:off x="1280160" y="4434840"/>
            <a:ext cx="4572000" cy="347472"/>
          </a:xfrm>
          <a:prstGeom prst="rect">
            <a:avLst/>
          </a:prstGeom>
          <a:noFill/>
          <a:ln/>
        </p:spPr>
        <p:txBody>
          <a:bodyPr wrap="square" lIns="0" tIns="0" rIns="0" bIns="0" rtlCol="0" anchor="t"/>
          <a:lstStyle/>
          <a:p>
            <a:pPr indent="0" marL="0">
              <a:buNone/>
            </a:pPr>
            <a:r>
              <a:rPr lang="en-US" sz="1700" b="1" dirty="0">
                <a:solidFill>
                  <a:schemeClr val="tx1"/>
                </a:solidFill>
              </a:rPr>
              <a:t>Skips pulled agents</a:t>
            </a:r>
            <a:endParaRPr lang="en-US" sz="1700" dirty="0"/>
          </a:p>
        </p:txBody>
      </p:sp>
      <p:sp>
        <p:nvSpPr>
          <p:cNvPr id="17" name="Text 12"/>
          <p:cNvSpPr txBox="1"/>
          <p:nvPr/>
        </p:nvSpPr>
        <p:spPr>
          <a:xfrm>
            <a:off x="1280160" y="4764024"/>
            <a:ext cx="4572000" cy="347472"/>
          </a:xfrm>
          <a:prstGeom prst="rect">
            <a:avLst/>
          </a:prstGeom>
          <a:noFill/>
          <a:ln/>
        </p:spPr>
        <p:txBody>
          <a:bodyPr wrap="square" lIns="0" tIns="0" rIns="0" bIns="0" rtlCol="0" anchor="t"/>
          <a:lstStyle/>
          <a:p>
            <a:pPr indent="0" marL="0">
              <a:buNone/>
            </a:pPr>
            <a:r>
              <a:rPr lang="en-US" sz="1400" dirty="0">
                <a:solidFill>
                  <a:schemeClr val="accent6"/>
                </a:solidFill>
              </a:rPr>
              <a:t>Agents can’t nest, so they’re reported as skipped_agents</a:t>
            </a:r>
            <a:endParaRPr lang="en-US" sz="1400" dirty="0"/>
          </a:p>
        </p:txBody>
      </p:sp>
      <p:sp>
        <p:nvSpPr>
          <p:cNvPr id="18" name="Carry on as usual circle"/>
          <p:cNvSpPr/>
          <p:nvPr/>
        </p:nvSpPr>
        <p:spPr>
          <a:xfrm>
            <a:off x="548640" y="5312664"/>
            <a:ext cx="548640" cy="548640"/>
          </a:xfrm>
          <a:prstGeom prst="ellipse">
            <a:avLst/>
          </a:prstGeom>
          <a:solidFill>
            <a:schemeClr val="accent1"/>
          </a:solidFill>
          <a:ln/>
        </p:spPr>
      </p:sp>
      <p:pic>
        <p:nvPicPr>
          <p:cNvPr id="19" name="Carry on as usual icon" descr="preencoded.png">    </p:cNvPr>
          <p:cNvPicPr>
            <a:picLocks noChangeAspect="1"/>
          </p:cNvPicPr>
          <p:nvPr/>
        </p:nvPicPr>
        <p:blipFill>
          <a:blip r:embed="rId4"/>
          <a:stretch>
            <a:fillRect/>
          </a:stretch>
        </p:blipFill>
        <p:spPr>
          <a:xfrm>
            <a:off x="680314" y="5444338"/>
            <a:ext cx="285293" cy="285293"/>
          </a:xfrm>
          <a:prstGeom prst="rect">
            <a:avLst/>
          </a:prstGeom>
        </p:spPr>
      </p:pic>
      <p:sp>
        <p:nvSpPr>
          <p:cNvPr id="20" name="Text 14"/>
          <p:cNvSpPr txBox="1"/>
          <p:nvPr/>
        </p:nvSpPr>
        <p:spPr>
          <a:xfrm>
            <a:off x="1280160" y="5276088"/>
            <a:ext cx="4572000" cy="347472"/>
          </a:xfrm>
          <a:prstGeom prst="rect">
            <a:avLst/>
          </a:prstGeom>
          <a:noFill/>
          <a:ln/>
        </p:spPr>
        <p:txBody>
          <a:bodyPr wrap="square" lIns="0" tIns="0" rIns="0" bIns="0" rtlCol="0" anchor="t"/>
          <a:lstStyle/>
          <a:p>
            <a:pPr indent="0" marL="0">
              <a:buNone/>
            </a:pPr>
            <a:r>
              <a:rPr lang="en-US" sz="1700" b="1" dirty="0">
                <a:solidFill>
                  <a:schemeClr val="tx1"/>
                </a:solidFill>
              </a:rPr>
              <a:t>Carry on as usual</a:t>
            </a:r>
            <a:endParaRPr lang="en-US" sz="1700" dirty="0"/>
          </a:p>
        </p:txBody>
      </p:sp>
      <p:sp>
        <p:nvSpPr>
          <p:cNvPr id="21" name="Text 15"/>
          <p:cNvSpPr txBox="1"/>
          <p:nvPr/>
        </p:nvSpPr>
        <p:spPr>
          <a:xfrm>
            <a:off x="1280160" y="5605272"/>
            <a:ext cx="4572000" cy="347472"/>
          </a:xfrm>
          <a:prstGeom prst="rect">
            <a:avLst/>
          </a:prstGeom>
          <a:noFill/>
          <a:ln/>
        </p:spPr>
        <p:txBody>
          <a:bodyPr wrap="square" lIns="0" tIns="0" rIns="0" bIns="0" rtlCol="0" anchor="t"/>
          <a:lstStyle/>
          <a:p>
            <a:pPr indent="0" marL="0">
              <a:buNone/>
            </a:pPr>
            <a:r>
              <a:rPr lang="en-US" sz="1400" dirty="0">
                <a:solidFill>
                  <a:schemeClr val="accent6"/>
                </a:solidFill>
              </a:rPr>
              <a:t>Review, build and publish like any other agent</a:t>
            </a:r>
            <a:endParaRPr lang="en-US" sz="1400" dirty="0"/>
          </a:p>
        </p:txBody>
      </p:sp>
      <p:sp>
        <p:nvSpPr>
          <p:cNvPr id="22" name="Draft agent card"/>
          <p:cNvSpPr/>
          <p:nvPr/>
        </p:nvSpPr>
        <p:spPr>
          <a:xfrm>
            <a:off x="6492240" y="2788920"/>
            <a:ext cx="5148072" cy="3291840"/>
          </a:xfrm>
          <a:prstGeom prst="roundRect">
            <a:avLst>
              <a:gd name="adj" fmla="val 3333"/>
            </a:avLst>
          </a:prstGeom>
          <a:solidFill>
            <a:schemeClr val="bg2"/>
          </a:solidFill>
          <a:ln/>
        </p:spPr>
      </p:sp>
      <p:sp>
        <p:nvSpPr>
          <p:cNvPr id="23" name="Draft agent circle"/>
          <p:cNvSpPr/>
          <p:nvPr/>
        </p:nvSpPr>
        <p:spPr>
          <a:xfrm>
            <a:off x="6766560" y="3017520"/>
            <a:ext cx="594360" cy="594360"/>
          </a:xfrm>
          <a:prstGeom prst="ellipse">
            <a:avLst/>
          </a:prstGeom>
          <a:solidFill>
            <a:schemeClr val="accent1"/>
          </a:solidFill>
          <a:ln/>
        </p:spPr>
      </p:sp>
      <p:pic>
        <p:nvPicPr>
          <p:cNvPr id="24" name="Draft agent icon" descr="preencoded.png">    </p:cNvPr>
          <p:cNvPicPr>
            <a:picLocks noChangeAspect="1"/>
          </p:cNvPicPr>
          <p:nvPr/>
        </p:nvPicPr>
        <p:blipFill>
          <a:blip r:embed="rId5"/>
          <a:stretch>
            <a:fillRect/>
          </a:stretch>
        </p:blipFill>
        <p:spPr>
          <a:xfrm>
            <a:off x="6909206" y="3160166"/>
            <a:ext cx="309067" cy="309067"/>
          </a:xfrm>
          <a:prstGeom prst="rect">
            <a:avLst/>
          </a:prstGeom>
        </p:spPr>
      </p:pic>
      <p:sp>
        <p:nvSpPr>
          <p:cNvPr id="25" name="Text 18"/>
          <p:cNvSpPr txBox="1"/>
          <p:nvPr/>
        </p:nvSpPr>
        <p:spPr>
          <a:xfrm>
            <a:off x="7543800" y="2999232"/>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Consolas" pitchFamily="34" charset="0"/>
                <a:ea typeface="Consolas" pitchFamily="34" charset="-122"/>
                <a:cs typeface="Consolas" pitchFamily="34" charset="-120"/>
              </a:rPr>
              <a:t>pr-review-flow</a:t>
            </a:r>
            <a:endParaRPr lang="en-US" sz="1800" dirty="0"/>
          </a:p>
        </p:txBody>
      </p:sp>
      <p:sp>
        <p:nvSpPr>
          <p:cNvPr id="26" name="Text 19"/>
          <p:cNvSpPr txBox="1"/>
          <p:nvPr/>
        </p:nvSpPr>
        <p:spPr>
          <a:xfrm>
            <a:off x="7543800" y="3346704"/>
            <a:ext cx="3840480" cy="292608"/>
          </a:xfrm>
          <a:prstGeom prst="rect">
            <a:avLst/>
          </a:prstGeom>
          <a:noFill/>
          <a:ln/>
        </p:spPr>
        <p:txBody>
          <a:bodyPr wrap="square" lIns="0" tIns="0" rIns="0" bIns="0" rtlCol="0" anchor="t"/>
          <a:lstStyle/>
          <a:p>
            <a:pPr indent="0" marL="0">
              <a:buNone/>
            </a:pPr>
            <a:r>
              <a:rPr lang="en-US" sz="1300" dirty="0">
                <a:solidFill>
                  <a:schemeClr val="accent6"/>
                </a:solidFill>
              </a:rPr>
              <a:t>Draft agent, from this session</a:t>
            </a:r>
            <a:endParaRPr lang="en-US" sz="1300" dirty="0"/>
          </a:p>
        </p:txBody>
      </p:sp>
      <p:sp>
        <p:nvSpPr>
          <p:cNvPr id="27" name="Component 1"/>
          <p:cNvSpPr/>
          <p:nvPr/>
        </p:nvSpPr>
        <p:spPr>
          <a:xfrm>
            <a:off x="6766560" y="3931920"/>
            <a:ext cx="4599432" cy="512064"/>
          </a:xfrm>
          <a:prstGeom prst="roundRect">
            <a:avLst>
              <a:gd name="adj" fmla="val 14286"/>
            </a:avLst>
          </a:prstGeom>
          <a:solidFill>
            <a:schemeClr val="bg1"/>
          </a:solidFill>
          <a:ln/>
        </p:spPr>
      </p:sp>
      <p:pic>
        <p:nvPicPr>
          <p:cNvPr id="28" name="Component 1 icon" descr="preencoded.png">    </p:cNvPr>
          <p:cNvPicPr>
            <a:picLocks noChangeAspect="1"/>
          </p:cNvPicPr>
          <p:nvPr/>
        </p:nvPicPr>
        <p:blipFill>
          <a:blip r:embed="rId6"/>
          <a:stretch>
            <a:fillRect/>
          </a:stretch>
        </p:blipFill>
        <p:spPr>
          <a:xfrm>
            <a:off x="6931152" y="4050792"/>
            <a:ext cx="274320" cy="274320"/>
          </a:xfrm>
          <a:prstGeom prst="rect">
            <a:avLst/>
          </a:prstGeom>
        </p:spPr>
      </p:pic>
      <p:sp>
        <p:nvSpPr>
          <p:cNvPr id="29" name="Text 21"/>
          <p:cNvSpPr txBox="1"/>
          <p:nvPr/>
        </p:nvSpPr>
        <p:spPr>
          <a:xfrm>
            <a:off x="7360920" y="3931920"/>
            <a:ext cx="2560320" cy="512064"/>
          </a:xfrm>
          <a:prstGeom prst="rect">
            <a:avLst/>
          </a:prstGeom>
          <a:noFill/>
          <a:ln/>
        </p:spPr>
        <p:txBody>
          <a:bodyPr wrap="square" lIns="0" tIns="0" rIns="0" bIns="0" rtlCol="0" anchor="ctr"/>
          <a:lstStyle/>
          <a:p>
            <a:pPr indent="0" marL="0">
              <a:buNone/>
            </a:pPr>
            <a:r>
              <a:rPr lang="en-US" sz="1500" b="1" dirty="0">
                <a:solidFill>
                  <a:schemeClr val="tx1"/>
                </a:solidFill>
              </a:rPr>
              <a:t>Security Review</a:t>
            </a:r>
            <a:endParaRPr lang="en-US" sz="1500" dirty="0"/>
          </a:p>
        </p:txBody>
      </p:sp>
      <p:sp>
        <p:nvSpPr>
          <p:cNvPr id="30" name="Text 22"/>
          <p:cNvSpPr txBox="1"/>
          <p:nvPr/>
        </p:nvSpPr>
        <p:spPr>
          <a:xfrm>
            <a:off x="9509760" y="3931920"/>
            <a:ext cx="1673352" cy="512064"/>
          </a:xfrm>
          <a:prstGeom prst="rect">
            <a:avLst/>
          </a:prstGeom>
          <a:noFill/>
          <a:ln/>
        </p:spPr>
        <p:txBody>
          <a:bodyPr wrap="square" lIns="0" tIns="0" rIns="0" bIns="0" rtlCol="0" anchor="ctr"/>
          <a:lstStyle/>
          <a:p>
            <a:pPr algn="r" indent="0" marL="0">
              <a:buNone/>
            </a:pPr>
            <a:r>
              <a:rPr lang="en-US" sz="1400" dirty="0">
                <a:solidFill>
                  <a:schemeClr val="accent6"/>
                </a:solidFill>
              </a:rPr>
              <a:t>skill  ·  1.2.0</a:t>
            </a:r>
            <a:endParaRPr lang="en-US" sz="1400" dirty="0"/>
          </a:p>
        </p:txBody>
      </p:sp>
      <p:sp>
        <p:nvSpPr>
          <p:cNvPr id="31" name="Component 2"/>
          <p:cNvSpPr/>
          <p:nvPr/>
        </p:nvSpPr>
        <p:spPr>
          <a:xfrm>
            <a:off x="6766560" y="4572000"/>
            <a:ext cx="4599432" cy="512064"/>
          </a:xfrm>
          <a:prstGeom prst="roundRect">
            <a:avLst>
              <a:gd name="adj" fmla="val 14286"/>
            </a:avLst>
          </a:prstGeom>
          <a:solidFill>
            <a:schemeClr val="bg1"/>
          </a:solidFill>
          <a:ln/>
        </p:spPr>
      </p:sp>
      <p:pic>
        <p:nvPicPr>
          <p:cNvPr id="32" name="Component 2 icon" descr="preencoded.png">    </p:cNvPr>
          <p:cNvPicPr>
            <a:picLocks noChangeAspect="1"/>
          </p:cNvPicPr>
          <p:nvPr/>
        </p:nvPicPr>
        <p:blipFill>
          <a:blip r:embed="rId7"/>
          <a:stretch>
            <a:fillRect/>
          </a:stretch>
        </p:blipFill>
        <p:spPr>
          <a:xfrm>
            <a:off x="6931152" y="4690872"/>
            <a:ext cx="274320" cy="274320"/>
          </a:xfrm>
          <a:prstGeom prst="rect">
            <a:avLst/>
          </a:prstGeom>
        </p:spPr>
      </p:pic>
      <p:sp>
        <p:nvSpPr>
          <p:cNvPr id="33" name="Text 24"/>
          <p:cNvSpPr txBox="1"/>
          <p:nvPr/>
        </p:nvSpPr>
        <p:spPr>
          <a:xfrm>
            <a:off x="7360920" y="4572000"/>
            <a:ext cx="2560320" cy="512064"/>
          </a:xfrm>
          <a:prstGeom prst="rect">
            <a:avLst/>
          </a:prstGeom>
          <a:noFill/>
          <a:ln/>
        </p:spPr>
        <p:txBody>
          <a:bodyPr wrap="square" lIns="0" tIns="0" rIns="0" bIns="0" rtlCol="0" anchor="ctr"/>
          <a:lstStyle/>
          <a:p>
            <a:pPr indent="0" marL="0">
              <a:buNone/>
            </a:pPr>
            <a:r>
              <a:rPr lang="en-US" sz="1500" b="1" dirty="0">
                <a:solidFill>
                  <a:schemeClr val="tx1"/>
                </a:solidFill>
              </a:rPr>
              <a:t>OWASP Checklist</a:t>
            </a:r>
            <a:endParaRPr lang="en-US" sz="1500" dirty="0"/>
          </a:p>
        </p:txBody>
      </p:sp>
      <p:sp>
        <p:nvSpPr>
          <p:cNvPr id="34" name="Text 25"/>
          <p:cNvSpPr txBox="1"/>
          <p:nvPr/>
        </p:nvSpPr>
        <p:spPr>
          <a:xfrm>
            <a:off x="9509760" y="4572000"/>
            <a:ext cx="1673352" cy="512064"/>
          </a:xfrm>
          <a:prstGeom prst="rect">
            <a:avLst/>
          </a:prstGeom>
          <a:noFill/>
          <a:ln/>
        </p:spPr>
        <p:txBody>
          <a:bodyPr wrap="square" lIns="0" tIns="0" rIns="0" bIns="0" rtlCol="0" anchor="ctr"/>
          <a:lstStyle/>
          <a:p>
            <a:pPr algn="r" indent="0" marL="0">
              <a:buNone/>
            </a:pPr>
            <a:r>
              <a:rPr lang="en-US" sz="1400" dirty="0">
                <a:solidFill>
                  <a:schemeClr val="accent6"/>
                </a:solidFill>
              </a:rPr>
              <a:t>prompt  ·  2.0.1</a:t>
            </a:r>
            <a:endParaRPr lang="en-US" sz="1400" dirty="0"/>
          </a:p>
        </p:txBody>
      </p:sp>
      <p:sp>
        <p:nvSpPr>
          <p:cNvPr id="35" name="Component 3"/>
          <p:cNvSpPr/>
          <p:nvPr/>
        </p:nvSpPr>
        <p:spPr>
          <a:xfrm>
            <a:off x="6766560" y="5212080"/>
            <a:ext cx="4599432" cy="512064"/>
          </a:xfrm>
          <a:prstGeom prst="roundRect">
            <a:avLst>
              <a:gd name="adj" fmla="val 14286"/>
            </a:avLst>
          </a:prstGeom>
          <a:solidFill>
            <a:schemeClr val="bg1"/>
          </a:solidFill>
          <a:ln/>
        </p:spPr>
      </p:sp>
      <p:pic>
        <p:nvPicPr>
          <p:cNvPr id="36" name="Component 3 icon" descr="preencoded.png">    </p:cNvPr>
          <p:cNvPicPr>
            <a:picLocks noChangeAspect="1"/>
          </p:cNvPicPr>
          <p:nvPr/>
        </p:nvPicPr>
        <p:blipFill>
          <a:blip r:embed="rId8"/>
          <a:stretch>
            <a:fillRect/>
          </a:stretch>
        </p:blipFill>
        <p:spPr>
          <a:xfrm>
            <a:off x="6931152" y="5330952"/>
            <a:ext cx="274320" cy="274320"/>
          </a:xfrm>
          <a:prstGeom prst="rect">
            <a:avLst/>
          </a:prstGeom>
        </p:spPr>
      </p:pic>
      <p:sp>
        <p:nvSpPr>
          <p:cNvPr id="37" name="Text 27"/>
          <p:cNvSpPr txBox="1"/>
          <p:nvPr/>
        </p:nvSpPr>
        <p:spPr>
          <a:xfrm>
            <a:off x="7360920" y="5212080"/>
            <a:ext cx="2560320" cy="512064"/>
          </a:xfrm>
          <a:prstGeom prst="rect">
            <a:avLst/>
          </a:prstGeom>
          <a:noFill/>
          <a:ln/>
        </p:spPr>
        <p:txBody>
          <a:bodyPr wrap="square" lIns="0" tIns="0" rIns="0" bIns="0" rtlCol="0" anchor="ctr"/>
          <a:lstStyle/>
          <a:p>
            <a:pPr indent="0" marL="0">
              <a:buNone/>
            </a:pPr>
            <a:r>
              <a:rPr lang="en-US" sz="1500" b="1" dirty="0">
                <a:solidFill>
                  <a:schemeClr val="tx1"/>
                </a:solidFill>
              </a:rPr>
              <a:t>github</a:t>
            </a:r>
            <a:endParaRPr lang="en-US" sz="1500" dirty="0"/>
          </a:p>
        </p:txBody>
      </p:sp>
      <p:sp>
        <p:nvSpPr>
          <p:cNvPr id="38" name="Text 28"/>
          <p:cNvSpPr txBox="1"/>
          <p:nvPr/>
        </p:nvSpPr>
        <p:spPr>
          <a:xfrm>
            <a:off x="9509760" y="5212080"/>
            <a:ext cx="1673352" cy="512064"/>
          </a:xfrm>
          <a:prstGeom prst="rect">
            <a:avLst/>
          </a:prstGeom>
          <a:noFill/>
          <a:ln/>
        </p:spPr>
        <p:txBody>
          <a:bodyPr wrap="square" lIns="0" tIns="0" rIns="0" bIns="0" rtlCol="0" anchor="ctr"/>
          <a:lstStyle/>
          <a:p>
            <a:pPr algn="r" indent="0" marL="0">
              <a:buNone/>
            </a:pPr>
            <a:r>
              <a:rPr lang="en-US" sz="1400" dirty="0">
                <a:solidFill>
                  <a:schemeClr val="accent6"/>
                </a:solidFill>
              </a:rPr>
              <a:t>mcp  ·  0.9.3</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USE CASE 5</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One registry, every surface</a:t>
            </a:r>
            <a:endParaRPr lang="en-US" sz="3600" dirty="0"/>
          </a:p>
        </p:txBody>
      </p:sp>
      <p:sp>
        <p:nvSpPr>
          <p:cNvPr id="4" name="People card"/>
          <p:cNvSpPr/>
          <p:nvPr/>
        </p:nvSpPr>
        <p:spPr>
          <a:xfrm>
            <a:off x="548640" y="1691640"/>
            <a:ext cx="3575304" cy="3429000"/>
          </a:xfrm>
          <a:prstGeom prst="roundRect">
            <a:avLst>
              <a:gd name="adj" fmla="val 3200"/>
            </a:avLst>
          </a:prstGeom>
          <a:solidFill>
            <a:schemeClr val="bg2"/>
          </a:solidFill>
          <a:ln/>
        </p:spPr>
      </p:sp>
      <p:sp>
        <p:nvSpPr>
          <p:cNvPr id="5" name="People circle"/>
          <p:cNvSpPr/>
          <p:nvPr/>
        </p:nvSpPr>
        <p:spPr>
          <a:xfrm>
            <a:off x="822960" y="1920240"/>
            <a:ext cx="685800" cy="685800"/>
          </a:xfrm>
          <a:prstGeom prst="ellipse">
            <a:avLst/>
          </a:prstGeom>
          <a:solidFill>
            <a:schemeClr val="accent1"/>
          </a:solidFill>
          <a:ln/>
        </p:spPr>
      </p:sp>
      <p:pic>
        <p:nvPicPr>
          <p:cNvPr id="6" name="People icon" descr="preencoded.png">    </p:cNvPr>
          <p:cNvPicPr>
            <a:picLocks noChangeAspect="1"/>
          </p:cNvPicPr>
          <p:nvPr/>
        </p:nvPicPr>
        <p:blipFill>
          <a:blip r:embed="rId1"/>
          <a:stretch>
            <a:fillRect/>
          </a:stretch>
        </p:blipFill>
        <p:spPr>
          <a:xfrm>
            <a:off x="987552" y="2084832"/>
            <a:ext cx="356616" cy="356616"/>
          </a:xfrm>
          <a:prstGeom prst="rect">
            <a:avLst/>
          </a:prstGeom>
        </p:spPr>
      </p:pic>
      <p:sp>
        <p:nvSpPr>
          <p:cNvPr id="7" name="Text 4"/>
          <p:cNvSpPr txBox="1"/>
          <p:nvPr/>
        </p:nvSpPr>
        <p:spPr>
          <a:xfrm>
            <a:off x="822960" y="2743200"/>
            <a:ext cx="301752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PEOPLE</a:t>
            </a:r>
            <a:endParaRPr lang="en-US" sz="1200" dirty="0"/>
          </a:p>
        </p:txBody>
      </p:sp>
      <p:sp>
        <p:nvSpPr>
          <p:cNvPr id="8" name="Text 5"/>
          <p:cNvSpPr txBox="1"/>
          <p:nvPr/>
        </p:nvSpPr>
        <p:spPr>
          <a:xfrm>
            <a:off x="822960" y="3035808"/>
            <a:ext cx="3063240" cy="411480"/>
          </a:xfrm>
          <a:prstGeom prst="rect">
            <a:avLst/>
          </a:prstGeom>
          <a:noFill/>
          <a:ln/>
        </p:spPr>
        <p:txBody>
          <a:bodyPr wrap="square" lIns="0" tIns="0" rIns="0" bIns="0" rtlCol="0" anchor="t"/>
          <a:lstStyle/>
          <a:p>
            <a:pPr indent="0" marL="0">
              <a:buNone/>
            </a:pPr>
            <a:r>
              <a:rPr lang="en-US" sz="1900" b="1" dirty="0">
                <a:solidFill>
                  <a:schemeClr val="tx1"/>
                </a:solidFill>
              </a:rPr>
              <a:t>The Discover page</a:t>
            </a:r>
            <a:endParaRPr lang="en-US" sz="1900" dirty="0"/>
          </a:p>
        </p:txBody>
      </p:sp>
      <p:sp>
        <p:nvSpPr>
          <p:cNvPr id="9" name="Text 6"/>
          <p:cNvSpPr txBox="1"/>
          <p:nvPr/>
        </p:nvSpPr>
        <p:spPr>
          <a:xfrm>
            <a:off x="822960" y="3520440"/>
            <a:ext cx="3063240" cy="1508760"/>
          </a:xfrm>
          <a:prstGeom prst="rect">
            <a:avLst/>
          </a:prstGeom>
          <a:noFill/>
          <a:ln/>
        </p:spPr>
        <p:txBody>
          <a:bodyPr wrap="square" lIns="0" tIns="0" rIns="0" bIns="0" rtlCol="0" anchor="t"/>
          <a:lstStyle/>
          <a:p>
            <a:pPr indent="0" marL="0">
              <a:buNone/>
            </a:pPr>
            <a:r>
              <a:rPr lang="en-US" sz="1400" dirty="0">
                <a:solidFill>
                  <a:schemeClr val="accent6"/>
                </a:solidFill>
              </a:rPr>
              <a:t>Search all six kinds in the web UI. Each result shows its match score, availability, supported harnesses and a copy-ready command.</a:t>
            </a:r>
            <a:endParaRPr lang="en-US" sz="1400" dirty="0"/>
          </a:p>
        </p:txBody>
      </p:sp>
      <p:sp>
        <p:nvSpPr>
          <p:cNvPr id="10" name="Agents card"/>
          <p:cNvSpPr/>
          <p:nvPr/>
        </p:nvSpPr>
        <p:spPr>
          <a:xfrm>
            <a:off x="4306824" y="1691640"/>
            <a:ext cx="3575304" cy="3429000"/>
          </a:xfrm>
          <a:prstGeom prst="roundRect">
            <a:avLst>
              <a:gd name="adj" fmla="val 3200"/>
            </a:avLst>
          </a:prstGeom>
          <a:solidFill>
            <a:schemeClr val="tx2"/>
          </a:solidFill>
          <a:ln/>
        </p:spPr>
      </p:sp>
      <p:sp>
        <p:nvSpPr>
          <p:cNvPr id="11" name="Agents circle"/>
          <p:cNvSpPr/>
          <p:nvPr/>
        </p:nvSpPr>
        <p:spPr>
          <a:xfrm>
            <a:off x="4581144" y="1920240"/>
            <a:ext cx="685800" cy="685800"/>
          </a:xfrm>
          <a:prstGeom prst="ellipse">
            <a:avLst/>
          </a:prstGeom>
          <a:solidFill>
            <a:schemeClr val="accent2"/>
          </a:solidFill>
          <a:ln/>
        </p:spPr>
      </p:sp>
      <p:pic>
        <p:nvPicPr>
          <p:cNvPr id="12" name="Agents icon" descr="preencoded.png">    </p:cNvPr>
          <p:cNvPicPr>
            <a:picLocks noChangeAspect="1"/>
          </p:cNvPicPr>
          <p:nvPr/>
        </p:nvPicPr>
        <p:blipFill>
          <a:blip r:embed="rId2"/>
          <a:stretch>
            <a:fillRect/>
          </a:stretch>
        </p:blipFill>
        <p:spPr>
          <a:xfrm>
            <a:off x="4745736" y="2084832"/>
            <a:ext cx="356616" cy="356616"/>
          </a:xfrm>
          <a:prstGeom prst="rect">
            <a:avLst/>
          </a:prstGeom>
        </p:spPr>
      </p:pic>
      <p:sp>
        <p:nvSpPr>
          <p:cNvPr id="13" name="Text 9"/>
          <p:cNvSpPr txBox="1"/>
          <p:nvPr/>
        </p:nvSpPr>
        <p:spPr>
          <a:xfrm>
            <a:off x="4581144" y="2743200"/>
            <a:ext cx="301752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AGENTS</a:t>
            </a:r>
            <a:endParaRPr lang="en-US" sz="1200" dirty="0"/>
          </a:p>
        </p:txBody>
      </p:sp>
      <p:sp>
        <p:nvSpPr>
          <p:cNvPr id="14" name="Text 10"/>
          <p:cNvSpPr txBox="1"/>
          <p:nvPr/>
        </p:nvSpPr>
        <p:spPr>
          <a:xfrm>
            <a:off x="4581144" y="3035808"/>
            <a:ext cx="3063240" cy="411480"/>
          </a:xfrm>
          <a:prstGeom prst="rect">
            <a:avLst/>
          </a:prstGeom>
          <a:noFill/>
          <a:ln/>
        </p:spPr>
        <p:txBody>
          <a:bodyPr wrap="square" lIns="0" tIns="0" rIns="0" bIns="0" rtlCol="0" anchor="t"/>
          <a:lstStyle/>
          <a:p>
            <a:pPr indent="0" marL="0">
              <a:buNone/>
            </a:pPr>
            <a:r>
              <a:rPr lang="en-US" sz="1900" b="1" dirty="0">
                <a:solidFill>
                  <a:schemeClr val="bg1"/>
                </a:solidFill>
              </a:rPr>
              <a:t>All ten harnesses</a:t>
            </a:r>
            <a:endParaRPr lang="en-US" sz="1900" dirty="0"/>
          </a:p>
        </p:txBody>
      </p:sp>
      <p:sp>
        <p:nvSpPr>
          <p:cNvPr id="15" name="Text 11"/>
          <p:cNvSpPr txBox="1"/>
          <p:nvPr/>
        </p:nvSpPr>
        <p:spPr>
          <a:xfrm>
            <a:off x="4581144" y="3520440"/>
            <a:ext cx="3063240" cy="1508760"/>
          </a:xfrm>
          <a:prstGeom prst="rect">
            <a:avLst/>
          </a:prstGeom>
          <a:noFill/>
          <a:ln/>
        </p:spPr>
        <p:txBody>
          <a:bodyPr wrap="square" lIns="0" tIns="0" rIns="0" bIns="0" rtlCol="0" anchor="t"/>
          <a:lstStyle/>
          <a:p>
            <a:pPr indent="0" marL="0">
              <a:buNone/>
            </a:pPr>
            <a:r>
              <a:rPr lang="en-US" sz="1400" dirty="0">
                <a:solidFill>
                  <a:schemeClr val="accent3"/>
                </a:solidFill>
              </a:rPr>
              <a:t>The bundled skill and CLI already ship to every harness on login: Claude Code, Kiro, Cursor, Pi, Codex, Copilot, Copilot CLI, OpenCode, Antigravity, Goose.</a:t>
            </a:r>
            <a:endParaRPr lang="en-US" sz="1400" dirty="0"/>
          </a:p>
        </p:txBody>
      </p:sp>
      <p:sp>
        <p:nvSpPr>
          <p:cNvPr id="16" name="Other tools card"/>
          <p:cNvSpPr/>
          <p:nvPr/>
        </p:nvSpPr>
        <p:spPr>
          <a:xfrm>
            <a:off x="8065008" y="1691640"/>
            <a:ext cx="3575304" cy="3429000"/>
          </a:xfrm>
          <a:prstGeom prst="roundRect">
            <a:avLst>
              <a:gd name="adj" fmla="val 3200"/>
            </a:avLst>
          </a:prstGeom>
          <a:solidFill>
            <a:schemeClr val="bg2"/>
          </a:solidFill>
          <a:ln/>
        </p:spPr>
      </p:sp>
      <p:sp>
        <p:nvSpPr>
          <p:cNvPr id="17" name="Other tools circle"/>
          <p:cNvSpPr/>
          <p:nvPr/>
        </p:nvSpPr>
        <p:spPr>
          <a:xfrm>
            <a:off x="8339328" y="1920240"/>
            <a:ext cx="685800" cy="685800"/>
          </a:xfrm>
          <a:prstGeom prst="ellipse">
            <a:avLst/>
          </a:prstGeom>
          <a:solidFill>
            <a:schemeClr val="accent1"/>
          </a:solidFill>
          <a:ln/>
        </p:spPr>
      </p:sp>
      <p:pic>
        <p:nvPicPr>
          <p:cNvPr id="18" name="Other tools icon" descr="preencoded.png">    </p:cNvPr>
          <p:cNvPicPr>
            <a:picLocks noChangeAspect="1"/>
          </p:cNvPicPr>
          <p:nvPr/>
        </p:nvPicPr>
        <p:blipFill>
          <a:blip r:embed="rId3"/>
          <a:stretch>
            <a:fillRect/>
          </a:stretch>
        </p:blipFill>
        <p:spPr>
          <a:xfrm>
            <a:off x="8503920" y="2084832"/>
            <a:ext cx="356616" cy="356616"/>
          </a:xfrm>
          <a:prstGeom prst="rect">
            <a:avLst/>
          </a:prstGeom>
        </p:spPr>
      </p:pic>
      <p:sp>
        <p:nvSpPr>
          <p:cNvPr id="19" name="Text 14"/>
          <p:cNvSpPr txBox="1"/>
          <p:nvPr/>
        </p:nvSpPr>
        <p:spPr>
          <a:xfrm>
            <a:off x="8339328" y="2743200"/>
            <a:ext cx="301752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OTHER TOOLS</a:t>
            </a:r>
            <a:endParaRPr lang="en-US" sz="1200" dirty="0"/>
          </a:p>
        </p:txBody>
      </p:sp>
      <p:sp>
        <p:nvSpPr>
          <p:cNvPr id="20" name="Text 15"/>
          <p:cNvSpPr txBox="1"/>
          <p:nvPr/>
        </p:nvSpPr>
        <p:spPr>
          <a:xfrm>
            <a:off x="8339328" y="3035808"/>
            <a:ext cx="3063240" cy="411480"/>
          </a:xfrm>
          <a:prstGeom prst="rect">
            <a:avLst/>
          </a:prstGeom>
          <a:noFill/>
          <a:ln/>
        </p:spPr>
        <p:txBody>
          <a:bodyPr wrap="square" lIns="0" tIns="0" rIns="0" bIns="0" rtlCol="0" anchor="t"/>
          <a:lstStyle/>
          <a:p>
            <a:pPr indent="0" marL="0">
              <a:buNone/>
            </a:pPr>
            <a:r>
              <a:rPr lang="en-US" sz="1900" b="1" dirty="0">
                <a:solidFill>
                  <a:schemeClr val="tx1"/>
                </a:solidFill>
              </a:rPr>
              <a:t>An open standard</a:t>
            </a:r>
            <a:endParaRPr lang="en-US" sz="1900" dirty="0"/>
          </a:p>
        </p:txBody>
      </p:sp>
      <p:sp>
        <p:nvSpPr>
          <p:cNvPr id="21" name="Text 16"/>
          <p:cNvSpPr txBox="1"/>
          <p:nvPr/>
        </p:nvSpPr>
        <p:spPr>
          <a:xfrm>
            <a:off x="8339328" y="3520440"/>
            <a:ext cx="3063240" cy="1508760"/>
          </a:xfrm>
          <a:prstGeom prst="rect">
            <a:avLst/>
          </a:prstGeom>
          <a:noFill/>
          <a:ln/>
        </p:spPr>
        <p:txBody>
          <a:bodyPr wrap="square" lIns="0" tIns="0" rIns="0" bIns="0" rtlCol="0" anchor="t"/>
          <a:lstStyle/>
          <a:p>
            <a:pPr indent="0" marL="0">
              <a:buNone/>
            </a:pPr>
            <a:r>
              <a:rPr lang="en-US" sz="1400" dirty="0">
                <a:solidFill>
                  <a:schemeClr val="accent6"/>
                </a:solidFill>
              </a:rPr>
              <a:t>/.well-known/ard.json and ARD Search let any ARD client find a deployment’s public catalog, once an admin opts in.</a:t>
            </a:r>
            <a:endParaRPr lang="en-US" sz="1400" dirty="0"/>
          </a:p>
        </p:txBody>
      </p:sp>
      <p:sp>
        <p:nvSpPr>
          <p:cNvPr id="22" name="Six kinds strip"/>
          <p:cNvSpPr/>
          <p:nvPr/>
        </p:nvSpPr>
        <p:spPr>
          <a:xfrm>
            <a:off x="548640" y="5303520"/>
            <a:ext cx="11091672" cy="777240"/>
          </a:xfrm>
          <a:prstGeom prst="roundRect">
            <a:avLst>
              <a:gd name="adj" fmla="val 14118"/>
            </a:avLst>
          </a:prstGeom>
          <a:solidFill>
            <a:schemeClr val="bg2"/>
          </a:solidFill>
          <a:ln/>
        </p:spPr>
      </p:sp>
      <p:sp>
        <p:nvSpPr>
          <p:cNvPr id="23" name="Text 18"/>
          <p:cNvSpPr txBox="1"/>
          <p:nvPr/>
        </p:nvSpPr>
        <p:spPr>
          <a:xfrm>
            <a:off x="822960" y="5303520"/>
            <a:ext cx="2194560" cy="777240"/>
          </a:xfrm>
          <a:prstGeom prst="rect">
            <a:avLst/>
          </a:prstGeom>
          <a:noFill/>
          <a:ln/>
        </p:spPr>
        <p:txBody>
          <a:bodyPr wrap="square" lIns="0" tIns="0" rIns="0" bIns="0" rtlCol="0" anchor="ctr"/>
          <a:lstStyle/>
          <a:p>
            <a:pPr indent="0" marL="0">
              <a:buNone/>
            </a:pPr>
            <a:r>
              <a:rPr lang="en-US" sz="1600" b="1" dirty="0">
                <a:solidFill>
                  <a:schemeClr val="tx1"/>
                </a:solidFill>
              </a:rPr>
              <a:t>One index, six kinds</a:t>
            </a:r>
            <a:endParaRPr lang="en-US" sz="1600" dirty="0"/>
          </a:p>
        </p:txBody>
      </p:sp>
      <p:pic>
        <p:nvPicPr>
          <p:cNvPr id="24" name="Agents kind icon" descr="preencoded.png">    </p:cNvPr>
          <p:cNvPicPr>
            <a:picLocks noChangeAspect="1"/>
          </p:cNvPicPr>
          <p:nvPr/>
        </p:nvPicPr>
        <p:blipFill>
          <a:blip r:embed="rId4"/>
          <a:stretch>
            <a:fillRect/>
          </a:stretch>
        </p:blipFill>
        <p:spPr>
          <a:xfrm>
            <a:off x="3063240" y="5550408"/>
            <a:ext cx="274320" cy="274320"/>
          </a:xfrm>
          <a:prstGeom prst="rect">
            <a:avLst/>
          </a:prstGeom>
        </p:spPr>
      </p:pic>
      <p:sp>
        <p:nvSpPr>
          <p:cNvPr id="25" name="Text 19"/>
          <p:cNvSpPr txBox="1"/>
          <p:nvPr/>
        </p:nvSpPr>
        <p:spPr>
          <a:xfrm>
            <a:off x="3429000" y="5303520"/>
            <a:ext cx="731520" cy="777240"/>
          </a:xfrm>
          <a:prstGeom prst="rect">
            <a:avLst/>
          </a:prstGeom>
          <a:noFill/>
          <a:ln/>
        </p:spPr>
        <p:txBody>
          <a:bodyPr wrap="square" lIns="0" tIns="0" rIns="0" bIns="0" rtlCol="0" anchor="ctr"/>
          <a:lstStyle/>
          <a:p>
            <a:pPr indent="0" marL="0">
              <a:buNone/>
            </a:pPr>
            <a:r>
              <a:rPr lang="en-US" sz="1400" dirty="0">
                <a:solidFill>
                  <a:schemeClr val="tx1"/>
                </a:solidFill>
              </a:rPr>
              <a:t>Agents</a:t>
            </a:r>
            <a:endParaRPr lang="en-US" sz="1400" dirty="0"/>
          </a:p>
        </p:txBody>
      </p:sp>
      <p:pic>
        <p:nvPicPr>
          <p:cNvPr id="26" name="MCP servers kind icon" descr="preencoded.png">    </p:cNvPr>
          <p:cNvPicPr>
            <a:picLocks noChangeAspect="1"/>
          </p:cNvPicPr>
          <p:nvPr/>
        </p:nvPicPr>
        <p:blipFill>
          <a:blip r:embed="rId5"/>
          <a:stretch>
            <a:fillRect/>
          </a:stretch>
        </p:blipFill>
        <p:spPr>
          <a:xfrm>
            <a:off x="4389120" y="5550408"/>
            <a:ext cx="274320" cy="274320"/>
          </a:xfrm>
          <a:prstGeom prst="rect">
            <a:avLst/>
          </a:prstGeom>
        </p:spPr>
      </p:pic>
      <p:sp>
        <p:nvSpPr>
          <p:cNvPr id="27" name="Text 20"/>
          <p:cNvSpPr txBox="1"/>
          <p:nvPr/>
        </p:nvSpPr>
        <p:spPr>
          <a:xfrm>
            <a:off x="4754880" y="5303520"/>
            <a:ext cx="1143000" cy="777240"/>
          </a:xfrm>
          <a:prstGeom prst="rect">
            <a:avLst/>
          </a:prstGeom>
          <a:noFill/>
          <a:ln/>
        </p:spPr>
        <p:txBody>
          <a:bodyPr wrap="square" lIns="0" tIns="0" rIns="0" bIns="0" rtlCol="0" anchor="ctr"/>
          <a:lstStyle/>
          <a:p>
            <a:pPr indent="0" marL="0">
              <a:buNone/>
            </a:pPr>
            <a:r>
              <a:rPr lang="en-US" sz="1400" dirty="0">
                <a:solidFill>
                  <a:schemeClr val="tx1"/>
                </a:solidFill>
              </a:rPr>
              <a:t>MCP servers</a:t>
            </a:r>
            <a:endParaRPr lang="en-US" sz="1400" dirty="0"/>
          </a:p>
        </p:txBody>
      </p:sp>
      <p:pic>
        <p:nvPicPr>
          <p:cNvPr id="28" name="Skills kind icon" descr="preencoded.png">    </p:cNvPr>
          <p:cNvPicPr>
            <a:picLocks noChangeAspect="1"/>
          </p:cNvPicPr>
          <p:nvPr/>
        </p:nvPicPr>
        <p:blipFill>
          <a:blip r:embed="rId6"/>
          <a:stretch>
            <a:fillRect/>
          </a:stretch>
        </p:blipFill>
        <p:spPr>
          <a:xfrm>
            <a:off x="6126480" y="5550408"/>
            <a:ext cx="274320" cy="274320"/>
          </a:xfrm>
          <a:prstGeom prst="rect">
            <a:avLst/>
          </a:prstGeom>
        </p:spPr>
      </p:pic>
      <p:sp>
        <p:nvSpPr>
          <p:cNvPr id="29" name="Text 21"/>
          <p:cNvSpPr txBox="1"/>
          <p:nvPr/>
        </p:nvSpPr>
        <p:spPr>
          <a:xfrm>
            <a:off x="6492240" y="5303520"/>
            <a:ext cx="640080" cy="777240"/>
          </a:xfrm>
          <a:prstGeom prst="rect">
            <a:avLst/>
          </a:prstGeom>
          <a:noFill/>
          <a:ln/>
        </p:spPr>
        <p:txBody>
          <a:bodyPr wrap="square" lIns="0" tIns="0" rIns="0" bIns="0" rtlCol="0" anchor="ctr"/>
          <a:lstStyle/>
          <a:p>
            <a:pPr indent="0" marL="0">
              <a:buNone/>
            </a:pPr>
            <a:r>
              <a:rPr lang="en-US" sz="1400" dirty="0">
                <a:solidFill>
                  <a:schemeClr val="tx1"/>
                </a:solidFill>
              </a:rPr>
              <a:t>Skills</a:t>
            </a:r>
            <a:endParaRPr lang="en-US" sz="1400" dirty="0"/>
          </a:p>
        </p:txBody>
      </p:sp>
      <p:pic>
        <p:nvPicPr>
          <p:cNvPr id="30" name="Hooks kind icon" descr="preencoded.png">    </p:cNvPr>
          <p:cNvPicPr>
            <a:picLocks noChangeAspect="1"/>
          </p:cNvPicPr>
          <p:nvPr/>
        </p:nvPicPr>
        <p:blipFill>
          <a:blip r:embed="rId7"/>
          <a:stretch>
            <a:fillRect/>
          </a:stretch>
        </p:blipFill>
        <p:spPr>
          <a:xfrm>
            <a:off x="7360920" y="5550408"/>
            <a:ext cx="274320" cy="274320"/>
          </a:xfrm>
          <a:prstGeom prst="rect">
            <a:avLst/>
          </a:prstGeom>
        </p:spPr>
      </p:pic>
      <p:sp>
        <p:nvSpPr>
          <p:cNvPr id="31" name="Text 22"/>
          <p:cNvSpPr txBox="1"/>
          <p:nvPr/>
        </p:nvSpPr>
        <p:spPr>
          <a:xfrm>
            <a:off x="7726680" y="5303520"/>
            <a:ext cx="685800" cy="777240"/>
          </a:xfrm>
          <a:prstGeom prst="rect">
            <a:avLst/>
          </a:prstGeom>
          <a:noFill/>
          <a:ln/>
        </p:spPr>
        <p:txBody>
          <a:bodyPr wrap="square" lIns="0" tIns="0" rIns="0" bIns="0" rtlCol="0" anchor="ctr"/>
          <a:lstStyle/>
          <a:p>
            <a:pPr indent="0" marL="0">
              <a:buNone/>
            </a:pPr>
            <a:r>
              <a:rPr lang="en-US" sz="1400" dirty="0">
                <a:solidFill>
                  <a:schemeClr val="tx1"/>
                </a:solidFill>
              </a:rPr>
              <a:t>Hooks</a:t>
            </a:r>
            <a:endParaRPr lang="en-US" sz="1400" dirty="0"/>
          </a:p>
        </p:txBody>
      </p:sp>
      <p:pic>
        <p:nvPicPr>
          <p:cNvPr id="32" name="Prompts kind icon" descr="preencoded.png">    </p:cNvPr>
          <p:cNvPicPr>
            <a:picLocks noChangeAspect="1"/>
          </p:cNvPicPr>
          <p:nvPr/>
        </p:nvPicPr>
        <p:blipFill>
          <a:blip r:embed="rId8"/>
          <a:stretch>
            <a:fillRect/>
          </a:stretch>
        </p:blipFill>
        <p:spPr>
          <a:xfrm>
            <a:off x="8641080" y="5550408"/>
            <a:ext cx="274320" cy="274320"/>
          </a:xfrm>
          <a:prstGeom prst="rect">
            <a:avLst/>
          </a:prstGeom>
        </p:spPr>
      </p:pic>
      <p:sp>
        <p:nvSpPr>
          <p:cNvPr id="33" name="Text 23"/>
          <p:cNvSpPr txBox="1"/>
          <p:nvPr/>
        </p:nvSpPr>
        <p:spPr>
          <a:xfrm>
            <a:off x="9006840" y="5303520"/>
            <a:ext cx="822960" cy="777240"/>
          </a:xfrm>
          <a:prstGeom prst="rect">
            <a:avLst/>
          </a:prstGeom>
          <a:noFill/>
          <a:ln/>
        </p:spPr>
        <p:txBody>
          <a:bodyPr wrap="square" lIns="0" tIns="0" rIns="0" bIns="0" rtlCol="0" anchor="ctr"/>
          <a:lstStyle/>
          <a:p>
            <a:pPr indent="0" marL="0">
              <a:buNone/>
            </a:pPr>
            <a:r>
              <a:rPr lang="en-US" sz="1400" dirty="0">
                <a:solidFill>
                  <a:schemeClr val="tx1"/>
                </a:solidFill>
              </a:rPr>
              <a:t>Prompts</a:t>
            </a:r>
            <a:endParaRPr lang="en-US" sz="1400" dirty="0"/>
          </a:p>
        </p:txBody>
      </p:sp>
      <p:pic>
        <p:nvPicPr>
          <p:cNvPr id="34" name="Sandboxes kind icon" descr="preencoded.png">    </p:cNvPr>
          <p:cNvPicPr>
            <a:picLocks noChangeAspect="1"/>
          </p:cNvPicPr>
          <p:nvPr/>
        </p:nvPicPr>
        <p:blipFill>
          <a:blip r:embed="rId9"/>
          <a:stretch>
            <a:fillRect/>
          </a:stretch>
        </p:blipFill>
        <p:spPr>
          <a:xfrm>
            <a:off x="10058400" y="5550408"/>
            <a:ext cx="274320" cy="274320"/>
          </a:xfrm>
          <a:prstGeom prst="rect">
            <a:avLst/>
          </a:prstGeom>
        </p:spPr>
      </p:pic>
      <p:sp>
        <p:nvSpPr>
          <p:cNvPr id="35" name="Text 24"/>
          <p:cNvSpPr txBox="1"/>
          <p:nvPr/>
        </p:nvSpPr>
        <p:spPr>
          <a:xfrm>
            <a:off x="10424160" y="5303520"/>
            <a:ext cx="1051560" cy="777240"/>
          </a:xfrm>
          <a:prstGeom prst="rect">
            <a:avLst/>
          </a:prstGeom>
          <a:noFill/>
          <a:ln/>
        </p:spPr>
        <p:txBody>
          <a:bodyPr wrap="square" lIns="0" tIns="0" rIns="0" bIns="0" rtlCol="0" anchor="ctr"/>
          <a:lstStyle/>
          <a:p>
            <a:pPr indent="0" marL="0">
              <a:buNone/>
            </a:pPr>
            <a:r>
              <a:rPr lang="en-US" sz="1400" dirty="0">
                <a:solidFill>
                  <a:schemeClr val="tx1"/>
                </a:solidFill>
              </a:rPr>
              <a:t>Sandboxes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ROADMAP</a:t>
            </a:r>
            <a:endParaRPr lang="en-US" sz="1200" dirty="0"/>
          </a:p>
        </p:txBody>
      </p:sp>
      <p:sp>
        <p:nvSpPr>
          <p:cNvPr id="3" name="Text 0"/>
          <p:cNvSpPr/>
          <p:nvPr>
            <p:ph idx="101" type="title" hasCustomPrompt="1"/>
          </p:nvPr>
        </p:nvSpPr>
        <p:spPr>
          <a:xfrm>
            <a:off x="548640" y="676656"/>
            <a:ext cx="11091672" cy="731520"/>
          </a:xfrm>
          <a:prstGeom prst="rect">
            <a:avLst/>
          </a:prstGeom>
          <a:noFill/>
          <a:ln/>
        </p:spPr>
        <p:txBody>
          <a:bodyPr wrap="square" lIns="0" tIns="0" rIns="0" bIns="0" rtlCol="0" anchor="t"/>
          <a:lstStyle/>
          <a:p>
            <a:pPr algn="l" indent="0" marL="0">
              <a:buNone/>
            </a:pPr>
            <a:r>
              <a:rPr lang="en-US" sz="3600" b="1" dirty="0">
                <a:solidFill>
                  <a:schemeClr val="tx1"/>
                </a:solidFill>
              </a:rPr>
              <a:t>Where ARD goes next</a:t>
            </a:r>
            <a:endParaRPr lang="en-US" sz="3600" dirty="0"/>
          </a:p>
        </p:txBody>
      </p:sp>
      <p:sp>
        <p:nvSpPr>
          <p:cNvPr id="4" name="Timeline line"/>
          <p:cNvSpPr/>
          <p:nvPr/>
        </p:nvSpPr>
        <p:spPr>
          <a:xfrm>
            <a:off x="868680" y="2514600"/>
            <a:ext cx="10424160" cy="0"/>
          </a:xfrm>
          <a:prstGeom prst="line">
            <a:avLst/>
          </a:prstGeom>
          <a:noFill/>
          <a:ln w="25400">
            <a:solidFill>
              <a:srgbClr val="C9D7DC"/>
            </a:solidFill>
            <a:prstDash val="solid"/>
          </a:ln>
        </p:spPr>
      </p:sp>
      <p:sp>
        <p:nvSpPr>
          <p:cNvPr id="5" name="Timeline node 1"/>
          <p:cNvSpPr/>
          <p:nvPr/>
        </p:nvSpPr>
        <p:spPr>
          <a:xfrm>
            <a:off x="667512" y="2313432"/>
            <a:ext cx="402336" cy="402336"/>
          </a:xfrm>
          <a:prstGeom prst="ellipse">
            <a:avLst/>
          </a:prstGeom>
          <a:solidFill>
            <a:schemeClr val="accent1"/>
          </a:solidFill>
          <a:ln w="31750">
            <a:solidFill>
              <a:srgbClr val="008296"/>
            </a:solidFill>
            <a:prstDash val="solid"/>
          </a:ln>
        </p:spPr>
      </p:sp>
      <p:sp>
        <p:nvSpPr>
          <p:cNvPr id="6" name="Text 4"/>
          <p:cNvSpPr txBox="1"/>
          <p:nvPr/>
        </p:nvSpPr>
        <p:spPr>
          <a:xfrm>
            <a:off x="548640" y="1737360"/>
            <a:ext cx="2035454" cy="365760"/>
          </a:xfrm>
          <a:prstGeom prst="rect">
            <a:avLst/>
          </a:prstGeom>
          <a:noFill/>
          <a:ln/>
        </p:spPr>
        <p:txBody>
          <a:bodyPr wrap="square" lIns="0" tIns="0" rIns="0" bIns="0" rtlCol="0" anchor="t"/>
          <a:lstStyle/>
          <a:p>
            <a:pPr indent="0" marL="0">
              <a:buNone/>
            </a:pPr>
            <a:r>
              <a:rPr lang="en-US" sz="2000" b="1" dirty="0">
                <a:solidFill>
                  <a:schemeClr val="accent1"/>
                </a:solidFill>
              </a:rPr>
              <a:t>Shipped</a:t>
            </a:r>
            <a:endParaRPr lang="en-US" sz="2000" dirty="0"/>
          </a:p>
        </p:txBody>
      </p:sp>
      <p:sp>
        <p:nvSpPr>
          <p:cNvPr id="7" name="Text 5"/>
          <p:cNvSpPr txBox="1"/>
          <p:nvPr/>
        </p:nvSpPr>
        <p:spPr>
          <a:xfrm>
            <a:off x="548640" y="2926080"/>
            <a:ext cx="2035454"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Sep 2026</a:t>
            </a:r>
            <a:endParaRPr lang="en-US" sz="1200" dirty="0"/>
          </a:p>
        </p:txBody>
      </p:sp>
      <p:sp>
        <p:nvSpPr>
          <p:cNvPr id="8" name="Text 6"/>
          <p:cNvSpPr txBox="1"/>
          <p:nvPr/>
        </p:nvSpPr>
        <p:spPr>
          <a:xfrm>
            <a:off x="548640" y="3246120"/>
            <a:ext cx="1989734" cy="1645920"/>
          </a:xfrm>
          <a:prstGeom prst="rect">
            <a:avLst/>
          </a:prstGeom>
          <a:noFill/>
          <a:ln/>
        </p:spPr>
        <p:txBody>
          <a:bodyPr wrap="square" lIns="0" tIns="0" rIns="0" bIns="0" rtlCol="0" anchor="t"/>
          <a:lstStyle/>
          <a:p>
            <a:pPr indent="0" marL="0">
              <a:buNone/>
            </a:pPr>
            <a:r>
              <a:rPr lang="en-US" sz="1600" dirty="0">
                <a:solidFill>
                  <a:schemeClr val="tx1"/>
                </a:solidFill>
              </a:rPr>
              <a:t>PR #1744: ARD endpoints, discover CLI, Discover page, session attribution</a:t>
            </a:r>
            <a:endParaRPr lang="en-US" sz="1600" dirty="0"/>
          </a:p>
        </p:txBody>
      </p:sp>
      <p:sp>
        <p:nvSpPr>
          <p:cNvPr id="9" name="Timeline node 2"/>
          <p:cNvSpPr/>
          <p:nvPr/>
        </p:nvSpPr>
        <p:spPr>
          <a:xfrm>
            <a:off x="2885846" y="2313432"/>
            <a:ext cx="402336" cy="402336"/>
          </a:xfrm>
          <a:prstGeom prst="ellipse">
            <a:avLst/>
          </a:prstGeom>
          <a:solidFill>
            <a:schemeClr val="accent1"/>
          </a:solidFill>
          <a:ln w="31750">
            <a:solidFill>
              <a:srgbClr val="008296"/>
            </a:solidFill>
            <a:prstDash val="solid"/>
          </a:ln>
        </p:spPr>
      </p:sp>
      <p:sp>
        <p:nvSpPr>
          <p:cNvPr id="10" name="Text 8"/>
          <p:cNvSpPr txBox="1"/>
          <p:nvPr/>
        </p:nvSpPr>
        <p:spPr>
          <a:xfrm>
            <a:off x="2766974" y="1737360"/>
            <a:ext cx="2035454" cy="365760"/>
          </a:xfrm>
          <a:prstGeom prst="rect">
            <a:avLst/>
          </a:prstGeom>
          <a:noFill/>
          <a:ln/>
        </p:spPr>
        <p:txBody>
          <a:bodyPr wrap="square" lIns="0" tIns="0" rIns="0" bIns="0" rtlCol="0" anchor="t"/>
          <a:lstStyle/>
          <a:p>
            <a:pPr indent="0" marL="0">
              <a:buNone/>
            </a:pPr>
            <a:r>
              <a:rPr lang="en-US" sz="2000" b="1" dirty="0">
                <a:solidFill>
                  <a:schemeClr val="accent1"/>
                </a:solidFill>
              </a:rPr>
              <a:t>Since then</a:t>
            </a:r>
            <a:endParaRPr lang="en-US" sz="2000" dirty="0"/>
          </a:p>
        </p:txBody>
      </p:sp>
      <p:sp>
        <p:nvSpPr>
          <p:cNvPr id="11" name="Text 9"/>
          <p:cNvSpPr txBox="1"/>
          <p:nvPr/>
        </p:nvSpPr>
        <p:spPr>
          <a:xfrm>
            <a:off x="2766974" y="2926080"/>
            <a:ext cx="2035454"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Sep–Oct 2026</a:t>
            </a:r>
            <a:endParaRPr lang="en-US" sz="1200" dirty="0"/>
          </a:p>
        </p:txBody>
      </p:sp>
      <p:sp>
        <p:nvSpPr>
          <p:cNvPr id="12" name="Text 10"/>
          <p:cNvSpPr txBox="1"/>
          <p:nvPr/>
        </p:nvSpPr>
        <p:spPr>
          <a:xfrm>
            <a:off x="2766974" y="3246120"/>
            <a:ext cx="1989734" cy="1645920"/>
          </a:xfrm>
          <a:prstGeom prst="rect">
            <a:avLst/>
          </a:prstGeom>
          <a:noFill/>
          <a:ln/>
        </p:spPr>
        <p:txBody>
          <a:bodyPr wrap="square" lIns="0" tIns="0" rIns="0" bIns="0" rtlCol="0" anchor="t"/>
          <a:lstStyle/>
          <a:p>
            <a:pPr indent="0" marL="0">
              <a:buNone/>
            </a:pPr>
            <a:r>
              <a:rPr lang="en-US" sz="1600" dirty="0">
                <a:solidFill>
                  <a:schemeClr val="tx1"/>
                </a:solidFill>
              </a:rPr>
              <a:t>ADR 0002: delegate tasks to agents over ARD + A2A. ARD reads scoped to joined teamspaces</a:t>
            </a:r>
            <a:endParaRPr lang="en-US" sz="1600" dirty="0"/>
          </a:p>
        </p:txBody>
      </p:sp>
      <p:sp>
        <p:nvSpPr>
          <p:cNvPr id="13" name="Timeline node 3"/>
          <p:cNvSpPr/>
          <p:nvPr/>
        </p:nvSpPr>
        <p:spPr>
          <a:xfrm>
            <a:off x="5104181" y="2313432"/>
            <a:ext cx="402336" cy="402336"/>
          </a:xfrm>
          <a:prstGeom prst="ellipse">
            <a:avLst/>
          </a:prstGeom>
          <a:solidFill>
            <a:schemeClr val="bg1"/>
          </a:solidFill>
          <a:ln w="31750">
            <a:solidFill>
              <a:srgbClr val="B86E00"/>
            </a:solidFill>
            <a:prstDash val="solid"/>
          </a:ln>
        </p:spPr>
      </p:sp>
      <p:sp>
        <p:nvSpPr>
          <p:cNvPr id="14" name="Text 12"/>
          <p:cNvSpPr txBox="1"/>
          <p:nvPr/>
        </p:nvSpPr>
        <p:spPr>
          <a:xfrm>
            <a:off x="4985309" y="1737360"/>
            <a:ext cx="2035454" cy="365760"/>
          </a:xfrm>
          <a:prstGeom prst="rect">
            <a:avLst/>
          </a:prstGeom>
          <a:noFill/>
          <a:ln/>
        </p:spPr>
        <p:txBody>
          <a:bodyPr wrap="square" lIns="0" tIns="0" rIns="0" bIns="0" rtlCol="0" anchor="t"/>
          <a:lstStyle/>
          <a:p>
            <a:pPr indent="0" marL="0">
              <a:buNone/>
            </a:pPr>
            <a:r>
              <a:rPr lang="en-US" sz="2000" b="1" dirty="0">
                <a:solidFill>
                  <a:schemeClr val="accent5"/>
                </a:solidFill>
              </a:rPr>
              <a:t>Next</a:t>
            </a:r>
            <a:endParaRPr lang="en-US" sz="2000" dirty="0"/>
          </a:p>
        </p:txBody>
      </p:sp>
      <p:sp>
        <p:nvSpPr>
          <p:cNvPr id="15" name="Text 13"/>
          <p:cNvSpPr txBox="1"/>
          <p:nvPr/>
        </p:nvSpPr>
        <p:spPr>
          <a:xfrm>
            <a:off x="4985309" y="3246120"/>
            <a:ext cx="1989734" cy="1645920"/>
          </a:xfrm>
          <a:prstGeom prst="rect">
            <a:avLst/>
          </a:prstGeom>
          <a:noFill/>
          <a:ln/>
        </p:spPr>
        <p:txBody>
          <a:bodyPr wrap="square" lIns="0" tIns="0" rIns="0" bIns="0" rtlCol="0" anchor="t"/>
          <a:lstStyle/>
          <a:p>
            <a:pPr indent="0" marL="0">
              <a:buNone/>
            </a:pPr>
            <a:r>
              <a:rPr lang="en-US" sz="1600" dirty="0">
                <a:solidFill>
                  <a:schemeClr val="tx1"/>
                </a:solidFill>
              </a:rPr>
              <a:t>Crawl external ARD sources: a full registry, federation to allowlisted upstreams</a:t>
            </a:r>
            <a:endParaRPr lang="en-US" sz="1600" dirty="0"/>
          </a:p>
        </p:txBody>
      </p:sp>
      <p:sp>
        <p:nvSpPr>
          <p:cNvPr id="16" name="Timeline node 4"/>
          <p:cNvSpPr/>
          <p:nvPr/>
        </p:nvSpPr>
        <p:spPr>
          <a:xfrm>
            <a:off x="7322515" y="2313432"/>
            <a:ext cx="402336" cy="402336"/>
          </a:xfrm>
          <a:prstGeom prst="ellipse">
            <a:avLst/>
          </a:prstGeom>
          <a:solidFill>
            <a:schemeClr val="bg1"/>
          </a:solidFill>
          <a:ln w="31750">
            <a:solidFill>
              <a:srgbClr val="B86E00"/>
            </a:solidFill>
            <a:prstDash val="solid"/>
          </a:ln>
        </p:spPr>
      </p:sp>
      <p:sp>
        <p:nvSpPr>
          <p:cNvPr id="17" name="Text 15"/>
          <p:cNvSpPr txBox="1"/>
          <p:nvPr/>
        </p:nvSpPr>
        <p:spPr>
          <a:xfrm>
            <a:off x="7203643" y="1737360"/>
            <a:ext cx="2035454" cy="365760"/>
          </a:xfrm>
          <a:prstGeom prst="rect">
            <a:avLst/>
          </a:prstGeom>
          <a:noFill/>
          <a:ln/>
        </p:spPr>
        <p:txBody>
          <a:bodyPr wrap="square" lIns="0" tIns="0" rIns="0" bIns="0" rtlCol="0" anchor="t"/>
          <a:lstStyle/>
          <a:p>
            <a:pPr indent="0" marL="0">
              <a:buNone/>
            </a:pPr>
            <a:r>
              <a:rPr lang="en-US" sz="2000" b="1" dirty="0">
                <a:solidFill>
                  <a:schemeClr val="accent5"/>
                </a:solidFill>
              </a:rPr>
              <a:t>Then</a:t>
            </a:r>
            <a:endParaRPr lang="en-US" sz="2000" dirty="0"/>
          </a:p>
        </p:txBody>
      </p:sp>
      <p:sp>
        <p:nvSpPr>
          <p:cNvPr id="18" name="Text 16"/>
          <p:cNvSpPr txBox="1"/>
          <p:nvPr/>
        </p:nvSpPr>
        <p:spPr>
          <a:xfrm>
            <a:off x="7203643" y="3246120"/>
            <a:ext cx="1989734" cy="1645920"/>
          </a:xfrm>
          <a:prstGeom prst="rect">
            <a:avLst/>
          </a:prstGeom>
          <a:noFill/>
          <a:ln/>
        </p:spPr>
        <p:txBody>
          <a:bodyPr wrap="square" lIns="0" tIns="0" rIns="0" bIns="0" rtlCol="0" anchor="t"/>
          <a:lstStyle/>
          <a:p>
            <a:pPr indent="0" marL="0">
              <a:buNone/>
            </a:pPr>
            <a:r>
              <a:rPr lang="en-US" sz="1600" dirty="0">
                <a:solidFill>
                  <a:schemeClr val="tx1"/>
                </a:solidFill>
              </a:rPr>
              <a:t>Explore facets and verification of third-party trust manifests</a:t>
            </a:r>
            <a:endParaRPr lang="en-US" sz="1600" dirty="0"/>
          </a:p>
        </p:txBody>
      </p:sp>
      <p:sp>
        <p:nvSpPr>
          <p:cNvPr id="19" name="Timeline node 5"/>
          <p:cNvSpPr/>
          <p:nvPr/>
        </p:nvSpPr>
        <p:spPr>
          <a:xfrm>
            <a:off x="9540850" y="2313432"/>
            <a:ext cx="402336" cy="402336"/>
          </a:xfrm>
          <a:prstGeom prst="ellipse">
            <a:avLst/>
          </a:prstGeom>
          <a:solidFill>
            <a:schemeClr val="bg1"/>
          </a:solidFill>
          <a:ln w="31750">
            <a:solidFill>
              <a:srgbClr val="B86E00"/>
            </a:solidFill>
            <a:prstDash val="solid"/>
          </a:ln>
        </p:spPr>
      </p:sp>
      <p:sp>
        <p:nvSpPr>
          <p:cNvPr id="20" name="Text 18"/>
          <p:cNvSpPr txBox="1"/>
          <p:nvPr/>
        </p:nvSpPr>
        <p:spPr>
          <a:xfrm>
            <a:off x="9421978" y="1737360"/>
            <a:ext cx="2035454" cy="365760"/>
          </a:xfrm>
          <a:prstGeom prst="rect">
            <a:avLst/>
          </a:prstGeom>
          <a:noFill/>
          <a:ln/>
        </p:spPr>
        <p:txBody>
          <a:bodyPr wrap="square" lIns="0" tIns="0" rIns="0" bIns="0" rtlCol="0" anchor="t"/>
          <a:lstStyle/>
          <a:p>
            <a:pPr indent="0" marL="0">
              <a:buNone/>
            </a:pPr>
            <a:r>
              <a:rPr lang="en-US" sz="2000" b="1" dirty="0">
                <a:solidFill>
                  <a:schemeClr val="accent5"/>
                </a:solidFill>
              </a:rPr>
              <a:t>Later</a:t>
            </a:r>
            <a:endParaRPr lang="en-US" sz="2000" dirty="0"/>
          </a:p>
        </p:txBody>
      </p:sp>
      <p:sp>
        <p:nvSpPr>
          <p:cNvPr id="21" name="Text 19"/>
          <p:cNvSpPr txBox="1"/>
          <p:nvPr/>
        </p:nvSpPr>
        <p:spPr>
          <a:xfrm>
            <a:off x="9421978" y="3246120"/>
            <a:ext cx="1989734" cy="1645920"/>
          </a:xfrm>
          <a:prstGeom prst="rect">
            <a:avLst/>
          </a:prstGeom>
          <a:noFill/>
          <a:ln/>
        </p:spPr>
        <p:txBody>
          <a:bodyPr wrap="square" lIns="0" tIns="0" rIns="0" bIns="0" rtlCol="0" anchor="t"/>
          <a:lstStyle/>
          <a:p>
            <a:pPr indent="0" marL="0">
              <a:buNone/>
            </a:pPr>
            <a:r>
              <a:rPr lang="en-US" sz="1600" dirty="0">
                <a:solidFill>
                  <a:schemeClr val="tx1"/>
                </a:solidFill>
              </a:rPr>
              <a:t>Semantic retrieval (pgvector) to catch synonyms like “PRs”</a:t>
            </a:r>
            <a:endParaRPr lang="en-US" sz="1600" dirty="0"/>
          </a:p>
        </p:txBody>
      </p:sp>
      <p:sp>
        <p:nvSpPr>
          <p:cNvPr id="22" name="Ask card"/>
          <p:cNvSpPr/>
          <p:nvPr/>
        </p:nvSpPr>
        <p:spPr>
          <a:xfrm>
            <a:off x="548640" y="5074920"/>
            <a:ext cx="11091672" cy="1005840"/>
          </a:xfrm>
          <a:prstGeom prst="roundRect">
            <a:avLst>
              <a:gd name="adj" fmla="val 10909"/>
            </a:avLst>
          </a:prstGeom>
          <a:solidFill>
            <a:schemeClr val="bg2"/>
          </a:solidFill>
          <a:ln/>
        </p:spPr>
      </p:sp>
      <p:sp>
        <p:nvSpPr>
          <p:cNvPr id="23" name="Ask circle"/>
          <p:cNvSpPr/>
          <p:nvPr/>
        </p:nvSpPr>
        <p:spPr>
          <a:xfrm>
            <a:off x="777240" y="5280660"/>
            <a:ext cx="594360" cy="594360"/>
          </a:xfrm>
          <a:prstGeom prst="ellipse">
            <a:avLst/>
          </a:prstGeom>
          <a:solidFill>
            <a:schemeClr val="accent1"/>
          </a:solidFill>
          <a:ln/>
        </p:spPr>
      </p:sp>
      <p:pic>
        <p:nvPicPr>
          <p:cNvPr id="24" name="Ask icon" descr="preencoded.png">    </p:cNvPr>
          <p:cNvPicPr>
            <a:picLocks noChangeAspect="1"/>
          </p:cNvPicPr>
          <p:nvPr/>
        </p:nvPicPr>
        <p:blipFill>
          <a:blip r:embed="rId1"/>
          <a:stretch>
            <a:fillRect/>
          </a:stretch>
        </p:blipFill>
        <p:spPr>
          <a:xfrm>
            <a:off x="919886" y="5423306"/>
            <a:ext cx="309067" cy="309067"/>
          </a:xfrm>
          <a:prstGeom prst="rect">
            <a:avLst/>
          </a:prstGeom>
        </p:spPr>
      </p:pic>
      <p:sp>
        <p:nvSpPr>
          <p:cNvPr id="25" name="Text 22"/>
          <p:cNvSpPr txBox="1"/>
          <p:nvPr/>
        </p:nvSpPr>
        <p:spPr>
          <a:xfrm>
            <a:off x="1600200" y="5074920"/>
            <a:ext cx="9875520" cy="1005840"/>
          </a:xfrm>
          <a:prstGeom prst="rect">
            <a:avLst/>
          </a:prstGeom>
          <a:noFill/>
          <a:ln/>
        </p:spPr>
        <p:txBody>
          <a:bodyPr wrap="square" lIns="0" tIns="0" rIns="0" bIns="0" rtlCol="0" anchor="ctr"/>
          <a:lstStyle/>
          <a:p>
            <a:pPr indent="0" marL="0">
              <a:buNone/>
            </a:pPr>
            <a:r>
              <a:rPr lang="en-US" sz="1700" b="1" dirty="0">
                <a:solidFill>
                  <a:schemeClr val="tx1"/>
                </a:solidFill>
              </a:rPr>
              <a:t>Try it: observal discover search '&lt;your task&gt;'. Every miss is a new benchmark case.</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822960" y="2148840"/>
            <a:ext cx="10607040" cy="1645920"/>
          </a:xfrm>
          <a:prstGeom prst="rect">
            <a:avLst/>
          </a:prstGeom>
          <a:noFill/>
          <a:ln/>
        </p:spPr>
        <p:txBody>
          <a:bodyPr wrap="square" lIns="0" tIns="0" rIns="0" bIns="0" rtlCol="0" anchor="t"/>
          <a:lstStyle/>
          <a:p>
            <a:pPr algn="l" indent="0" marL="0">
              <a:buNone/>
            </a:pPr>
            <a:r>
              <a:rPr lang="en-US" sz="4600" b="1" dirty="0">
                <a:solidFill>
                  <a:schemeClr val="bg1"/>
                </a:solidFill>
              </a:rPr>
              <a:t>Search before you reinvent.</a:t>
            </a:r>
            <a:endParaRPr lang="en-US" sz="4600" dirty="0"/>
          </a:p>
          <a:p>
            <a:pPr algn="l" indent="0" marL="0">
              <a:buNone/>
            </a:pPr>
            <a:r>
              <a:rPr lang="en-US" sz="4600" b="1" dirty="0">
                <a:solidFill>
                  <a:schemeClr val="accent2"/>
                </a:solidFill>
              </a:rPr>
              <a:t>Questions?</a:t>
            </a:r>
            <a:endParaRPr lang="en-US" sz="4600" dirty="0"/>
          </a:p>
        </p:txBody>
      </p:sp>
      <p:sp>
        <p:nvSpPr>
          <p:cNvPr id="3" name="Text 1"/>
          <p:cNvSpPr/>
          <p:nvPr>
            <p:ph idx="103" type="body" hasCustomPrompt="1"/>
          </p:nvPr>
        </p:nvSpPr>
        <p:spPr>
          <a:xfrm>
            <a:off x="822960" y="4069080"/>
            <a:ext cx="10058400" cy="1280160"/>
          </a:xfrm>
          <a:prstGeom prst="rect">
            <a:avLst/>
          </a:prstGeom>
          <a:noFill/>
          <a:ln/>
        </p:spPr>
        <p:txBody>
          <a:bodyPr wrap="square" lIns="0" tIns="0" rIns="0" bIns="0" rtlCol="0" anchor="t"/>
          <a:lstStyle/>
          <a:p>
            <a:pPr indent="0" marL="0">
              <a:buNone/>
            </a:pPr>
            <a:r>
              <a:rPr lang="en-US" sz="1800" dirty="0">
                <a:solidFill>
                  <a:schemeClr val="accent3"/>
                </a:solidFill>
                <a:latin typeface="Consolas" pitchFamily="34" charset="0"/>
                <a:ea typeface="Consolas" pitchFamily="34" charset="-122"/>
                <a:cs typeface="Consolas" pitchFamily="34" charset="-120"/>
              </a:rPr>
              <a:t>docs/adr/0001-agentic-resource-discovery.md</a:t>
            </a:r>
            <a:endParaRPr lang="en-US" sz="1800" dirty="0"/>
          </a:p>
          <a:p>
            <a:pPr indent="0" marL="0">
              <a:buNone/>
            </a:pPr>
            <a:r>
              <a:rPr lang="en-US" sz="1800" dirty="0">
                <a:solidFill>
                  <a:schemeClr val="accent3"/>
                </a:solidFill>
                <a:latin typeface="Consolas" pitchFamily="34" charset="0"/>
                <a:ea typeface="Consolas" pitchFamily="34" charset="-122"/>
                <a:cs typeface="Consolas" pitchFamily="34" charset="-120"/>
              </a:rPr>
              <a:t>docs/cli/discover.md</a:t>
            </a:r>
            <a:endParaRPr lang="en-US" sz="1800" dirty="0"/>
          </a:p>
          <a:p>
            <a:pPr indent="0" marL="0">
              <a:buNone/>
            </a:pPr>
            <a:r>
              <a:rPr lang="en-US" sz="1800" dirty="0">
                <a:solidFill>
                  <a:schemeClr val="accent3"/>
                </a:solidFill>
                <a:latin typeface="Consolas" pitchFamily="34" charset="0"/>
                <a:ea typeface="Consolas" pitchFamily="34" charset="-122"/>
                <a:cs typeface="Consolas" pitchFamily="34" charset="-120"/>
              </a:rPr>
              <a:t>github.com/Observal/Observal/pull/1744</a:t>
            </a:r>
            <a:endParaRPr lang="en-US" sz="1800" dirty="0"/>
          </a:p>
        </p:txBody>
      </p:sp>
      <p:sp>
        <p:nvSpPr>
          <p:cNvPr id="25" name="Slide Number Placeholder 0"/>
          <p:cNvSpPr>
            <a:spLocks noGrp="1"/>
          </p:cNvSpPr>
          <p:nvPr>
            <p:ph type="sldNum" sz="quarter" idx="4294967295"/>
          </p:nvPr>
        </p:nvSpPr>
        <p:spPr>
          <a:xfrm>
            <a:off x="11091672" y="61722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bserval ARD">
  <a:themeElements>
    <a:clrScheme name="Observal ARD">
      <a:dk1>
        <a:srgbClr val="0F1E2A"/>
      </a:dk1>
      <a:lt1>
        <a:srgbClr val="FFFFFF"/>
      </a:lt1>
      <a:dk2>
        <a:srgbClr val="0B1D27"/>
      </a:dk2>
      <a:lt2>
        <a:srgbClr val="E8F3F5"/>
      </a:lt2>
      <a:accent1>
        <a:srgbClr val="008296"/>
      </a:accent1>
      <a:accent2>
        <a:srgbClr val="F2A93B"/>
      </a:accent2>
      <a:accent3>
        <a:srgbClr val="7FD3DD"/>
      </a:accent3>
      <a:accent4>
        <a:srgbClr val="1F3A4A"/>
      </a:accent4>
      <a:accent5>
        <a:srgbClr val="B86E00"/>
      </a:accent5>
      <a:accent6>
        <a:srgbClr val="56656F"/>
      </a:accent6>
      <a:hlink>
        <a:srgbClr val="008296"/>
      </a:hlink>
      <a:folHlink>
        <a:srgbClr val="1F3A4A"/>
      </a:folHlink>
    </a:clrScheme>
    <a:fontScheme name="Observal 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Resource Discovery in Observal</dc:title>
  <dc:subject>How Observal implements the ARD specification, and what it is for</dc:subject>
  <dc:creator>Shaan Narendran</dc:creator>
  <cp:lastModifiedBy>Shaan Narendran</cp:lastModifiedBy>
  <cp:revision>1</cp:revision>
  <dcterms:created xsi:type="dcterms:W3CDTF">2026-10-23T16:19:23Z</dcterms:created>
  <dcterms:modified xsi:type="dcterms:W3CDTF">2026-10-23T16:19:23Z</dcterms:modified>
</cp:coreProperties>
</file>